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55"/>
  </p:handoutMasterIdLst>
  <p:sldIdLst>
    <p:sldId id="258" r:id="rId3"/>
    <p:sldId id="328" r:id="rId4"/>
    <p:sldId id="347" r:id="rId5"/>
    <p:sldId id="348" r:id="rId6"/>
    <p:sldId id="393" r:id="rId7"/>
    <p:sldId id="394" r:id="rId8"/>
    <p:sldId id="395" r:id="rId9"/>
    <p:sldId id="351" r:id="rId10"/>
    <p:sldId id="352" r:id="rId11"/>
    <p:sldId id="353" r:id="rId12"/>
    <p:sldId id="396" r:id="rId13"/>
    <p:sldId id="354" r:id="rId14"/>
    <p:sldId id="355" r:id="rId15"/>
    <p:sldId id="397" r:id="rId17"/>
    <p:sldId id="356" r:id="rId18"/>
    <p:sldId id="358" r:id="rId19"/>
    <p:sldId id="398" r:id="rId20"/>
    <p:sldId id="399" r:id="rId21"/>
    <p:sldId id="360" r:id="rId22"/>
    <p:sldId id="400" r:id="rId23"/>
    <p:sldId id="401" r:id="rId24"/>
    <p:sldId id="365" r:id="rId25"/>
    <p:sldId id="367" r:id="rId26"/>
    <p:sldId id="402" r:id="rId27"/>
    <p:sldId id="403" r:id="rId28"/>
    <p:sldId id="404" r:id="rId29"/>
    <p:sldId id="405" r:id="rId30"/>
    <p:sldId id="406" r:id="rId31"/>
    <p:sldId id="407" r:id="rId32"/>
    <p:sldId id="408" r:id="rId33"/>
    <p:sldId id="409" r:id="rId34"/>
    <p:sldId id="410" r:id="rId35"/>
    <p:sldId id="411" r:id="rId36"/>
    <p:sldId id="412" r:id="rId37"/>
    <p:sldId id="413" r:id="rId38"/>
    <p:sldId id="414" r:id="rId39"/>
    <p:sldId id="415" r:id="rId40"/>
    <p:sldId id="416" r:id="rId41"/>
    <p:sldId id="417" r:id="rId42"/>
    <p:sldId id="418" r:id="rId43"/>
    <p:sldId id="419" r:id="rId44"/>
    <p:sldId id="420" r:id="rId45"/>
    <p:sldId id="421" r:id="rId46"/>
    <p:sldId id="422" r:id="rId47"/>
    <p:sldId id="424" r:id="rId48"/>
    <p:sldId id="423" r:id="rId49"/>
    <p:sldId id="425" r:id="rId50"/>
    <p:sldId id="390" r:id="rId51"/>
    <p:sldId id="391" r:id="rId52"/>
    <p:sldId id="426" r:id="rId53"/>
    <p:sldId id="427" r:id="rId5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BC7"/>
    <a:srgbClr val="DEEFF9"/>
    <a:srgbClr val="9ED8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8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4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handoutMaster" Target="handoutMasters/handoutMaster1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8454B-EADE-4C25-98D0-7BD89CB0E8CE}" type="datetimeFigureOut">
              <a:rPr lang="ko-KR" altLang="en-US" smtClean="0"/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EF2CF-C80A-4905-BD6F-B6B3FEA60ADA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2560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6B917F50-42B6-4984-B9F6-B261633C2E91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68692A8B-2C19-4F4B-A81E-8B1D7E4D7DF1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297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1B1C54B8-1EEA-442C-A598-3924A66FBF2C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3174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BFB7E423-874C-4368-B49D-5054CD3DB57E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9DB8D1F3-22CB-4C7B-9D51-5C7737A4F444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358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C7185755-36E9-4EFF-A582-01A6B1AC143E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378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58DD5D8E-89EC-4848-94AB-8F8711E3CBD1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399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D34DF85D-CB88-463F-9289-E59DFA6E90F6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4198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C6AABFAD-2F29-48BE-BBC8-C081984367F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440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BCCC406E-460B-4243-8E3C-21698E4756E9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4813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2C15E138-2B73-4DEC-BFC6-264D264B3E0A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5018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06832AFF-8676-45DF-AA88-9DDBE9756B00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5222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EB3C9A16-B5B7-4966-B1DC-E1A787FCD83A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5427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BAF773E2-8F07-49E5-BB35-5DEED7F49183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5632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6C2B823C-82B5-49F0-B7B3-3FF4C51A2D8E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5837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F3A3B49C-C750-437D-A4B7-02D6D3F71DDC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604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22C8F077-D20F-48D2-8DBD-F09949DA4AD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6246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93E6DD58-BA8D-4339-BCE8-DED76EC402C9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6451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7183B86D-E88A-4828-8871-E65D172FA0D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665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C160982E-B98F-4BF5-919A-162D08C5321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686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C0F90631-A66A-4F8C-A8D4-69E47F0963E3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706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7BD00006-1DA6-43B8-99BB-A371AD8935A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727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2C7EC76F-657D-4E81-9A57-9DA1FF75B9AA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747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2EA86463-093C-4838-B7E1-BE1805A09AF7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7680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6784F893-5FF6-4AC1-ABBA-C756C192B6F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7885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D2B4AC0B-9069-4A26-B294-3E25557E9909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809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FFFF6B31-E199-433E-A3E8-A0EBAD76529E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8294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0C9DCB2E-23DF-44CE-B022-8ECDC2F6AE65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849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862F94D2-0372-4B01-A2D6-826265127D6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870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F7F6B4FD-E1B7-499D-BC21-8CF9E3015112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890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2DED44BB-5F5D-47F0-AE63-556146846A3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911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3B490DB7-79D7-4D86-A66F-AF95508C70F8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9318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C9C19BF1-AB27-4C39-B801-631DF460A5B1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952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4B9D2285-EAA7-4625-8253-878DE6920237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972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3C1F62EF-CF4B-4829-847A-1EE12528D54A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9933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5A9C2C47-5F25-43E9-84DF-C5B59571A4F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10138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547EA5A1-8E46-4E4F-AEAD-80EF363A7FD0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ko-KR" altLang="en-US"/>
          </a:p>
        </p:txBody>
      </p:sp>
      <p:sp>
        <p:nvSpPr>
          <p:cNvPr id="10342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3AE01D19-1288-4058-A387-2E2C5F5E8E15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정제목">
    <p:bg>
      <p:bgPr>
        <a:solidFill>
          <a:schemeClr val="bg1">
            <a:lumMod val="8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5517232"/>
            <a:ext cx="12192000" cy="1483200"/>
          </a:xfrm>
          <a:prstGeom prst="rect">
            <a:avLst/>
          </a:prstGeom>
          <a:solidFill>
            <a:srgbClr val="0F4A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/>
          </a:p>
        </p:txBody>
      </p:sp>
      <p:sp>
        <p:nvSpPr>
          <p:cNvPr id="6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5257800" y="1600200"/>
            <a:ext cx="6248400" cy="3524400"/>
          </a:xfrm>
        </p:spPr>
        <p:txBody>
          <a:bodyPr/>
          <a:lstStyle>
            <a:lvl1pPr marL="0" indent="0">
              <a:lnSpc>
                <a:spcPct val="150000"/>
              </a:lnSpc>
              <a:buFontTx/>
              <a:buNone/>
              <a:defRPr sz="22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491" y="685800"/>
            <a:ext cx="3549761" cy="4438800"/>
          </a:xfrm>
          <a:prstGeom prst="rect">
            <a:avLst/>
          </a:prstGeom>
          <a:ln w="3175">
            <a:solidFill>
              <a:srgbClr val="0E57A6"/>
            </a:solidFill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8"/>
          <p:cNvSpPr/>
          <p:nvPr userDrawn="1"/>
        </p:nvSpPr>
        <p:spPr>
          <a:xfrm>
            <a:off x="431371" y="404814"/>
            <a:ext cx="11330516" cy="6048375"/>
          </a:xfrm>
          <a:prstGeom prst="roundRect">
            <a:avLst>
              <a:gd name="adj" fmla="val 2853"/>
            </a:avLst>
          </a:prstGeom>
          <a:solidFill>
            <a:schemeClr val="bg1">
              <a:lumMod val="95000"/>
              <a:alpha val="69804"/>
            </a:schemeClr>
          </a:solidFill>
          <a:ln w="53975">
            <a:solidFill>
              <a:srgbClr val="0F4A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/>
          </a:p>
        </p:txBody>
      </p:sp>
      <p:sp>
        <p:nvSpPr>
          <p:cNvPr id="5" name="TextBox 9"/>
          <p:cNvSpPr txBox="1"/>
          <p:nvPr userDrawn="1"/>
        </p:nvSpPr>
        <p:spPr>
          <a:xfrm>
            <a:off x="1007435" y="906959"/>
            <a:ext cx="101533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  <a:cs typeface="Tahoma" panose="020B0604030504040204" pitchFamily="34" charset="0"/>
              </a:rPr>
              <a:t>학습목표</a:t>
            </a:r>
            <a:endParaRPr kumimoji="0" lang="ko-KR" altLang="en-US" sz="4400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HY견고딕" panose="02030600000101010101" pitchFamily="18" charset="-127"/>
              <a:ea typeface="HY견고딕" panose="02030600000101010101" pitchFamily="18" charset="-127"/>
              <a:cs typeface="Tahoma" panose="020B0604030504040204" pitchFamily="34" charset="0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2495600" y="2780927"/>
            <a:ext cx="7704856" cy="3174851"/>
          </a:xfrm>
        </p:spPr>
        <p:txBody>
          <a:bodyPr/>
          <a:lstStyle>
            <a:lvl1pPr marL="358775" indent="-358775">
              <a:lnSpc>
                <a:spcPct val="15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ü"/>
              <a:defRPr sz="22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절제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6741368"/>
            <a:ext cx="12192000" cy="259064"/>
          </a:xfrm>
          <a:prstGeom prst="rect">
            <a:avLst/>
          </a:prstGeom>
          <a:solidFill>
            <a:srgbClr val="0F4A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/>
          </a:p>
        </p:txBody>
      </p:sp>
      <p:sp>
        <p:nvSpPr>
          <p:cNvPr id="5" name="직사각형 6"/>
          <p:cNvSpPr/>
          <p:nvPr userDrawn="1"/>
        </p:nvSpPr>
        <p:spPr>
          <a:xfrm>
            <a:off x="0" y="-5385"/>
            <a:ext cx="12192000" cy="259064"/>
          </a:xfrm>
          <a:prstGeom prst="rect">
            <a:avLst/>
          </a:prstGeom>
          <a:solidFill>
            <a:srgbClr val="0F4A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/>
          </a:p>
        </p:txBody>
      </p:sp>
      <p:sp>
        <p:nvSpPr>
          <p:cNvPr id="8" name="제목 13"/>
          <p:cNvSpPr>
            <a:spLocks noGrp="1"/>
          </p:cNvSpPr>
          <p:nvPr>
            <p:ph type="title"/>
          </p:nvPr>
        </p:nvSpPr>
        <p:spPr>
          <a:xfrm>
            <a:off x="0" y="2489393"/>
            <a:ext cx="12192000" cy="1125853"/>
          </a:xfrm>
          <a:solidFill>
            <a:srgbClr val="F2F2F2"/>
          </a:solidFill>
        </p:spPr>
        <p:txBody>
          <a:bodyPr/>
          <a:lstStyle>
            <a:lvl1pPr algn="ctr">
              <a:defRPr sz="4800" b="0">
                <a:solidFill>
                  <a:srgbClr val="3F2E1F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>
            <a:spLocks noGrp="1"/>
          </p:cNvSpPr>
          <p:nvPr>
            <p:ph idx="10" hasCustomPrompt="1"/>
          </p:nvPr>
        </p:nvSpPr>
        <p:spPr>
          <a:xfrm>
            <a:off x="1492537" y="2542622"/>
            <a:ext cx="8908026" cy="4054730"/>
          </a:xfrm>
        </p:spPr>
        <p:txBody>
          <a:bodyPr/>
          <a:lstStyle>
            <a:lvl1pPr marL="265430" indent="-26543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Clr>
                <a:srgbClr val="00B0F0"/>
              </a:buClr>
              <a:buFont typeface="Arial" panose="020B0604020202020204" pitchFamily="34" charset="0"/>
              <a:buChar char="•"/>
              <a:defRPr lang="ko-KR" altLang="en-US" sz="24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Clr>
                <a:schemeClr val="accent6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2000" b="0"/>
            </a:lvl2pPr>
            <a:lvl3pPr marL="628650" indent="-180975">
              <a:lnSpc>
                <a:spcPct val="120000"/>
              </a:lnSpc>
              <a:spcAft>
                <a:spcPts val="600"/>
              </a:spcAft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800"/>
            </a:lvl3pPr>
            <a:lvl4pPr marL="809625" indent="-180975">
              <a:spcAft>
                <a:spcPts val="600"/>
              </a:spcAft>
              <a:buClr>
                <a:srgbClr val="D9737E"/>
              </a:buClr>
              <a:buSzPct val="96000"/>
              <a:defRPr sz="1600"/>
            </a:lvl4pPr>
            <a:lvl5pPr marL="990600" indent="-180975">
              <a:buClr>
                <a:srgbClr val="D9737E"/>
              </a:buClr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endParaRPr lang="ko-KR" altLang="en-US" dirty="0"/>
          </a:p>
        </p:txBody>
      </p:sp>
      <p:sp>
        <p:nvSpPr>
          <p:cNvPr id="15" name="슬라이드 번호 개체 틀 2"/>
          <p:cNvSpPr txBox="1"/>
          <p:nvPr userDrawn="1">
            <p:custDataLst>
              <p:tags r:id="rId2"/>
            </p:custDataLst>
          </p:nvPr>
        </p:nvSpPr>
        <p:spPr>
          <a:xfrm>
            <a:off x="186268" y="6525348"/>
            <a:ext cx="11675533" cy="280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1" i="1" kern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fld id="{926EA8F1-C76B-4BC6-98C4-C2D2384EDDB7}" type="slidenum">
              <a:rPr lang="en-US" altLang="ko-KR" kern="0" smtClean="0">
                <a:latin typeface="Verdana" panose="020B0604030504040204"/>
              </a:rPr>
            </a:fld>
            <a:endParaRPr lang="en-US" altLang="ko-KR" kern="0" dirty="0">
              <a:latin typeface="Verdana" panose="020B0604030504040204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908051"/>
            <a:ext cx="12192000" cy="0"/>
            <a:chOff x="0" y="908051"/>
            <a:chExt cx="12192000" cy="0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2832992" y="908051"/>
              <a:ext cx="3119669" cy="0"/>
            </a:xfrm>
            <a:prstGeom prst="line">
              <a:avLst/>
            </a:prstGeom>
            <a:ln w="76200">
              <a:solidFill>
                <a:srgbClr val="1877AC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952662" y="908051"/>
              <a:ext cx="3119669" cy="0"/>
            </a:xfrm>
            <a:prstGeom prst="line">
              <a:avLst/>
            </a:prstGeom>
            <a:ln w="76200">
              <a:solidFill>
                <a:srgbClr val="61B8E9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 userDrawn="1"/>
          </p:nvCxnSpPr>
          <p:spPr>
            <a:xfrm>
              <a:off x="9072331" y="908051"/>
              <a:ext cx="3119669" cy="0"/>
            </a:xfrm>
            <a:prstGeom prst="line">
              <a:avLst/>
            </a:prstGeom>
            <a:ln w="76200">
              <a:solidFill>
                <a:srgbClr val="D3EBF9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 userDrawn="1"/>
          </p:nvCxnSpPr>
          <p:spPr>
            <a:xfrm>
              <a:off x="0" y="908051"/>
              <a:ext cx="3119669" cy="0"/>
            </a:xfrm>
            <a:prstGeom prst="line">
              <a:avLst/>
            </a:prstGeom>
            <a:ln w="76200">
              <a:solidFill>
                <a:srgbClr val="0F4A6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 userDrawn="1"/>
        </p:nvSpPr>
        <p:spPr>
          <a:xfrm>
            <a:off x="538385" y="116632"/>
            <a:ext cx="6552728" cy="6480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40404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vl="0"/>
            <a:r>
              <a:rPr lang="en-US" altLang="ko-KR" dirty="0">
                <a:solidFill>
                  <a:srgbClr val="1877AC"/>
                </a:solidFill>
              </a:rPr>
              <a:t>`</a:t>
            </a:r>
            <a:r>
              <a:rPr lang="ko-KR" altLang="en-US" dirty="0">
                <a:solidFill>
                  <a:srgbClr val="1877AC"/>
                </a:solidFill>
              </a:rPr>
              <a:t>학습목표</a:t>
            </a:r>
            <a:endParaRPr lang="ko-KR" altLang="en-US" dirty="0">
              <a:solidFill>
                <a:srgbClr val="1877AC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38385" y="116632"/>
            <a:ext cx="11161946" cy="620463"/>
          </a:xfrm>
        </p:spPr>
        <p:txBody>
          <a:bodyPr/>
          <a:lstStyle>
            <a:lvl1pPr algn="l">
              <a:defRPr sz="3200" b="0">
                <a:solidFill>
                  <a:srgbClr val="40404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ko-KR" altLang="en-US" dirty="0"/>
          </a:p>
        </p:txBody>
      </p:sp>
      <p:sp>
        <p:nvSpPr>
          <p:cNvPr id="10" name="내용 개체 틀 2"/>
          <p:cNvSpPr>
            <a:spLocks noGrp="1"/>
          </p:cNvSpPr>
          <p:nvPr>
            <p:ph idx="10" hasCustomPrompt="1"/>
          </p:nvPr>
        </p:nvSpPr>
        <p:spPr>
          <a:xfrm>
            <a:off x="538385" y="1079008"/>
            <a:ext cx="11161945" cy="5518344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n"/>
              <a:defRPr lang="ko-KR" altLang="en-US" sz="24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Clr>
                <a:schemeClr val="accent6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2000" b="0"/>
            </a:lvl2pPr>
            <a:lvl3pPr marL="628650" indent="-180975">
              <a:lnSpc>
                <a:spcPct val="120000"/>
              </a:lnSpc>
              <a:spcAft>
                <a:spcPts val="600"/>
              </a:spcAft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800"/>
            </a:lvl3pPr>
            <a:lvl4pPr marL="809625" indent="-180975">
              <a:spcAft>
                <a:spcPts val="600"/>
              </a:spcAft>
              <a:buClr>
                <a:srgbClr val="D9737E"/>
              </a:buClr>
              <a:buSzPct val="96000"/>
              <a:defRPr sz="1600"/>
            </a:lvl4pPr>
            <a:lvl5pPr marL="990600" indent="-180975">
              <a:buClr>
                <a:srgbClr val="D9737E"/>
              </a:buClr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  <a:endParaRPr lang="ko-KR" altLang="en-US" dirty="0"/>
          </a:p>
          <a:p>
            <a:pPr lvl="3"/>
            <a:r>
              <a:rPr lang="ko-KR" altLang="en-US" dirty="0"/>
              <a:t>넷째 수준</a:t>
            </a:r>
            <a:endParaRPr lang="ko-KR" altLang="en-US" dirty="0"/>
          </a:p>
        </p:txBody>
      </p:sp>
      <p:sp>
        <p:nvSpPr>
          <p:cNvPr id="15" name="슬라이드 번호 개체 틀 2"/>
          <p:cNvSpPr txBox="1"/>
          <p:nvPr userDrawn="1">
            <p:custDataLst>
              <p:tags r:id="rId2"/>
            </p:custDataLst>
          </p:nvPr>
        </p:nvSpPr>
        <p:spPr>
          <a:xfrm>
            <a:off x="186268" y="6525348"/>
            <a:ext cx="11675533" cy="280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1" i="1" kern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fld id="{926EA8F1-C76B-4BC6-98C4-C2D2384EDDB7}" type="slidenum">
              <a:rPr lang="en-US" altLang="ko-KR" kern="0" smtClean="0">
                <a:latin typeface="Verdana" panose="020B0604030504040204"/>
              </a:rPr>
            </a:fld>
            <a:endParaRPr lang="en-US" altLang="ko-KR" kern="0" dirty="0">
              <a:latin typeface="Verdana" panose="020B0604030504040204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908051"/>
            <a:ext cx="12192000" cy="0"/>
            <a:chOff x="0" y="908051"/>
            <a:chExt cx="12192000" cy="0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2832992" y="908051"/>
              <a:ext cx="3119669" cy="0"/>
            </a:xfrm>
            <a:prstGeom prst="line">
              <a:avLst/>
            </a:prstGeom>
            <a:ln w="76200">
              <a:solidFill>
                <a:srgbClr val="1877AC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952662" y="908051"/>
              <a:ext cx="3119669" cy="0"/>
            </a:xfrm>
            <a:prstGeom prst="line">
              <a:avLst/>
            </a:prstGeom>
            <a:ln w="76200">
              <a:solidFill>
                <a:srgbClr val="61B8E9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 userDrawn="1"/>
          </p:nvCxnSpPr>
          <p:spPr>
            <a:xfrm>
              <a:off x="9072331" y="908051"/>
              <a:ext cx="3119669" cy="0"/>
            </a:xfrm>
            <a:prstGeom prst="line">
              <a:avLst/>
            </a:prstGeom>
            <a:ln w="76200">
              <a:solidFill>
                <a:srgbClr val="D3EBF9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 userDrawn="1"/>
          </p:nvCxnSpPr>
          <p:spPr>
            <a:xfrm>
              <a:off x="0" y="908051"/>
              <a:ext cx="3119669" cy="0"/>
            </a:xfrm>
            <a:prstGeom prst="line">
              <a:avLst/>
            </a:prstGeom>
            <a:ln w="76200">
              <a:solidFill>
                <a:srgbClr val="0F4A6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주요 내용 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2"/>
          <p:cNvSpPr txBox="1"/>
          <p:nvPr userDrawn="1">
            <p:custDataLst>
              <p:tags r:id="rId2"/>
            </p:custDataLst>
          </p:nvPr>
        </p:nvSpPr>
        <p:spPr>
          <a:xfrm>
            <a:off x="186268" y="6525348"/>
            <a:ext cx="11675533" cy="280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1" i="1" kern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fld id="{926EA8F1-C76B-4BC6-98C4-C2D2384EDDB7}" type="slidenum">
              <a:rPr lang="en-US" altLang="ko-KR" kern="0" smtClean="0">
                <a:latin typeface="Verdana" panose="020B0604030504040204"/>
              </a:rPr>
            </a:fld>
            <a:endParaRPr lang="en-US" altLang="ko-KR" kern="0" dirty="0">
              <a:latin typeface="Verdana" panose="020B0604030504040204"/>
            </a:endParaRPr>
          </a:p>
        </p:txBody>
      </p:sp>
      <p:grpSp>
        <p:nvGrpSpPr>
          <p:cNvPr id="18" name="그룹 17"/>
          <p:cNvGrpSpPr/>
          <p:nvPr userDrawn="1"/>
        </p:nvGrpSpPr>
        <p:grpSpPr>
          <a:xfrm>
            <a:off x="0" y="116632"/>
            <a:ext cx="12192000" cy="0"/>
            <a:chOff x="0" y="908051"/>
            <a:chExt cx="12192000" cy="0"/>
          </a:xfrm>
        </p:grpSpPr>
        <p:cxnSp>
          <p:nvCxnSpPr>
            <p:cNvPr id="19" name="직선 연결선 18"/>
            <p:cNvCxnSpPr/>
            <p:nvPr userDrawn="1"/>
          </p:nvCxnSpPr>
          <p:spPr>
            <a:xfrm>
              <a:off x="2832992" y="908051"/>
              <a:ext cx="3119669" cy="0"/>
            </a:xfrm>
            <a:prstGeom prst="line">
              <a:avLst/>
            </a:prstGeom>
            <a:ln w="76200">
              <a:solidFill>
                <a:srgbClr val="1877AC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 userDrawn="1"/>
          </p:nvCxnSpPr>
          <p:spPr>
            <a:xfrm>
              <a:off x="5952662" y="908051"/>
              <a:ext cx="3119669" cy="0"/>
            </a:xfrm>
            <a:prstGeom prst="line">
              <a:avLst/>
            </a:prstGeom>
            <a:ln w="76200">
              <a:solidFill>
                <a:srgbClr val="61B8E9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 userDrawn="1"/>
          </p:nvCxnSpPr>
          <p:spPr>
            <a:xfrm>
              <a:off x="9072331" y="908051"/>
              <a:ext cx="3119669" cy="0"/>
            </a:xfrm>
            <a:prstGeom prst="line">
              <a:avLst/>
            </a:prstGeom>
            <a:ln w="76200">
              <a:solidFill>
                <a:srgbClr val="D3EBF9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0" y="908051"/>
              <a:ext cx="3119669" cy="0"/>
            </a:xfrm>
            <a:prstGeom prst="line">
              <a:avLst/>
            </a:prstGeom>
            <a:ln w="76200">
              <a:solidFill>
                <a:srgbClr val="0F4A6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6"/>
          <p:cNvSpPr/>
          <p:nvPr userDrawn="1"/>
        </p:nvSpPr>
        <p:spPr>
          <a:xfrm>
            <a:off x="-1" y="6165304"/>
            <a:ext cx="12192001" cy="692696"/>
          </a:xfrm>
          <a:prstGeom prst="rect">
            <a:avLst/>
          </a:prstGeom>
          <a:solidFill>
            <a:srgbClr val="0F4A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>
              <a:solidFill>
                <a:srgbClr val="008B9C"/>
              </a:solidFill>
            </a:endParaRPr>
          </a:p>
        </p:txBody>
      </p:sp>
      <p:sp>
        <p:nvSpPr>
          <p:cNvPr id="15" name="직사각형 10"/>
          <p:cNvSpPr/>
          <p:nvPr userDrawn="1"/>
        </p:nvSpPr>
        <p:spPr>
          <a:xfrm>
            <a:off x="0" y="6092750"/>
            <a:ext cx="12192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/>
          </a:p>
        </p:txBody>
      </p:sp>
      <p:sp>
        <p:nvSpPr>
          <p:cNvPr id="6" name="WordArt 3"/>
          <p:cNvSpPr>
            <a:spLocks noChangeArrowheads="1" noChangeShapeType="1" noTextEdit="1"/>
          </p:cNvSpPr>
          <p:nvPr userDrawn="1"/>
        </p:nvSpPr>
        <p:spPr bwMode="gray">
          <a:xfrm>
            <a:off x="2831637" y="2492896"/>
            <a:ext cx="6299200" cy="609600"/>
          </a:xfrm>
          <a:prstGeom prst="rect">
            <a:avLst/>
          </a:prstGeom>
          <a:noFill/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>
              <a:defRPr/>
            </a:pPr>
            <a:r>
              <a:rPr lang="en-US" altLang="ko-KR" sz="5400" b="1" kern="10" cap="none" spc="0" baseline="0" dirty="0">
                <a:ln w="18415" cmpd="sng">
                  <a:noFill/>
                  <a:prstDash val="solid"/>
                </a:ln>
                <a:solidFill>
                  <a:srgbClr val="0F4A6B"/>
                </a:solidFill>
                <a:effectLst/>
                <a:latin typeface="Verdana" panose="020B0604030504040204"/>
                <a:cs typeface="+mn-cs"/>
              </a:rPr>
              <a:t>Thank</a:t>
            </a:r>
            <a:r>
              <a:rPr lang="en-US" altLang="ko-KR" sz="5400" b="1" kern="10" cap="none" spc="-150" baseline="0" dirty="0">
                <a:ln w="18415" cmpd="sng">
                  <a:noFill/>
                  <a:prstDash val="solid"/>
                </a:ln>
                <a:solidFill>
                  <a:srgbClr val="0F4A6B"/>
                </a:solidFill>
                <a:effectLst/>
                <a:latin typeface="Verdana" panose="020B0604030504040204"/>
                <a:cs typeface="+mn-cs"/>
              </a:rPr>
              <a:t> </a:t>
            </a:r>
            <a:r>
              <a:rPr lang="en-US" altLang="ko-KR" sz="5400" b="1" kern="10" cap="none" spc="0" baseline="0" dirty="0">
                <a:ln w="18415" cmpd="sng">
                  <a:noFill/>
                  <a:prstDash val="solid"/>
                </a:ln>
                <a:solidFill>
                  <a:srgbClr val="0F4A6B"/>
                </a:solidFill>
                <a:effectLst/>
                <a:latin typeface="Verdana" panose="020B0604030504040204"/>
                <a:cs typeface="+mn-cs"/>
              </a:rPr>
              <a:t>You !</a:t>
            </a:r>
            <a:endParaRPr lang="ko-KR" altLang="en-US" sz="5400" b="1" kern="10" cap="none" spc="0" baseline="0" dirty="0">
              <a:ln w="18415" cmpd="sng">
                <a:noFill/>
                <a:prstDash val="solid"/>
              </a:ln>
              <a:solidFill>
                <a:srgbClr val="0F4A6B"/>
              </a:solidFill>
              <a:effectLst/>
              <a:latin typeface="Verdana" panose="020B0604030504040204"/>
              <a:cs typeface="+mn-cs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4458759" y="6309321"/>
            <a:ext cx="308610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100" b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Copyright 2025 </a:t>
            </a:r>
            <a:r>
              <a:rPr lang="en-US" altLang="ko-KR" sz="1100" b="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Hanbit Academy, Inc.</a:t>
            </a:r>
            <a:endParaRPr lang="en-US" altLang="ko-KR" sz="1100" b="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 eaLnBrk="1" hangingPunct="1">
              <a:defRPr/>
            </a:pPr>
            <a:r>
              <a:rPr lang="en-US" altLang="ko-KR" sz="1100" b="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All rights reserved.</a:t>
            </a:r>
            <a:endParaRPr lang="ko-KR" altLang="ko-KR" sz="1100" b="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408" y="5516685"/>
            <a:ext cx="2298918" cy="432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831850"/>
            <a:ext cx="12192000" cy="0"/>
          </a:xfrm>
          <a:prstGeom prst="line">
            <a:avLst/>
          </a:prstGeom>
          <a:ln w="76200">
            <a:solidFill>
              <a:srgbClr val="E4B90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34433" y="104244"/>
            <a:ext cx="10081120" cy="548680"/>
          </a:xfrm>
        </p:spPr>
        <p:txBody>
          <a:bodyPr/>
          <a:lstStyle>
            <a:lvl1pPr algn="l">
              <a:defRPr sz="2400" b="1"/>
            </a:lvl1pPr>
          </a:lstStyle>
          <a:p>
            <a:r>
              <a:rPr lang="ko-KR" altLang="en-US" dirty="0"/>
              <a:t>마스터 제목 스타일 편집</a:t>
            </a:r>
            <a:endParaRPr lang="ko-KR" altLang="en-US" dirty="0"/>
          </a:p>
        </p:txBody>
      </p:sp>
      <p:sp>
        <p:nvSpPr>
          <p:cNvPr id="12" name="내용 개체 틀 2"/>
          <p:cNvSpPr>
            <a:spLocks noGrp="1"/>
          </p:cNvSpPr>
          <p:nvPr>
            <p:ph idx="1" hasCustomPrompt="1"/>
          </p:nvPr>
        </p:nvSpPr>
        <p:spPr>
          <a:xfrm>
            <a:off x="394627" y="1010777"/>
            <a:ext cx="11522207" cy="5472608"/>
          </a:xfrm>
        </p:spPr>
        <p:txBody>
          <a:bodyPr/>
          <a:lstStyle>
            <a:lvl1pPr marL="266700" indent="-2667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2000" b="1">
                <a:latin typeface="+mn-ea"/>
                <a:ea typeface="+mn-ea"/>
              </a:defRPr>
            </a:lvl1pPr>
            <a:lvl2pPr marL="447675" indent="-180975">
              <a:lnSpc>
                <a:spcPct val="100000"/>
              </a:lnSpc>
              <a:spcAft>
                <a:spcPts val="400"/>
              </a:spcAft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sz="1800"/>
            </a:lvl2pPr>
            <a:lvl3pPr marL="628650" indent="-180975">
              <a:lnSpc>
                <a:spcPct val="100000"/>
              </a:lnSpc>
              <a:spcAft>
                <a:spcPts val="300"/>
              </a:spcAft>
              <a:buClr>
                <a:schemeClr val="tx1"/>
              </a:buClr>
              <a:defRPr sz="1600"/>
            </a:lvl3pPr>
            <a:lvl4pPr marL="809625" indent="-180975">
              <a:lnSpc>
                <a:spcPct val="100000"/>
              </a:lnSpc>
              <a:spcAft>
                <a:spcPts val="300"/>
              </a:spcAft>
              <a:buSzPct val="96000"/>
              <a:defRPr sz="1400"/>
            </a:lvl4pPr>
            <a:lvl5pPr marL="990600" indent="-180975">
              <a:lnSpc>
                <a:spcPct val="100000"/>
              </a:lnSpc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  <a:endParaRPr lang="ko-KR" altLang="en-US" dirty="0"/>
          </a:p>
          <a:p>
            <a:pPr lvl="3"/>
            <a:r>
              <a:rPr lang="ko-KR" altLang="en-US" dirty="0"/>
              <a:t>넷째 수준</a:t>
            </a:r>
            <a:endParaRPr lang="ko-KR" altLang="en-US" dirty="0"/>
          </a:p>
          <a:p>
            <a:pPr lvl="4"/>
            <a:r>
              <a:rPr lang="ko-KR" altLang="en-US" dirty="0"/>
              <a:t>다섯째 수준</a:t>
            </a:r>
            <a:endParaRPr lang="ko-KR" altLang="en-US" dirty="0"/>
          </a:p>
        </p:txBody>
      </p:sp>
      <p:sp>
        <p:nvSpPr>
          <p:cNvPr id="5" name="슬라이드 번호 개체 틀 9"/>
          <p:cNvSpPr>
            <a:spLocks noGrp="1"/>
          </p:cNvSpPr>
          <p:nvPr>
            <p:ph type="sldNum" sz="quarter" idx="10"/>
          </p:nvPr>
        </p:nvSpPr>
        <p:spPr>
          <a:xfrm>
            <a:off x="10801351" y="6503988"/>
            <a:ext cx="1115483" cy="3540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370F8DFB-B934-4125-87E6-16C0ACF0DF02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335360" y="274638"/>
            <a:ext cx="11617291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335360" y="1600200"/>
            <a:ext cx="11617291" cy="48531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ko-KR" altLang="en-US" dirty="0"/>
              <a:t>마스터 텍스트 스타일을 편집합니다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  <a:endParaRPr lang="ko-KR" altLang="en-US" dirty="0"/>
          </a:p>
          <a:p>
            <a:pPr lvl="3"/>
            <a:r>
              <a:rPr lang="ko-KR" altLang="en-US" dirty="0"/>
              <a:t>넷째 수준</a:t>
            </a:r>
            <a:endParaRPr lang="ko-KR" altLang="en-US" dirty="0"/>
          </a:p>
          <a:p>
            <a:pPr lvl="4"/>
            <a:r>
              <a:rPr lang="ko-KR" altLang="en-US" dirty="0"/>
              <a:t>다섯째 수준</a:t>
            </a:r>
            <a:endParaRPr lang="ko-KR" altLang="en-US" dirty="0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534870"/>
            <a:ext cx="28448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525345"/>
            <a:ext cx="38608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515820"/>
            <a:ext cx="28448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hyperlink" Target="https://archive.ics.uci.edu/" TargetMode="Externa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6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1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3.png"/><Relationship Id="rId3" Type="http://schemas.openxmlformats.org/officeDocument/2006/relationships/image" Target="../media/image10.png"/><Relationship Id="rId2" Type="http://schemas.openxmlformats.org/officeDocument/2006/relationships/image" Target="../media/image44.png"/><Relationship Id="rId1" Type="http://schemas.openxmlformats.org/officeDocument/2006/relationships/image" Target="../media/image43.jpe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5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1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5.png"/><Relationship Id="rId2" Type="http://schemas.openxmlformats.org/officeDocument/2006/relationships/image" Target="../media/image48.png"/><Relationship Id="rId1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1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1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1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2.png"/><Relationship Id="rId2" Type="http://schemas.openxmlformats.org/officeDocument/2006/relationships/image" Target="../media/image51.png"/><Relationship Id="rId1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1" Type="http://schemas.openxmlformats.org/officeDocument/2006/relationships/image" Target="../media/image32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2.png"/><Relationship Id="rId2" Type="http://schemas.openxmlformats.org/officeDocument/2006/relationships/image" Target="../media/image32.png"/><Relationship Id="rId1" Type="http://schemas.openxmlformats.org/officeDocument/2006/relationships/image" Target="../media/image53.jpeg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52.png"/><Relationship Id="rId3" Type="http://schemas.openxmlformats.org/officeDocument/2006/relationships/image" Target="../media/image32.png"/><Relationship Id="rId2" Type="http://schemas.openxmlformats.org/officeDocument/2006/relationships/image" Target="../media/image55.png"/><Relationship Id="rId1" Type="http://schemas.openxmlformats.org/officeDocument/2006/relationships/image" Target="../media/image54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5134232" y="1056503"/>
            <a:ext cx="6470866" cy="3524400"/>
          </a:xfrm>
        </p:spPr>
        <p:txBody>
          <a:bodyPr/>
          <a:lstStyle/>
          <a:p>
            <a:pPr>
              <a:spcBef>
                <a:spcPts val="100"/>
              </a:spcBef>
            </a:pPr>
            <a:r>
              <a:rPr lang="en-US" altLang="ko-KR" dirty="0">
                <a:solidFill>
                  <a:srgbClr val="7F7F7F"/>
                </a:solidFill>
              </a:rPr>
              <a:t>01</a:t>
            </a:r>
            <a:r>
              <a:rPr lang="en-US" altLang="ko-KR" dirty="0"/>
              <a:t> </a:t>
            </a:r>
            <a:r>
              <a:rPr lang="en-US" altLang="ko-KR" sz="1800" b="0" dirty="0"/>
              <a:t>[</a:t>
            </a:r>
            <a:r>
              <a:rPr lang="ko-KR" altLang="en-US" sz="1800" b="0" dirty="0"/>
              <a:t>기술 통계 분석 </a:t>
            </a:r>
            <a:r>
              <a:rPr lang="en-US" altLang="ko-KR" sz="1800" b="0" dirty="0"/>
              <a:t>+ </a:t>
            </a:r>
            <a:r>
              <a:rPr lang="ko-KR" altLang="en-US" sz="1800" b="0" dirty="0"/>
              <a:t>그래프</a:t>
            </a:r>
            <a:r>
              <a:rPr lang="en-US" altLang="ko-KR" sz="1800" b="0" dirty="0"/>
              <a:t>]</a:t>
            </a:r>
            <a:r>
              <a:rPr lang="ko-KR" altLang="en-US" sz="1800" dirty="0"/>
              <a:t> </a:t>
            </a:r>
            <a:r>
              <a:rPr lang="ko-KR" altLang="en-US" dirty="0"/>
              <a:t>와인 품질 등급 예측하기</a:t>
            </a:r>
            <a:endParaRPr lang="en-US" altLang="ko-KR" dirty="0"/>
          </a:p>
          <a:p>
            <a:pPr>
              <a:spcBef>
                <a:spcPts val="100"/>
              </a:spcBef>
            </a:pPr>
            <a:r>
              <a:rPr lang="en-US" altLang="zh-CN" b="0" dirty="0"/>
              <a:t>[</a:t>
            </a:r>
            <a:r>
              <a:rPr lang="zh-CN" altLang="en-US" b="0" dirty="0"/>
              <a:t>技术统计分析</a:t>
            </a:r>
            <a:r>
              <a:rPr lang="en-US" altLang="zh-CN" b="0" dirty="0"/>
              <a:t>+</a:t>
            </a:r>
            <a:r>
              <a:rPr lang="zh-CN" altLang="en-US" b="0" dirty="0"/>
              <a:t>图表</a:t>
            </a:r>
            <a:r>
              <a:rPr lang="en-US" altLang="zh-CN" b="0" dirty="0"/>
              <a:t>]</a:t>
            </a:r>
            <a:r>
              <a:rPr lang="zh-CN" altLang="en-US" b="0" dirty="0"/>
              <a:t>预测葡萄酒质量评级</a:t>
            </a:r>
            <a:r>
              <a:rPr lang="en-US" altLang="ko-KR" b="0" dirty="0"/>
              <a:t> </a:t>
            </a:r>
            <a:endParaRPr lang="en-US" altLang="ko-KR" b="0" dirty="0"/>
          </a:p>
          <a:p>
            <a:pPr>
              <a:spcBef>
                <a:spcPts val="100"/>
              </a:spcBef>
            </a:pPr>
            <a:r>
              <a:rPr lang="en-US" altLang="ko-KR" dirty="0">
                <a:solidFill>
                  <a:srgbClr val="7F7F7F"/>
                </a:solidFill>
              </a:rPr>
              <a:t>02</a:t>
            </a:r>
            <a:r>
              <a:rPr lang="en-US" altLang="ko-KR" dirty="0"/>
              <a:t> </a:t>
            </a:r>
            <a:r>
              <a:rPr lang="en-US" altLang="ko-KR" sz="1800" b="0" i="0" u="none" strike="noStrike" baseline="0" dirty="0">
                <a:latin typeface="华康黑体W12" charset="0"/>
              </a:rPr>
              <a:t>[</a:t>
            </a:r>
            <a:r>
              <a:rPr lang="ko-KR" altLang="en-US" sz="1800" b="0" i="0" u="none" strike="noStrike" baseline="0" dirty="0">
                <a:latin typeface="华康黑体W12" charset="0"/>
              </a:rPr>
              <a:t>상관 분석 </a:t>
            </a:r>
            <a:r>
              <a:rPr lang="en-US" altLang="ko-KR" sz="1800" b="0" i="0" u="none" strike="noStrike" baseline="0" dirty="0">
                <a:latin typeface="华康黑体W12" charset="0"/>
              </a:rPr>
              <a:t>+ </a:t>
            </a:r>
            <a:r>
              <a:rPr lang="ko-KR" altLang="en-US" sz="1800" b="0" i="0" u="none" strike="noStrike" baseline="0" dirty="0" err="1">
                <a:latin typeface="华康黑体W12" charset="0"/>
              </a:rPr>
              <a:t>히트맵</a:t>
            </a:r>
            <a:r>
              <a:rPr lang="en-US" altLang="ko-KR" sz="1800" b="0" i="0" u="none" strike="noStrike" baseline="0" dirty="0">
                <a:latin typeface="华康黑体W12" charset="0"/>
              </a:rPr>
              <a:t>] </a:t>
            </a:r>
            <a:r>
              <a:rPr lang="ko-KR" altLang="en-US" i="0" u="none" strike="noStrike" baseline="0" dirty="0" err="1">
                <a:latin typeface="华康黑体W12" charset="0"/>
              </a:rPr>
              <a:t>타이타닉호</a:t>
            </a:r>
            <a:r>
              <a:rPr lang="ko-KR" altLang="en-US" i="0" u="none" strike="noStrike" baseline="0" dirty="0">
                <a:latin typeface="华康黑体W12" charset="0"/>
              </a:rPr>
              <a:t> 생존율 분석하기</a:t>
            </a:r>
            <a:endParaRPr lang="en-US" altLang="ko-KR" dirty="0">
              <a:latin typeface="华康黑体W12" charset="0"/>
            </a:endParaRPr>
          </a:p>
          <a:p>
            <a:pPr>
              <a:spcBef>
                <a:spcPts val="100"/>
              </a:spcBef>
            </a:pPr>
            <a:r>
              <a:rPr lang="en-US" altLang="zh-CN" b="0" dirty="0"/>
              <a:t>[</a:t>
            </a:r>
            <a:r>
              <a:rPr lang="zh-CN" altLang="en-US" b="0" dirty="0"/>
              <a:t>相关性分析</a:t>
            </a:r>
            <a:r>
              <a:rPr lang="en-US" altLang="zh-CN" b="0" dirty="0"/>
              <a:t>+</a:t>
            </a:r>
            <a:r>
              <a:rPr lang="zh-CN" altLang="en-US" b="0" dirty="0"/>
              <a:t>热力图</a:t>
            </a:r>
            <a:r>
              <a:rPr lang="en-US" altLang="zh-CN" b="0" dirty="0"/>
              <a:t>]</a:t>
            </a:r>
            <a:r>
              <a:rPr lang="zh-CN" altLang="en-US" b="0" dirty="0"/>
              <a:t>分析泰坦尼克号存活率</a:t>
            </a:r>
            <a:endParaRPr lang="en-US" altLang="ko-KR" dirty="0"/>
          </a:p>
        </p:txBody>
      </p:sp>
      <p:sp>
        <p:nvSpPr>
          <p:cNvPr id="4" name="제목 1"/>
          <p:cNvSpPr txBox="1"/>
          <p:nvPr/>
        </p:nvSpPr>
        <p:spPr bwMode="auto">
          <a:xfrm>
            <a:off x="0" y="5517232"/>
            <a:ext cx="12192000" cy="15121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36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Chapter 07 </a:t>
            </a:r>
            <a:r>
              <a:rPr lang="ko-KR" altLang="en-US" sz="36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통계 분석 </a:t>
            </a:r>
            <a:r>
              <a:rPr lang="ko-KR" altLang="en-US" dirty="0">
                <a:solidFill>
                  <a:schemeClr val="bg1"/>
                </a:solidFill>
                <a:latin typeface="SimSun" panose="02010600030101010101" pitchFamily="2" charset="-122"/>
              </a:rPr>
              <a:t>统计分析</a:t>
            </a:r>
            <a:endParaRPr lang="ko-KR" altLang="en-US" sz="3600" b="1" dirty="0">
              <a:solidFill>
                <a:schemeClr val="bg1"/>
              </a:solidFill>
              <a:latin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1718386" y="2092669"/>
            <a:ext cx="9213934" cy="3174851"/>
          </a:xfrm>
        </p:spPr>
        <p:txBody>
          <a:bodyPr/>
          <a:lstStyle/>
          <a:p>
            <a:r>
              <a:rPr lang="ko-KR" altLang="en-US" dirty="0"/>
              <a:t>빅데이터 분석의 가장 기본인 통계 분석 프로젝트를 실습할 수 있다</a:t>
            </a:r>
            <a:r>
              <a:rPr lang="en-US" altLang="ko-KR" dirty="0"/>
              <a:t>.</a:t>
            </a:r>
            <a:endParaRPr lang="en-US" altLang="ko-KR" dirty="0"/>
          </a:p>
          <a:p>
            <a:r>
              <a:rPr lang="zh-CN" altLang="en-US" b="0" dirty="0"/>
              <a:t>可以练习统计分析项目，这是大数据分析最基础的项目。</a:t>
            </a:r>
            <a:endParaRPr lang="en-US" altLang="ko-KR" dirty="0"/>
          </a:p>
          <a:p>
            <a:r>
              <a:rPr lang="ko-KR" altLang="en-US" dirty="0"/>
              <a:t>기술 통계를 이용해 데이터를 확인하는 방법을 안다</a:t>
            </a:r>
            <a:r>
              <a:rPr lang="en-US" altLang="ko-KR" dirty="0"/>
              <a:t>.</a:t>
            </a:r>
            <a:endParaRPr lang="en-US" altLang="ko-KR" dirty="0"/>
          </a:p>
          <a:p>
            <a:r>
              <a:rPr lang="zh-CN" altLang="en-US" b="0" dirty="0"/>
              <a:t>知道如何使用描述性统计检查数据。</a:t>
            </a:r>
            <a:endParaRPr lang="en-US" altLang="ko-KR" dirty="0"/>
          </a:p>
          <a:p>
            <a:r>
              <a:rPr lang="ko-KR" altLang="en-US" dirty="0"/>
              <a:t>회귀 분석과 상관 분석을 수행할 수 있다</a:t>
            </a:r>
            <a:r>
              <a:rPr lang="en-US" altLang="ko-KR" dirty="0"/>
              <a:t>.</a:t>
            </a:r>
            <a:endParaRPr lang="en-US" altLang="ko-KR" dirty="0"/>
          </a:p>
          <a:p>
            <a:r>
              <a:rPr lang="zh-CN" altLang="en-US" b="0" dirty="0"/>
              <a:t>可以进行回归分析和相关性分析。</a:t>
            </a:r>
            <a:endParaRPr lang="en-US" altLang="ko-K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분석 미리보기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en-US" altLang="ko-KR" dirty="0"/>
              <a:t>   </a:t>
            </a:r>
            <a:r>
              <a:rPr lang="ko-KR" altLang="en-US" b="0" dirty="0"/>
              <a:t>预览分析</a:t>
            </a:r>
            <a:endParaRPr lang="en-US" altLang="ko-KR" dirty="0"/>
          </a:p>
        </p:txBody>
      </p:sp>
      <p:grpSp>
        <p:nvGrpSpPr>
          <p:cNvPr id="2" name="그룹 1"/>
          <p:cNvGrpSpPr/>
          <p:nvPr/>
        </p:nvGrpSpPr>
        <p:grpSpPr>
          <a:xfrm>
            <a:off x="3066801" y="1079008"/>
            <a:ext cx="5704436" cy="5776818"/>
            <a:chOff x="4295775" y="874713"/>
            <a:chExt cx="5556250" cy="5878512"/>
          </a:xfrm>
        </p:grpSpPr>
        <p:sp>
          <p:nvSpPr>
            <p:cNvPr id="13315" name="TextBox 3"/>
            <p:cNvSpPr txBox="1">
              <a:spLocks noChangeArrowheads="1"/>
            </p:cNvSpPr>
            <p:nvPr/>
          </p:nvSpPr>
          <p:spPr bwMode="auto">
            <a:xfrm>
              <a:off x="5657850" y="2973388"/>
              <a:ext cx="914400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3600">
                <a:ea typeface="굴림" panose="020B0600000101010101" pitchFamily="50" charset="-127"/>
              </a:endParaRPr>
            </a:p>
          </p:txBody>
        </p:sp>
        <p:pic>
          <p:nvPicPr>
            <p:cNvPr id="13317" name="그림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5775" y="874713"/>
              <a:ext cx="5556250" cy="5878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그림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295775" y="4497685"/>
              <a:ext cx="2635726" cy="2249810"/>
            </a:xfrm>
            <a:prstGeom prst="rect">
              <a:avLst/>
            </a:prstGeom>
          </p:spPr>
        </p:pic>
        <p:pic>
          <p:nvPicPr>
            <p:cNvPr id="7" name="그림 6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7144148" y="4490468"/>
              <a:ext cx="2644379" cy="2257028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6558979" y="1160206"/>
            <a:ext cx="2212258" cy="29496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0000" lnSpcReduction="20000"/>
          </a:bodyPr>
          <a:lstStyle/>
          <a:p>
            <a:r>
              <a:rPr lang="zh-CN" altLang="en-US" sz="3600" dirty="0"/>
              <a:t>预测葡萄酒质量等级</a:t>
            </a:r>
            <a:endParaRPr lang="ko-KR" alt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8460237" y="1397806"/>
            <a:ext cx="3289309" cy="29496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32500" lnSpcReduction="20000"/>
          </a:bodyPr>
          <a:lstStyle/>
          <a:p>
            <a:r>
              <a:rPr lang="zh-CN" altLang="en-US" sz="3600" dirty="0"/>
              <a:t>目的：通过分析葡萄酒的特性来预测品质等级。</a:t>
            </a:r>
            <a:endParaRPr lang="ko-KR" altLang="en-US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8460237" y="2548906"/>
            <a:ext cx="3731763" cy="52106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25000" lnSpcReduction="20000"/>
          </a:bodyPr>
          <a:lstStyle/>
          <a:p>
            <a:r>
              <a:rPr lang="ko-KR" altLang="en-US" sz="3600" dirty="0"/>
              <a:t>数据探索</a:t>
            </a:r>
            <a:endParaRPr lang="en-US" altLang="ko-KR" sz="3600" dirty="0"/>
          </a:p>
          <a:p>
            <a:r>
              <a:rPr lang="en-US" altLang="ko-KR" sz="3600" dirty="0"/>
              <a:t>1. </a:t>
            </a:r>
            <a:r>
              <a:rPr lang="ko-KR" altLang="en-US" sz="3600" dirty="0"/>
              <a:t>信息确认：</a:t>
            </a:r>
            <a:r>
              <a:rPr lang="en-US" altLang="ko-KR" sz="3600" dirty="0"/>
              <a:t>info()</a:t>
            </a:r>
            <a:endParaRPr lang="en-US" altLang="ko-KR" sz="3600" dirty="0"/>
          </a:p>
          <a:p>
            <a:pPr marL="742950" indent="-742950">
              <a:buAutoNum type="arabicPeriod"/>
            </a:pPr>
            <a:endParaRPr lang="en-US" altLang="ko-KR" sz="3600" dirty="0"/>
          </a:p>
          <a:p>
            <a:r>
              <a:rPr lang="en-US" altLang="ko-KR" sz="3600" dirty="0"/>
              <a:t>2. </a:t>
            </a:r>
            <a:r>
              <a:rPr lang="ko-KR" altLang="en-US" sz="3600" dirty="0"/>
              <a:t>描述性统计确认：</a:t>
            </a:r>
            <a:r>
              <a:rPr lang="en-US" altLang="ko-KR" sz="3600" dirty="0"/>
              <a:t>describe()</a:t>
            </a:r>
            <a:r>
              <a:rPr lang="ko-KR" altLang="en-US" sz="3600" dirty="0"/>
              <a:t>、</a:t>
            </a:r>
            <a:r>
              <a:rPr lang="en-US" altLang="ko-KR" sz="3600" dirty="0"/>
              <a:t>unique()</a:t>
            </a:r>
            <a:r>
              <a:rPr lang="ko-KR" altLang="en-US" sz="3600" dirty="0"/>
              <a:t>、</a:t>
            </a:r>
            <a:r>
              <a:rPr lang="en-US" altLang="ko-KR" sz="3600" dirty="0" err="1"/>
              <a:t>value_counts</a:t>
            </a:r>
            <a:r>
              <a:rPr lang="en-US" altLang="ko-KR" sz="3600" dirty="0"/>
              <a:t>()</a:t>
            </a:r>
            <a:endParaRPr lang="en-US" altLang="ko-KR" sz="3600" dirty="0"/>
          </a:p>
        </p:txBody>
      </p:sp>
      <p:sp>
        <p:nvSpPr>
          <p:cNvPr id="10" name="TextBox 9"/>
          <p:cNvSpPr txBox="1"/>
          <p:nvPr/>
        </p:nvSpPr>
        <p:spPr>
          <a:xfrm>
            <a:off x="8460237" y="2034687"/>
            <a:ext cx="3603944" cy="4011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32500" lnSpcReduction="20000"/>
          </a:bodyPr>
          <a:lstStyle/>
          <a:p>
            <a:r>
              <a:rPr lang="zh-CN" altLang="en-US" sz="3600" dirty="0"/>
              <a:t>数据收集：红酒</a:t>
            </a:r>
            <a:r>
              <a:rPr lang="en-US" altLang="zh-CN" sz="3600" dirty="0"/>
              <a:t>/</a:t>
            </a:r>
            <a:r>
              <a:rPr lang="zh-CN" altLang="en-US" sz="3600" dirty="0"/>
              <a:t>白酒数据集</a:t>
            </a:r>
            <a:r>
              <a:rPr lang="en-US" altLang="zh-CN" sz="3600" dirty="0"/>
              <a:t>;</a:t>
            </a:r>
            <a:r>
              <a:rPr lang="zh-CN" altLang="en-US" sz="3600" dirty="0"/>
              <a:t>从加州大学欧文分校的机器学习存储库下载</a:t>
            </a:r>
            <a:endParaRPr lang="ko-KR" alt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5301271" y="2288376"/>
            <a:ext cx="2515416" cy="29496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32500" lnSpcReduction="20000"/>
          </a:bodyPr>
          <a:lstStyle/>
          <a:p>
            <a:r>
              <a:rPr lang="zh-CN" altLang="en-US" sz="3600" dirty="0"/>
              <a:t>数据准备：合并收集的数据文件</a:t>
            </a:r>
            <a:endParaRPr lang="ko-KR" altLang="en-US" sz="3600" dirty="0"/>
          </a:p>
        </p:txBody>
      </p:sp>
      <p:sp>
        <p:nvSpPr>
          <p:cNvPr id="12" name="TextBox 11"/>
          <p:cNvSpPr txBox="1"/>
          <p:nvPr/>
        </p:nvSpPr>
        <p:spPr>
          <a:xfrm>
            <a:off x="8460237" y="1708056"/>
            <a:ext cx="3780923" cy="3419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32500" lnSpcReduction="20000"/>
          </a:bodyPr>
          <a:lstStyle/>
          <a:p>
            <a:r>
              <a:rPr lang="zh-CN" altLang="en-US" sz="3600" dirty="0"/>
              <a:t>关键概念：描述性统计、回归分析、</a:t>
            </a:r>
            <a:r>
              <a:rPr lang="en-US" altLang="zh-CN" sz="3600" dirty="0"/>
              <a:t>t </a:t>
            </a:r>
            <a:r>
              <a:rPr lang="zh-CN" altLang="en-US" sz="3600" dirty="0"/>
              <a:t>检验、直方图</a:t>
            </a:r>
            <a:endParaRPr lang="ko-KR" altLang="en-US" sz="3600" dirty="0"/>
          </a:p>
        </p:txBody>
      </p:sp>
      <p:sp>
        <p:nvSpPr>
          <p:cNvPr id="15" name="TextBox 14"/>
          <p:cNvSpPr txBox="1"/>
          <p:nvPr/>
        </p:nvSpPr>
        <p:spPr>
          <a:xfrm>
            <a:off x="8460237" y="3092665"/>
            <a:ext cx="3780923" cy="10391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32500" lnSpcReduction="20000"/>
          </a:bodyPr>
          <a:lstStyle/>
          <a:p>
            <a:r>
              <a:rPr lang="zh-CN" altLang="en-US" sz="3600" dirty="0"/>
              <a:t>数据建模</a:t>
            </a:r>
            <a:endParaRPr lang="en-US" altLang="zh-CN" sz="3600" dirty="0"/>
          </a:p>
          <a:p>
            <a:r>
              <a:rPr lang="en-US" altLang="zh-CN" sz="3600" dirty="0"/>
              <a:t>1. </a:t>
            </a:r>
            <a:r>
              <a:rPr lang="zh-CN" altLang="en-US" sz="3600" dirty="0"/>
              <a:t>对数据进行两组比较分析</a:t>
            </a:r>
            <a:r>
              <a:rPr lang="en-US" altLang="zh-CN" sz="3600" dirty="0"/>
              <a:t>- </a:t>
            </a:r>
            <a:r>
              <a:rPr lang="zh-CN" altLang="en-US" sz="3600" dirty="0"/>
              <a:t>组间描述性统计分析：</a:t>
            </a:r>
            <a:r>
              <a:rPr lang="en-US" altLang="zh-CN" sz="3600" dirty="0" err="1"/>
              <a:t>descibe</a:t>
            </a:r>
            <a:r>
              <a:rPr lang="en-US" altLang="zh-CN" sz="3600" dirty="0"/>
              <a:t>()- t</a:t>
            </a:r>
            <a:r>
              <a:rPr lang="zh-CN" altLang="en-US" sz="3600" dirty="0"/>
              <a:t>检验：</a:t>
            </a:r>
            <a:r>
              <a:rPr lang="en-US" altLang="zh-CN" sz="3600" dirty="0" err="1"/>
              <a:t>scipy</a:t>
            </a:r>
            <a:r>
              <a:rPr lang="zh-CN" altLang="en-US" sz="3600" dirty="0"/>
              <a:t>包的</a:t>
            </a:r>
            <a:r>
              <a:rPr lang="en-US" altLang="zh-CN" sz="3600" dirty="0" err="1"/>
              <a:t>ttest_ind</a:t>
            </a:r>
            <a:r>
              <a:rPr lang="en-US" altLang="zh-CN" sz="3600" dirty="0"/>
              <a:t>()- </a:t>
            </a:r>
            <a:r>
              <a:rPr lang="zh-CN" altLang="en-US" sz="3600" dirty="0"/>
              <a:t>回归分析：</a:t>
            </a:r>
            <a:r>
              <a:rPr lang="en-US" altLang="zh-CN" sz="3600" dirty="0" err="1"/>
              <a:t>statsmodels.formula.api</a:t>
            </a:r>
            <a:r>
              <a:rPr lang="zh-CN" altLang="en-US" sz="3600" dirty="0"/>
              <a:t>包的</a:t>
            </a:r>
            <a:r>
              <a:rPr lang="en-US" altLang="zh-CN" sz="3600" dirty="0" err="1"/>
              <a:t>ols</a:t>
            </a:r>
            <a:r>
              <a:rPr lang="en-US" altLang="zh-CN" sz="3600" dirty="0"/>
              <a:t>()</a:t>
            </a:r>
            <a:endParaRPr lang="en-US" altLang="zh-CN" sz="3600" dirty="0"/>
          </a:p>
          <a:p>
            <a:r>
              <a:rPr lang="en-US" altLang="zh-CN" sz="3600" dirty="0"/>
              <a:t>2.  </a:t>
            </a:r>
            <a:r>
              <a:rPr lang="zh-CN" altLang="en-US" sz="3600" dirty="0"/>
              <a:t>质量等级预测</a:t>
            </a:r>
            <a:r>
              <a:rPr lang="en-US" altLang="zh-CN" sz="3600" dirty="0"/>
              <a:t>- </a:t>
            </a:r>
            <a:r>
              <a:rPr lang="zh-CN" altLang="en-US" sz="3600" dirty="0"/>
              <a:t>将样本设为自变量</a:t>
            </a:r>
            <a:r>
              <a:rPr lang="en-US" altLang="zh-CN" sz="3600" dirty="0"/>
              <a:t>(x)→</a:t>
            </a:r>
            <a:r>
              <a:rPr lang="zh-CN" altLang="en-US" sz="3600" dirty="0"/>
              <a:t>应用回归分析模型→预测因变量</a:t>
            </a:r>
            <a:r>
              <a:rPr lang="en-US" altLang="zh-CN" sz="3600" dirty="0"/>
              <a:t>(y)</a:t>
            </a:r>
            <a:r>
              <a:rPr lang="zh-CN" altLang="en-US" sz="3600" dirty="0"/>
              <a:t>即质量等级</a:t>
            </a:r>
            <a:endParaRPr lang="en-US" altLang="ko-KR" sz="3600" dirty="0"/>
          </a:p>
        </p:txBody>
      </p:sp>
      <p:sp>
        <p:nvSpPr>
          <p:cNvPr id="16" name="TextBox 15"/>
          <p:cNvSpPr txBox="1"/>
          <p:nvPr/>
        </p:nvSpPr>
        <p:spPr>
          <a:xfrm>
            <a:off x="6242464" y="4145589"/>
            <a:ext cx="1676943" cy="26008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32500" lnSpcReduction="20000"/>
          </a:bodyPr>
          <a:lstStyle/>
          <a:p>
            <a:r>
              <a:rPr lang="ko-KR" altLang="en-US" sz="3600" dirty="0"/>
              <a:t>可视化结果</a:t>
            </a:r>
            <a:endParaRPr lang="ko-KR" altLang="en-US" sz="3600" dirty="0"/>
          </a:p>
        </p:txBody>
      </p:sp>
      <p:sp>
        <p:nvSpPr>
          <p:cNvPr id="17" name="TextBox 16"/>
          <p:cNvSpPr txBox="1"/>
          <p:nvPr/>
        </p:nvSpPr>
        <p:spPr>
          <a:xfrm>
            <a:off x="3017585" y="4258186"/>
            <a:ext cx="2212258" cy="29496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0000" lnSpcReduction="20000"/>
          </a:bodyPr>
          <a:lstStyle/>
          <a:p>
            <a:r>
              <a:rPr lang="en-US" altLang="zh-CN" sz="3600" dirty="0"/>
              <a:t>1. </a:t>
            </a:r>
            <a:r>
              <a:rPr lang="zh-CN" altLang="en-US" sz="3600" dirty="0"/>
              <a:t>使用直方图进行可视化</a:t>
            </a:r>
            <a:endParaRPr lang="ko-KR" altLang="en-US" sz="3600" dirty="0"/>
          </a:p>
        </p:txBody>
      </p:sp>
      <p:sp>
        <p:nvSpPr>
          <p:cNvPr id="18" name="TextBox 17"/>
          <p:cNvSpPr txBox="1"/>
          <p:nvPr/>
        </p:nvSpPr>
        <p:spPr>
          <a:xfrm>
            <a:off x="7709043" y="4358308"/>
            <a:ext cx="2212258" cy="29496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32500" lnSpcReduction="20000"/>
          </a:bodyPr>
          <a:lstStyle/>
          <a:p>
            <a:r>
              <a:rPr lang="en-US" altLang="zh-CN" sz="3600" dirty="0"/>
              <a:t>2. </a:t>
            </a:r>
            <a:r>
              <a:rPr lang="zh-CN" altLang="en-US" sz="3600" dirty="0"/>
              <a:t>使用部分回归图进行可视化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목표 설정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목표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b="1" dirty="0"/>
              <a:t>와인의 속성을 분석한 뒤 품질 등급 예측 </a:t>
            </a:r>
            <a:r>
              <a:rPr lang="zh-CN" altLang="en-US" dirty="0"/>
              <a:t>目的：分析葡萄酒的性质并预测品质等级</a:t>
            </a:r>
            <a:endParaRPr lang="en-US" altLang="ko-KR" b="1" dirty="0"/>
          </a:p>
          <a:p>
            <a:pPr lvl="2">
              <a:defRPr/>
            </a:pPr>
            <a:r>
              <a:rPr lang="ko-KR" altLang="en-US" dirty="0"/>
              <a:t>목표를 위한 작업 </a:t>
            </a:r>
            <a:r>
              <a:rPr lang="zh-CN" altLang="en-US" dirty="0"/>
              <a:t>为目标而努力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데이터에 대한 </a:t>
            </a:r>
            <a:r>
              <a:rPr lang="ko-KR" altLang="en-US" b="1" dirty="0"/>
              <a:t>기술 통계 </a:t>
            </a:r>
            <a:r>
              <a:rPr lang="zh-CN" altLang="en-US" dirty="0"/>
              <a:t>数据的描述性统计</a:t>
            </a:r>
            <a:endParaRPr lang="en-US" altLang="ko-KR" b="1" dirty="0"/>
          </a:p>
          <a:p>
            <a:pPr lvl="3">
              <a:defRPr/>
            </a:pPr>
            <a:r>
              <a:rPr lang="ko-KR" altLang="en-US" dirty="0"/>
              <a:t>레드 와인과 화이트 와인 그룹의 품질에 대한 </a:t>
            </a:r>
            <a:r>
              <a:rPr lang="en-US" altLang="ko-KR" b="1" dirty="0"/>
              <a:t>t-</a:t>
            </a:r>
            <a:r>
              <a:rPr lang="ko-KR" altLang="en-US" b="1" dirty="0"/>
              <a:t>검정 </a:t>
            </a:r>
            <a:r>
              <a:rPr lang="ko-KR" altLang="en-US" dirty="0"/>
              <a:t>수행 </a:t>
            </a:r>
            <a:r>
              <a:rPr lang="zh-CN" altLang="en-US" dirty="0"/>
              <a:t>对红葡萄酒和白葡萄酒组的质量进行 </a:t>
            </a:r>
            <a:r>
              <a:rPr lang="en-US" altLang="zh-CN" dirty="0"/>
              <a:t>t </a:t>
            </a:r>
            <a:r>
              <a:rPr lang="zh-CN" altLang="en-US" dirty="0"/>
              <a:t>检验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와인 속성을 독립 변수로</a:t>
            </a:r>
            <a:r>
              <a:rPr lang="en-US" altLang="ko-KR" dirty="0"/>
              <a:t>, </a:t>
            </a:r>
            <a:r>
              <a:rPr lang="ko-KR" altLang="en-US" dirty="0"/>
              <a:t>품질 등급을 종속 변수로 </a:t>
            </a:r>
            <a:r>
              <a:rPr lang="ko-KR" altLang="en-US" b="1" dirty="0"/>
              <a:t>선형 회귀 분석 </a:t>
            </a:r>
            <a:r>
              <a:rPr lang="ko-KR" altLang="en-US" dirty="0"/>
              <a:t>수행</a:t>
            </a:r>
            <a:endParaRPr lang="en-US" altLang="ko-KR" dirty="0"/>
          </a:p>
          <a:p>
            <a:pPr marL="628650" lvl="3" indent="0">
              <a:buNone/>
              <a:defRPr/>
            </a:pPr>
            <a:r>
              <a:rPr lang="en-US" altLang="ko-KR" dirty="0"/>
              <a:t>  </a:t>
            </a:r>
            <a:r>
              <a:rPr lang="zh-CN" altLang="en-US" dirty="0"/>
              <a:t>以葡萄酒属性为自变量，以品质等级为因变量进行线性回归分析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226" y="965314"/>
            <a:ext cx="6854400" cy="612000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44436" y="965314"/>
            <a:ext cx="1652155" cy="612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1. </a:t>
            </a:r>
            <a:r>
              <a:rPr lang="ko-KR" altLang="en-US" sz="3600" dirty="0"/>
              <a:t>设定目标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8385" y="1079008"/>
            <a:ext cx="11332190" cy="551834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defRPr/>
            </a:pPr>
            <a:r>
              <a:rPr lang="en-US" altLang="ko-KR" dirty="0"/>
              <a:t>-</a:t>
            </a:r>
            <a:endParaRPr lang="en-US" altLang="ko-KR" dirty="0"/>
          </a:p>
          <a:p>
            <a:pPr lvl="1">
              <a:lnSpc>
                <a:spcPct val="100000"/>
              </a:lnSpc>
              <a:defRPr/>
            </a:pPr>
            <a:r>
              <a:rPr lang="ko-KR" altLang="en-US" dirty="0"/>
              <a:t>기술 통계技术统计</a:t>
            </a:r>
            <a:r>
              <a:rPr lang="en-US" altLang="ko-KR" sz="1050" b="1" dirty="0">
                <a:solidFill>
                  <a:srgbClr val="007BC7"/>
                </a:solidFill>
              </a:rPr>
              <a:t>description statistics</a:t>
            </a:r>
            <a:endParaRPr lang="en-US" altLang="ko-KR" b="1" dirty="0">
              <a:solidFill>
                <a:srgbClr val="007BC7"/>
              </a:solidFill>
            </a:endParaRPr>
          </a:p>
          <a:p>
            <a:pPr lvl="2">
              <a:lnSpc>
                <a:spcPct val="100000"/>
              </a:lnSpc>
              <a:defRPr/>
            </a:pPr>
            <a:r>
              <a:rPr lang="ko-KR" altLang="en-US" dirty="0"/>
              <a:t>요약 통계汇总统计</a:t>
            </a:r>
            <a:r>
              <a:rPr lang="en-US" altLang="ko-KR" sz="1050" dirty="0">
                <a:solidFill>
                  <a:srgbClr val="007BC7"/>
                </a:solidFill>
              </a:rPr>
              <a:t>summary statics</a:t>
            </a:r>
            <a:endParaRPr lang="en-US" altLang="ko-KR" dirty="0">
              <a:solidFill>
                <a:srgbClr val="007BC7"/>
              </a:solidFill>
            </a:endParaRPr>
          </a:p>
          <a:p>
            <a:pPr lvl="2">
              <a:lnSpc>
                <a:spcPct val="100000"/>
              </a:lnSpc>
              <a:defRPr/>
            </a:pPr>
            <a:r>
              <a:rPr lang="ko-KR" altLang="en-US" dirty="0"/>
              <a:t>데이터의 특성을 나타내는 수치를 이용해 분석하는 기본적인 통계 방법 </a:t>
            </a:r>
            <a:r>
              <a:rPr lang="zh-CN" altLang="en-US" dirty="0"/>
              <a:t>使用表示数据特征的数字进行分析的基本统计方法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평균平均</a:t>
            </a:r>
            <a:r>
              <a:rPr lang="en-US" altLang="ko-KR" sz="1050" dirty="0">
                <a:solidFill>
                  <a:srgbClr val="007BC7"/>
                </a:solidFill>
              </a:rPr>
              <a:t>mean</a:t>
            </a:r>
            <a:r>
              <a:rPr lang="en-US" altLang="ko-KR" dirty="0"/>
              <a:t>, </a:t>
            </a:r>
            <a:r>
              <a:rPr lang="ko-KR" altLang="en-US" dirty="0"/>
              <a:t>중앙값中位数</a:t>
            </a:r>
            <a:r>
              <a:rPr lang="en-US" altLang="ko-KR" sz="1050" dirty="0">
                <a:solidFill>
                  <a:srgbClr val="007BC7"/>
                </a:solidFill>
              </a:rPr>
              <a:t>median</a:t>
            </a:r>
            <a:r>
              <a:rPr lang="en-US" altLang="ko-KR" dirty="0"/>
              <a:t>, </a:t>
            </a:r>
            <a:r>
              <a:rPr lang="ko-KR" altLang="en-US" dirty="0" err="1"/>
              <a:t>최빈값</a:t>
            </a:r>
            <a:r>
              <a:rPr lang="ko-KR" altLang="en-US" dirty="0"/>
              <a:t> 最频值 </a:t>
            </a:r>
            <a:r>
              <a:rPr lang="en-US" altLang="ko-KR" sz="1050" dirty="0">
                <a:solidFill>
                  <a:srgbClr val="007BC7"/>
                </a:solidFill>
              </a:rPr>
              <a:t>mode</a:t>
            </a:r>
            <a:r>
              <a:rPr lang="en-US" altLang="ko-KR" dirty="0"/>
              <a:t> </a:t>
            </a:r>
            <a:r>
              <a:rPr lang="ko-KR" altLang="en-US" dirty="0"/>
              <a:t>등 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데이터를 대표하는 값을 찾을 수 있고</a:t>
            </a:r>
            <a:r>
              <a:rPr lang="en-US" altLang="ko-KR" dirty="0"/>
              <a:t>,</a:t>
            </a:r>
            <a:r>
              <a:rPr lang="ko-KR" altLang="en-US" dirty="0"/>
              <a:t> 표준편차</a:t>
            </a:r>
            <a:r>
              <a:rPr lang="en-US" altLang="ko-KR" sz="1050" dirty="0">
                <a:solidFill>
                  <a:srgbClr val="007BC7"/>
                </a:solidFill>
              </a:rPr>
              <a:t>standard deviation</a:t>
            </a:r>
            <a:r>
              <a:rPr lang="ko-KR" altLang="en-US" dirty="0"/>
              <a:t>와 </a:t>
            </a:r>
            <a:r>
              <a:rPr lang="ko-KR" altLang="en-US" dirty="0" err="1"/>
              <a:t>사분위</a:t>
            </a:r>
            <a:r>
              <a:rPr lang="en-US" altLang="ko-KR" sz="1050" dirty="0">
                <a:solidFill>
                  <a:srgbClr val="007BC7"/>
                </a:solidFill>
              </a:rPr>
              <a:t>quartile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사용하여 데이터의 분포 상태 확인</a:t>
            </a:r>
            <a:endParaRPr lang="en-US" altLang="ko-KR" dirty="0"/>
          </a:p>
          <a:p>
            <a:pPr marL="628650" lvl="3" indent="0">
              <a:buNone/>
              <a:defRPr/>
            </a:pPr>
            <a:r>
              <a:rPr lang="zh-CN" altLang="en-US" dirty="0"/>
              <a:t>    能够找到代表数据的值，并利用标准差</a:t>
            </a:r>
            <a:r>
              <a:rPr lang="en-US" altLang="ko-KR" dirty="0">
                <a:solidFill>
                  <a:srgbClr val="007BC7"/>
                </a:solidFill>
              </a:rPr>
              <a:t>standard deviation</a:t>
            </a:r>
            <a:r>
              <a:rPr lang="zh-CN" altLang="en-US" dirty="0"/>
              <a:t>和四分位</a:t>
            </a:r>
            <a:r>
              <a:rPr lang="en-US" altLang="ko-KR" dirty="0">
                <a:solidFill>
                  <a:srgbClr val="007BC7"/>
                </a:solidFill>
              </a:rPr>
              <a:t>quartile</a:t>
            </a:r>
            <a:r>
              <a:rPr lang="zh-CN" altLang="en-US" dirty="0"/>
              <a:t>数来确认数据的分布状态。</a:t>
            </a:r>
            <a:endParaRPr lang="en-US" altLang="ko-KR" dirty="0"/>
          </a:p>
          <a:p>
            <a:pPr lvl="1">
              <a:lnSpc>
                <a:spcPct val="100000"/>
              </a:lnSpc>
              <a:defRPr/>
            </a:pPr>
            <a:r>
              <a:rPr lang="ko-KR" altLang="en-US" dirty="0"/>
              <a:t>회귀분석 回归分析 </a:t>
            </a:r>
            <a:r>
              <a:rPr lang="en-US" altLang="ko-KR" baseline="-25000" dirty="0">
                <a:solidFill>
                  <a:srgbClr val="007BC7"/>
                </a:solidFill>
              </a:rPr>
              <a:t>regression analysis</a:t>
            </a:r>
            <a:endParaRPr lang="en-US" altLang="ko-KR" baseline="-25000" dirty="0">
              <a:solidFill>
                <a:srgbClr val="007BC7"/>
              </a:solidFill>
            </a:endParaRPr>
          </a:p>
          <a:p>
            <a:pPr lvl="2">
              <a:lnSpc>
                <a:spcPct val="100000"/>
              </a:lnSpc>
              <a:defRPr/>
            </a:pPr>
            <a:r>
              <a:rPr lang="ko-KR" altLang="en-US" dirty="0"/>
              <a:t>독립 변수</a:t>
            </a:r>
            <a:r>
              <a:rPr lang="en-US" altLang="ko-KR" sz="1050" dirty="0">
                <a:solidFill>
                  <a:srgbClr val="007BC7"/>
                </a:solidFill>
              </a:rPr>
              <a:t>independent variable</a:t>
            </a:r>
            <a:r>
              <a:rPr lang="en-US" altLang="ko-KR" baseline="-25000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와 종속 변수</a:t>
            </a:r>
            <a:r>
              <a:rPr lang="en-US" altLang="ko-KR" sz="1050" dirty="0">
                <a:solidFill>
                  <a:srgbClr val="007BC7"/>
                </a:solidFill>
              </a:rPr>
              <a:t>dependent variable </a:t>
            </a:r>
            <a:r>
              <a:rPr lang="en-US" altLang="ko-KR" dirty="0"/>
              <a:t>y</a:t>
            </a:r>
            <a:r>
              <a:rPr lang="en-US" altLang="ko-KR" baseline="-25000" dirty="0"/>
              <a:t> </a:t>
            </a:r>
            <a:r>
              <a:rPr lang="ko-KR" altLang="en-US" dirty="0"/>
              <a:t>간의 상호 연관성 정도를 파악하기 위한 분석 기법</a:t>
            </a:r>
            <a:endParaRPr lang="en-US" altLang="ko-KR" dirty="0"/>
          </a:p>
          <a:p>
            <a:pPr marL="447675" lvl="2" indent="0">
              <a:lnSpc>
                <a:spcPct val="100000"/>
              </a:lnSpc>
              <a:buNone/>
              <a:defRPr/>
            </a:pPr>
            <a:r>
              <a:rPr lang="zh-CN" altLang="en-US" dirty="0"/>
              <a:t> 用于评估独立变量</a:t>
            </a:r>
            <a:r>
              <a:rPr lang="en-US" altLang="ko-KR" dirty="0">
                <a:solidFill>
                  <a:srgbClr val="007BC7"/>
                </a:solidFill>
              </a:rPr>
              <a:t>independent variable</a:t>
            </a:r>
            <a:r>
              <a:rPr lang="en-US" altLang="ko-KR" baseline="-25000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与因变量</a:t>
            </a:r>
            <a:r>
              <a:rPr lang="en-US" altLang="ko-KR" dirty="0">
                <a:solidFill>
                  <a:srgbClr val="007BC7"/>
                </a:solidFill>
              </a:rPr>
              <a:t>dependent variable </a:t>
            </a:r>
            <a:r>
              <a:rPr lang="en-US" altLang="zh-CN" dirty="0"/>
              <a:t>y</a:t>
            </a:r>
            <a:r>
              <a:rPr lang="zh-CN" altLang="en-US" dirty="0"/>
              <a:t>之间相互关联程度的分析技术</a:t>
            </a:r>
            <a:endParaRPr lang="en-US" altLang="ko-KR" dirty="0"/>
          </a:p>
          <a:p>
            <a:pPr lvl="2">
              <a:lnSpc>
                <a:spcPct val="100000"/>
              </a:lnSpc>
              <a:defRPr/>
            </a:pPr>
            <a:r>
              <a:rPr lang="ko-KR" altLang="en-US" dirty="0"/>
              <a:t>하나의 변수가 변함에 따라 대응되는 변수가 어떻게 변하는지를 측정하는 것</a:t>
            </a:r>
            <a:endParaRPr lang="en-US" altLang="ko-KR" dirty="0"/>
          </a:p>
          <a:p>
            <a:pPr marL="447675" lvl="2" indent="0">
              <a:lnSpc>
                <a:spcPct val="100000"/>
              </a:lnSpc>
              <a:buNone/>
              <a:defRPr/>
            </a:pPr>
            <a:r>
              <a:rPr lang="en-US" altLang="ko-KR" dirty="0"/>
              <a:t> </a:t>
            </a:r>
            <a:r>
              <a:rPr lang="zh-CN" altLang="en-US" dirty="0"/>
              <a:t>测量相应变量如何随着一个变量的变化而变化</a:t>
            </a:r>
            <a:endParaRPr lang="en-US" altLang="ko-KR" dirty="0"/>
          </a:p>
          <a:p>
            <a:pPr lvl="2">
              <a:lnSpc>
                <a:spcPct val="100000"/>
              </a:lnSpc>
              <a:defRPr/>
            </a:pPr>
            <a:r>
              <a:rPr lang="ko-KR" altLang="en-US" dirty="0"/>
              <a:t>변수 간의 인과관계</a:t>
            </a:r>
            <a:r>
              <a:rPr lang="en-US" altLang="ko-KR" sz="1050" dirty="0">
                <a:solidFill>
                  <a:srgbClr val="007BC7"/>
                </a:solidFill>
              </a:rPr>
              <a:t>causal relation</a:t>
            </a:r>
            <a:r>
              <a:rPr lang="ko-KR" altLang="en-US" dirty="0"/>
              <a:t>를 분석할 때 주로 사용 </a:t>
            </a:r>
            <a:r>
              <a:rPr lang="zh-CN" altLang="en-US" dirty="0"/>
              <a:t>主要用于分析变量之间的因果关系</a:t>
            </a:r>
            <a:r>
              <a:rPr lang="en-US" altLang="ko-KR" dirty="0">
                <a:solidFill>
                  <a:srgbClr val="007BC7"/>
                </a:solidFill>
              </a:rPr>
              <a:t>causal relation</a:t>
            </a:r>
            <a:endParaRPr lang="en-US" altLang="ko-KR" dirty="0"/>
          </a:p>
          <a:p>
            <a:pPr lvl="2">
              <a:lnSpc>
                <a:spcPct val="100000"/>
              </a:lnSpc>
              <a:defRPr/>
            </a:pPr>
            <a:r>
              <a:rPr lang="ko-KR" altLang="en-US" dirty="0"/>
              <a:t>종류 </a:t>
            </a:r>
            <a:r>
              <a:rPr lang="en-US" altLang="ko-KR" dirty="0"/>
              <a:t>: {</a:t>
            </a:r>
            <a:r>
              <a:rPr lang="ko-KR" altLang="en-US" dirty="0"/>
              <a:t>단순 회귀 분석</a:t>
            </a:r>
            <a:r>
              <a:rPr lang="en-US" altLang="ko-KR" dirty="0"/>
              <a:t>, </a:t>
            </a:r>
            <a:r>
              <a:rPr lang="ko-KR" altLang="en-US" dirty="0"/>
              <a:t>다중 회귀 분석</a:t>
            </a:r>
            <a:r>
              <a:rPr lang="en-US" altLang="ko-KR" dirty="0"/>
              <a:t>}, {</a:t>
            </a:r>
            <a:r>
              <a:rPr lang="ko-KR" altLang="en-US" dirty="0"/>
              <a:t>선형 회귀 분석</a:t>
            </a:r>
            <a:r>
              <a:rPr lang="en-US" altLang="ko-KR" dirty="0"/>
              <a:t>, </a:t>
            </a:r>
            <a:r>
              <a:rPr lang="ko-KR" altLang="en-US" dirty="0"/>
              <a:t>비선형 회귀 분석</a:t>
            </a:r>
            <a:r>
              <a:rPr lang="en-US" altLang="ko-KR" dirty="0"/>
              <a:t>}</a:t>
            </a:r>
            <a:endParaRPr lang="en-US" altLang="ko-KR" dirty="0"/>
          </a:p>
          <a:p>
            <a:pPr marL="447675" lvl="2" indent="0">
              <a:lnSpc>
                <a:spcPct val="100000"/>
              </a:lnSpc>
              <a:buNone/>
              <a:defRPr/>
            </a:pPr>
            <a:r>
              <a:rPr lang="en-US" altLang="ko-KR" dirty="0"/>
              <a:t> </a:t>
            </a:r>
            <a:r>
              <a:rPr lang="zh-CN" altLang="en-US" dirty="0"/>
              <a:t>类型：</a:t>
            </a:r>
            <a:r>
              <a:rPr lang="en-US" altLang="zh-CN" dirty="0"/>
              <a:t>{</a:t>
            </a:r>
            <a:r>
              <a:rPr lang="zh-CN" altLang="en-US" dirty="0"/>
              <a:t>简单回归分析、多元回归分析</a:t>
            </a:r>
            <a:r>
              <a:rPr lang="en-US" altLang="zh-CN" dirty="0"/>
              <a:t>}</a:t>
            </a:r>
            <a:r>
              <a:rPr lang="zh-CN" altLang="en-US" dirty="0"/>
              <a:t>、</a:t>
            </a:r>
            <a:r>
              <a:rPr lang="en-US" altLang="zh-CN" dirty="0"/>
              <a:t>{</a:t>
            </a:r>
            <a:r>
              <a:rPr lang="zh-CN" altLang="en-US" dirty="0"/>
              <a:t>线性回归分析、非线性回归分析</a:t>
            </a:r>
            <a:r>
              <a:rPr lang="en-US" altLang="zh-CN" dirty="0"/>
              <a:t>}</a:t>
            </a:r>
            <a:endParaRPr lang="en-US" altLang="ko-KR" dirty="0"/>
          </a:p>
          <a:p>
            <a:pPr lvl="2">
              <a:lnSpc>
                <a:spcPct val="100000"/>
              </a:lnSpc>
              <a:defRPr/>
            </a:pPr>
            <a:r>
              <a:rPr lang="ko-KR" altLang="en-US" dirty="0"/>
              <a:t>선형 회귀 분석 식 </a:t>
            </a:r>
            <a:r>
              <a:rPr lang="zh-CN" altLang="en-US" dirty="0"/>
              <a:t>线性回归分析表达式</a:t>
            </a:r>
            <a:endParaRPr lang="en-US" altLang="ko-KR" dirty="0"/>
          </a:p>
          <a:p>
            <a:pPr lvl="1">
              <a:lnSpc>
                <a:spcPct val="100000"/>
              </a:lnSpc>
              <a:defRPr/>
            </a:pPr>
            <a:endParaRPr lang="ko-KR" altLang="en-US" dirty="0"/>
          </a:p>
        </p:txBody>
      </p:sp>
      <p:pic>
        <p:nvPicPr>
          <p:cNvPr id="15366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018" y="6123296"/>
            <a:ext cx="2963863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10227" b="14087"/>
          <a:stretch>
            <a:fillRect/>
          </a:stretch>
        </p:blipFill>
        <p:spPr>
          <a:xfrm>
            <a:off x="391652" y="1005841"/>
            <a:ext cx="7505317" cy="490450"/>
          </a:xfrm>
          <a:prstGeom prst="rect">
            <a:avLst/>
          </a:prstGeo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57498" y="928732"/>
            <a:ext cx="2379520" cy="64466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altLang="ko-KR" sz="2000" dirty="0"/>
              <a:t>2. </a:t>
            </a:r>
            <a:r>
              <a:rPr lang="ko-KR" altLang="en-US" sz="2000" dirty="0"/>
              <a:t>了解核心概念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8385" y="1079007"/>
            <a:ext cx="10916553" cy="5862119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t-</a:t>
            </a:r>
            <a:r>
              <a:rPr lang="ko-KR" altLang="en-US" dirty="0"/>
              <a:t>검정 </a:t>
            </a:r>
            <a:r>
              <a:rPr lang="en-US" altLang="ko-KR" dirty="0"/>
              <a:t>t-</a:t>
            </a:r>
            <a:r>
              <a:rPr lang="ko-KR" altLang="en-US" dirty="0"/>
              <a:t>检验</a:t>
            </a:r>
            <a:endParaRPr lang="en-US" altLang="ko-KR" baseline="-25000" dirty="0"/>
          </a:p>
          <a:p>
            <a:pPr lvl="2">
              <a:defRPr/>
            </a:pPr>
            <a:r>
              <a:rPr lang="ko-KR" altLang="en-US" dirty="0"/>
              <a:t>데이터에서 찾은 평균으로 두 그룹 간에 차이가 있는지 확인하는 방법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dirty="0"/>
              <a:t> </a:t>
            </a:r>
            <a:r>
              <a:rPr lang="zh-CN" altLang="en-US" dirty="0"/>
              <a:t>如何确定两组之间是否与数据中的平均值存在差异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예</a:t>
            </a:r>
            <a:r>
              <a:rPr lang="en-US" altLang="ko-KR" dirty="0"/>
              <a:t>) A</a:t>
            </a:r>
            <a:r>
              <a:rPr lang="ko-KR" altLang="en-US" dirty="0"/>
              <a:t>와인의 품질이 </a:t>
            </a:r>
            <a:r>
              <a:rPr lang="en-US" altLang="ko-KR" dirty="0"/>
              <a:t>1</a:t>
            </a:r>
            <a:r>
              <a:rPr lang="ko-KR" altLang="en-US" dirty="0"/>
              <a:t>등급인지 </a:t>
            </a:r>
            <a:r>
              <a:rPr lang="en-US" altLang="ko-KR" dirty="0"/>
              <a:t>2</a:t>
            </a:r>
            <a:r>
              <a:rPr lang="ko-KR" altLang="en-US" dirty="0"/>
              <a:t>등급인지에 따라 가격에 차이가 있는지를 확인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dirty="0"/>
              <a:t> </a:t>
            </a:r>
            <a:r>
              <a:rPr lang="zh-CN" altLang="en-US" dirty="0"/>
              <a:t>示例：根据葡萄酒的质量是 </a:t>
            </a:r>
            <a:r>
              <a:rPr lang="en-US" altLang="zh-CN" dirty="0"/>
              <a:t>1 </a:t>
            </a:r>
            <a:r>
              <a:rPr lang="zh-CN" altLang="en-US" dirty="0"/>
              <a:t>级还是 </a:t>
            </a:r>
            <a:r>
              <a:rPr lang="en-US" altLang="zh-CN" dirty="0"/>
              <a:t>2 </a:t>
            </a:r>
            <a:r>
              <a:rPr lang="zh-CN" altLang="en-US" dirty="0"/>
              <a:t>级，检查价格是否有差异。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히스토그램直方图</a:t>
            </a:r>
            <a:r>
              <a:rPr lang="en-US" altLang="ko-KR" sz="1050" dirty="0">
                <a:solidFill>
                  <a:srgbClr val="007BC7"/>
                </a:solidFill>
              </a:rPr>
              <a:t>histogram</a:t>
            </a:r>
            <a:endParaRPr lang="en-US" altLang="ko-KR" sz="1050" dirty="0">
              <a:solidFill>
                <a:srgbClr val="007BC7"/>
              </a:solidFill>
            </a:endParaRPr>
          </a:p>
          <a:p>
            <a:pPr lvl="2">
              <a:defRPr/>
            </a:pPr>
            <a:r>
              <a:rPr lang="ko-KR" altLang="en-US" dirty="0"/>
              <a:t>데이터 값의 범위를 몇 개 구간으로 나누고 각 구간에 해당하는 값의 숫자나 상대적 빈도 크기를 차트로 나타낸 것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dirty="0"/>
              <a:t> </a:t>
            </a:r>
            <a:r>
              <a:rPr lang="zh-CN" altLang="en-US" dirty="0"/>
              <a:t>将数据值的范围划分为多个区间，并在图表中显示与每个区间对应的值的数量或相对频率大小。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Python </a:t>
            </a:r>
            <a:r>
              <a:rPr lang="ko-KR" altLang="en-US" dirty="0"/>
              <a:t>함수</a:t>
            </a:r>
            <a:r>
              <a:rPr lang="zh-CN" altLang="en-US" dirty="0"/>
              <a:t> 函数</a:t>
            </a:r>
            <a:endParaRPr lang="en-US" altLang="ko-KR" dirty="0"/>
          </a:p>
          <a:p>
            <a:pPr lvl="3">
              <a:defRPr/>
            </a:pPr>
            <a:r>
              <a:rPr lang="en-US" altLang="ko-KR" dirty="0"/>
              <a:t>matplotlib </a:t>
            </a:r>
            <a:r>
              <a:rPr lang="ko-KR" altLang="en-US" dirty="0"/>
              <a:t>라이브러리 패키지의 </a:t>
            </a:r>
            <a:r>
              <a:rPr lang="en-US" altLang="ko-KR" dirty="0"/>
              <a:t>hist() </a:t>
            </a:r>
            <a:r>
              <a:rPr lang="ko-KR" altLang="en-US" dirty="0"/>
              <a:t>함수</a:t>
            </a:r>
            <a:r>
              <a:rPr lang="en-US" altLang="ko-KR" dirty="0"/>
              <a:t>, seaborn </a:t>
            </a:r>
            <a:r>
              <a:rPr lang="ko-KR" altLang="en-US" dirty="0"/>
              <a:t>라이브러리 패키지의 </a:t>
            </a:r>
            <a:r>
              <a:rPr lang="en-US" altLang="ko-KR" dirty="0" err="1"/>
              <a:t>distplot</a:t>
            </a:r>
            <a:r>
              <a:rPr lang="en-US" altLang="ko-KR" dirty="0"/>
              <a:t>() </a:t>
            </a:r>
            <a:r>
              <a:rPr lang="ko-KR" altLang="en-US" dirty="0"/>
              <a:t>함수</a:t>
            </a:r>
            <a:endParaRPr lang="en-US" altLang="ko-KR" dirty="0"/>
          </a:p>
          <a:p>
            <a:pPr marL="628650" lvl="3" indent="0">
              <a:buNone/>
              <a:defRPr/>
            </a:pPr>
            <a:r>
              <a:rPr lang="en-US" altLang="ko-KR" dirty="0"/>
              <a:t> matplotlib </a:t>
            </a:r>
            <a:r>
              <a:rPr lang="ko-KR" altLang="en-US" dirty="0"/>
              <a:t>库的 </a:t>
            </a:r>
            <a:r>
              <a:rPr lang="en-US" altLang="ko-KR" dirty="0"/>
              <a:t>hist() </a:t>
            </a:r>
            <a:r>
              <a:rPr lang="ko-KR" altLang="en-US" dirty="0"/>
              <a:t>函数，</a:t>
            </a:r>
            <a:r>
              <a:rPr lang="en-US" altLang="ko-KR" dirty="0"/>
              <a:t>seaborn </a:t>
            </a:r>
            <a:r>
              <a:rPr lang="ko-KR" altLang="en-US" dirty="0"/>
              <a:t>库的 </a:t>
            </a:r>
            <a:r>
              <a:rPr lang="en-US" altLang="ko-KR" dirty="0" err="1"/>
              <a:t>distplot</a:t>
            </a:r>
            <a:r>
              <a:rPr lang="en-US" altLang="ko-KR" dirty="0"/>
              <a:t>() </a:t>
            </a:r>
            <a:r>
              <a:rPr lang="ko-KR" altLang="en-US" dirty="0"/>
              <a:t>函数</a:t>
            </a:r>
            <a:endParaRPr lang="en-US" altLang="ko-KR" dirty="0"/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16387" name="TextBox 3"/>
          <p:cNvSpPr txBox="1">
            <a:spLocks noChangeArrowheads="1"/>
          </p:cNvSpPr>
          <p:nvPr/>
        </p:nvSpPr>
        <p:spPr bwMode="auto">
          <a:xfrm>
            <a:off x="5657850" y="2973388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Blip>
                <a:blip r:embed="rId1"/>
              </a:buBlip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3600">
              <a:ea typeface="굴림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t="10227" b="14087"/>
          <a:stretch>
            <a:fillRect/>
          </a:stretch>
        </p:blipFill>
        <p:spPr>
          <a:xfrm>
            <a:off x="391652" y="1005841"/>
            <a:ext cx="7505317" cy="490450"/>
          </a:xfrm>
          <a:prstGeom prst="rect">
            <a:avLst/>
          </a:prstGeom>
        </p:spPr>
      </p:pic>
      <p:sp>
        <p:nvSpPr>
          <p:cNvPr id="5" name="제목 1"/>
          <p:cNvSpPr txBox="1"/>
          <p:nvPr/>
        </p:nvSpPr>
        <p:spPr bwMode="auto">
          <a:xfrm>
            <a:off x="391652" y="-18736"/>
            <a:ext cx="11461079" cy="10245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 fontScale="97500"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b="0" kern="1200">
                <a:solidFill>
                  <a:srgbClr val="40404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lang="en-US" altLang="ko-KR" sz="2000" dirty="0"/>
              <a:t>01. [</a:t>
            </a:r>
            <a:r>
              <a:rPr lang="ko-KR" altLang="en-US" sz="2000" dirty="0"/>
              <a:t>기술 통계 분석 </a:t>
            </a:r>
            <a:r>
              <a:rPr lang="en-US" altLang="ko-KR" sz="2000" dirty="0"/>
              <a:t>+ </a:t>
            </a:r>
            <a:r>
              <a:rPr lang="ko-KR" altLang="en-US" sz="2000" dirty="0"/>
              <a:t>그래프</a:t>
            </a:r>
            <a:r>
              <a:rPr lang="en-US" altLang="ko-KR" sz="2000" dirty="0"/>
              <a:t>] </a:t>
            </a:r>
            <a:r>
              <a:rPr lang="ko-KR" altLang="en-US" sz="2000" dirty="0"/>
              <a:t>와인 품질 예측하기</a:t>
            </a:r>
            <a:br>
              <a:rPr lang="en-US" altLang="ko-KR" sz="2000" dirty="0"/>
            </a:br>
            <a:r>
              <a:rPr lang="en-US" altLang="zh-CN" sz="2000" dirty="0">
                <a:latin typeface="+mj-ea"/>
                <a:ea typeface="+mj-ea"/>
              </a:rPr>
              <a:t>[</a:t>
            </a:r>
            <a:r>
              <a:rPr lang="zh-CN" altLang="en-US" sz="2000" dirty="0">
                <a:latin typeface="+mj-ea"/>
                <a:ea typeface="+mj-ea"/>
              </a:rPr>
              <a:t>描述性统计分析</a:t>
            </a:r>
            <a:r>
              <a:rPr lang="en-US" altLang="zh-CN" sz="2000" dirty="0">
                <a:latin typeface="+mj-ea"/>
                <a:ea typeface="+mj-ea"/>
              </a:rPr>
              <a:t>+</a:t>
            </a:r>
            <a:r>
              <a:rPr lang="zh-CN" altLang="en-US" sz="2000" dirty="0">
                <a:latin typeface="+mj-ea"/>
                <a:ea typeface="+mj-ea"/>
              </a:rPr>
              <a:t>图表</a:t>
            </a:r>
            <a:r>
              <a:rPr lang="en-US" altLang="zh-CN" sz="2000" dirty="0">
                <a:latin typeface="+mj-ea"/>
                <a:ea typeface="+mj-ea"/>
              </a:rPr>
              <a:t>]</a:t>
            </a:r>
            <a:r>
              <a:rPr lang="zh-CN" altLang="en-US" sz="2000" dirty="0">
                <a:latin typeface="+mj-ea"/>
                <a:ea typeface="+mj-ea"/>
              </a:rPr>
              <a:t>预测葡萄酒品质</a:t>
            </a:r>
            <a:endParaRPr lang="ko-KR" altLang="en-US" sz="2000" dirty="0"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57498" y="928732"/>
            <a:ext cx="2379520" cy="64466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altLang="ko-KR" sz="2000" dirty="0"/>
              <a:t>2. </a:t>
            </a:r>
            <a:r>
              <a:rPr lang="ko-KR" altLang="en-US" sz="2000" dirty="0"/>
              <a:t>了解核心概念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수집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캘리포니아 </a:t>
            </a:r>
            <a:r>
              <a:rPr lang="ko-KR" altLang="en-US" dirty="0" err="1"/>
              <a:t>어바인</a:t>
            </a:r>
            <a:r>
              <a:rPr lang="ko-KR" altLang="en-US" dirty="0"/>
              <a:t> 대학의 </a:t>
            </a:r>
            <a:r>
              <a:rPr lang="ko-KR" altLang="en-US" dirty="0" err="1"/>
              <a:t>머신러닝</a:t>
            </a:r>
            <a:r>
              <a:rPr lang="ko-KR" altLang="en-US" dirty="0"/>
              <a:t> 저장소에서 제공하는 오픈 데이터 사용 </a:t>
            </a:r>
            <a:r>
              <a:rPr lang="zh-CN" altLang="en-US" dirty="0"/>
              <a:t>使用来自加州大学欧文分校机器学习存储库的开放数据</a:t>
            </a:r>
            <a:endParaRPr lang="en-US" altLang="ko-KR" dirty="0"/>
          </a:p>
          <a:p>
            <a:pPr lvl="3">
              <a:defRPr/>
            </a:pPr>
            <a:r>
              <a:rPr lang="en-US" altLang="ko-KR" dirty="0">
                <a:hlinkClick r:id="rId1"/>
              </a:rPr>
              <a:t>https://archive.ics.uci.edu/</a:t>
            </a:r>
            <a:r>
              <a:rPr lang="en-US" altLang="ko-KR" dirty="0"/>
              <a:t> </a:t>
            </a:r>
            <a:endParaRPr lang="en-US" altLang="ko-KR" dirty="0"/>
          </a:p>
          <a:p>
            <a:pPr lvl="4">
              <a:defRPr/>
            </a:pPr>
            <a:r>
              <a:rPr lang="en-US" altLang="ko-KR" sz="1600" dirty="0">
                <a:latin typeface="Garamond" panose="02020404030301010803" charset="0"/>
              </a:rPr>
              <a:t>w</a:t>
            </a:r>
            <a:r>
              <a:rPr lang="en-US" altLang="ko-KR" sz="1600" b="0" i="0" u="none" strike="noStrike" baseline="0" dirty="0">
                <a:latin typeface="Garamond" panose="02020404030301010803" charset="0"/>
              </a:rPr>
              <a:t>ine quality </a:t>
            </a:r>
            <a:r>
              <a:rPr lang="ko-KR" altLang="en-US" sz="1600" b="0" i="0" u="none" strike="noStrike" baseline="0" dirty="0">
                <a:latin typeface="Garamond" panose="02020404030301010803" charset="0"/>
              </a:rPr>
              <a:t>검색</a:t>
            </a:r>
            <a:r>
              <a:rPr lang="en-US" altLang="ko-KR" sz="1600" b="0" i="0" u="none" strike="noStrike" baseline="0" dirty="0">
                <a:latin typeface="Garamond" panose="02020404030301010803" charset="0"/>
              </a:rPr>
              <a:t> </a:t>
            </a:r>
            <a:r>
              <a:rPr lang="ko-KR" altLang="en-US" dirty="0"/>
              <a:t>搜索</a:t>
            </a:r>
            <a:endParaRPr lang="en-US" altLang="ko-KR" sz="1600" b="0" i="0" u="none" strike="noStrike" baseline="0" dirty="0">
              <a:latin typeface="Garamond" panose="02020404030301010803" charset="0"/>
            </a:endParaRPr>
          </a:p>
          <a:p>
            <a:pPr lvl="4">
              <a:defRPr/>
            </a:pPr>
            <a:r>
              <a:rPr lang="ko-KR" altLang="en-US" dirty="0"/>
              <a:t>다운로드한 파일은 </a:t>
            </a:r>
            <a:endParaRPr lang="en-US" altLang="ko-KR" dirty="0"/>
          </a:p>
          <a:p>
            <a:pPr marL="809625" lvl="4" indent="0">
              <a:buNone/>
              <a:defRPr/>
            </a:pPr>
            <a:r>
              <a:rPr lang="en-US" altLang="ko-KR" dirty="0"/>
              <a:t>   </a:t>
            </a:r>
            <a:r>
              <a:rPr lang="en-US" altLang="ko-KR" dirty="0" err="1"/>
              <a:t>My_Python</a:t>
            </a:r>
            <a:r>
              <a:rPr lang="en-US" altLang="ko-KR" dirty="0"/>
              <a:t>/7</a:t>
            </a:r>
            <a:r>
              <a:rPr lang="ko-KR" altLang="en-US" dirty="0"/>
              <a:t>장</a:t>
            </a:r>
            <a:r>
              <a:rPr lang="en-US" altLang="ko-KR" dirty="0"/>
              <a:t>_data </a:t>
            </a:r>
            <a:r>
              <a:rPr lang="ko-KR" altLang="en-US" dirty="0"/>
              <a:t>폴더를</a:t>
            </a:r>
            <a:endParaRPr lang="en-US" altLang="ko-KR" dirty="0"/>
          </a:p>
          <a:p>
            <a:pPr marL="809625" lvl="4" indent="0">
              <a:buNone/>
              <a:defRPr/>
            </a:pPr>
            <a:r>
              <a:rPr lang="en-US" altLang="ko-KR" dirty="0"/>
              <a:t>  </a:t>
            </a:r>
            <a:r>
              <a:rPr lang="ko-KR" altLang="en-US" dirty="0"/>
              <a:t> 만든 후에 저장</a:t>
            </a:r>
            <a:endParaRPr lang="en-US" altLang="ko-KR" dirty="0"/>
          </a:p>
          <a:p>
            <a:pPr marL="809625" lvl="4" indent="0">
              <a:buNone/>
              <a:defRPr/>
            </a:pPr>
            <a:r>
              <a:rPr lang="ko-KR" altLang="en-US" dirty="0"/>
              <a:t>下载的文件是 第 </a:t>
            </a:r>
            <a:r>
              <a:rPr lang="en-US" altLang="ko-KR" dirty="0" err="1"/>
              <a:t>My_Python</a:t>
            </a:r>
            <a:r>
              <a:rPr lang="en-US" altLang="ko-KR" dirty="0"/>
              <a:t>/7_data </a:t>
            </a:r>
            <a:endParaRPr lang="en-US" altLang="ko-KR" dirty="0"/>
          </a:p>
          <a:p>
            <a:pPr marL="809625" lvl="4" indent="0">
              <a:buNone/>
              <a:defRPr/>
            </a:pPr>
            <a:r>
              <a:rPr lang="ko-KR" altLang="en-US" dirty="0"/>
              <a:t>章文件夹 创建后保存</a:t>
            </a:r>
            <a:endParaRPr lang="en-US" altLang="ko-KR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5470" y="1033615"/>
            <a:ext cx="7564858" cy="52200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8" name="그룹 17"/>
          <p:cNvGrpSpPr/>
          <p:nvPr/>
        </p:nvGrpSpPr>
        <p:grpSpPr>
          <a:xfrm>
            <a:off x="2444548" y="2109617"/>
            <a:ext cx="10142309" cy="4268069"/>
            <a:chOff x="1941627" y="2041291"/>
            <a:chExt cx="10142309" cy="4268069"/>
          </a:xfrm>
        </p:grpSpPr>
        <p:grpSp>
          <p:nvGrpSpPr>
            <p:cNvPr id="15" name="그룹 14"/>
            <p:cNvGrpSpPr/>
            <p:nvPr/>
          </p:nvGrpSpPr>
          <p:grpSpPr>
            <a:xfrm>
              <a:off x="3860263" y="2041291"/>
              <a:ext cx="8223673" cy="4268069"/>
              <a:chOff x="60629" y="22339"/>
              <a:chExt cx="14371428" cy="7458742"/>
            </a:xfrm>
          </p:grpSpPr>
          <p:pic>
            <p:nvPicPr>
              <p:cNvPr id="7" name="그림 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629" y="22339"/>
                <a:ext cx="7190476" cy="3733333"/>
              </a:xfrm>
              <a:prstGeom prst="rect">
                <a:avLst/>
              </a:prstGeom>
            </p:spPr>
          </p:pic>
          <p:pic>
            <p:nvPicPr>
              <p:cNvPr id="10" name="그림 9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51105" y="43638"/>
                <a:ext cx="7180952" cy="3628571"/>
              </a:xfrm>
              <a:prstGeom prst="rect">
                <a:avLst/>
              </a:prstGeom>
            </p:spPr>
          </p:pic>
          <p:pic>
            <p:nvPicPr>
              <p:cNvPr id="14" name="그림 1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914" y="3842986"/>
                <a:ext cx="7161905" cy="3638095"/>
              </a:xfrm>
              <a:prstGeom prst="rect">
                <a:avLst/>
              </a:prstGeom>
            </p:spPr>
          </p:pic>
        </p:grpSp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41627" y="6057360"/>
              <a:ext cx="1827000" cy="252000"/>
            </a:xfrm>
            <a:prstGeom prst="rect">
              <a:avLst/>
            </a:prstGeom>
          </p:spPr>
        </p:pic>
      </p:grp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03806" y="907592"/>
            <a:ext cx="2379520" cy="64466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altLang="ko-KR" sz="2000" dirty="0"/>
              <a:t>3. </a:t>
            </a:r>
            <a:r>
              <a:rPr lang="ko-KR" altLang="en-US" sz="2000" dirty="0"/>
              <a:t>数据收集</a:t>
            </a:r>
            <a:endParaRPr lang="ko-KR" alt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2295071" y="5655332"/>
            <a:ext cx="2379520" cy="64466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zh-CN" altLang="en-US" sz="1400" dirty="0"/>
              <a:t>图 </a:t>
            </a:r>
            <a:r>
              <a:rPr lang="en-US" altLang="zh-CN" sz="1400" dirty="0"/>
              <a:t>7-1 </a:t>
            </a:r>
            <a:r>
              <a:rPr lang="zh-CN" altLang="en-US" sz="1400" dirty="0"/>
              <a:t>下载 </a:t>
            </a:r>
            <a:r>
              <a:rPr lang="en-US" altLang="zh-CN" sz="1400" dirty="0"/>
              <a:t>Wine </a:t>
            </a:r>
            <a:r>
              <a:rPr lang="zh-CN" altLang="en-US" sz="1400" dirty="0"/>
              <a:t>数据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준비</a:t>
            </a: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r>
              <a:rPr lang="ko-KR" altLang="en-US" dirty="0"/>
              <a:t>다운로드한 </a:t>
            </a:r>
            <a:r>
              <a:rPr lang="en-US" altLang="ko-KR" dirty="0"/>
              <a:t>CSV </a:t>
            </a:r>
            <a:r>
              <a:rPr lang="ko-KR" altLang="en-US" dirty="0"/>
              <a:t>파일 정리하기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엑셀은 </a:t>
            </a:r>
            <a:r>
              <a:rPr lang="en-US" altLang="ko-KR" dirty="0"/>
              <a:t>CSV </a:t>
            </a:r>
            <a:r>
              <a:rPr lang="ko-KR" altLang="en-US" dirty="0"/>
              <a:t>파일을 열 때 쉼표를 열 구분자로 사용하므로 열이 깨진 것처럼 보임</a:t>
            </a:r>
            <a:endParaRPr lang="en-US" altLang="ko-KR" dirty="0"/>
          </a:p>
          <a:p>
            <a:pPr marL="628650" lvl="3" indent="0">
              <a:buNone/>
              <a:defRPr/>
            </a:pPr>
            <a:r>
              <a:rPr lang="en-US" altLang="ko-KR" dirty="0"/>
              <a:t>   </a:t>
            </a:r>
            <a:r>
              <a:rPr lang="en-US" altLang="zh-CN" dirty="0"/>
              <a:t>Excel </a:t>
            </a:r>
            <a:r>
              <a:rPr lang="zh-CN" altLang="en-US" dirty="0"/>
              <a:t>在打开 </a:t>
            </a:r>
            <a:r>
              <a:rPr lang="en-US" altLang="zh-CN" dirty="0"/>
              <a:t>CSV </a:t>
            </a:r>
            <a:r>
              <a:rPr lang="zh-CN" altLang="en-US" dirty="0"/>
              <a:t>文件时使用逗号作为列分隔符，因此列看起来是坏的</a:t>
            </a:r>
            <a:endParaRPr lang="en-US" altLang="ko-KR" dirty="0"/>
          </a:p>
        </p:txBody>
      </p:sp>
      <p:grpSp>
        <p:nvGrpSpPr>
          <p:cNvPr id="11" name="그룹 10"/>
          <p:cNvGrpSpPr/>
          <p:nvPr/>
        </p:nvGrpSpPr>
        <p:grpSpPr>
          <a:xfrm>
            <a:off x="731516" y="2938515"/>
            <a:ext cx="11267288" cy="3077832"/>
            <a:chOff x="64890" y="2951018"/>
            <a:chExt cx="12773503" cy="3489278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0" y="3158837"/>
              <a:ext cx="4997545" cy="2597460"/>
            </a:xfrm>
            <a:prstGeom prst="rect">
              <a:avLst/>
            </a:prstGeom>
          </p:spPr>
        </p:pic>
        <p:grpSp>
          <p:nvGrpSpPr>
            <p:cNvPr id="10" name="그룹 9"/>
            <p:cNvGrpSpPr/>
            <p:nvPr/>
          </p:nvGrpSpPr>
          <p:grpSpPr>
            <a:xfrm>
              <a:off x="1190364" y="2951018"/>
              <a:ext cx="11648029" cy="3489278"/>
              <a:chOff x="1190364" y="2951018"/>
              <a:chExt cx="11648029" cy="3489278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90364" y="5756296"/>
                <a:ext cx="5817388" cy="684000"/>
              </a:xfrm>
              <a:prstGeom prst="rect">
                <a:avLst/>
              </a:prstGeom>
            </p:spPr>
          </p:pic>
          <p:pic>
            <p:nvPicPr>
              <p:cNvPr id="12" name="Picture 6"/>
              <p:cNvPicPr>
                <a:picLocks noChangeAspect="1" noChangeArrowheads="1"/>
              </p:cNvPicPr>
              <p:nvPr/>
            </p:nvPicPr>
            <p:blipFill rotWithShape="1">
              <a:blip r:embed="rId3"/>
              <a:srcRect t="10614"/>
              <a:stretch>
                <a:fillRect/>
              </a:stretch>
            </p:blipFill>
            <p:spPr bwMode="auto">
              <a:xfrm>
                <a:off x="5139777" y="2951018"/>
                <a:ext cx="7698616" cy="2805278"/>
              </a:xfrm>
              <a:prstGeom prst="rect">
                <a:avLst/>
              </a:prstGeom>
              <a:noFill/>
              <a:ln w="9525">
                <a:solidFill>
                  <a:schemeClr val="accent6">
                    <a:lumMod val="75000"/>
                  </a:schemeClr>
                </a:solidFill>
                <a:miter lim="800000"/>
                <a:headEnd/>
                <a:tailEnd/>
              </a:ln>
            </p:spPr>
          </p:pic>
        </p:grpSp>
      </p:grpSp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529" y="1107244"/>
            <a:ext cx="8138361" cy="504000"/>
          </a:xfrm>
          <a:prstGeom prst="rect">
            <a:avLst/>
          </a:prstGeo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33923" y="1131587"/>
            <a:ext cx="1756063" cy="4453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4. </a:t>
            </a:r>
            <a:r>
              <a:rPr lang="ko-KR" altLang="en-US" sz="3600" dirty="0"/>
              <a:t>数据准备</a:t>
            </a:r>
            <a:endParaRPr lang="ko-KR" altLang="en-US" sz="3600" dirty="0"/>
          </a:p>
        </p:txBody>
      </p:sp>
      <p:sp>
        <p:nvSpPr>
          <p:cNvPr id="13" name="TextBox 12"/>
          <p:cNvSpPr txBox="1"/>
          <p:nvPr/>
        </p:nvSpPr>
        <p:spPr>
          <a:xfrm>
            <a:off x="4798827" y="1576937"/>
            <a:ext cx="4967362" cy="4453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zh-CN" altLang="en-US" dirty="0"/>
              <a:t>整理下载的 </a:t>
            </a:r>
            <a:r>
              <a:rPr lang="en-US" altLang="zh-CN" dirty="0"/>
              <a:t>CSV </a:t>
            </a:r>
            <a:r>
              <a:rPr lang="zh-CN" altLang="en-US" dirty="0"/>
              <a:t>文件</a:t>
            </a:r>
            <a:endParaRPr lang="ko-KR" altLang="en-US" sz="3600" dirty="0"/>
          </a:p>
        </p:txBody>
      </p:sp>
      <p:sp>
        <p:nvSpPr>
          <p:cNvPr id="16" name="TextBox 15"/>
          <p:cNvSpPr txBox="1"/>
          <p:nvPr/>
        </p:nvSpPr>
        <p:spPr>
          <a:xfrm>
            <a:off x="1640245" y="6045239"/>
            <a:ext cx="4563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(a)</a:t>
            </a:r>
            <a:r>
              <a:rPr lang="ko-KR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解压后保存的文件列</a:t>
            </a:r>
            <a:endParaRPr lang="en-US" altLang="ko-KR" sz="1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表图</a:t>
            </a:r>
            <a:r>
              <a:rPr lang="en-US" altLang="ko-KR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7-2 </a:t>
            </a:r>
            <a:r>
              <a:rPr lang="ko-KR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ko-KR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Excel</a:t>
            </a:r>
            <a:r>
              <a:rPr lang="ko-KR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中打开下载的</a:t>
            </a:r>
            <a:r>
              <a:rPr lang="en-US" altLang="ko-KR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CSV</a:t>
            </a:r>
            <a:r>
              <a:rPr lang="ko-KR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</a:t>
            </a:r>
            <a:endParaRPr lang="ko-KR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139765" y="5743567"/>
            <a:ext cx="45631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csv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数据文件</a:t>
            </a:r>
            <a:endParaRPr lang="en-US" altLang="ko-KR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준비</a:t>
            </a: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r>
              <a:rPr lang="ko-KR" altLang="en-US" dirty="0"/>
              <a:t>다운로드한 </a:t>
            </a:r>
            <a:r>
              <a:rPr lang="en-US" altLang="ko-KR" dirty="0"/>
              <a:t>CSV </a:t>
            </a:r>
            <a:r>
              <a:rPr lang="ko-KR" altLang="en-US" dirty="0"/>
              <a:t>파일 정리하기 </a:t>
            </a:r>
            <a:r>
              <a:rPr lang="zh-CN" altLang="en-US" dirty="0"/>
              <a:t>整理下载的 </a:t>
            </a:r>
            <a:r>
              <a:rPr lang="en-US" altLang="zh-CN" dirty="0"/>
              <a:t>CSV </a:t>
            </a:r>
            <a:r>
              <a:rPr lang="zh-CN" altLang="en-US" dirty="0"/>
              <a:t>文件</a:t>
            </a: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r>
              <a:rPr lang="ko-KR" altLang="en-US" dirty="0"/>
              <a:t>엑셀에서 열 구분자를 세미콜론으로 인식시키기 </a:t>
            </a:r>
            <a:r>
              <a:rPr lang="zh-CN" altLang="en-US" dirty="0"/>
              <a:t>在 </a:t>
            </a:r>
            <a:r>
              <a:rPr lang="en-US" altLang="zh-CN" dirty="0"/>
              <a:t>Excel </a:t>
            </a:r>
            <a:r>
              <a:rPr lang="zh-CN" altLang="en-US" dirty="0"/>
              <a:t>中将列分隔符识别为分号</a:t>
            </a: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973088" y="5095979"/>
            <a:ext cx="9969699" cy="1762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lvl="2" indent="-180975">
              <a:spcBef>
                <a:spcPct val="20000"/>
              </a:spcBef>
              <a:spcAft>
                <a:spcPts val="3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 테이블 형태의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파일을 다루기 위해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pandas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 패키지를 </a:t>
            </a:r>
            <a:r>
              <a:rPr lang="en-US" altLang="ko-KR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이름으로 로드 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2" indent="-180975">
              <a:spcBef>
                <a:spcPct val="20000"/>
              </a:spcBef>
              <a:spcAft>
                <a:spcPts val="3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01</a:t>
            </a:r>
            <a:r>
              <a:rPr lang="zh-CN" altLang="en-US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行 为处理表格形式的</a:t>
            </a:r>
            <a:r>
              <a:rPr lang="en-US" altLang="zh-CN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CSV</a:t>
            </a:r>
            <a:r>
              <a:rPr lang="zh-CN" altLang="en-US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文件，加载</a:t>
            </a:r>
            <a:r>
              <a:rPr lang="en-US" altLang="zh-CN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pandas</a:t>
            </a:r>
            <a:r>
              <a:rPr lang="zh-CN" altLang="en-US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库并以</a:t>
            </a:r>
            <a:r>
              <a:rPr lang="en-US" altLang="zh-CN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pd</a:t>
            </a:r>
            <a:r>
              <a:rPr lang="zh-CN" altLang="en-US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命名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2" indent="-180975">
              <a:spcBef>
                <a:spcPct val="20000"/>
              </a:spcBef>
              <a:spcAft>
                <a:spcPts val="3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02~03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pandas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read_csv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함수를 사용해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파일을 </a:t>
            </a:r>
            <a:r>
              <a:rPr lang="ko-KR" altLang="en-US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읽어온음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이때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데이터의 열 구분자를 세미콜론으로 지정하기 위해 </a:t>
            </a:r>
            <a:r>
              <a:rPr lang="en-US" altLang="ko-KR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sep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매개변수 값을 ‘</a:t>
            </a:r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지정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2" indent="-180975">
              <a:spcBef>
                <a:spcPct val="20000"/>
              </a:spcBef>
              <a:spcAft>
                <a:spcPts val="3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02~03</a:t>
            </a:r>
            <a:r>
              <a:rPr lang="zh-CN" altLang="en-US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行 使用</a:t>
            </a:r>
            <a:r>
              <a:rPr lang="en-US" altLang="zh-CN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pandas</a:t>
            </a:r>
            <a:r>
              <a:rPr lang="zh-CN" altLang="en-US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的</a:t>
            </a:r>
            <a:r>
              <a:rPr lang="en-US" altLang="zh-CN" sz="1200" dirty="0" err="1">
                <a:solidFill>
                  <a:prstClr val="black"/>
                </a:solidFill>
                <a:ea typeface="맑은 고딕" panose="020B0503020000020004" pitchFamily="50" charset="-127"/>
              </a:rPr>
              <a:t>read_csv</a:t>
            </a:r>
            <a:r>
              <a:rPr lang="en-US" altLang="zh-CN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()</a:t>
            </a:r>
            <a:r>
              <a:rPr lang="zh-CN" altLang="en-US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函数读取</a:t>
            </a:r>
            <a:r>
              <a:rPr lang="en-US" altLang="zh-CN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CSV</a:t>
            </a:r>
            <a:r>
              <a:rPr lang="zh-CN" altLang="en-US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文件，此时通过将</a:t>
            </a:r>
            <a:r>
              <a:rPr lang="en-US" altLang="zh-CN" sz="1200" dirty="0" err="1">
                <a:solidFill>
                  <a:prstClr val="black"/>
                </a:solidFill>
                <a:ea typeface="맑은 고딕" panose="020B0503020000020004" pitchFamily="50" charset="-127"/>
              </a:rPr>
              <a:t>sep</a:t>
            </a:r>
            <a:r>
              <a:rPr lang="zh-CN" altLang="en-US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参数值设为‘</a:t>
            </a:r>
            <a:r>
              <a:rPr lang="en-US" altLang="zh-CN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;’</a:t>
            </a:r>
            <a:r>
              <a:rPr lang="zh-CN" altLang="en-US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指定</a:t>
            </a:r>
            <a:r>
              <a:rPr lang="en-US" altLang="zh-CN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CSV</a:t>
            </a:r>
            <a:r>
              <a:rPr lang="zh-CN" altLang="en-US" sz="1200" dirty="0">
                <a:solidFill>
                  <a:prstClr val="black"/>
                </a:solidFill>
                <a:ea typeface="맑은 고딕" panose="020B0503020000020004" pitchFamily="50" charset="-127"/>
              </a:rPr>
              <a:t>文件数据的列分隔符为分号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2" indent="-180975">
              <a:spcBef>
                <a:spcPct val="20000"/>
              </a:spcBef>
              <a:spcAft>
                <a:spcPts val="3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04~05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pandas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읽은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데이터는 테이블 형태의 </a:t>
            </a:r>
            <a:r>
              <a:rPr lang="en-US" altLang="ko-KR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DataFrame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객체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red_df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white_df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있음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상태 그대로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파일로 저장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2" indent="-180975">
              <a:spcBef>
                <a:spcPct val="20000"/>
              </a:spcBef>
              <a:spcAft>
                <a:spcPts val="3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prstClr val="black"/>
                </a:solidFill>
              </a:rPr>
              <a:t>04~05</a:t>
            </a:r>
            <a:r>
              <a:rPr lang="ko-KR" altLang="en-US" sz="1200" dirty="0">
                <a:solidFill>
                  <a:prstClr val="black"/>
                </a:solidFill>
              </a:rPr>
              <a:t>行 </a:t>
            </a:r>
            <a:r>
              <a:rPr lang="en-US" altLang="ko-KR" sz="1200" dirty="0">
                <a:solidFill>
                  <a:prstClr val="black"/>
                </a:solidFill>
              </a:rPr>
              <a:t>pandas</a:t>
            </a:r>
            <a:r>
              <a:rPr lang="ko-KR" altLang="en-US" sz="1200" dirty="0">
                <a:solidFill>
                  <a:prstClr val="black"/>
                </a:solidFill>
              </a:rPr>
              <a:t>读取的</a:t>
            </a:r>
            <a:r>
              <a:rPr lang="en-US" altLang="ko-KR" sz="1200" dirty="0">
                <a:solidFill>
                  <a:prstClr val="black"/>
                </a:solidFill>
              </a:rPr>
              <a:t>CSV</a:t>
            </a:r>
            <a:r>
              <a:rPr lang="ko-KR" altLang="en-US" sz="1200" dirty="0">
                <a:solidFill>
                  <a:prstClr val="black"/>
                </a:solidFill>
              </a:rPr>
              <a:t>数据以表格形式存储于</a:t>
            </a:r>
            <a:r>
              <a:rPr lang="en-US" altLang="ko-KR" sz="1200" dirty="0" err="1">
                <a:solidFill>
                  <a:prstClr val="black"/>
                </a:solidFill>
              </a:rPr>
              <a:t>DataFrame</a:t>
            </a:r>
            <a:r>
              <a:rPr lang="ko-KR" altLang="en-US" sz="1200" dirty="0">
                <a:solidFill>
                  <a:prstClr val="black"/>
                </a:solidFill>
              </a:rPr>
              <a:t>对象</a:t>
            </a:r>
            <a:r>
              <a:rPr lang="en-US" altLang="ko-KR" sz="1200" dirty="0">
                <a:solidFill>
                  <a:prstClr val="black"/>
                </a:solidFill>
              </a:rPr>
              <a:t>(</a:t>
            </a:r>
            <a:r>
              <a:rPr lang="en-US" altLang="ko-KR" sz="1200" dirty="0" err="1">
                <a:solidFill>
                  <a:prstClr val="black"/>
                </a:solidFill>
              </a:rPr>
              <a:t>red_df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en-US" altLang="ko-KR" sz="1200" dirty="0" err="1">
                <a:solidFill>
                  <a:prstClr val="black"/>
                </a:solidFill>
              </a:rPr>
              <a:t>white_df</a:t>
            </a:r>
            <a:r>
              <a:rPr lang="en-US" altLang="ko-KR" sz="1200" dirty="0">
                <a:solidFill>
                  <a:prstClr val="black"/>
                </a:solidFill>
              </a:rPr>
              <a:t>)</a:t>
            </a:r>
            <a:r>
              <a:rPr lang="ko-KR" altLang="en-US" sz="1200" dirty="0">
                <a:solidFill>
                  <a:prstClr val="black"/>
                </a:solidFill>
              </a:rPr>
              <a:t>中。保持此状态直接保存为</a:t>
            </a:r>
            <a:r>
              <a:rPr lang="en-US" altLang="ko-KR" sz="1200" dirty="0">
                <a:solidFill>
                  <a:prstClr val="black"/>
                </a:solidFill>
              </a:rPr>
              <a:t>CSV</a:t>
            </a:r>
            <a:r>
              <a:rPr lang="ko-KR" altLang="en-US" sz="1200" dirty="0">
                <a:solidFill>
                  <a:prstClr val="black"/>
                </a:solidFill>
              </a:rPr>
              <a:t>文件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09" y="1043302"/>
            <a:ext cx="8138361" cy="504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183" y="2457618"/>
            <a:ext cx="6945473" cy="27000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02751" y="1101952"/>
            <a:ext cx="1756063" cy="4453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4. </a:t>
            </a:r>
            <a:r>
              <a:rPr lang="ko-KR" altLang="en-US" sz="3600" dirty="0"/>
              <a:t>数据准备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준비</a:t>
            </a: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r>
              <a:rPr lang="ko-KR" altLang="en-US" dirty="0"/>
              <a:t>다운로드한 </a:t>
            </a:r>
            <a:r>
              <a:rPr lang="en-US" altLang="ko-KR" dirty="0"/>
              <a:t>CSV </a:t>
            </a:r>
            <a:r>
              <a:rPr lang="ko-KR" altLang="en-US" dirty="0"/>
              <a:t>파일 정리하기 </a:t>
            </a:r>
            <a:r>
              <a:rPr lang="zh-CN" altLang="en-US" dirty="0"/>
              <a:t>整理下载的 </a:t>
            </a:r>
            <a:r>
              <a:rPr lang="en-US" altLang="zh-CN" dirty="0"/>
              <a:t>CSV </a:t>
            </a:r>
            <a:r>
              <a:rPr lang="zh-CN" altLang="en-US" dirty="0"/>
              <a:t>文件</a:t>
            </a:r>
            <a:endParaRPr lang="en-US" altLang="ko-KR" dirty="0"/>
          </a:p>
          <a:p>
            <a:pPr marL="790575" lvl="2" indent="-342900">
              <a:buFont typeface="+mj-lt"/>
              <a:buAutoNum type="arabicParenR" startAt="2"/>
              <a:defRPr/>
            </a:pPr>
            <a:r>
              <a:rPr lang="ko-KR" altLang="en-US" dirty="0" err="1"/>
              <a:t>파이썬에서</a:t>
            </a:r>
            <a:r>
              <a:rPr lang="ko-KR" altLang="en-US" dirty="0"/>
              <a:t> 다시 저장한 </a:t>
            </a:r>
            <a:r>
              <a:rPr lang="en-US" altLang="ko-KR" dirty="0"/>
              <a:t>winequality-red2.csv</a:t>
            </a:r>
            <a:r>
              <a:rPr lang="ko-KR" altLang="en-US" dirty="0"/>
              <a:t>와 </a:t>
            </a:r>
            <a:r>
              <a:rPr lang="en-US" altLang="ko-KR" dirty="0"/>
              <a:t>winequality-white2.csv </a:t>
            </a:r>
            <a:r>
              <a:rPr lang="ko-KR" altLang="en-US" dirty="0"/>
              <a:t>파일을 엑셀에서 다시 열어서 확인 在 </a:t>
            </a:r>
            <a:r>
              <a:rPr lang="en-US" altLang="ko-KR" dirty="0"/>
              <a:t>Excel </a:t>
            </a:r>
            <a:r>
              <a:rPr lang="ko-KR" altLang="en-US" dirty="0"/>
              <a:t>中重新打开重新保存的</a:t>
            </a:r>
            <a:r>
              <a:rPr lang="en-US" altLang="ko-KR" dirty="0"/>
              <a:t>winequality-red2.csv</a:t>
            </a:r>
            <a:r>
              <a:rPr lang="ko-KR" altLang="en-US" dirty="0"/>
              <a:t>和</a:t>
            </a:r>
            <a:r>
              <a:rPr lang="en-US" altLang="ko-KR" dirty="0"/>
              <a:t>winequality-white2.csv</a:t>
            </a:r>
            <a:r>
              <a:rPr lang="ko-KR" altLang="en-US" dirty="0"/>
              <a:t>文件进行检查</a:t>
            </a:r>
            <a:endParaRPr lang="en-US" altLang="ko-KR" dirty="0"/>
          </a:p>
          <a:p>
            <a:pPr marL="790575" lvl="2" indent="-342900">
              <a:buFont typeface="+mj-lt"/>
              <a:buAutoNum type="arabicParenR" startAt="2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 startAt="2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 startAt="2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 startAt="2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 startAt="2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 startAt="2"/>
              <a:defRPr/>
            </a:pP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09" y="1043302"/>
            <a:ext cx="8138361" cy="504000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02751" y="1101952"/>
            <a:ext cx="1756063" cy="4453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4. </a:t>
            </a:r>
            <a:r>
              <a:rPr lang="ko-KR" altLang="en-US" sz="3600" dirty="0"/>
              <a:t>数据准备</a:t>
            </a:r>
            <a:endParaRPr lang="ko-KR" altLang="en-US" sz="3600" dirty="0"/>
          </a:p>
        </p:txBody>
      </p:sp>
      <p:pic>
        <p:nvPicPr>
          <p:cNvPr id="10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562" y="2718620"/>
            <a:ext cx="4968875" cy="4139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 rotWithShape="1">
          <a:blip r:embed="rId3"/>
          <a:srcRect t="10914"/>
          <a:stretch>
            <a:fillRect/>
          </a:stretch>
        </p:blipFill>
        <p:spPr bwMode="auto">
          <a:xfrm>
            <a:off x="3660208" y="2830789"/>
            <a:ext cx="6480175" cy="1713057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 rotWithShape="1">
          <a:blip r:embed="rId4"/>
          <a:srcRect t="13346"/>
          <a:stretch>
            <a:fillRect/>
          </a:stretch>
        </p:blipFill>
        <p:spPr bwMode="auto">
          <a:xfrm>
            <a:off x="3685608" y="4962105"/>
            <a:ext cx="6454775" cy="1658191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70865" y="6407922"/>
            <a:ext cx="3408218" cy="45027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0000" lnSpcReduction="20000"/>
          </a:bodyPr>
          <a:lstStyle/>
          <a:p>
            <a:r>
              <a:rPr lang="ko-KR" altLang="en-US" sz="3600" dirty="0"/>
              <a:t>图 </a:t>
            </a:r>
            <a:r>
              <a:rPr lang="en-US" altLang="ko-KR" sz="3600" dirty="0"/>
              <a:t>7-3 </a:t>
            </a:r>
            <a:r>
              <a:rPr lang="ko-KR" altLang="en-US" sz="3600" dirty="0"/>
              <a:t>修改 </a:t>
            </a:r>
            <a:r>
              <a:rPr lang="en-US" altLang="ko-KR" sz="3600" dirty="0"/>
              <a:t>Excel </a:t>
            </a:r>
            <a:r>
              <a:rPr lang="ko-KR" altLang="en-US" sz="3600" dirty="0"/>
              <a:t>的列分隔符并重新打开保存的文件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 dirty="0"/>
              <a:t>데이터 준비</a:t>
            </a: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r>
              <a:rPr lang="ko-KR" altLang="en-US" dirty="0"/>
              <a:t>다운로드한 </a:t>
            </a:r>
            <a:r>
              <a:rPr lang="en-US" altLang="ko-KR" dirty="0"/>
              <a:t>CSV </a:t>
            </a:r>
            <a:r>
              <a:rPr lang="ko-KR" altLang="en-US" dirty="0"/>
              <a:t>파일 정리하기 </a:t>
            </a:r>
            <a:r>
              <a:rPr lang="zh-CN" altLang="en-US" dirty="0"/>
              <a:t>整理下载的 </a:t>
            </a:r>
            <a:r>
              <a:rPr lang="en-US" altLang="zh-CN" dirty="0"/>
              <a:t>CSV </a:t>
            </a:r>
            <a:r>
              <a:rPr lang="zh-CN" altLang="en-US" dirty="0"/>
              <a:t>文件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데이터 설명 数据描述</a:t>
            </a:r>
            <a:endParaRPr lang="en-US" altLang="ko-KR" dirty="0"/>
          </a:p>
          <a:p>
            <a:pPr lvl="3">
              <a:defRPr/>
            </a:pPr>
            <a:r>
              <a:rPr lang="ko-KR" altLang="en-US" dirty="0" err="1"/>
              <a:t>머신러닝</a:t>
            </a:r>
            <a:r>
              <a:rPr lang="ko-KR" altLang="en-US" dirty="0"/>
              <a:t> 입력용으로 제공하는 데이터셋으로 작성한 것이므로 데이터 정제 등의 </a:t>
            </a:r>
            <a:r>
              <a:rPr lang="ko-KR" altLang="en-US" dirty="0" err="1"/>
              <a:t>전처리</a:t>
            </a:r>
            <a:r>
              <a:rPr lang="ko-KR" altLang="en-US" dirty="0"/>
              <a:t> 작업은 이미 되어 있음</a:t>
            </a:r>
            <a:endParaRPr lang="en-US" altLang="ko-KR" dirty="0"/>
          </a:p>
          <a:p>
            <a:pPr marL="628650" lvl="3" indent="0">
              <a:buNone/>
              <a:defRPr/>
            </a:pPr>
            <a:r>
              <a:rPr lang="en-US" altLang="ko-KR" dirty="0"/>
              <a:t>   </a:t>
            </a:r>
            <a:r>
              <a:rPr lang="zh-CN" altLang="en-US" dirty="0"/>
              <a:t>由于它是作为为机器学习输入提供的数据集创建的，因此已经完成了数据细化等预处理工作</a:t>
            </a:r>
            <a:endParaRPr lang="en-US" altLang="ko-KR" dirty="0"/>
          </a:p>
          <a:p>
            <a:pPr lvl="3">
              <a:defRPr/>
            </a:pPr>
            <a:r>
              <a:rPr lang="en-US" altLang="ko-KR" sz="1500" dirty="0"/>
              <a:t>winequality-red2.csv</a:t>
            </a:r>
            <a:r>
              <a:rPr lang="en-US" altLang="ko-KR" dirty="0"/>
              <a:t>  : </a:t>
            </a:r>
            <a:r>
              <a:rPr lang="ko-KR" altLang="en-US" dirty="0"/>
              <a:t>레드 와인에 대한 데이터셋</a:t>
            </a:r>
            <a:r>
              <a:rPr lang="en-US" altLang="ko-KR" dirty="0"/>
              <a:t>. </a:t>
            </a:r>
            <a:r>
              <a:rPr lang="zh-CN" altLang="en-US" dirty="0"/>
              <a:t>红酒数据集。</a:t>
            </a:r>
            <a:endParaRPr lang="en-US" altLang="ko-KR" dirty="0"/>
          </a:p>
          <a:p>
            <a:pPr lvl="4">
              <a:defRPr/>
            </a:pPr>
            <a:r>
              <a:rPr lang="ko-KR" altLang="en-US" sz="1400" dirty="0"/>
              <a:t>행이 </a:t>
            </a:r>
            <a:r>
              <a:rPr lang="en-US" altLang="ko-KR" sz="1400" dirty="0"/>
              <a:t>1,599</a:t>
            </a:r>
            <a:r>
              <a:rPr lang="ko-KR" altLang="en-US" sz="1400" dirty="0"/>
              <a:t>개이므로 샘플이 </a:t>
            </a:r>
            <a:r>
              <a:rPr lang="en-US" altLang="ko-KR" sz="1400" dirty="0"/>
              <a:t>1,599</a:t>
            </a:r>
            <a:r>
              <a:rPr lang="ko-KR" altLang="en-US" sz="1400" dirty="0"/>
              <a:t>개</a:t>
            </a:r>
            <a:r>
              <a:rPr lang="en-US" altLang="ko-KR" sz="1400" dirty="0"/>
              <a:t>. </a:t>
            </a:r>
            <a:r>
              <a:rPr lang="zh-CN" altLang="en-US" dirty="0"/>
              <a:t>有 </a:t>
            </a:r>
            <a:r>
              <a:rPr lang="en-US" altLang="zh-CN" dirty="0"/>
              <a:t>1,599 </a:t>
            </a:r>
            <a:r>
              <a:rPr lang="zh-CN" altLang="en-US" dirty="0"/>
              <a:t>行，因此样本为 </a:t>
            </a:r>
            <a:r>
              <a:rPr lang="en-US" altLang="zh-CN" dirty="0"/>
              <a:t>1,599</a:t>
            </a:r>
            <a:r>
              <a:rPr lang="zh-CN" altLang="en-US" dirty="0"/>
              <a:t>。</a:t>
            </a:r>
            <a:endParaRPr lang="en-US" altLang="ko-KR" sz="1400" dirty="0"/>
          </a:p>
          <a:p>
            <a:pPr lvl="4">
              <a:defRPr/>
            </a:pPr>
            <a:r>
              <a:rPr lang="ko-KR" altLang="en-US" sz="1400" dirty="0"/>
              <a:t>열은 </a:t>
            </a:r>
            <a:r>
              <a:rPr lang="en-US" altLang="ko-KR" sz="1400" dirty="0"/>
              <a:t>12</a:t>
            </a:r>
            <a:r>
              <a:rPr lang="ko-KR" altLang="en-US" sz="1400" dirty="0"/>
              <a:t>개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머신러닝용</a:t>
            </a:r>
            <a:r>
              <a:rPr lang="ko-KR" altLang="en-US" sz="1400" dirty="0"/>
              <a:t> 데이터셋은 </a:t>
            </a:r>
            <a:r>
              <a:rPr lang="en-US" altLang="ko-KR" sz="1400" dirty="0"/>
              <a:t>n</a:t>
            </a:r>
            <a:r>
              <a:rPr lang="ko-KR" altLang="en-US" sz="1400" dirty="0"/>
              <a:t>개 속성 중에서 마지막 속성이 출력 변수</a:t>
            </a:r>
            <a:r>
              <a:rPr lang="en-US" altLang="ko-KR" sz="1400" dirty="0"/>
              <a:t>(y)</a:t>
            </a:r>
            <a:r>
              <a:rPr lang="ko-KR" altLang="en-US" sz="1400" dirty="0"/>
              <a:t>이고</a:t>
            </a:r>
            <a:r>
              <a:rPr lang="en-US" altLang="ko-KR" sz="1400" dirty="0"/>
              <a:t>,</a:t>
            </a:r>
            <a:r>
              <a:rPr lang="ko-KR" altLang="en-US" sz="1400" dirty="0"/>
              <a:t> 앞에서부터 </a:t>
            </a:r>
            <a:r>
              <a:rPr lang="en-US" altLang="ko-KR" sz="1400" dirty="0"/>
              <a:t>n-1</a:t>
            </a:r>
            <a:r>
              <a:rPr lang="ko-KR" altLang="en-US" sz="1400" dirty="0"/>
              <a:t>개 속성은 입력 변수</a:t>
            </a:r>
            <a:r>
              <a:rPr lang="en-US" altLang="ko-KR" sz="1400" dirty="0"/>
              <a:t>(x). </a:t>
            </a:r>
            <a:endParaRPr lang="en-US" altLang="ko-KR" sz="1400" dirty="0"/>
          </a:p>
          <a:p>
            <a:pPr marL="809625" lvl="4" indent="0">
              <a:buNone/>
              <a:defRPr/>
            </a:pPr>
            <a:r>
              <a:rPr lang="en-US" altLang="ko-KR" dirty="0"/>
              <a:t>   </a:t>
            </a:r>
            <a:r>
              <a:rPr lang="zh-CN" altLang="en-US" dirty="0"/>
              <a:t>有 </a:t>
            </a:r>
            <a:r>
              <a:rPr lang="en-US" altLang="zh-CN" dirty="0"/>
              <a:t>12 </a:t>
            </a:r>
            <a:r>
              <a:rPr lang="zh-CN" altLang="en-US" dirty="0"/>
              <a:t>列。在机器学习数据集中，</a:t>
            </a:r>
            <a:r>
              <a:rPr lang="en-US" altLang="zh-CN" dirty="0"/>
              <a:t>n</a:t>
            </a:r>
            <a:r>
              <a:rPr lang="zh-CN" altLang="en-US" dirty="0"/>
              <a:t>个属性中的最后一个属性是输出变量（</a:t>
            </a:r>
            <a:r>
              <a:rPr lang="en-US" altLang="zh-CN" dirty="0"/>
              <a:t>y</a:t>
            </a:r>
            <a:r>
              <a:rPr lang="zh-CN" altLang="en-US" dirty="0"/>
              <a:t>），从头开始的</a:t>
            </a:r>
            <a:r>
              <a:rPr lang="en-US" altLang="zh-CN" dirty="0"/>
              <a:t>n-1</a:t>
            </a:r>
            <a:r>
              <a:rPr lang="zh-CN" altLang="en-US" dirty="0"/>
              <a:t>个属性是输入变量（</a:t>
            </a:r>
            <a:r>
              <a:rPr lang="en-US" altLang="zh-CN" dirty="0"/>
              <a:t>x</a:t>
            </a:r>
            <a:r>
              <a:rPr lang="zh-CN" altLang="en-US" dirty="0"/>
              <a:t>）。</a:t>
            </a:r>
            <a:endParaRPr lang="en-US" altLang="ko-KR" sz="1400" dirty="0"/>
          </a:p>
          <a:p>
            <a:pPr lvl="4">
              <a:defRPr/>
            </a:pPr>
            <a:r>
              <a:rPr lang="ko-KR" altLang="en-US" sz="1400" dirty="0"/>
              <a:t>입력 변수는 </a:t>
            </a:r>
            <a:r>
              <a:rPr lang="en-US" altLang="ko-KR" sz="1400" dirty="0"/>
              <a:t>fixed acidity(</a:t>
            </a:r>
            <a:r>
              <a:rPr lang="ko-KR" altLang="en-US" sz="1400" dirty="0" err="1"/>
              <a:t>고정산</a:t>
            </a:r>
            <a:r>
              <a:rPr lang="en-US" altLang="ko-KR" sz="1400" dirty="0"/>
              <a:t>), volatile acidity(</a:t>
            </a:r>
            <a:r>
              <a:rPr lang="ko-KR" altLang="en-US" sz="1400" dirty="0" err="1"/>
              <a:t>휘발산</a:t>
            </a:r>
            <a:r>
              <a:rPr lang="en-US" altLang="ko-KR" sz="1400" dirty="0"/>
              <a:t>), </a:t>
            </a:r>
            <a:r>
              <a:rPr lang="en-US" altLang="ko-KR" sz="1400" dirty="0" err="1"/>
              <a:t>critric</a:t>
            </a:r>
            <a:r>
              <a:rPr lang="en-US" altLang="ko-KR" sz="1400" dirty="0"/>
              <a:t> acid(</a:t>
            </a:r>
            <a:r>
              <a:rPr lang="ko-KR" altLang="en-US" sz="1400" dirty="0"/>
              <a:t>구연산</a:t>
            </a:r>
            <a:r>
              <a:rPr lang="en-US" altLang="ko-KR" sz="1400" dirty="0"/>
              <a:t>), residual sugar(</a:t>
            </a:r>
            <a:r>
              <a:rPr lang="ko-KR" altLang="en-US" sz="1400" dirty="0"/>
              <a:t>잔당</a:t>
            </a:r>
            <a:r>
              <a:rPr lang="en-US" altLang="ko-KR" sz="1400" dirty="0"/>
              <a:t>), chlorides(</a:t>
            </a:r>
            <a:r>
              <a:rPr lang="ko-KR" altLang="en-US" sz="1400" dirty="0" err="1"/>
              <a:t>염화물</a:t>
            </a:r>
            <a:r>
              <a:rPr lang="en-US" altLang="ko-KR" sz="1400" dirty="0"/>
              <a:t>), free sulfur dioxide(</a:t>
            </a:r>
            <a:r>
              <a:rPr lang="ko-KR" altLang="en-US" sz="1400" dirty="0"/>
              <a:t>유리 이산화황</a:t>
            </a:r>
            <a:r>
              <a:rPr lang="en-US" altLang="ko-KR" sz="1400" dirty="0"/>
              <a:t>), total sulfur dioxide(</a:t>
            </a:r>
            <a:r>
              <a:rPr lang="ko-KR" altLang="en-US" sz="1400" dirty="0"/>
              <a:t>총 이산화황</a:t>
            </a:r>
            <a:r>
              <a:rPr lang="en-US" altLang="ko-KR" sz="1400" dirty="0"/>
              <a:t>), density(</a:t>
            </a:r>
            <a:r>
              <a:rPr lang="ko-KR" altLang="en-US" sz="1400" dirty="0"/>
              <a:t>밀도</a:t>
            </a:r>
            <a:r>
              <a:rPr lang="en-US" altLang="ko-KR" sz="1400" dirty="0"/>
              <a:t>), pH, sulphates(</a:t>
            </a:r>
            <a:r>
              <a:rPr lang="ko-KR" altLang="en-US" sz="1400" dirty="0"/>
              <a:t>황산염</a:t>
            </a:r>
            <a:r>
              <a:rPr lang="en-US" altLang="ko-KR" sz="1400" dirty="0"/>
              <a:t>), alcohol(</a:t>
            </a:r>
            <a:r>
              <a:rPr lang="ko-KR" altLang="en-US" sz="1400" dirty="0"/>
              <a:t>알코올</a:t>
            </a:r>
            <a:r>
              <a:rPr lang="en-US" altLang="ko-KR" sz="1400" dirty="0"/>
              <a:t>) </a:t>
            </a:r>
            <a:r>
              <a:rPr lang="ko-KR" altLang="en-US" sz="1400" dirty="0"/>
              <a:t>등의 </a:t>
            </a:r>
            <a:r>
              <a:rPr lang="en-US" altLang="ko-KR" sz="1400" dirty="0"/>
              <a:t>11</a:t>
            </a:r>
            <a:r>
              <a:rPr lang="ko-KR" altLang="en-US" sz="1400" dirty="0"/>
              <a:t>개 속성이고 출력 변수는 와인의 품질 등급을 나타내는 </a:t>
            </a:r>
            <a:r>
              <a:rPr lang="en-US" altLang="ko-KR" sz="1400" dirty="0"/>
              <a:t>quality.</a:t>
            </a:r>
            <a:endParaRPr lang="en-US" altLang="ko-KR" sz="1400" dirty="0"/>
          </a:p>
          <a:p>
            <a:pPr marL="809625" lvl="4" indent="0">
              <a:buNone/>
              <a:defRPr/>
            </a:pPr>
            <a:r>
              <a:rPr lang="en-US" altLang="ko-KR" dirty="0"/>
              <a:t>   </a:t>
            </a:r>
            <a:r>
              <a:rPr lang="zh-CN" altLang="en-US" dirty="0"/>
              <a:t>输入变量有</a:t>
            </a:r>
            <a:r>
              <a:rPr lang="en-US" altLang="zh-CN" dirty="0"/>
              <a:t>11</a:t>
            </a:r>
            <a:r>
              <a:rPr lang="zh-CN" altLang="en-US" dirty="0"/>
              <a:t>个属性：固定酸度、挥发性酸度、柠檬酸、残糖、氯化物、游离二氧化硫、总二氧化硫、密度、</a:t>
            </a:r>
            <a:r>
              <a:rPr lang="en-US" altLang="zh-CN" dirty="0"/>
              <a:t>pH</a:t>
            </a:r>
            <a:r>
              <a:rPr lang="zh-CN" altLang="en-US" dirty="0"/>
              <a:t>值、硫酸盐和酒精，输出变量是质量，表示葡萄酒的质量等级。</a:t>
            </a:r>
            <a:endParaRPr lang="en-US" altLang="ko-KR" sz="1400" dirty="0"/>
          </a:p>
          <a:p>
            <a:pPr lvl="4">
              <a:defRPr/>
            </a:pPr>
            <a:endParaRPr lang="en-US" altLang="ko-KR" sz="1200" dirty="0"/>
          </a:p>
          <a:p>
            <a:pPr lvl="3">
              <a:defRPr/>
            </a:pPr>
            <a:r>
              <a:rPr lang="en-US" altLang="ko-KR" sz="1500" dirty="0"/>
              <a:t>winequality-white2.csv : </a:t>
            </a:r>
            <a:r>
              <a:rPr lang="ko-KR" altLang="en-US" sz="1500" dirty="0"/>
              <a:t>화이트 와인에 대한 데이터셋</a:t>
            </a:r>
            <a:r>
              <a:rPr lang="en-US" altLang="ko-KR" sz="1500" dirty="0"/>
              <a:t>. </a:t>
            </a:r>
            <a:r>
              <a:rPr lang="zh-CN" altLang="en-US" dirty="0"/>
              <a:t>白葡萄酒数据集。</a:t>
            </a:r>
            <a:endParaRPr lang="en-US" altLang="ko-KR" sz="1500" dirty="0"/>
          </a:p>
          <a:p>
            <a:pPr lvl="4">
              <a:defRPr/>
            </a:pPr>
            <a:r>
              <a:rPr lang="ko-KR" altLang="en-US" sz="1400" dirty="0"/>
              <a:t>행이 </a:t>
            </a:r>
            <a:r>
              <a:rPr lang="en-US" altLang="ko-KR" sz="1400" dirty="0"/>
              <a:t>4,898</a:t>
            </a:r>
            <a:r>
              <a:rPr lang="ko-KR" altLang="en-US" sz="1400" dirty="0"/>
              <a:t>개이므로 샘플이 </a:t>
            </a:r>
            <a:r>
              <a:rPr lang="en-US" altLang="ko-KR" sz="1400" dirty="0"/>
              <a:t>4,898</a:t>
            </a:r>
            <a:r>
              <a:rPr lang="ko-KR" altLang="en-US" sz="1400" dirty="0"/>
              <a:t>개 </a:t>
            </a:r>
            <a:r>
              <a:rPr lang="zh-CN" altLang="en-US" dirty="0"/>
              <a:t>有 </a:t>
            </a:r>
            <a:r>
              <a:rPr lang="en-US" altLang="zh-CN" dirty="0"/>
              <a:t>4,898 </a:t>
            </a:r>
            <a:r>
              <a:rPr lang="zh-CN" altLang="en-US" dirty="0"/>
              <a:t>行，因此有 </a:t>
            </a:r>
            <a:r>
              <a:rPr lang="en-US" altLang="zh-CN" dirty="0"/>
              <a:t>4,898 </a:t>
            </a:r>
            <a:r>
              <a:rPr lang="zh-CN" altLang="en-US" dirty="0"/>
              <a:t>个样本</a:t>
            </a:r>
            <a:endParaRPr lang="en-US" altLang="ko-KR" sz="1400" dirty="0"/>
          </a:p>
          <a:p>
            <a:pPr lvl="4">
              <a:defRPr/>
            </a:pPr>
            <a:r>
              <a:rPr lang="ko-KR" altLang="en-US" sz="1400" dirty="0"/>
              <a:t>열은 </a:t>
            </a:r>
            <a:r>
              <a:rPr lang="en-US" altLang="ko-KR" sz="1400" dirty="0"/>
              <a:t>winequality-red2.csv</a:t>
            </a:r>
            <a:r>
              <a:rPr lang="ko-KR" altLang="en-US" sz="1400" dirty="0"/>
              <a:t>와 마찬가지로 </a:t>
            </a:r>
            <a:r>
              <a:rPr lang="en-US" altLang="ko-KR" sz="1400" dirty="0"/>
              <a:t>11</a:t>
            </a:r>
            <a:r>
              <a:rPr lang="ko-KR" altLang="en-US" sz="1400" dirty="0"/>
              <a:t>개의 입력 변수와 </a:t>
            </a:r>
            <a:r>
              <a:rPr lang="en-US" altLang="ko-KR" sz="1400" dirty="0"/>
              <a:t>1</a:t>
            </a:r>
            <a:r>
              <a:rPr lang="ko-KR" altLang="en-US" sz="1400" dirty="0"/>
              <a:t>개의 출력 변수 </a:t>
            </a:r>
            <a:r>
              <a:rPr lang="en-US" altLang="ko-KR" sz="1400" dirty="0"/>
              <a:t>quality</a:t>
            </a:r>
            <a:r>
              <a:rPr lang="ko-KR" altLang="en-US" sz="1400" dirty="0"/>
              <a:t>로 구성되어 있음</a:t>
            </a:r>
            <a:endParaRPr lang="en-US" altLang="ko-KR" sz="1400" dirty="0"/>
          </a:p>
          <a:p>
            <a:pPr marL="809625" lvl="4" indent="0">
              <a:buNone/>
              <a:defRPr/>
            </a:pPr>
            <a:r>
              <a:rPr lang="en-US" altLang="ko-KR" dirty="0"/>
              <a:t>   </a:t>
            </a:r>
            <a:r>
              <a:rPr lang="ko-KR" altLang="en-US" dirty="0"/>
              <a:t>与</a:t>
            </a:r>
            <a:r>
              <a:rPr lang="en-US" altLang="ko-KR" dirty="0"/>
              <a:t>winequality-red2.csv</a:t>
            </a:r>
            <a:r>
              <a:rPr lang="ko-KR" altLang="en-US" dirty="0"/>
              <a:t>一样，该列由 </a:t>
            </a:r>
            <a:r>
              <a:rPr lang="en-US" altLang="ko-KR" dirty="0"/>
              <a:t>11 </a:t>
            </a:r>
            <a:r>
              <a:rPr lang="ko-KR" altLang="en-US" dirty="0"/>
              <a:t>个输入变量和 </a:t>
            </a:r>
            <a:r>
              <a:rPr lang="en-US" altLang="ko-KR" dirty="0"/>
              <a:t>1 </a:t>
            </a:r>
            <a:r>
              <a:rPr lang="ko-KR" altLang="en-US" dirty="0"/>
              <a:t>个输出变量 </a:t>
            </a:r>
            <a:r>
              <a:rPr lang="en-US" altLang="ko-KR" dirty="0"/>
              <a:t>quality </a:t>
            </a:r>
            <a:r>
              <a:rPr lang="ko-KR" altLang="en-US" dirty="0"/>
              <a:t>组成。</a:t>
            </a:r>
            <a:endParaRPr lang="en-US" altLang="ko-KR" sz="1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09" y="1043302"/>
            <a:ext cx="8138361" cy="5040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02751" y="1101952"/>
            <a:ext cx="1756063" cy="4453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4. </a:t>
            </a:r>
            <a:r>
              <a:rPr lang="ko-KR" altLang="en-US" sz="3600" dirty="0"/>
              <a:t>数据准备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준비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ko-KR" altLang="en-US" dirty="0"/>
              <a:t>데이터 병합하기 合并数据</a:t>
            </a: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r>
              <a:rPr lang="ko-KR" altLang="en-US" dirty="0"/>
              <a:t>레드 와인과 화이트 와인 파일 합치기</a:t>
            </a:r>
            <a:r>
              <a:rPr lang="zh-CN" altLang="en-US" dirty="0"/>
              <a:t>红酒和白酒锉的组合</a:t>
            </a:r>
            <a:r>
              <a:rPr lang="en-US" altLang="ko-KR" dirty="0"/>
              <a:t> </a:t>
            </a:r>
            <a:r>
              <a:rPr lang="en-US" altLang="ko-KR" sz="1200" dirty="0"/>
              <a:t>– </a:t>
            </a:r>
            <a:r>
              <a:rPr lang="ko-KR" altLang="en-US" sz="1200" dirty="0"/>
              <a:t>와인</a:t>
            </a:r>
            <a:r>
              <a:rPr lang="en-US" altLang="ko-KR" sz="1200" dirty="0"/>
              <a:t> </a:t>
            </a:r>
            <a:r>
              <a:rPr lang="ko-KR" altLang="en-US" sz="1200" dirty="0"/>
              <a:t>종류 구분을 위해 </a:t>
            </a:r>
            <a:r>
              <a:rPr lang="en-US" altLang="ko-KR" sz="1200" dirty="0"/>
              <a:t>type </a:t>
            </a:r>
            <a:r>
              <a:rPr lang="ko-KR" altLang="en-US" sz="1200" dirty="0"/>
              <a:t>컬럼 추가</a:t>
            </a:r>
            <a:r>
              <a:rPr lang="zh-CN" altLang="en-US" sz="1200" dirty="0"/>
              <a:t> 为区分葡萄酒种类，新增</a:t>
            </a:r>
            <a:r>
              <a:rPr lang="en-US" altLang="zh-CN" sz="1200" dirty="0"/>
              <a:t>type</a:t>
            </a:r>
            <a:r>
              <a:rPr lang="zh-CN" altLang="en-US" sz="1200" dirty="0"/>
              <a:t>列 </a:t>
            </a:r>
            <a:r>
              <a:rPr lang="en-US" altLang="ko-KR" sz="1200" dirty="0"/>
              <a:t>_</a:t>
            </a:r>
            <a:r>
              <a:rPr lang="en-US" altLang="ko-KR" sz="1200" b="1" dirty="0"/>
              <a:t>insert()</a:t>
            </a:r>
            <a:endParaRPr lang="en-US" altLang="ko-KR" sz="1100" dirty="0"/>
          </a:p>
          <a:p>
            <a:pPr marL="628650" lvl="3" indent="0">
              <a:buNone/>
              <a:defRPr/>
            </a:pPr>
            <a:r>
              <a:rPr lang="en-US" altLang="ko-KR" sz="1200" dirty="0"/>
              <a:t>    (1) </a:t>
            </a:r>
            <a:r>
              <a:rPr lang="ko-KR" altLang="en-US" sz="1200" dirty="0"/>
              <a:t>레드 와인 데이터 확인 및 정리 </a:t>
            </a:r>
            <a:endParaRPr lang="en-US" altLang="ko-KR" sz="1200" dirty="0"/>
          </a:p>
          <a:p>
            <a:pPr marL="628650" lvl="3" indent="0">
              <a:buNone/>
              <a:defRPr/>
            </a:pPr>
            <a:r>
              <a:rPr lang="en-US" altLang="zh-CN" sz="1200" dirty="0"/>
              <a:t>        </a:t>
            </a:r>
            <a:r>
              <a:rPr lang="zh-CN" altLang="en-US" dirty="0"/>
              <a:t>检查和清理红酒数据</a:t>
            </a:r>
            <a:endParaRPr lang="en-US" altLang="ko-KR" sz="1200" dirty="0"/>
          </a:p>
          <a:p>
            <a:pPr marL="790575" lvl="2" indent="-342900">
              <a:buFont typeface="+mj-lt"/>
              <a:buAutoNum type="arabicParenR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endParaRPr lang="en-US" altLang="ko-KR" dirty="0"/>
          </a:p>
        </p:txBody>
      </p:sp>
      <p:grpSp>
        <p:nvGrpSpPr>
          <p:cNvPr id="2" name="그룹 1"/>
          <p:cNvGrpSpPr/>
          <p:nvPr/>
        </p:nvGrpSpPr>
        <p:grpSpPr>
          <a:xfrm>
            <a:off x="5380292" y="2553004"/>
            <a:ext cx="7056438" cy="4386261"/>
            <a:chOff x="2404341" y="2471739"/>
            <a:chExt cx="7056438" cy="4386261"/>
          </a:xfrm>
        </p:grpSpPr>
        <p:sp>
          <p:nvSpPr>
            <p:cNvPr id="4" name="직사각형 3"/>
            <p:cNvSpPr/>
            <p:nvPr/>
          </p:nvSpPr>
          <p:spPr>
            <a:xfrm>
              <a:off x="2508250" y="2471739"/>
              <a:ext cx="6108700" cy="43195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내용 개체 틀 2"/>
            <p:cNvSpPr txBox="1"/>
            <p:nvPr/>
          </p:nvSpPr>
          <p:spPr bwMode="auto">
            <a:xfrm>
              <a:off x="2404341" y="2538413"/>
              <a:ext cx="7056438" cy="431958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44767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/>
                <a:t>01  &gt;&gt;&gt; red_df</a:t>
              </a:r>
              <a:r>
                <a:rPr lang="es-ES" altLang="ko-KR" sz="1200" b="1" dirty="0"/>
                <a:t>.head()</a:t>
              </a:r>
              <a:endParaRPr lang="es-ES" altLang="ko-KR" sz="1200" b="1" dirty="0"/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  fixed acidity  volatile acidity   citric acid</a:t>
              </a:r>
              <a:r>
                <a:rPr lang="es-ES" altLang="ko-KR" sz="900" dirty="0">
                  <a:solidFill>
                    <a:srgbClr val="258BCD"/>
                  </a:solidFill>
                </a:rPr>
                <a:t> </a:t>
              </a:r>
              <a:r>
                <a:rPr lang="es-ES" altLang="ko-KR" sz="1200" dirty="0">
                  <a:solidFill>
                    <a:srgbClr val="258BCD"/>
                  </a:solidFill>
                </a:rPr>
                <a:t> ...   sulphates   alcohol   quality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chemeClr val="accent5">
                      <a:lumMod val="75000"/>
                    </a:schemeClr>
                  </a:solidFill>
                </a:rPr>
                <a:t>    0       7.4                0.70            0.00     ...      0.56          9.4        5</a:t>
              </a:r>
              <a:endParaRPr lang="es-ES" altLang="ko-KR" sz="1200" dirty="0">
                <a:solidFill>
                  <a:schemeClr val="accent5">
                    <a:lumMod val="75000"/>
                  </a:schemeClr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chemeClr val="accent5">
                      <a:lumMod val="75000"/>
                    </a:schemeClr>
                  </a:solidFill>
                </a:rPr>
                <a:t>    1       7.8                0.88            0.00     ...      0.68          9.8        5</a:t>
              </a:r>
              <a:endParaRPr lang="es-ES" altLang="ko-KR" sz="1200" dirty="0">
                <a:solidFill>
                  <a:schemeClr val="accent5">
                    <a:lumMod val="75000"/>
                  </a:schemeClr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chemeClr val="accent5">
                      <a:lumMod val="75000"/>
                    </a:schemeClr>
                  </a:solidFill>
                </a:rPr>
                <a:t>    2       7.8                0.76            0.04     ...      0.65          9.8        5</a:t>
              </a:r>
              <a:endParaRPr lang="es-ES" altLang="ko-KR" sz="1200" dirty="0">
                <a:solidFill>
                  <a:schemeClr val="accent5">
                    <a:lumMod val="75000"/>
                  </a:schemeClr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chemeClr val="accent5">
                      <a:lumMod val="75000"/>
                    </a:schemeClr>
                  </a:solidFill>
                </a:rPr>
                <a:t>    3      11.2       </a:t>
              </a:r>
              <a:r>
                <a:rPr lang="es-ES" altLang="ko-KR" sz="1100" dirty="0">
                  <a:solidFill>
                    <a:schemeClr val="accent5">
                      <a:lumMod val="75000"/>
                    </a:schemeClr>
                  </a:solidFill>
                </a:rPr>
                <a:t>     </a:t>
              </a:r>
              <a:r>
                <a:rPr lang="es-ES" altLang="ko-KR" sz="1200" dirty="0">
                  <a:solidFill>
                    <a:schemeClr val="accent5">
                      <a:lumMod val="75000"/>
                    </a:schemeClr>
                  </a:solidFill>
                </a:rPr>
                <a:t>    0.28            0.56     ...      0.58          9.8        6</a:t>
              </a:r>
              <a:endParaRPr lang="es-ES" altLang="ko-KR" sz="1200" dirty="0">
                <a:solidFill>
                  <a:schemeClr val="accent5">
                    <a:lumMod val="75000"/>
                  </a:schemeClr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chemeClr val="accent5">
                      <a:lumMod val="75000"/>
                    </a:schemeClr>
                  </a:solidFill>
                </a:rPr>
                <a:t>    4       7.4                0.70            0.00     ...      0.56          9.4        5</a:t>
              </a:r>
              <a:endParaRPr lang="es-ES" altLang="ko-KR" sz="1200" dirty="0">
                <a:solidFill>
                  <a:schemeClr val="accent5">
                    <a:lumMod val="75000"/>
                  </a:schemeClr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endParaRPr lang="es-ES" altLang="ko-KR" sz="1200" dirty="0">
                <a:solidFill>
                  <a:schemeClr val="accent5">
                    <a:lumMod val="75000"/>
                  </a:schemeClr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chemeClr val="accent5">
                      <a:lumMod val="75000"/>
                    </a:schemeClr>
                  </a:solidFill>
                </a:rPr>
                <a:t>   [5 rows x 12 columns]</a:t>
              </a:r>
              <a:endParaRPr lang="es-ES" altLang="ko-KR" sz="1200" dirty="0">
                <a:solidFill>
                  <a:schemeClr val="accent5">
                    <a:lumMod val="75000"/>
                  </a:schemeClr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/>
                <a:t>02  &gt;&gt;&gt; red_df</a:t>
              </a:r>
              <a:r>
                <a:rPr lang="es-ES" altLang="ko-KR" sz="1200" b="1" dirty="0"/>
                <a:t>.insert(</a:t>
              </a:r>
              <a:r>
                <a:rPr lang="es-ES" altLang="ko-KR" sz="1200" dirty="0"/>
                <a:t>0, column = 'type', value = 'red'</a:t>
              </a:r>
              <a:r>
                <a:rPr lang="es-ES" altLang="ko-KR" sz="1200" b="1" dirty="0"/>
                <a:t>)</a:t>
              </a:r>
              <a:endParaRPr lang="es-ES" altLang="ko-KR" sz="1200" b="1" dirty="0"/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/>
                <a:t>03  &gt;&gt;&gt; red_df</a:t>
              </a:r>
              <a:r>
                <a:rPr lang="es-ES" altLang="ko-KR" sz="1200" b="1" dirty="0"/>
                <a:t>.head()</a:t>
              </a:r>
              <a:endParaRPr lang="es-ES" altLang="ko-KR" sz="1200" b="1" dirty="0"/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    type     fixed acidity     volatile acidity   ...   sulphates   alcohol   quality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0    red          7.4                    0.70         ...       0.56         9.4         5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1    red          7.8                    0.88         ...       0.68         9.8         5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2    red          7.8                    0.76         ...       0.65         9.8         5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3    red          11.2  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       </a:t>
              </a:r>
              <a:r>
                <a:rPr lang="es-ES" altLang="ko-KR" sz="1200" dirty="0">
                  <a:solidFill>
                    <a:srgbClr val="258BCD"/>
                  </a:solidFill>
                </a:rPr>
                <a:t>      0.28         ...       0.58         9.8         6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4    red          7.4                    0.70         ...       0.56         9.4         5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[5 rows x 13 columns]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200" dirty="0"/>
                <a:t>04  &gt;&gt;&gt; </a:t>
              </a:r>
              <a:r>
                <a:rPr lang="en-US" altLang="ko-KR" sz="1200" dirty="0" err="1"/>
                <a:t>red_df</a:t>
              </a:r>
              <a:r>
                <a:rPr lang="en-US" altLang="ko-KR" sz="1200" b="1" dirty="0" err="1"/>
                <a:t>.shape</a:t>
              </a:r>
              <a:endParaRPr lang="en-US" altLang="ko-KR" sz="1200" b="1" dirty="0"/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200" dirty="0">
                  <a:solidFill>
                    <a:schemeClr val="accent5">
                      <a:lumMod val="75000"/>
                    </a:schemeClr>
                  </a:solidFill>
                </a:rPr>
                <a:t>    (1599, 13)</a:t>
              </a:r>
              <a:endParaRPr lang="en-US" altLang="ko-KR" sz="1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09" y="1043302"/>
            <a:ext cx="8138361" cy="504000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33924" y="1079008"/>
            <a:ext cx="1756063" cy="4453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4. </a:t>
            </a:r>
            <a:r>
              <a:rPr lang="ko-KR" altLang="en-US" sz="3600" dirty="0"/>
              <a:t>数据准备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준비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ko-KR" altLang="en-US" dirty="0"/>
              <a:t>데이터 병합하기 合并数据</a:t>
            </a: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r>
              <a:rPr lang="ko-KR" altLang="en-US" dirty="0"/>
              <a:t>레드 와인과 화이트 와인 파일 합치기</a:t>
            </a:r>
            <a:r>
              <a:rPr lang="zh-CN" altLang="en-US" dirty="0"/>
              <a:t>红酒和白酒锉的组合</a:t>
            </a:r>
            <a:r>
              <a:rPr lang="ko-KR" altLang="en-US" dirty="0"/>
              <a:t> </a:t>
            </a:r>
            <a:r>
              <a:rPr lang="en-US" altLang="ko-KR" sz="1200" dirty="0"/>
              <a:t>– </a:t>
            </a:r>
            <a:r>
              <a:rPr lang="ko-KR" altLang="en-US" sz="1200" dirty="0"/>
              <a:t>와인</a:t>
            </a:r>
            <a:r>
              <a:rPr lang="en-US" altLang="ko-KR" sz="1200" dirty="0"/>
              <a:t> </a:t>
            </a:r>
            <a:r>
              <a:rPr lang="ko-KR" altLang="en-US" sz="1200" dirty="0"/>
              <a:t>종류 구분을 위해 </a:t>
            </a:r>
            <a:r>
              <a:rPr lang="en-US" altLang="ko-KR" sz="1200" dirty="0"/>
              <a:t>type </a:t>
            </a:r>
            <a:r>
              <a:rPr lang="ko-KR" altLang="en-US" sz="1200" dirty="0"/>
              <a:t>컬럼 추가</a:t>
            </a:r>
            <a:r>
              <a:rPr lang="en-US" altLang="ko-KR" sz="1200" dirty="0"/>
              <a:t>_</a:t>
            </a:r>
            <a:r>
              <a:rPr lang="en-US" altLang="ko-KR" sz="1200" b="1" dirty="0"/>
              <a:t>insert()</a:t>
            </a:r>
            <a:endParaRPr lang="en-US" altLang="ko-KR" sz="1200" b="1" dirty="0"/>
          </a:p>
          <a:p>
            <a:pPr marL="447675" lvl="2" indent="0">
              <a:buNone/>
              <a:defRPr/>
            </a:pPr>
            <a:r>
              <a:rPr lang="ko-KR" altLang="en-US" dirty="0"/>
              <a:t>    添加类型列以区分葡萄酒</a:t>
            </a:r>
            <a:r>
              <a:rPr lang="en-US" altLang="ko-KR" dirty="0" err="1"/>
              <a:t>types_insert</a:t>
            </a:r>
            <a:r>
              <a:rPr lang="ko-KR" altLang="en-US" dirty="0"/>
              <a:t>（）</a:t>
            </a:r>
            <a:endParaRPr lang="en-US" altLang="ko-KR" sz="1200" b="1" dirty="0"/>
          </a:p>
          <a:p>
            <a:pPr marL="447675" lvl="2" indent="0">
              <a:buNone/>
              <a:defRPr/>
            </a:pPr>
            <a:r>
              <a:rPr lang="en-US" altLang="ko-KR" sz="1200" dirty="0"/>
              <a:t>       (2) </a:t>
            </a:r>
            <a:r>
              <a:rPr lang="ko-KR" altLang="en-US" sz="1200" dirty="0"/>
              <a:t>화이트</a:t>
            </a:r>
            <a:r>
              <a:rPr lang="en-US" altLang="ko-KR" sz="1200" dirty="0"/>
              <a:t> </a:t>
            </a:r>
            <a:r>
              <a:rPr lang="ko-KR" altLang="en-US" sz="1200" dirty="0"/>
              <a:t>와인 데이터 확인 및 정리 </a:t>
            </a:r>
            <a:r>
              <a:rPr lang="en-US" altLang="ko-KR" sz="1200" dirty="0"/>
              <a:t>  </a:t>
            </a:r>
            <a:endParaRPr lang="en-US" altLang="ko-KR" sz="1200" dirty="0"/>
          </a:p>
          <a:p>
            <a:pPr marL="447675" lvl="2" indent="0">
              <a:buNone/>
              <a:defRPr/>
            </a:pPr>
            <a:r>
              <a:rPr lang="en-US" altLang="ko-KR" sz="1200" dirty="0"/>
              <a:t>           </a:t>
            </a:r>
            <a:r>
              <a:rPr lang="zh-CN" altLang="en-US" dirty="0"/>
              <a:t>检查和清理白葡萄酒数据</a:t>
            </a:r>
            <a:endParaRPr lang="en-US" altLang="ko-KR" sz="1200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</p:txBody>
      </p:sp>
      <p:grpSp>
        <p:nvGrpSpPr>
          <p:cNvPr id="4" name="그룹 3"/>
          <p:cNvGrpSpPr/>
          <p:nvPr/>
        </p:nvGrpSpPr>
        <p:grpSpPr>
          <a:xfrm>
            <a:off x="5775745" y="2583166"/>
            <a:ext cx="6336034" cy="4356099"/>
            <a:chOff x="4337646" y="2608105"/>
            <a:chExt cx="6336034" cy="4356099"/>
          </a:xfrm>
        </p:grpSpPr>
        <p:sp>
          <p:nvSpPr>
            <p:cNvPr id="2" name="직사각형 1"/>
            <p:cNvSpPr/>
            <p:nvPr/>
          </p:nvSpPr>
          <p:spPr bwMode="auto">
            <a:xfrm>
              <a:off x="4566568" y="2616042"/>
              <a:ext cx="6107112" cy="43481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2800"/>
            </a:p>
          </p:txBody>
        </p:sp>
        <p:sp>
          <p:nvSpPr>
            <p:cNvPr id="3" name="내용 개체 틀 2"/>
            <p:cNvSpPr txBox="1"/>
            <p:nvPr/>
          </p:nvSpPr>
          <p:spPr bwMode="auto">
            <a:xfrm>
              <a:off x="4337646" y="2608105"/>
              <a:ext cx="5975995" cy="4170363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44767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/>
                <a:t>05   &gt;&gt;&gt; white_df</a:t>
              </a:r>
              <a:r>
                <a:rPr lang="es-ES" altLang="ko-KR" sz="1200" b="1" dirty="0"/>
                <a:t>.head()</a:t>
              </a:r>
              <a:endParaRPr lang="es-ES" altLang="ko-KR" sz="1200" b="1" dirty="0"/>
            </a:p>
            <a:p>
              <a:pPr marL="266700" lvl="1" indent="0" latinLnBrk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prstClr val="black"/>
                  </a:solidFill>
                  <a:ea typeface="굴림" panose="020B0600000101010101" pitchFamily="50" charset="-127"/>
                </a:rPr>
                <a:t>    </a:t>
              </a:r>
              <a:r>
                <a:rPr lang="es-ES" altLang="ko-KR" sz="1200" dirty="0">
                  <a:solidFill>
                    <a:srgbClr val="258BCD"/>
                  </a:solidFill>
                  <a:ea typeface="굴림" panose="020B0600000101010101" pitchFamily="50" charset="-127"/>
                </a:rPr>
                <a:t>fixed acidity  volatile acidity   citric acid</a:t>
              </a:r>
              <a:r>
                <a:rPr lang="es-ES" altLang="ko-KR" sz="900" dirty="0">
                  <a:solidFill>
                    <a:srgbClr val="258BCD"/>
                  </a:solidFill>
                  <a:ea typeface="굴림" panose="020B0600000101010101" pitchFamily="50" charset="-127"/>
                </a:rPr>
                <a:t> </a:t>
              </a:r>
              <a:r>
                <a:rPr lang="es-ES" altLang="ko-KR" sz="1200" dirty="0">
                  <a:solidFill>
                    <a:srgbClr val="258BCD"/>
                  </a:solidFill>
                  <a:ea typeface="굴림" panose="020B0600000101010101" pitchFamily="50" charset="-127"/>
                </a:rPr>
                <a:t> ...   sulphates   alcohol   quality</a:t>
              </a:r>
              <a:endParaRPr lang="es-ES" altLang="ko-KR" sz="1200" dirty="0">
                <a:solidFill>
                  <a:srgbClr val="258BCD"/>
                </a:solidFill>
                <a:ea typeface="굴림" panose="020B0600000101010101" pitchFamily="50" charset="-127"/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0       7.0                0.27            0.36     ...      0.45          8.8        6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1       6.3                0.30            0.34     ...      0.49          9.5        6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2       8.1                0.28            0.40     ...      0.44         10.1     </a:t>
              </a:r>
              <a:r>
                <a:rPr lang="es-ES" altLang="ko-KR" sz="1000" dirty="0">
                  <a:solidFill>
                    <a:srgbClr val="258BCD"/>
                  </a:solidFill>
                </a:rPr>
                <a:t>  </a:t>
              </a:r>
              <a:r>
                <a:rPr lang="es-ES" altLang="ko-KR" sz="1200" dirty="0">
                  <a:solidFill>
                    <a:srgbClr val="258BCD"/>
                  </a:solidFill>
                </a:rPr>
                <a:t> 6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3       7.2                0.23            0.32     ...      0.40          9.9        6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4       7.2                0.23            0.32     ...      0.40          9.9        6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endParaRPr lang="es-ES" altLang="ko-KR" sz="600" dirty="0"/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[5 rows x 12 columns]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/>
                <a:t>06   &gt;&gt;&gt; white_df</a:t>
              </a:r>
              <a:r>
                <a:rPr lang="es-ES" altLang="ko-KR" sz="1200" b="1" dirty="0"/>
                <a:t>.insert</a:t>
              </a:r>
              <a:r>
                <a:rPr lang="es-ES" altLang="ko-KR" sz="1200" dirty="0"/>
                <a:t>(0, column = 'type', value = 'white')</a:t>
              </a:r>
              <a:endParaRPr lang="es-ES" altLang="ko-KR" sz="1200" dirty="0"/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/>
                <a:t>07   &gt;&gt;&gt; white_df</a:t>
              </a:r>
              <a:r>
                <a:rPr lang="es-ES" altLang="ko-KR" sz="1200" b="1" dirty="0"/>
                <a:t>.head()</a:t>
              </a:r>
              <a:endParaRPr lang="es-ES" altLang="ko-KR" sz="1200" b="1" dirty="0"/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     type     fixed acidity     volatile acidity   ...   sulphates   alcohol   quality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0   white          7.0                  0.27         ...       0.45         8.8         6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1   white          6.3                  0.30         ...       0.49         9.5         6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2   white          8.1                  0.28         ...       0.44     </a:t>
              </a:r>
              <a:r>
                <a:rPr lang="es-ES" altLang="ko-KR" sz="1050" dirty="0">
                  <a:solidFill>
                    <a:srgbClr val="258BCD"/>
                  </a:solidFill>
                </a:rPr>
                <a:t>    </a:t>
              </a:r>
              <a:r>
                <a:rPr lang="es-ES" altLang="ko-KR" sz="1200" dirty="0">
                  <a:solidFill>
                    <a:srgbClr val="258BCD"/>
                  </a:solidFill>
                </a:rPr>
                <a:t>10.1        6   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3   white          7.2                  0.23         ...       0.40         9.9         6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4   white          7.2                  0.23         ...       0.40         9.9         6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endParaRPr lang="es-ES" altLang="ko-KR" sz="500" dirty="0">
                <a:solidFill>
                  <a:srgbClr val="0E6EB8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[5 rows x 13 columns]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200" dirty="0"/>
                <a:t>08  &gt;&gt;&gt; </a:t>
              </a:r>
              <a:r>
                <a:rPr lang="en-US" altLang="ko-KR" sz="1200" dirty="0" err="1"/>
                <a:t>white_df</a:t>
              </a:r>
              <a:r>
                <a:rPr lang="en-US" altLang="ko-KR" sz="1200" b="1" dirty="0" err="1"/>
                <a:t>.shape</a:t>
              </a:r>
              <a:endParaRPr lang="en-US" altLang="ko-KR" sz="1200" b="1" dirty="0"/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200" dirty="0">
                  <a:solidFill>
                    <a:schemeClr val="accent5">
                      <a:lumMod val="75000"/>
                    </a:schemeClr>
                  </a:solidFill>
                </a:rPr>
                <a:t>    (4898, 13)</a:t>
              </a:r>
              <a:endParaRPr lang="en-US" altLang="ko-KR" sz="1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09" y="1043302"/>
            <a:ext cx="8138361" cy="504000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33924" y="1079008"/>
            <a:ext cx="1756063" cy="4453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4. </a:t>
            </a:r>
            <a:r>
              <a:rPr lang="ko-KR" altLang="en-US" sz="3600" dirty="0"/>
              <a:t>数据准备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준비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ko-KR" altLang="en-US" dirty="0"/>
              <a:t>데이터 병합하기 合并数据 </a:t>
            </a: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r>
              <a:rPr lang="ko-KR" altLang="en-US" dirty="0"/>
              <a:t>레드 와인과 화이트 와인 파일 합치기 </a:t>
            </a:r>
            <a:r>
              <a:rPr lang="zh-CN" altLang="en-US" dirty="0"/>
              <a:t>红酒和白酒锉的组合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sz="1200" dirty="0"/>
              <a:t>       (3) </a:t>
            </a:r>
            <a:r>
              <a:rPr lang="ko-KR" altLang="en-US" sz="1200" dirty="0"/>
              <a:t>레드 와인과 화이트 와인 파일 합치기</a:t>
            </a:r>
            <a:r>
              <a:rPr lang="en-US" altLang="ko-KR" sz="1200" dirty="0"/>
              <a:t>_</a:t>
            </a:r>
            <a:r>
              <a:rPr lang="en-US" altLang="ko-KR" sz="1200" b="1" dirty="0" err="1"/>
              <a:t>concat</a:t>
            </a:r>
            <a:r>
              <a:rPr lang="en-US" altLang="ko-KR" sz="1200" b="1" dirty="0"/>
              <a:t>() </a:t>
            </a:r>
            <a:r>
              <a:rPr lang="ko-KR" altLang="en-US" dirty="0"/>
              <a:t>红葡萄酒和白葡萄酒的结合</a:t>
            </a:r>
            <a:r>
              <a:rPr lang="en-US" altLang="ko-KR" dirty="0" err="1"/>
              <a:t>files_concat</a:t>
            </a:r>
            <a:r>
              <a:rPr lang="ko-KR" altLang="en-US" dirty="0"/>
              <a:t>（）</a:t>
            </a:r>
            <a:endParaRPr lang="en-US" altLang="ko-KR" b="1" dirty="0"/>
          </a:p>
        </p:txBody>
      </p:sp>
      <p:grpSp>
        <p:nvGrpSpPr>
          <p:cNvPr id="2" name="그룹 1"/>
          <p:cNvGrpSpPr/>
          <p:nvPr/>
        </p:nvGrpSpPr>
        <p:grpSpPr>
          <a:xfrm>
            <a:off x="4315626" y="3132498"/>
            <a:ext cx="6696075" cy="1154113"/>
            <a:chOff x="2711269" y="2987491"/>
            <a:chExt cx="6696075" cy="1154113"/>
          </a:xfrm>
        </p:grpSpPr>
        <p:sp>
          <p:nvSpPr>
            <p:cNvPr id="7" name="직사각형 6"/>
            <p:cNvSpPr/>
            <p:nvPr/>
          </p:nvSpPr>
          <p:spPr bwMode="auto">
            <a:xfrm>
              <a:off x="2981432" y="2987491"/>
              <a:ext cx="6323012" cy="11541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2800"/>
            </a:p>
          </p:txBody>
        </p:sp>
        <p:sp>
          <p:nvSpPr>
            <p:cNvPr id="8" name="내용 개체 틀 2"/>
            <p:cNvSpPr txBox="1"/>
            <p:nvPr/>
          </p:nvSpPr>
          <p:spPr bwMode="auto">
            <a:xfrm>
              <a:off x="2711269" y="3087504"/>
              <a:ext cx="6696075" cy="10541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44767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200" dirty="0"/>
                <a:t>09  &gt;&gt;&gt; wine = </a:t>
              </a:r>
              <a:r>
                <a:rPr lang="en-US" altLang="ko-KR" sz="1200" b="1" dirty="0" err="1"/>
                <a:t>pd.concat</a:t>
              </a:r>
              <a:r>
                <a:rPr lang="en-US" altLang="ko-KR" sz="1200" b="1" dirty="0"/>
                <a:t>([</a:t>
              </a:r>
              <a:r>
                <a:rPr lang="en-US" altLang="ko-KR" sz="1200" dirty="0" err="1"/>
                <a:t>red_df</a:t>
              </a:r>
              <a:r>
                <a:rPr lang="en-US" altLang="ko-KR" sz="1200" dirty="0"/>
                <a:t>, </a:t>
              </a:r>
              <a:r>
                <a:rPr lang="en-US" altLang="ko-KR" sz="1200" dirty="0" err="1"/>
                <a:t>white_df</a:t>
              </a:r>
              <a:r>
                <a:rPr lang="en-US" altLang="ko-KR" sz="1200" b="1" dirty="0"/>
                <a:t>])</a:t>
              </a:r>
              <a:endParaRPr lang="en-US" altLang="ko-KR" sz="1200" b="1" dirty="0"/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200" dirty="0"/>
                <a:t>10  &gt;&gt;&gt; </a:t>
              </a:r>
              <a:r>
                <a:rPr lang="en-US" altLang="ko-KR" sz="1200" dirty="0" err="1"/>
                <a:t>wine.</a:t>
              </a:r>
              <a:r>
                <a:rPr lang="en-US" altLang="ko-KR" sz="1200" b="1" dirty="0" err="1"/>
                <a:t>shape</a:t>
              </a:r>
              <a:endParaRPr lang="en-US" altLang="ko-KR" sz="1200" b="1" dirty="0"/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200" dirty="0">
                  <a:solidFill>
                    <a:schemeClr val="accent5">
                      <a:lumMod val="75000"/>
                    </a:schemeClr>
                  </a:solidFill>
                </a:rPr>
                <a:t>    (6497, 13)</a:t>
              </a:r>
              <a:endParaRPr lang="en-US" altLang="ko-KR" sz="1200" dirty="0">
                <a:solidFill>
                  <a:schemeClr val="accent5">
                    <a:lumMod val="75000"/>
                  </a:schemeClr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200" dirty="0"/>
                <a:t>11  &gt;&gt;&gt; </a:t>
              </a:r>
              <a:r>
                <a:rPr lang="en-US" altLang="ko-KR" sz="1200" dirty="0" err="1"/>
                <a:t>wine</a:t>
              </a:r>
              <a:r>
                <a:rPr lang="en-US" altLang="ko-KR" sz="1200" b="1" dirty="0" err="1"/>
                <a:t>.to_csv</a:t>
              </a:r>
              <a:r>
                <a:rPr lang="en-US" altLang="ko-KR" sz="1200" dirty="0"/>
                <a:t>('C:/Users/OOOO/</a:t>
              </a:r>
              <a:r>
                <a:rPr lang="en-US" altLang="ko-KR" sz="1200" dirty="0" err="1"/>
                <a:t>My_Python</a:t>
              </a:r>
              <a:r>
                <a:rPr lang="en-US" altLang="ko-KR" sz="1200" dirty="0"/>
                <a:t>/7</a:t>
              </a:r>
              <a:r>
                <a:rPr lang="ko-KR" altLang="en-US" sz="1200" dirty="0"/>
                <a:t>장</a:t>
              </a:r>
              <a:r>
                <a:rPr lang="en-US" altLang="ko-KR" sz="1200" dirty="0"/>
                <a:t>_data/wine.csv', index = False)</a:t>
              </a:r>
              <a:endParaRPr lang="en-US" altLang="ko-KR" sz="1200" dirty="0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09" y="1043302"/>
            <a:ext cx="8138361" cy="50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33924" y="1079008"/>
            <a:ext cx="1756063" cy="4453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4. </a:t>
            </a:r>
            <a:r>
              <a:rPr lang="ko-KR" altLang="en-US" sz="3600" dirty="0"/>
              <a:t>数据准备</a:t>
            </a:r>
            <a:endParaRPr lang="ko-KR" altLang="en-US" sz="36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>
          <a:xfrm>
            <a:off x="513446" y="1591752"/>
            <a:ext cx="11161945" cy="6256975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ko-KR" altLang="en-US" dirty="0"/>
              <a:t>데이터 준비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ko-KR" altLang="en-US" dirty="0"/>
              <a:t>데이터 병합하기 合并数据</a:t>
            </a:r>
            <a:endParaRPr lang="en-US" altLang="ko-KR" dirty="0"/>
          </a:p>
          <a:p>
            <a:pPr marL="790575" lvl="2" indent="-342900">
              <a:lnSpc>
                <a:spcPct val="100000"/>
              </a:lnSpc>
              <a:buFont typeface="+mj-lt"/>
              <a:buAutoNum type="arabicParenR"/>
              <a:defRPr/>
            </a:pPr>
            <a:r>
              <a:rPr lang="ko-KR" altLang="en-US" dirty="0"/>
              <a:t>레드 와인과 화이트 와인 파일 합치기 </a:t>
            </a:r>
            <a:r>
              <a:rPr lang="zh-CN" altLang="en-US" dirty="0"/>
              <a:t>红酒和白酒锉的组合</a:t>
            </a:r>
            <a:endParaRPr lang="en-US" altLang="ko-KR" dirty="0"/>
          </a:p>
          <a:p>
            <a:pPr lvl="2">
              <a:lnSpc>
                <a:spcPct val="100000"/>
              </a:lnSpc>
              <a:defRPr/>
            </a:pPr>
            <a:r>
              <a:rPr lang="en-US" altLang="ko-KR" sz="1400" dirty="0"/>
              <a:t>[01~04</a:t>
            </a:r>
            <a:r>
              <a:rPr lang="ko-KR" altLang="en-US" sz="1400" dirty="0"/>
              <a:t>행</a:t>
            </a:r>
            <a:r>
              <a:rPr lang="en-US" altLang="ko-KR" sz="1400" dirty="0"/>
              <a:t>] </a:t>
            </a:r>
            <a:r>
              <a:rPr lang="ko-KR" altLang="en-US" sz="1400" dirty="0"/>
              <a:t>레드 와인 파일을 읽고 데이터프레임에 ‘</a:t>
            </a:r>
            <a:r>
              <a:rPr lang="en-US" altLang="ko-KR" sz="1400" dirty="0"/>
              <a:t>type’ </a:t>
            </a:r>
            <a:r>
              <a:rPr lang="ko-KR" altLang="en-US" sz="1400" dirty="0"/>
              <a:t>열 삽입하기 </a:t>
            </a:r>
            <a:r>
              <a:rPr lang="en-US" altLang="zh-CN" dirty="0"/>
              <a:t>[</a:t>
            </a:r>
            <a:r>
              <a:rPr lang="zh-CN" altLang="en-US" dirty="0"/>
              <a:t>第 </a:t>
            </a:r>
            <a:r>
              <a:rPr lang="en-US" altLang="zh-CN" dirty="0"/>
              <a:t>01~04 </a:t>
            </a:r>
            <a:r>
              <a:rPr lang="zh-CN" altLang="en-US" dirty="0"/>
              <a:t>行</a:t>
            </a:r>
            <a:r>
              <a:rPr lang="en-US" altLang="zh-CN" dirty="0"/>
              <a:t>] </a:t>
            </a:r>
            <a:r>
              <a:rPr lang="zh-CN" altLang="en-US" dirty="0"/>
              <a:t>读取红酒文件并将 </a:t>
            </a:r>
            <a:r>
              <a:rPr lang="en-US" altLang="zh-CN" dirty="0"/>
              <a:t>'type' </a:t>
            </a:r>
            <a:r>
              <a:rPr lang="zh-CN" altLang="en-US" dirty="0"/>
              <a:t>列插入到数据框中</a:t>
            </a:r>
            <a:endParaRPr lang="en-US" altLang="ko-KR" sz="1800" dirty="0"/>
          </a:p>
          <a:p>
            <a:pPr lvl="3">
              <a:defRPr/>
            </a:pPr>
            <a:r>
              <a:rPr lang="en-US" altLang="ko-KR" sz="1200" dirty="0"/>
              <a:t>01</a:t>
            </a:r>
            <a:r>
              <a:rPr lang="ko-KR" altLang="en-US" sz="1200" dirty="0"/>
              <a:t>행 </a:t>
            </a:r>
            <a:r>
              <a:rPr lang="en-US" altLang="ko-KR" sz="1200" dirty="0" err="1"/>
              <a:t>red_df</a:t>
            </a:r>
            <a:r>
              <a:rPr lang="ko-KR" altLang="en-US" sz="1200" dirty="0"/>
              <a:t>에 저장된 내용을 위에서부터 </a:t>
            </a:r>
            <a:r>
              <a:rPr lang="en-US" altLang="ko-KR" sz="1200" dirty="0"/>
              <a:t>5</a:t>
            </a:r>
            <a:r>
              <a:rPr lang="ko-KR" altLang="en-US" sz="1200" dirty="0"/>
              <a:t>개</a:t>
            </a:r>
            <a:r>
              <a:rPr lang="en-US" altLang="ko-KR" sz="1200" dirty="0"/>
              <a:t>(0</a:t>
            </a:r>
            <a:r>
              <a:rPr lang="ko-KR" altLang="en-US" sz="1200" dirty="0"/>
              <a:t>번</a:t>
            </a:r>
            <a:r>
              <a:rPr lang="en-US" altLang="ko-KR" sz="1200" dirty="0"/>
              <a:t>~4</a:t>
            </a:r>
            <a:r>
              <a:rPr lang="ko-KR" altLang="en-US" sz="1200" dirty="0"/>
              <a:t>번</a:t>
            </a:r>
            <a:r>
              <a:rPr lang="en-US" altLang="ko-KR" sz="1200" dirty="0"/>
              <a:t>) </a:t>
            </a:r>
            <a:r>
              <a:rPr lang="ko-KR" altLang="en-US" sz="1200" dirty="0"/>
              <a:t>행만 출력하여 확인 </a:t>
            </a:r>
            <a:r>
              <a:rPr lang="zh-CN" altLang="en-US" dirty="0"/>
              <a:t>从顶部开始仅打印 </a:t>
            </a:r>
            <a:r>
              <a:rPr lang="en-US" altLang="zh-CN" dirty="0"/>
              <a:t>01 </a:t>
            </a:r>
            <a:r>
              <a:rPr lang="zh-CN" altLang="en-US" dirty="0"/>
              <a:t>行（</a:t>
            </a:r>
            <a:r>
              <a:rPr lang="en-US" altLang="zh-CN" dirty="0"/>
              <a:t>0~4 </a:t>
            </a:r>
            <a:r>
              <a:rPr lang="zh-CN" altLang="en-US" dirty="0"/>
              <a:t>号）来检查 </a:t>
            </a:r>
            <a:r>
              <a:rPr lang="en-US" altLang="zh-CN" dirty="0"/>
              <a:t>01 </a:t>
            </a:r>
            <a:r>
              <a:rPr lang="zh-CN" altLang="en-US" dirty="0"/>
              <a:t>行</a:t>
            </a:r>
            <a:r>
              <a:rPr lang="en-US" altLang="zh-CN" dirty="0" err="1"/>
              <a:t>red_df</a:t>
            </a:r>
            <a:r>
              <a:rPr lang="zh-CN" altLang="en-US" dirty="0"/>
              <a:t>中存储的内容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02</a:t>
            </a:r>
            <a:r>
              <a:rPr lang="ko-KR" altLang="en-US" sz="1200" dirty="0"/>
              <a:t>행 이름이 ‘</a:t>
            </a:r>
            <a:r>
              <a:rPr lang="en-US" altLang="ko-KR" sz="1200" dirty="0"/>
              <a:t>type’</a:t>
            </a:r>
            <a:r>
              <a:rPr lang="ko-KR" altLang="en-US" sz="1200" dirty="0"/>
              <a:t>이고 값이 ‘</a:t>
            </a:r>
            <a:r>
              <a:rPr lang="en-US" altLang="ko-KR" sz="1200" dirty="0"/>
              <a:t>red’</a:t>
            </a:r>
            <a:r>
              <a:rPr lang="ko-KR" altLang="en-US" sz="1200" dirty="0"/>
              <a:t>인 열을 만들어 </a:t>
            </a:r>
            <a:r>
              <a:rPr lang="en-US" altLang="ko-KR" sz="1200" dirty="0"/>
              <a:t>index = 0(</a:t>
            </a:r>
            <a:r>
              <a:rPr lang="ko-KR" altLang="en-US" sz="1200" dirty="0"/>
              <a:t>첫 번째 열</a:t>
            </a:r>
            <a:r>
              <a:rPr lang="en-US" altLang="ko-KR" sz="1200" dirty="0"/>
              <a:t>) </a:t>
            </a:r>
            <a:r>
              <a:rPr lang="ko-KR" altLang="en-US" sz="1200" dirty="0"/>
              <a:t>자리에 삽입 </a:t>
            </a:r>
            <a:r>
              <a:rPr lang="en-US" altLang="zh-CN" dirty="0"/>
              <a:t>02</a:t>
            </a:r>
            <a:r>
              <a:rPr lang="zh-CN" altLang="en-US" dirty="0"/>
              <a:t>创建一个行名为“</a:t>
            </a:r>
            <a:r>
              <a:rPr lang="en-US" altLang="zh-CN" dirty="0"/>
              <a:t>type”</a:t>
            </a:r>
            <a:r>
              <a:rPr lang="zh-CN" altLang="en-US" dirty="0"/>
              <a:t>，值为“</a:t>
            </a:r>
            <a:r>
              <a:rPr lang="en-US" altLang="zh-CN" dirty="0"/>
              <a:t>red”</a:t>
            </a:r>
            <a:r>
              <a:rPr lang="zh-CN" altLang="en-US" dirty="0"/>
              <a:t>的列，并将其插入索引 </a:t>
            </a:r>
            <a:r>
              <a:rPr lang="en-US" altLang="zh-CN" dirty="0"/>
              <a:t>= 0</a:t>
            </a:r>
            <a:r>
              <a:rPr lang="zh-CN" altLang="en-US" dirty="0"/>
              <a:t>（第一列）数字中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03</a:t>
            </a:r>
            <a:r>
              <a:rPr lang="ko-KR" altLang="en-US" sz="1200" dirty="0"/>
              <a:t>행 </a:t>
            </a:r>
            <a:r>
              <a:rPr lang="en-US" altLang="ko-KR" sz="1200" dirty="0" err="1"/>
              <a:t>red_df</a:t>
            </a:r>
            <a:r>
              <a:rPr lang="ko-KR" altLang="en-US" sz="1200" dirty="0"/>
              <a:t>에 저장된 내용을 위에서부터 </a:t>
            </a:r>
            <a:r>
              <a:rPr lang="en-US" altLang="ko-KR" sz="1200" dirty="0"/>
              <a:t>5</a:t>
            </a:r>
            <a:r>
              <a:rPr lang="ko-KR" altLang="en-US" sz="1200" dirty="0"/>
              <a:t>개</a:t>
            </a:r>
            <a:r>
              <a:rPr lang="en-US" altLang="ko-KR" sz="1200" dirty="0"/>
              <a:t>(0</a:t>
            </a:r>
            <a:r>
              <a:rPr lang="ko-KR" altLang="en-US" sz="1200" dirty="0"/>
              <a:t>번</a:t>
            </a:r>
            <a:r>
              <a:rPr lang="en-US" altLang="ko-KR" sz="1200" dirty="0"/>
              <a:t>~4</a:t>
            </a:r>
            <a:r>
              <a:rPr lang="ko-KR" altLang="en-US" sz="1200" dirty="0"/>
              <a:t>번</a:t>
            </a:r>
            <a:r>
              <a:rPr lang="en-US" altLang="ko-KR" sz="1200" dirty="0"/>
              <a:t>) </a:t>
            </a:r>
            <a:r>
              <a:rPr lang="ko-KR" altLang="en-US" sz="1200" dirty="0"/>
              <a:t>행만 다시 출력해 삽입된 ‘</a:t>
            </a:r>
            <a:r>
              <a:rPr lang="en-US" altLang="ko-KR" sz="1200" dirty="0"/>
              <a:t>type’</a:t>
            </a:r>
            <a:r>
              <a:rPr lang="ko-KR" altLang="en-US" sz="1200" dirty="0"/>
              <a:t>열을 확인 </a:t>
            </a:r>
            <a:r>
              <a:rPr lang="en-US" altLang="zh-CN" dirty="0"/>
              <a:t>03 </a:t>
            </a:r>
            <a:r>
              <a:rPr lang="zh-CN" altLang="en-US" dirty="0"/>
              <a:t>从顶部开始仅重印 </a:t>
            </a:r>
            <a:r>
              <a:rPr lang="en-US" altLang="zh-CN" dirty="0"/>
              <a:t>5 </a:t>
            </a:r>
            <a:r>
              <a:rPr lang="zh-CN" altLang="en-US" dirty="0"/>
              <a:t>行（第 </a:t>
            </a:r>
            <a:r>
              <a:rPr lang="en-US" altLang="zh-CN" dirty="0"/>
              <a:t>0~4 </a:t>
            </a:r>
            <a:r>
              <a:rPr lang="zh-CN" altLang="en-US" dirty="0"/>
              <a:t>号），通过重新打印存储在第 </a:t>
            </a:r>
            <a:r>
              <a:rPr lang="en-US" altLang="zh-CN" dirty="0"/>
              <a:t>03 </a:t>
            </a:r>
            <a:r>
              <a:rPr lang="zh-CN" altLang="en-US" dirty="0"/>
              <a:t>行</a:t>
            </a:r>
            <a:r>
              <a:rPr lang="en-US" altLang="zh-CN" dirty="0" err="1"/>
              <a:t>red_df</a:t>
            </a:r>
            <a:r>
              <a:rPr lang="zh-CN" altLang="en-US" dirty="0"/>
              <a:t>中的内容来检查插入的“类型”列。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04</a:t>
            </a:r>
            <a:r>
              <a:rPr lang="ko-KR" altLang="en-US" sz="1200" dirty="0"/>
              <a:t>행 </a:t>
            </a:r>
            <a:r>
              <a:rPr lang="en-US" altLang="ko-KR" sz="1200" dirty="0" err="1"/>
              <a:t>red_df.shape</a:t>
            </a:r>
            <a:r>
              <a:rPr lang="ko-KR" altLang="en-US" sz="1200" dirty="0"/>
              <a:t>를 이용하여 현재 </a:t>
            </a:r>
            <a:r>
              <a:rPr lang="en-US" altLang="ko-KR" sz="1200" dirty="0" err="1"/>
              <a:t>red_df</a:t>
            </a:r>
            <a:r>
              <a:rPr lang="ko-KR" altLang="en-US" sz="1200" dirty="0"/>
              <a:t>의 크기를 ‘</a:t>
            </a:r>
            <a:r>
              <a:rPr lang="en-US" altLang="ko-KR" sz="1200" dirty="0"/>
              <a:t>(</a:t>
            </a:r>
            <a:r>
              <a:rPr lang="ko-KR" altLang="en-US" sz="1200" dirty="0"/>
              <a:t>행의 개수</a:t>
            </a:r>
            <a:r>
              <a:rPr lang="en-US" altLang="ko-KR" sz="1200" dirty="0"/>
              <a:t>, </a:t>
            </a:r>
            <a:r>
              <a:rPr lang="ko-KR" altLang="en-US" sz="1200" dirty="0"/>
              <a:t>열의 개수</a:t>
            </a:r>
            <a:r>
              <a:rPr lang="en-US" altLang="ko-KR" sz="1200" dirty="0"/>
              <a:t>)’ </a:t>
            </a:r>
            <a:r>
              <a:rPr lang="ko-KR" altLang="en-US" sz="1200" dirty="0"/>
              <a:t>형태로 확인 </a:t>
            </a:r>
            <a:r>
              <a:rPr lang="en-US" altLang="zh-CN" dirty="0"/>
              <a:t>04</a:t>
            </a:r>
            <a:r>
              <a:rPr lang="zh-CN" altLang="en-US" dirty="0"/>
              <a:t>使用线</a:t>
            </a:r>
            <a:r>
              <a:rPr lang="en-US" altLang="zh-CN" dirty="0" err="1"/>
              <a:t>red_df.shape</a:t>
            </a:r>
            <a:r>
              <a:rPr lang="zh-CN" altLang="en-US" dirty="0"/>
              <a:t>以“（行数、列数）”的形式检查当前</a:t>
            </a:r>
            <a:r>
              <a:rPr lang="en-US" altLang="zh-CN" dirty="0" err="1"/>
              <a:t>red_df</a:t>
            </a:r>
            <a:r>
              <a:rPr lang="zh-CN" altLang="en-US" dirty="0"/>
              <a:t>的大小</a:t>
            </a:r>
            <a:endParaRPr lang="en-US" altLang="ko-KR" sz="1200" dirty="0"/>
          </a:p>
          <a:p>
            <a:pPr lvl="3">
              <a:defRPr/>
            </a:pPr>
            <a:endParaRPr lang="en-US" altLang="ko-KR" sz="100" dirty="0"/>
          </a:p>
          <a:p>
            <a:pPr lvl="2">
              <a:lnSpc>
                <a:spcPct val="100000"/>
              </a:lnSpc>
              <a:defRPr/>
            </a:pPr>
            <a:r>
              <a:rPr lang="en-US" altLang="ko-KR" sz="1400" dirty="0"/>
              <a:t>[05~08</a:t>
            </a:r>
            <a:r>
              <a:rPr lang="ko-KR" altLang="en-US" sz="1400" dirty="0"/>
              <a:t>행</a:t>
            </a:r>
            <a:r>
              <a:rPr lang="en-US" altLang="ko-KR" sz="1400" dirty="0"/>
              <a:t>] </a:t>
            </a:r>
            <a:r>
              <a:rPr lang="ko-KR" altLang="en-US" sz="1400" dirty="0"/>
              <a:t>화이트 와인 파일을 읽고 데이터프레임에 ‘</a:t>
            </a:r>
            <a:r>
              <a:rPr lang="en-US" altLang="ko-KR" sz="1400" dirty="0"/>
              <a:t>type’ </a:t>
            </a:r>
            <a:r>
              <a:rPr lang="ko-KR" altLang="en-US" sz="1400" dirty="0"/>
              <a:t>열 삽입하기 </a:t>
            </a:r>
            <a:r>
              <a:rPr lang="en-US" altLang="zh-CN" dirty="0"/>
              <a:t>[</a:t>
            </a:r>
            <a:r>
              <a:rPr lang="zh-CN" altLang="en-US" dirty="0"/>
              <a:t>第 </a:t>
            </a:r>
            <a:r>
              <a:rPr lang="en-US" altLang="zh-CN" dirty="0"/>
              <a:t>05~08 </a:t>
            </a:r>
            <a:r>
              <a:rPr lang="zh-CN" altLang="en-US" dirty="0"/>
              <a:t>行</a:t>
            </a:r>
            <a:r>
              <a:rPr lang="en-US" altLang="zh-CN" dirty="0"/>
              <a:t>] </a:t>
            </a:r>
            <a:r>
              <a:rPr lang="zh-CN" altLang="en-US" dirty="0"/>
              <a:t>读取白葡萄酒文件并将 </a:t>
            </a:r>
            <a:r>
              <a:rPr lang="en-US" altLang="zh-CN" dirty="0"/>
              <a:t>'type' </a:t>
            </a:r>
            <a:r>
              <a:rPr lang="zh-CN" altLang="en-US" dirty="0"/>
              <a:t>列插入数据框</a:t>
            </a:r>
            <a:endParaRPr lang="ko-KR" altLang="en-US" sz="1400" dirty="0"/>
          </a:p>
          <a:p>
            <a:pPr lvl="3">
              <a:defRPr/>
            </a:pPr>
            <a:r>
              <a:rPr lang="en-US" altLang="ko-KR" sz="1200" dirty="0"/>
              <a:t>05</a:t>
            </a:r>
            <a:r>
              <a:rPr lang="ko-KR" altLang="en-US" sz="1200" dirty="0"/>
              <a:t>행 </a:t>
            </a:r>
            <a:r>
              <a:rPr lang="en-US" altLang="ko-KR" sz="1200" dirty="0" err="1"/>
              <a:t>white_df</a:t>
            </a:r>
            <a:r>
              <a:rPr lang="ko-KR" altLang="en-US" sz="1200" dirty="0"/>
              <a:t>에 저장된 내용을 위에서부터 </a:t>
            </a:r>
            <a:r>
              <a:rPr lang="en-US" altLang="ko-KR" sz="1200" dirty="0"/>
              <a:t>5</a:t>
            </a:r>
            <a:r>
              <a:rPr lang="ko-KR" altLang="en-US" sz="1200" dirty="0"/>
              <a:t>개</a:t>
            </a:r>
            <a:r>
              <a:rPr lang="en-US" altLang="ko-KR" sz="1200" dirty="0"/>
              <a:t>(0</a:t>
            </a:r>
            <a:r>
              <a:rPr lang="ko-KR" altLang="en-US" sz="1200" dirty="0"/>
              <a:t>번</a:t>
            </a:r>
            <a:r>
              <a:rPr lang="en-US" altLang="ko-KR" sz="1200" dirty="0"/>
              <a:t>~4</a:t>
            </a:r>
            <a:r>
              <a:rPr lang="ko-KR" altLang="en-US" sz="1200" dirty="0"/>
              <a:t>번</a:t>
            </a:r>
            <a:r>
              <a:rPr lang="en-US" altLang="ko-KR" sz="1200" dirty="0"/>
              <a:t>) </a:t>
            </a:r>
            <a:r>
              <a:rPr lang="ko-KR" altLang="en-US" sz="1200" dirty="0"/>
              <a:t>행만 출력하여 확인 </a:t>
            </a:r>
            <a:r>
              <a:rPr lang="en-US" altLang="zh-CN" dirty="0"/>
              <a:t>05 </a:t>
            </a:r>
            <a:r>
              <a:rPr lang="zh-CN" altLang="en-US" dirty="0"/>
              <a:t>从顶部开始仅打印出 </a:t>
            </a:r>
            <a:r>
              <a:rPr lang="en-US" altLang="zh-CN" dirty="0"/>
              <a:t>5 </a:t>
            </a:r>
            <a:r>
              <a:rPr lang="zh-CN" altLang="en-US" dirty="0"/>
              <a:t>行（</a:t>
            </a:r>
            <a:r>
              <a:rPr lang="en-US" altLang="zh-CN" dirty="0"/>
              <a:t>0~4</a:t>
            </a:r>
            <a:r>
              <a:rPr lang="zh-CN" altLang="en-US" dirty="0"/>
              <a:t>），以检查</a:t>
            </a:r>
            <a:r>
              <a:rPr lang="en-US" altLang="zh-CN" dirty="0" err="1"/>
              <a:t>white_df</a:t>
            </a:r>
            <a:r>
              <a:rPr lang="zh-CN" altLang="en-US" dirty="0"/>
              <a:t>中存储的内容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06</a:t>
            </a:r>
            <a:r>
              <a:rPr lang="ko-KR" altLang="en-US" sz="1200" dirty="0"/>
              <a:t>행 이름이 ‘</a:t>
            </a:r>
            <a:r>
              <a:rPr lang="en-US" altLang="ko-KR" sz="1200" dirty="0"/>
              <a:t>type’</a:t>
            </a:r>
            <a:r>
              <a:rPr lang="ko-KR" altLang="en-US" sz="1200" dirty="0"/>
              <a:t>이고 값이 ‘</a:t>
            </a:r>
            <a:r>
              <a:rPr lang="en-US" altLang="ko-KR" sz="1200" dirty="0"/>
              <a:t>white’</a:t>
            </a:r>
            <a:r>
              <a:rPr lang="ko-KR" altLang="en-US" sz="1200" dirty="0"/>
              <a:t>인 열을 만들어 </a:t>
            </a:r>
            <a:r>
              <a:rPr lang="en-US" altLang="ko-KR" sz="1200" dirty="0"/>
              <a:t>index = 0(</a:t>
            </a:r>
            <a:r>
              <a:rPr lang="ko-KR" altLang="en-US" sz="1200" dirty="0"/>
              <a:t>첫 번째 열</a:t>
            </a:r>
            <a:r>
              <a:rPr lang="en-US" altLang="ko-KR" sz="1200" dirty="0"/>
              <a:t>) </a:t>
            </a:r>
            <a:r>
              <a:rPr lang="ko-KR" altLang="en-US" sz="1200" dirty="0"/>
              <a:t>자리에 삽입 </a:t>
            </a:r>
            <a:r>
              <a:rPr lang="en-US" altLang="ko-KR" dirty="0"/>
              <a:t>06</a:t>
            </a:r>
            <a:r>
              <a:rPr lang="ko-KR" altLang="en-US" dirty="0"/>
              <a:t>创建一个行名为“</a:t>
            </a:r>
            <a:r>
              <a:rPr lang="en-US" altLang="ko-KR" dirty="0"/>
              <a:t>type”</a:t>
            </a:r>
            <a:r>
              <a:rPr lang="ko-KR" altLang="en-US" dirty="0"/>
              <a:t>、值为“</a:t>
            </a:r>
            <a:r>
              <a:rPr lang="en-US" altLang="ko-KR" dirty="0"/>
              <a:t>white”</a:t>
            </a:r>
            <a:r>
              <a:rPr lang="ko-KR" altLang="en-US" dirty="0"/>
              <a:t>的列，并将其插入索引 </a:t>
            </a:r>
            <a:r>
              <a:rPr lang="en-US" altLang="ko-KR" dirty="0"/>
              <a:t>= 0</a:t>
            </a:r>
            <a:r>
              <a:rPr lang="ko-KR" altLang="en-US" dirty="0"/>
              <a:t>（第一列）位置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07</a:t>
            </a:r>
            <a:r>
              <a:rPr lang="ko-KR" altLang="en-US" sz="1200" dirty="0"/>
              <a:t>행 </a:t>
            </a:r>
            <a:r>
              <a:rPr lang="en-US" altLang="ko-KR" sz="1200" dirty="0" err="1"/>
              <a:t>white_df</a:t>
            </a:r>
            <a:r>
              <a:rPr lang="ko-KR" altLang="en-US" sz="1200" dirty="0"/>
              <a:t>에 저장된 내용을 위에서부터 </a:t>
            </a:r>
            <a:r>
              <a:rPr lang="en-US" altLang="ko-KR" sz="1200" dirty="0"/>
              <a:t>5</a:t>
            </a:r>
            <a:r>
              <a:rPr lang="ko-KR" altLang="en-US" sz="1200" dirty="0"/>
              <a:t>개</a:t>
            </a:r>
            <a:r>
              <a:rPr lang="en-US" altLang="ko-KR" sz="1200" dirty="0"/>
              <a:t>(0</a:t>
            </a:r>
            <a:r>
              <a:rPr lang="ko-KR" altLang="en-US" sz="1200" dirty="0"/>
              <a:t>번</a:t>
            </a:r>
            <a:r>
              <a:rPr lang="en-US" altLang="ko-KR" sz="1200" dirty="0"/>
              <a:t>~4</a:t>
            </a:r>
            <a:r>
              <a:rPr lang="ko-KR" altLang="en-US" sz="1200" dirty="0"/>
              <a:t>번</a:t>
            </a:r>
            <a:r>
              <a:rPr lang="en-US" altLang="ko-KR" sz="1200" dirty="0"/>
              <a:t>) </a:t>
            </a:r>
            <a:r>
              <a:rPr lang="ko-KR" altLang="en-US" sz="1200" dirty="0"/>
              <a:t>행만 다시 출력해 삽입된‘</a:t>
            </a:r>
            <a:r>
              <a:rPr lang="en-US" altLang="ko-KR" sz="1200" dirty="0"/>
              <a:t>type’ </a:t>
            </a:r>
            <a:r>
              <a:rPr lang="ko-KR" altLang="en-US" sz="1200" dirty="0"/>
              <a:t>열을 확인 </a:t>
            </a:r>
            <a:r>
              <a:rPr lang="en-US" altLang="zh-CN" dirty="0"/>
              <a:t>07 </a:t>
            </a:r>
            <a:r>
              <a:rPr lang="zh-CN" altLang="en-US" dirty="0"/>
              <a:t>从顶部开始仅重印 </a:t>
            </a:r>
            <a:r>
              <a:rPr lang="en-US" altLang="zh-CN" dirty="0"/>
              <a:t>5 </a:t>
            </a:r>
            <a:r>
              <a:rPr lang="zh-CN" altLang="en-US" dirty="0"/>
              <a:t>行（第 </a:t>
            </a:r>
            <a:r>
              <a:rPr lang="en-US" altLang="zh-CN" dirty="0"/>
              <a:t>0~4 </a:t>
            </a:r>
            <a:r>
              <a:rPr lang="zh-CN" altLang="en-US" dirty="0"/>
              <a:t>号），通过重新打印存储在第 </a:t>
            </a:r>
            <a:r>
              <a:rPr lang="en-US" altLang="zh-CN" dirty="0"/>
              <a:t>07 </a:t>
            </a:r>
            <a:r>
              <a:rPr lang="zh-CN" altLang="en-US" dirty="0"/>
              <a:t>行</a:t>
            </a:r>
            <a:r>
              <a:rPr lang="en-US" altLang="zh-CN" dirty="0" err="1"/>
              <a:t>white_df</a:t>
            </a:r>
            <a:r>
              <a:rPr lang="zh-CN" altLang="en-US" dirty="0"/>
              <a:t>中的内容来检查插入的“类型”列。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08</a:t>
            </a:r>
            <a:r>
              <a:rPr lang="ko-KR" altLang="en-US" sz="1200" dirty="0"/>
              <a:t>행 </a:t>
            </a:r>
            <a:r>
              <a:rPr lang="en-US" altLang="ko-KR" sz="1200" dirty="0" err="1"/>
              <a:t>white_df.shape</a:t>
            </a:r>
            <a:r>
              <a:rPr lang="ko-KR" altLang="en-US" sz="1200" dirty="0"/>
              <a:t>를 이용하여 현재 </a:t>
            </a:r>
            <a:r>
              <a:rPr lang="en-US" altLang="ko-KR" sz="1200" dirty="0" err="1"/>
              <a:t>white_df</a:t>
            </a:r>
            <a:r>
              <a:rPr lang="ko-KR" altLang="en-US" sz="1200" dirty="0"/>
              <a:t>의 크기를 ‘</a:t>
            </a:r>
            <a:r>
              <a:rPr lang="en-US" altLang="ko-KR" sz="1200" dirty="0"/>
              <a:t>(</a:t>
            </a:r>
            <a:r>
              <a:rPr lang="ko-KR" altLang="en-US" sz="1200" dirty="0"/>
              <a:t>행의 개수</a:t>
            </a:r>
            <a:r>
              <a:rPr lang="en-US" altLang="ko-KR" sz="1200" dirty="0"/>
              <a:t>, </a:t>
            </a:r>
            <a:r>
              <a:rPr lang="ko-KR" altLang="en-US" sz="1200" dirty="0"/>
              <a:t>열의 개수</a:t>
            </a:r>
            <a:r>
              <a:rPr lang="en-US" altLang="ko-KR" sz="1200" dirty="0"/>
              <a:t>)’ </a:t>
            </a:r>
            <a:r>
              <a:rPr lang="ko-KR" altLang="en-US" sz="1200" dirty="0"/>
              <a:t>형태로 확인 </a:t>
            </a:r>
            <a:r>
              <a:rPr lang="en-US" altLang="ko-KR" dirty="0"/>
              <a:t>08</a:t>
            </a:r>
            <a:r>
              <a:rPr lang="ko-KR" altLang="en-US" dirty="0"/>
              <a:t>使用线</a:t>
            </a:r>
            <a:r>
              <a:rPr lang="en-US" altLang="ko-KR" dirty="0" err="1"/>
              <a:t>white_df.shape</a:t>
            </a:r>
            <a:r>
              <a:rPr lang="ko-KR" altLang="en-US" dirty="0"/>
              <a:t>，以“（行数、列数）”的形式检查当前</a:t>
            </a:r>
            <a:r>
              <a:rPr lang="en-US" altLang="ko-KR" dirty="0" err="1"/>
              <a:t>white_df</a:t>
            </a:r>
            <a:r>
              <a:rPr lang="ko-KR" altLang="en-US" dirty="0"/>
              <a:t>的大小</a:t>
            </a:r>
            <a:endParaRPr lang="en-US" altLang="ko-KR" sz="1200" dirty="0"/>
          </a:p>
          <a:p>
            <a:pPr lvl="3">
              <a:defRPr/>
            </a:pPr>
            <a:endParaRPr lang="en-US" altLang="ko-KR" sz="100" dirty="0"/>
          </a:p>
          <a:p>
            <a:pPr lvl="2">
              <a:lnSpc>
                <a:spcPct val="100000"/>
              </a:lnSpc>
              <a:defRPr/>
            </a:pPr>
            <a:r>
              <a:rPr lang="en-US" altLang="ko-KR" sz="1400" dirty="0"/>
              <a:t>[09~10</a:t>
            </a:r>
            <a:r>
              <a:rPr lang="ko-KR" altLang="en-US" sz="1400" dirty="0"/>
              <a:t>행</a:t>
            </a:r>
            <a:r>
              <a:rPr lang="en-US" altLang="ko-KR" sz="1400" dirty="0"/>
              <a:t>] </a:t>
            </a:r>
            <a:r>
              <a:rPr lang="en-US" altLang="ko-KR" sz="1400" dirty="0" err="1"/>
              <a:t>red_df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white_df</a:t>
            </a:r>
            <a:r>
              <a:rPr lang="ko-KR" altLang="en-US" sz="1400" dirty="0"/>
              <a:t>를 하나의 데이터프레임 형식으로 결합하기 </a:t>
            </a:r>
            <a:r>
              <a:rPr lang="en-US" altLang="zh-CN" dirty="0"/>
              <a:t>[</a:t>
            </a:r>
            <a:r>
              <a:rPr lang="zh-CN" altLang="en-US" dirty="0"/>
              <a:t>第 </a:t>
            </a:r>
            <a:r>
              <a:rPr lang="en-US" altLang="zh-CN" dirty="0"/>
              <a:t>09~10 </a:t>
            </a:r>
            <a:r>
              <a:rPr lang="zh-CN" altLang="en-US" dirty="0"/>
              <a:t>行</a:t>
            </a:r>
            <a:r>
              <a:rPr lang="en-US" altLang="zh-CN" dirty="0"/>
              <a:t>] </a:t>
            </a:r>
            <a:r>
              <a:rPr lang="zh-CN" altLang="en-US" dirty="0"/>
              <a:t>将</a:t>
            </a:r>
            <a:r>
              <a:rPr lang="en-US" altLang="zh-CN" dirty="0" err="1"/>
              <a:t>red_df</a:t>
            </a:r>
            <a:r>
              <a:rPr lang="zh-CN" altLang="en-US" dirty="0"/>
              <a:t>和</a:t>
            </a:r>
            <a:r>
              <a:rPr lang="en-US" altLang="zh-CN" dirty="0" err="1"/>
              <a:t>white_df</a:t>
            </a:r>
            <a:r>
              <a:rPr lang="zh-CN" altLang="en-US" dirty="0"/>
              <a:t>合并为一个数据帧格式</a:t>
            </a:r>
            <a:endParaRPr lang="ko-KR" altLang="en-US" sz="1400" dirty="0"/>
          </a:p>
          <a:p>
            <a:pPr lvl="3">
              <a:defRPr/>
            </a:pPr>
            <a:r>
              <a:rPr lang="en-US" altLang="ko-KR" sz="1200" dirty="0"/>
              <a:t>09</a:t>
            </a:r>
            <a:r>
              <a:rPr lang="ko-KR" altLang="en-US" sz="1200" dirty="0"/>
              <a:t>행 </a:t>
            </a:r>
            <a:r>
              <a:rPr lang="en-US" altLang="ko-KR" sz="1200" dirty="0" err="1"/>
              <a:t>pd.concat</a:t>
            </a:r>
            <a:r>
              <a:rPr lang="en-US" altLang="ko-KR" sz="1200" dirty="0"/>
              <a:t>() </a:t>
            </a:r>
            <a:r>
              <a:rPr lang="ko-KR" altLang="en-US" sz="1200" dirty="0"/>
              <a:t>함수를 이용하여 </a:t>
            </a:r>
            <a:r>
              <a:rPr lang="en-US" altLang="ko-KR" sz="1200" dirty="0" err="1"/>
              <a:t>red_df</a:t>
            </a:r>
            <a:r>
              <a:rPr lang="ko-KR" altLang="en-US" sz="1200" dirty="0"/>
              <a:t>와 </a:t>
            </a:r>
            <a:r>
              <a:rPr lang="en-US" altLang="ko-KR" sz="1200" dirty="0" err="1"/>
              <a:t>white_df</a:t>
            </a:r>
            <a:r>
              <a:rPr lang="ko-KR" altLang="en-US" sz="1200" dirty="0"/>
              <a:t>를 결합  </a:t>
            </a:r>
            <a:r>
              <a:rPr lang="ko-KR" altLang="en-US" dirty="0"/>
              <a:t>第 </a:t>
            </a:r>
            <a:r>
              <a:rPr lang="en-US" altLang="ko-KR" dirty="0"/>
              <a:t>09 </a:t>
            </a:r>
            <a:r>
              <a:rPr lang="ko-KR" altLang="en-US" dirty="0"/>
              <a:t>行 使用 </a:t>
            </a:r>
            <a:r>
              <a:rPr lang="en-US" altLang="ko-KR" dirty="0" err="1"/>
              <a:t>pd.concat</a:t>
            </a:r>
            <a:r>
              <a:rPr lang="ko-KR" altLang="en-US" dirty="0"/>
              <a:t>（） 函数组合</a:t>
            </a:r>
            <a:r>
              <a:rPr lang="en-US" altLang="ko-KR" dirty="0" err="1"/>
              <a:t>red_df</a:t>
            </a:r>
            <a:r>
              <a:rPr lang="ko-KR" altLang="en-US" dirty="0"/>
              <a:t>和</a:t>
            </a:r>
            <a:r>
              <a:rPr lang="en-US" altLang="ko-KR" dirty="0" err="1"/>
              <a:t>white_df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10</a:t>
            </a:r>
            <a:r>
              <a:rPr lang="ko-KR" altLang="en-US" sz="1200" dirty="0"/>
              <a:t>행 결합된 </a:t>
            </a:r>
            <a:r>
              <a:rPr lang="en-US" altLang="ko-KR" sz="1200" dirty="0"/>
              <a:t>wine</a:t>
            </a:r>
            <a:r>
              <a:rPr lang="ko-KR" altLang="en-US" sz="1200" dirty="0"/>
              <a:t>의 현재 크기를 ‘</a:t>
            </a:r>
            <a:r>
              <a:rPr lang="en-US" altLang="ko-KR" sz="1200" dirty="0"/>
              <a:t>(</a:t>
            </a:r>
            <a:r>
              <a:rPr lang="ko-KR" altLang="en-US" sz="1200" dirty="0"/>
              <a:t>행의 개수</a:t>
            </a:r>
            <a:r>
              <a:rPr lang="en-US" altLang="ko-KR" sz="1200" dirty="0"/>
              <a:t>, </a:t>
            </a:r>
            <a:r>
              <a:rPr lang="ko-KR" altLang="en-US" sz="1200" dirty="0"/>
              <a:t>열의 개수</a:t>
            </a:r>
            <a:r>
              <a:rPr lang="en-US" altLang="ko-KR" sz="1200" dirty="0"/>
              <a:t>)’ </a:t>
            </a:r>
            <a:r>
              <a:rPr lang="ko-KR" altLang="en-US" sz="1200" dirty="0"/>
              <a:t>형태로 확인 </a:t>
            </a:r>
            <a:r>
              <a:rPr lang="zh-CN" altLang="en-US" dirty="0"/>
              <a:t>以“（行数、列数）”的形式查看</a:t>
            </a:r>
            <a:r>
              <a:rPr lang="en-US" altLang="zh-CN" dirty="0"/>
              <a:t>10</a:t>
            </a:r>
            <a:r>
              <a:rPr lang="zh-CN" altLang="en-US" dirty="0"/>
              <a:t>行组合酒的当前大小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11</a:t>
            </a:r>
            <a:r>
              <a:rPr lang="ko-KR" altLang="en-US" sz="1200" dirty="0"/>
              <a:t>행 </a:t>
            </a:r>
            <a:r>
              <a:rPr lang="en-US" altLang="ko-KR" sz="1200" dirty="0"/>
              <a:t>wine</a:t>
            </a:r>
            <a:r>
              <a:rPr lang="ko-KR" altLang="en-US" sz="1200" dirty="0"/>
              <a:t>을 </a:t>
            </a:r>
            <a:r>
              <a:rPr lang="en-US" altLang="ko-KR" sz="1200" dirty="0"/>
              <a:t>CSV </a:t>
            </a:r>
            <a:r>
              <a:rPr lang="ko-KR" altLang="en-US" sz="1200" dirty="0"/>
              <a:t>파일로 저장 </a:t>
            </a:r>
            <a:r>
              <a:rPr lang="zh-CN" altLang="en-US" dirty="0"/>
              <a:t>将第 </a:t>
            </a:r>
            <a:r>
              <a:rPr lang="en-US" altLang="zh-CN" dirty="0"/>
              <a:t>11 </a:t>
            </a:r>
            <a:r>
              <a:rPr lang="zh-CN" altLang="en-US" dirty="0"/>
              <a:t>行葡萄酒另存为 </a:t>
            </a:r>
            <a:r>
              <a:rPr lang="en-US" altLang="zh-CN" dirty="0"/>
              <a:t>CSV </a:t>
            </a:r>
            <a:r>
              <a:rPr lang="zh-CN" altLang="en-US" dirty="0"/>
              <a:t>文件</a:t>
            </a: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09" y="1043302"/>
            <a:ext cx="8138361" cy="504000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33924" y="1079008"/>
            <a:ext cx="1756063" cy="4453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4. </a:t>
            </a:r>
            <a:r>
              <a:rPr lang="ko-KR" altLang="en-US" sz="3600" dirty="0"/>
              <a:t>数据准备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준비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ko-KR" altLang="en-US" dirty="0"/>
              <a:t>데이터 병합하기  合并数据</a:t>
            </a:r>
            <a:endParaRPr lang="en-US" altLang="ko-KR" dirty="0"/>
          </a:p>
          <a:p>
            <a:pPr marL="790575" lvl="2" indent="-342900">
              <a:buFont typeface="+mj-lt"/>
              <a:buAutoNum type="arabicParenR" startAt="2"/>
              <a:defRPr/>
            </a:pPr>
            <a:r>
              <a:rPr lang="ko-KR" altLang="en-US" dirty="0"/>
              <a:t>결합된 파일 확인하기 </a:t>
            </a:r>
            <a:r>
              <a:rPr lang="zh-CN" altLang="en-US" dirty="0"/>
              <a:t>检查合并的文件</a:t>
            </a:r>
            <a:endParaRPr lang="en-US" altLang="ko-KR" dirty="0"/>
          </a:p>
          <a:p>
            <a:pPr marL="790575" lvl="2" indent="-342900">
              <a:buFont typeface="+mj-lt"/>
              <a:buAutoNum type="arabicParenR" startAt="2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arenR" startAt="2"/>
              <a:defRPr/>
            </a:pPr>
            <a:endParaRPr lang="en-US" altLang="ko-KR" dirty="0"/>
          </a:p>
        </p:txBody>
      </p:sp>
      <p:grpSp>
        <p:nvGrpSpPr>
          <p:cNvPr id="3" name="그룹 2"/>
          <p:cNvGrpSpPr/>
          <p:nvPr/>
        </p:nvGrpSpPr>
        <p:grpSpPr>
          <a:xfrm>
            <a:off x="2208214" y="2529004"/>
            <a:ext cx="7610475" cy="2643187"/>
            <a:chOff x="2208214" y="2420939"/>
            <a:chExt cx="7610475" cy="2643187"/>
          </a:xfrm>
        </p:grpSpPr>
        <p:pic>
          <p:nvPicPr>
            <p:cNvPr id="30725" name="그림 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0375" y="2565401"/>
              <a:ext cx="5975350" cy="2498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" name="Picture 6"/>
            <p:cNvPicPr>
              <a:picLocks noChangeAspect="1" noChangeArrowheads="1"/>
            </p:cNvPicPr>
            <p:nvPr/>
          </p:nvPicPr>
          <p:blipFill rotWithShape="1">
            <a:blip r:embed="rId2"/>
            <a:srcRect t="8808"/>
            <a:stretch>
              <a:fillRect/>
            </a:stretch>
          </p:blipFill>
          <p:spPr bwMode="auto">
            <a:xfrm>
              <a:off x="2208214" y="2420939"/>
              <a:ext cx="7610475" cy="2382837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  <a:miter lim="800000"/>
              <a:headEnd/>
              <a:tailEnd/>
            </a:ln>
          </p:spPr>
        </p:pic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09" y="1043302"/>
            <a:ext cx="8138361" cy="504000"/>
          </a:xfrm>
          <a:prstGeom prst="rect">
            <a:avLst/>
          </a:prstGeo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33924" y="1079008"/>
            <a:ext cx="1756063" cy="4453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4. </a:t>
            </a:r>
            <a:r>
              <a:rPr lang="ko-KR" altLang="en-US" sz="3600" dirty="0"/>
              <a:t>数据准备</a:t>
            </a:r>
            <a:endParaRPr lang="ko-KR" altLang="en-US" sz="3600" dirty="0"/>
          </a:p>
        </p:txBody>
      </p:sp>
      <p:sp>
        <p:nvSpPr>
          <p:cNvPr id="10" name="TextBox 9"/>
          <p:cNvSpPr txBox="1"/>
          <p:nvPr/>
        </p:nvSpPr>
        <p:spPr>
          <a:xfrm>
            <a:off x="12095018" y="1444336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endParaRPr lang="ko-KR" alt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2908565" y="5056303"/>
            <a:ext cx="5102826" cy="6024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zh-CN" altLang="en-US" sz="1600" dirty="0"/>
              <a:t>图 </a:t>
            </a:r>
            <a:r>
              <a:rPr lang="en-US" altLang="zh-CN" sz="1600" dirty="0"/>
              <a:t>7-4 wine.csv</a:t>
            </a:r>
            <a:r>
              <a:rPr lang="zh-CN" altLang="en-US" sz="1600" dirty="0"/>
              <a:t>红葡萄酒和白葡萄酒数据集组合的文件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ko-KR" altLang="en-US" dirty="0"/>
              <a:t>데이터 탐색</a:t>
            </a: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r>
              <a:rPr lang="ko-KR" altLang="en-US" dirty="0"/>
              <a:t>기본 정보 확인하기 </a:t>
            </a:r>
            <a:r>
              <a:rPr lang="en-US" altLang="ko-KR" b="1" dirty="0"/>
              <a:t>info()</a:t>
            </a:r>
            <a:endParaRPr lang="en-US" altLang="ko-KR" b="1" dirty="0"/>
          </a:p>
          <a:p>
            <a:pPr marL="447675" lvl="2" indent="0">
              <a:buNone/>
              <a:defRPr/>
            </a:pPr>
            <a:r>
              <a:rPr lang="en-US" altLang="ko-KR" b="1" dirty="0"/>
              <a:t>     </a:t>
            </a:r>
            <a:r>
              <a:rPr lang="ko-KR" altLang="en-US" b="1" dirty="0"/>
              <a:t>查看基本信息 </a:t>
            </a:r>
            <a:r>
              <a:rPr lang="en-US" altLang="ko-KR" b="1" dirty="0"/>
              <a:t>info()</a:t>
            </a:r>
            <a:endParaRPr lang="en-US" altLang="ko-KR" b="1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sz="1400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sz="1200" dirty="0"/>
          </a:p>
          <a:p>
            <a:pPr marL="790575" lvl="2" indent="-342900">
              <a:lnSpc>
                <a:spcPct val="200000"/>
              </a:lnSpc>
              <a:buFont typeface="+mj-lt"/>
              <a:buAutoNum type="arabicPeriod"/>
              <a:defRPr/>
            </a:pPr>
            <a:endParaRPr lang="en-US" altLang="ko-KR" dirty="0"/>
          </a:p>
          <a:p>
            <a:pPr lvl="3">
              <a:defRPr/>
            </a:pPr>
            <a:r>
              <a:rPr lang="ko-KR" altLang="en-US" sz="1200" dirty="0"/>
              <a:t>전체 샘플은 </a:t>
            </a:r>
            <a:r>
              <a:rPr lang="en-US" altLang="ko-KR" sz="1200" dirty="0"/>
              <a:t>6,497</a:t>
            </a:r>
            <a:r>
              <a:rPr lang="ko-KR" altLang="en-US" sz="1200" dirty="0"/>
              <a:t>개이고 속성을 나타내는 열은</a:t>
            </a:r>
            <a:r>
              <a:rPr lang="en-US" altLang="ko-KR" sz="1200" dirty="0"/>
              <a:t> 13</a:t>
            </a:r>
            <a:r>
              <a:rPr lang="ko-KR" altLang="en-US" sz="1200" dirty="0"/>
              <a:t>개</a:t>
            </a:r>
            <a:r>
              <a:rPr lang="en-US" altLang="ko-KR" sz="1200" dirty="0"/>
              <a:t>, </a:t>
            </a:r>
            <a:r>
              <a:rPr lang="ko-KR" altLang="en-US" sz="1200" dirty="0"/>
              <a:t>각 속성의 이름은 </a:t>
            </a:r>
            <a:r>
              <a:rPr lang="en-US" altLang="ko-KR" sz="1200" dirty="0"/>
              <a:t>type</a:t>
            </a:r>
            <a:r>
              <a:rPr lang="ko-KR" altLang="en-US" sz="1200" dirty="0"/>
              <a:t>부터 </a:t>
            </a:r>
            <a:r>
              <a:rPr lang="en-US" altLang="ko-KR" sz="1200" dirty="0"/>
              <a:t>quality</a:t>
            </a:r>
            <a:r>
              <a:rPr lang="ko-KR" altLang="en-US" sz="1200" dirty="0"/>
              <a:t>까지 속성 중에서 실수 타입</a:t>
            </a:r>
            <a:r>
              <a:rPr lang="en-US" altLang="ko-KR" sz="1200" dirty="0"/>
              <a:t>(float64)</a:t>
            </a:r>
            <a:r>
              <a:rPr lang="ko-KR" altLang="en-US" sz="1200" dirty="0"/>
              <a:t>은 </a:t>
            </a:r>
            <a:r>
              <a:rPr lang="en-US" altLang="ko-KR" sz="1200" dirty="0"/>
              <a:t>11</a:t>
            </a:r>
            <a:r>
              <a:rPr lang="ko-KR" altLang="en-US" sz="1200" dirty="0"/>
              <a:t>개</a:t>
            </a:r>
            <a:r>
              <a:rPr lang="en-US" altLang="ko-KR" sz="1200" dirty="0"/>
              <a:t>, </a:t>
            </a:r>
            <a:r>
              <a:rPr lang="ko-KR" altLang="en-US" sz="1200" dirty="0"/>
              <a:t>정수 타입</a:t>
            </a:r>
            <a:r>
              <a:rPr lang="en-US" altLang="ko-KR" sz="1200" dirty="0"/>
              <a:t>(int64)</a:t>
            </a:r>
            <a:r>
              <a:rPr lang="ko-KR" altLang="en-US" sz="1200" dirty="0"/>
              <a:t>은 </a:t>
            </a:r>
            <a:r>
              <a:rPr lang="en-US" altLang="ko-KR" sz="1200" dirty="0"/>
              <a:t>1</a:t>
            </a:r>
            <a:r>
              <a:rPr lang="ko-KR" altLang="en-US" sz="1200" dirty="0"/>
              <a:t>개</a:t>
            </a:r>
            <a:r>
              <a:rPr lang="en-US" altLang="ko-KR" sz="1200" dirty="0"/>
              <a:t>(quality),</a:t>
            </a:r>
            <a:r>
              <a:rPr lang="ko-KR" altLang="en-US" sz="1200" dirty="0"/>
              <a:t> 객체 타입</a:t>
            </a:r>
            <a:r>
              <a:rPr lang="en-US" altLang="ko-KR" sz="1200" dirty="0"/>
              <a:t>(object)</a:t>
            </a:r>
            <a:r>
              <a:rPr lang="ko-KR" altLang="en-US" sz="1200" dirty="0"/>
              <a:t>이 </a:t>
            </a:r>
            <a:r>
              <a:rPr lang="en-US" altLang="ko-KR" sz="1200" dirty="0"/>
              <a:t>1</a:t>
            </a:r>
            <a:r>
              <a:rPr lang="ko-KR" altLang="en-US" sz="1200" dirty="0"/>
              <a:t>개</a:t>
            </a:r>
            <a:r>
              <a:rPr lang="en-US" altLang="ko-KR" sz="1200" dirty="0"/>
              <a:t>(type)</a:t>
            </a:r>
            <a:endParaRPr lang="en-US" altLang="ko-KR" sz="1200" dirty="0"/>
          </a:p>
          <a:p>
            <a:pPr lvl="3">
              <a:defRPr/>
            </a:pPr>
            <a:r>
              <a:rPr lang="zh-CN" altLang="en-US" dirty="0"/>
              <a:t>共有 </a:t>
            </a:r>
            <a:r>
              <a:rPr lang="en-US" altLang="zh-CN" dirty="0"/>
              <a:t>6,497 </a:t>
            </a:r>
            <a:r>
              <a:rPr lang="zh-CN" altLang="en-US" dirty="0"/>
              <a:t>个样本，</a:t>
            </a:r>
            <a:r>
              <a:rPr lang="en-US" altLang="zh-CN" dirty="0"/>
              <a:t>13 </a:t>
            </a:r>
            <a:r>
              <a:rPr lang="zh-CN" altLang="en-US" dirty="0"/>
              <a:t>列表示属性，每个属性的名称从类型到质量。属性中有 </a:t>
            </a:r>
            <a:r>
              <a:rPr lang="en-US" altLang="zh-CN" dirty="0"/>
              <a:t>11 </a:t>
            </a:r>
            <a:r>
              <a:rPr lang="zh-CN" altLang="en-US" dirty="0"/>
              <a:t>个实数类型（</a:t>
            </a:r>
            <a:r>
              <a:rPr lang="en-US" altLang="zh-CN" dirty="0"/>
              <a:t>float64</a:t>
            </a:r>
            <a:r>
              <a:rPr lang="zh-CN" altLang="en-US" dirty="0"/>
              <a:t>）、</a:t>
            </a:r>
            <a:r>
              <a:rPr lang="en-US" altLang="zh-CN" dirty="0"/>
              <a:t>1 </a:t>
            </a:r>
            <a:r>
              <a:rPr lang="zh-CN" altLang="en-US" dirty="0"/>
              <a:t>个整数类型（质量）、</a:t>
            </a:r>
            <a:r>
              <a:rPr lang="en-US" altLang="zh-CN" dirty="0"/>
              <a:t>1 </a:t>
            </a:r>
            <a:r>
              <a:rPr lang="zh-CN" altLang="en-US" dirty="0"/>
              <a:t>个对象类型（</a:t>
            </a:r>
            <a:r>
              <a:rPr lang="en-US" altLang="zh-CN" dirty="0"/>
              <a:t>type</a:t>
            </a:r>
            <a:r>
              <a:rPr lang="zh-CN" altLang="en-US" dirty="0"/>
              <a:t>）</a:t>
            </a:r>
            <a:endParaRPr lang="en-US" altLang="ko-KR" sz="1200" dirty="0"/>
          </a:p>
          <a:p>
            <a:pPr lvl="3">
              <a:defRPr/>
            </a:pPr>
            <a:r>
              <a:rPr lang="ko-KR" altLang="en-US" sz="1200" dirty="0"/>
              <a:t>독립 변수</a:t>
            </a:r>
            <a:r>
              <a:rPr lang="en-US" altLang="ko-KR" sz="1200" dirty="0"/>
              <a:t>(x)</a:t>
            </a:r>
            <a:r>
              <a:rPr lang="ko-KR" altLang="en-US" sz="1200" dirty="0"/>
              <a:t>는 </a:t>
            </a:r>
            <a:r>
              <a:rPr lang="en-US" altLang="ko-KR" sz="1200" dirty="0"/>
              <a:t>type</a:t>
            </a:r>
            <a:r>
              <a:rPr lang="ko-KR" altLang="en-US" sz="1200" dirty="0"/>
              <a:t>부터 </a:t>
            </a:r>
            <a:r>
              <a:rPr lang="en-US" altLang="ko-KR" sz="1200" dirty="0"/>
              <a:t>alcohol </a:t>
            </a:r>
            <a:r>
              <a:rPr lang="ko-KR" altLang="en-US" sz="1200" dirty="0"/>
              <a:t>까지 </a:t>
            </a:r>
            <a:r>
              <a:rPr lang="en-US" altLang="ko-KR" sz="1200" dirty="0"/>
              <a:t>12</a:t>
            </a:r>
            <a:r>
              <a:rPr lang="ko-KR" altLang="en-US" sz="1200" dirty="0"/>
              <a:t>개</a:t>
            </a:r>
            <a:r>
              <a:rPr lang="en-US" altLang="ko-KR" sz="1200" dirty="0"/>
              <a:t>,</a:t>
            </a:r>
            <a:r>
              <a:rPr lang="ko-KR" altLang="en-US" sz="1200" dirty="0"/>
              <a:t> 종속 변수</a:t>
            </a:r>
            <a:r>
              <a:rPr lang="en-US" altLang="ko-KR" sz="1200" dirty="0"/>
              <a:t>(y)</a:t>
            </a:r>
            <a:r>
              <a:rPr lang="ko-KR" altLang="en-US" sz="1200" dirty="0"/>
              <a:t>는 </a:t>
            </a:r>
            <a:r>
              <a:rPr lang="en-US" altLang="ko-KR" sz="1200" dirty="0"/>
              <a:t>1</a:t>
            </a:r>
            <a:r>
              <a:rPr lang="ko-KR" altLang="en-US" sz="1200" dirty="0"/>
              <a:t>개</a:t>
            </a:r>
            <a:r>
              <a:rPr lang="en-US" altLang="ko-KR" sz="1200" dirty="0"/>
              <a:t>(quality)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lvl="3">
              <a:defRPr/>
            </a:pPr>
            <a:r>
              <a:rPr lang="ko-KR" altLang="en-US" sz="1200" dirty="0"/>
              <a:t>自变量</a:t>
            </a:r>
            <a:r>
              <a:rPr lang="en-US" altLang="ko-KR" sz="1200" dirty="0"/>
              <a:t>(x)</a:t>
            </a:r>
            <a:r>
              <a:rPr lang="ko-KR" altLang="en-US" sz="1200" dirty="0"/>
              <a:t>共有</a:t>
            </a:r>
            <a:r>
              <a:rPr lang="en-US" altLang="ko-KR" sz="1200" dirty="0"/>
              <a:t>12</a:t>
            </a:r>
            <a:r>
              <a:rPr lang="ko-KR" altLang="en-US" sz="1200" dirty="0"/>
              <a:t>个，从</a:t>
            </a:r>
            <a:r>
              <a:rPr lang="en-US" altLang="ko-KR" sz="1200" dirty="0"/>
              <a:t>type</a:t>
            </a:r>
            <a:r>
              <a:rPr lang="ko-KR" altLang="en-US" sz="1200" dirty="0"/>
              <a:t>到</a:t>
            </a:r>
            <a:r>
              <a:rPr lang="en-US" altLang="ko-KR" sz="1200" dirty="0"/>
              <a:t>alcohol</a:t>
            </a:r>
            <a:r>
              <a:rPr lang="ko-KR" altLang="en-US" sz="1200" dirty="0"/>
              <a:t>；因变量</a:t>
            </a:r>
            <a:r>
              <a:rPr lang="en-US" altLang="ko-KR" sz="1200" dirty="0"/>
              <a:t>(y)</a:t>
            </a:r>
            <a:r>
              <a:rPr lang="ko-KR" altLang="en-US" sz="1200" dirty="0"/>
              <a:t>只有</a:t>
            </a:r>
            <a:r>
              <a:rPr lang="en-US" altLang="ko-KR" sz="1200" dirty="0"/>
              <a:t>1</a:t>
            </a:r>
            <a:r>
              <a:rPr lang="ko-KR" altLang="en-US" sz="1200" dirty="0"/>
              <a:t>个</a:t>
            </a:r>
            <a:r>
              <a:rPr lang="en-US" altLang="ko-KR" sz="1200" dirty="0"/>
              <a:t>(quality)</a:t>
            </a:r>
            <a:r>
              <a:rPr lang="ko-KR" altLang="en-US" sz="1200" dirty="0"/>
              <a:t>。</a:t>
            </a:r>
            <a:endParaRPr lang="en-US" altLang="ko-KR" sz="1200" dirty="0"/>
          </a:p>
        </p:txBody>
      </p:sp>
      <p:grpSp>
        <p:nvGrpSpPr>
          <p:cNvPr id="4" name="그룹 3"/>
          <p:cNvGrpSpPr/>
          <p:nvPr/>
        </p:nvGrpSpPr>
        <p:grpSpPr>
          <a:xfrm>
            <a:off x="6612718" y="1051939"/>
            <a:ext cx="5400675" cy="4032250"/>
            <a:chOff x="2424114" y="1816100"/>
            <a:chExt cx="5400675" cy="4032250"/>
          </a:xfrm>
        </p:grpSpPr>
        <p:sp>
          <p:nvSpPr>
            <p:cNvPr id="7" name="직사각형 6"/>
            <p:cNvSpPr/>
            <p:nvPr/>
          </p:nvSpPr>
          <p:spPr bwMode="auto">
            <a:xfrm>
              <a:off x="2652713" y="1816100"/>
              <a:ext cx="4995862" cy="4032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" name="내용 개체 틀 2"/>
            <p:cNvSpPr txBox="1"/>
            <p:nvPr/>
          </p:nvSpPr>
          <p:spPr bwMode="auto">
            <a:xfrm>
              <a:off x="2424114" y="1816100"/>
              <a:ext cx="5400675" cy="36830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44767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/>
                <a:t>01 &gt;&gt;&gt; print(wine</a:t>
              </a:r>
              <a:r>
                <a:rPr lang="es-ES" altLang="ko-KR" sz="1200" b="1" dirty="0"/>
                <a:t>.info()</a:t>
              </a:r>
              <a:r>
                <a:rPr lang="es-ES" altLang="ko-KR" sz="1200" dirty="0"/>
                <a:t>)</a:t>
              </a:r>
              <a:endParaRPr lang="es-ES" altLang="ko-KR" sz="1200" dirty="0"/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000" dirty="0">
                  <a:solidFill>
                    <a:srgbClr val="258BCD"/>
                  </a:solidFill>
                </a:rPr>
                <a:t>    &lt;class 'pandas.core.frame.DataFrame’&gt;</a:t>
              </a:r>
              <a:endParaRPr lang="es-E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Int64Index: 6497 entries, 0 to 4897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Data columns (total 13 columns):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 #  Column                     Non-Null Count   </a:t>
              </a:r>
              <a:r>
                <a:rPr lang="en-US" altLang="ko-KR" sz="1000" dirty="0" err="1">
                  <a:solidFill>
                    <a:srgbClr val="258BCD"/>
                  </a:solidFill>
                </a:rPr>
                <a:t>Dtype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--- ------------------------   ----------------     ---------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0   type                         6497 non-null      object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1   fixed acidity               6497 non-null      float64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2   volatile acidity            6497 non-null      float64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3   citric acid                </a:t>
              </a:r>
              <a:r>
                <a:rPr lang="en-US" altLang="ko-KR" sz="1050" dirty="0">
                  <a:solidFill>
                    <a:srgbClr val="258BCD"/>
                  </a:solidFill>
                </a:rPr>
                <a:t> </a:t>
              </a:r>
              <a:r>
                <a:rPr lang="en-US" altLang="ko-KR" sz="1000" dirty="0">
                  <a:solidFill>
                    <a:srgbClr val="258BCD"/>
                  </a:solidFill>
                </a:rPr>
                <a:t> 6497 non-null      float64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4   residual sugar        </a:t>
              </a:r>
              <a:r>
                <a:rPr lang="en-US" altLang="ko-KR" sz="800" dirty="0">
                  <a:solidFill>
                    <a:srgbClr val="258BCD"/>
                  </a:solidFill>
                </a:rPr>
                <a:t>    </a:t>
              </a:r>
              <a:r>
                <a:rPr lang="en-US" altLang="ko-KR" sz="1000" dirty="0">
                  <a:solidFill>
                    <a:srgbClr val="258BCD"/>
                  </a:solidFill>
                </a:rPr>
                <a:t> 6497 non-null      float64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5   chlorides                   6497 non-null      float64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6   free sulfur dioxide       6497 non-null      float64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7   total sulfur dioxide     </a:t>
              </a:r>
              <a:r>
                <a:rPr lang="en-US" altLang="ko-KR" sz="1050" dirty="0">
                  <a:solidFill>
                    <a:srgbClr val="258BCD"/>
                  </a:solidFill>
                </a:rPr>
                <a:t> </a:t>
              </a:r>
              <a:r>
                <a:rPr lang="en-US" altLang="ko-KR" sz="1000" dirty="0">
                  <a:solidFill>
                    <a:srgbClr val="258BCD"/>
                  </a:solidFill>
                </a:rPr>
                <a:t>6497 non-null      float64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8   density                  </a:t>
              </a:r>
              <a:r>
                <a:rPr lang="en-US" altLang="ko-KR" sz="700" dirty="0">
                  <a:solidFill>
                    <a:srgbClr val="258BCD"/>
                  </a:solidFill>
                </a:rPr>
                <a:t>  </a:t>
              </a:r>
              <a:r>
                <a:rPr lang="en-US" altLang="ko-KR" sz="1000" dirty="0">
                  <a:solidFill>
                    <a:srgbClr val="258BCD"/>
                  </a:solidFill>
                </a:rPr>
                <a:t>  6497 non-null      float64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9   pH                         </a:t>
              </a:r>
              <a:r>
                <a:rPr lang="en-US" altLang="ko-KR" sz="900" dirty="0">
                  <a:solidFill>
                    <a:srgbClr val="258BCD"/>
                  </a:solidFill>
                </a:rPr>
                <a:t> </a:t>
              </a:r>
              <a:r>
                <a:rPr lang="en-US" altLang="ko-KR" sz="1000" dirty="0">
                  <a:solidFill>
                    <a:srgbClr val="258BCD"/>
                  </a:solidFill>
                </a:rPr>
                <a:t> 6497 non-null      float64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10  sulphates                 </a:t>
              </a:r>
              <a:r>
                <a:rPr lang="en-US" altLang="ko-KR" sz="900" dirty="0">
                  <a:solidFill>
                    <a:srgbClr val="258BCD"/>
                  </a:solidFill>
                </a:rPr>
                <a:t> </a:t>
              </a:r>
              <a:r>
                <a:rPr lang="en-US" altLang="ko-KR" sz="1000" dirty="0">
                  <a:solidFill>
                    <a:srgbClr val="258BCD"/>
                  </a:solidFill>
                </a:rPr>
                <a:t>6497 non-null      float64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11  alcohol                   </a:t>
              </a:r>
              <a:r>
                <a:rPr lang="en-US" altLang="ko-KR" sz="900" dirty="0">
                  <a:solidFill>
                    <a:srgbClr val="258BCD"/>
                  </a:solidFill>
                </a:rPr>
                <a:t>  </a:t>
              </a:r>
              <a:r>
                <a:rPr lang="en-US" altLang="ko-KR" sz="1000" dirty="0">
                  <a:solidFill>
                    <a:srgbClr val="258BCD"/>
                  </a:solidFill>
                </a:rPr>
                <a:t>6497 non-null      float64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 12  quality             </a:t>
              </a:r>
              <a:r>
                <a:rPr lang="en-US" altLang="ko-KR" sz="900" dirty="0">
                  <a:solidFill>
                    <a:srgbClr val="258BCD"/>
                  </a:solidFill>
                </a:rPr>
                <a:t> </a:t>
              </a:r>
              <a:r>
                <a:rPr lang="en-US" altLang="ko-KR" sz="1000" dirty="0">
                  <a:solidFill>
                    <a:srgbClr val="258BCD"/>
                  </a:solidFill>
                </a:rPr>
                <a:t>   </a:t>
              </a:r>
              <a:r>
                <a:rPr lang="en-US" altLang="ko-KR" sz="900" dirty="0">
                  <a:solidFill>
                    <a:srgbClr val="258BCD"/>
                  </a:solidFill>
                </a:rPr>
                <a:t>    </a:t>
              </a:r>
              <a:r>
                <a:rPr lang="en-US" altLang="ko-KR" sz="1000" dirty="0">
                  <a:solidFill>
                    <a:srgbClr val="258BCD"/>
                  </a:solidFill>
                </a:rPr>
                <a:t> 6497 non-null      int64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</a:t>
              </a:r>
              <a:r>
                <a:rPr lang="en-US" altLang="ko-KR" sz="1000" dirty="0" err="1">
                  <a:solidFill>
                    <a:srgbClr val="258BCD"/>
                  </a:solidFill>
                </a:rPr>
                <a:t>dtypes</a:t>
              </a:r>
              <a:r>
                <a:rPr lang="en-US" altLang="ko-KR" sz="1000" dirty="0">
                  <a:solidFill>
                    <a:srgbClr val="258BCD"/>
                  </a:solidFill>
                </a:rPr>
                <a:t>: float64(11), int64(1), object(1)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memory usage: 710.6+ KB</a:t>
              </a:r>
              <a:endParaRPr lang="en-US" altLang="ko-KR" sz="1000" dirty="0">
                <a:solidFill>
                  <a:srgbClr val="258BCD"/>
                </a:solidFill>
              </a:endParaRPr>
            </a:p>
            <a:p>
              <a:pPr marL="266700" lvl="1" indent="0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 dirty="0">
                  <a:solidFill>
                    <a:srgbClr val="258BCD"/>
                  </a:solidFill>
                </a:rPr>
                <a:t>   None</a:t>
              </a:r>
              <a:endParaRPr lang="en-US" altLang="ko-KR" sz="1000" dirty="0">
                <a:solidFill>
                  <a:srgbClr val="258BCD"/>
                </a:solidFill>
              </a:endParaRP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rcRect t="1" r="73263" b="-6048"/>
          <a:stretch>
            <a:fillRect/>
          </a:stretch>
        </p:blipFill>
        <p:spPr>
          <a:xfrm>
            <a:off x="516608" y="1051939"/>
            <a:ext cx="2392847" cy="496306"/>
          </a:xfrm>
          <a:prstGeom prst="rect">
            <a:avLst/>
          </a:prstGeo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06366" y="1113056"/>
            <a:ext cx="2138371" cy="34576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5. </a:t>
            </a:r>
            <a:r>
              <a:rPr lang="ko-KR" altLang="en-US" sz="3600" dirty="0"/>
              <a:t>数据探索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데이터 탐색</a:t>
            </a:r>
            <a:endParaRPr lang="en-US" altLang="ko-KR" dirty="0"/>
          </a:p>
          <a:p>
            <a:pPr marL="790575" lvl="2" indent="-342900">
              <a:buFont typeface="+mj-lt"/>
              <a:buAutoNum type="arabicPeriod" startAt="2"/>
              <a:defRPr/>
            </a:pPr>
            <a:r>
              <a:rPr lang="ko-KR" altLang="en-US" dirty="0"/>
              <a:t>함수를 사용해 기술 통계 구하기 </a:t>
            </a:r>
            <a:r>
              <a:rPr lang="zh-CN" altLang="en-US" dirty="0"/>
              <a:t>使用函数查找描述性统计量</a:t>
            </a:r>
            <a:endParaRPr lang="en-US" altLang="ko-KR" dirty="0"/>
          </a:p>
          <a:p>
            <a:pPr marL="790575" lvl="2" indent="-342900">
              <a:buFont typeface="+mj-lt"/>
              <a:buAutoNum type="arabicPeriod" startAt="2"/>
              <a:defRPr/>
            </a:pPr>
            <a:endParaRPr lang="en-US" altLang="ko-KR" dirty="0"/>
          </a:p>
        </p:txBody>
      </p:sp>
      <p:grpSp>
        <p:nvGrpSpPr>
          <p:cNvPr id="2" name="그룹 1"/>
          <p:cNvGrpSpPr/>
          <p:nvPr/>
        </p:nvGrpSpPr>
        <p:grpSpPr>
          <a:xfrm>
            <a:off x="3596207" y="2049116"/>
            <a:ext cx="6048376" cy="4321176"/>
            <a:chOff x="2424113" y="1916113"/>
            <a:chExt cx="6048376" cy="4321176"/>
          </a:xfrm>
        </p:grpSpPr>
        <p:sp>
          <p:nvSpPr>
            <p:cNvPr id="7" name="직사각형 6"/>
            <p:cNvSpPr/>
            <p:nvPr/>
          </p:nvSpPr>
          <p:spPr bwMode="auto">
            <a:xfrm>
              <a:off x="2652714" y="1916114"/>
              <a:ext cx="5819775" cy="43211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3559" name="내용 개체 틀 2"/>
            <p:cNvSpPr txBox="1"/>
            <p:nvPr/>
          </p:nvSpPr>
          <p:spPr bwMode="auto">
            <a:xfrm>
              <a:off x="2424113" y="1916113"/>
              <a:ext cx="5688012" cy="4176712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/>
                <a:t>01  &gt;&gt;&gt; wine</a:t>
              </a:r>
              <a:r>
                <a:rPr lang="es-ES" altLang="ko-KR" sz="1200" b="1"/>
                <a:t>.columns</a:t>
              </a:r>
              <a:r>
                <a:rPr lang="es-ES" altLang="ko-KR" sz="1200"/>
                <a:t> = wine</a:t>
              </a:r>
              <a:r>
                <a:rPr lang="es-ES" altLang="ko-KR" sz="1200" b="1"/>
                <a:t>.columns.str.replace(' ', '_')</a:t>
              </a:r>
              <a:endParaRPr lang="es-ES" altLang="ko-KR" sz="1200" b="1"/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/>
                <a:t>02  &gt;&gt;&gt; wine</a:t>
              </a:r>
              <a:r>
                <a:rPr lang="es-ES" altLang="ko-KR" sz="1200" b="1"/>
                <a:t>.head()</a:t>
              </a:r>
              <a:endParaRPr lang="es-ES" altLang="ko-KR" sz="1200" b="1"/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     type     fixed</a:t>
              </a:r>
              <a:r>
                <a:rPr lang="es-ES" altLang="ko-KR" sz="1100" b="1">
                  <a:solidFill>
                    <a:srgbClr val="258BCD"/>
                  </a:solidFill>
                </a:rPr>
                <a:t>_</a:t>
              </a:r>
              <a:r>
                <a:rPr lang="es-ES" altLang="ko-KR" sz="1100">
                  <a:solidFill>
                    <a:srgbClr val="258BCD"/>
                  </a:solidFill>
                </a:rPr>
                <a:t>acidity     volatile</a:t>
              </a:r>
              <a:r>
                <a:rPr lang="es-ES" altLang="ko-KR" sz="1100" b="1">
                  <a:solidFill>
                    <a:srgbClr val="258BCD"/>
                  </a:solidFill>
                </a:rPr>
                <a:t>_</a:t>
              </a:r>
              <a:r>
                <a:rPr lang="es-ES" altLang="ko-KR" sz="1100">
                  <a:solidFill>
                    <a:srgbClr val="258BCD"/>
                  </a:solidFill>
                </a:rPr>
                <a:t>acidity   ...   sulphates   alcohol   quality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0   red          7.4                    0.70          ...       0.56         9.4         5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1   red          7.8                    0.88          ...       0.68         9.8         5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2   red          7.8                    0.76          ...       0.65         9.8         5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3   red          11.2             </a:t>
              </a:r>
              <a:r>
                <a:rPr lang="es-ES" altLang="ko-KR" sz="1000">
                  <a:solidFill>
                    <a:srgbClr val="258BCD"/>
                  </a:solidFill>
                </a:rPr>
                <a:t>   </a:t>
              </a:r>
              <a:r>
                <a:rPr lang="es-ES" altLang="ko-KR" sz="1100">
                  <a:solidFill>
                    <a:srgbClr val="258BCD"/>
                  </a:solidFill>
                </a:rPr>
                <a:t>   0.28          ...       0.58         9.8         6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4   red          7.4                    0.70          ...       0.56         9.4         5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[5 rows x 13 columns]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/>
                <a:t>03  &gt;&gt;&gt; wine</a:t>
              </a:r>
              <a:r>
                <a:rPr lang="es-ES" altLang="ko-KR" sz="1200" b="1"/>
                <a:t>.describe()</a:t>
              </a:r>
              <a:endParaRPr lang="es-ES" altLang="ko-KR" sz="1200" b="1"/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           fixed_acidity     volatile_acidity     ...       alcohol            quality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count   6497.000000      6497.000000      </a:t>
              </a:r>
              <a:r>
                <a:rPr lang="es-ES" altLang="ko-KR" sz="800">
                  <a:solidFill>
                    <a:srgbClr val="258BCD"/>
                  </a:solidFill>
                </a:rPr>
                <a:t> </a:t>
              </a:r>
              <a:r>
                <a:rPr lang="es-ES" altLang="ko-KR" sz="1100">
                  <a:solidFill>
                    <a:srgbClr val="258BCD"/>
                  </a:solidFill>
                </a:rPr>
                <a:t>...    6497.000000    6497.000000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mean     7.215307           0.339666         ...     10.491801      </a:t>
              </a:r>
              <a:r>
                <a:rPr lang="es-ES" altLang="ko-KR" sz="1000">
                  <a:solidFill>
                    <a:srgbClr val="258BCD"/>
                  </a:solidFill>
                </a:rPr>
                <a:t>   </a:t>
              </a:r>
              <a:r>
                <a:rPr lang="es-ES" altLang="ko-KR" sz="1100">
                  <a:solidFill>
                    <a:srgbClr val="258BCD"/>
                  </a:solidFill>
                </a:rPr>
                <a:t>  5.818378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std        1.296434           </a:t>
              </a:r>
              <a:r>
                <a:rPr lang="es-ES" altLang="ko-KR" sz="500">
                  <a:solidFill>
                    <a:srgbClr val="258BCD"/>
                  </a:solidFill>
                </a:rPr>
                <a:t> </a:t>
              </a:r>
              <a:r>
                <a:rPr lang="es-ES" altLang="ko-KR" sz="1100">
                  <a:solidFill>
                    <a:srgbClr val="258BCD"/>
                  </a:solidFill>
                </a:rPr>
                <a:t>0.164636         ...     1.192712            0.873255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min     </a:t>
              </a:r>
              <a:r>
                <a:rPr lang="es-ES" altLang="ko-KR" sz="1050">
                  <a:solidFill>
                    <a:srgbClr val="258BCD"/>
                  </a:solidFill>
                </a:rPr>
                <a:t>  </a:t>
              </a:r>
              <a:r>
                <a:rPr lang="es-ES" altLang="ko-KR" sz="1100">
                  <a:solidFill>
                    <a:srgbClr val="258BCD"/>
                  </a:solidFill>
                </a:rPr>
                <a:t>3.800000         </a:t>
              </a:r>
              <a:r>
                <a:rPr lang="es-ES" altLang="ko-KR" sz="1000">
                  <a:solidFill>
                    <a:srgbClr val="258BCD"/>
                  </a:solidFill>
                </a:rPr>
                <a:t>  </a:t>
              </a:r>
              <a:r>
                <a:rPr lang="es-ES" altLang="ko-KR" sz="1100">
                  <a:solidFill>
                    <a:srgbClr val="258BCD"/>
                  </a:solidFill>
                </a:rPr>
                <a:t> 0.080000         ...     8.000000           </a:t>
              </a:r>
              <a:r>
                <a:rPr lang="es-ES" altLang="ko-KR" sz="1000">
                  <a:solidFill>
                    <a:srgbClr val="258BCD"/>
                  </a:solidFill>
                </a:rPr>
                <a:t> </a:t>
              </a:r>
              <a:r>
                <a:rPr lang="es-ES" altLang="ko-KR" sz="1100">
                  <a:solidFill>
                    <a:srgbClr val="258BCD"/>
                  </a:solidFill>
                </a:rPr>
                <a:t>3.000000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25%      6.400000         </a:t>
              </a:r>
              <a:r>
                <a:rPr lang="es-ES" altLang="ko-KR" sz="1000">
                  <a:solidFill>
                    <a:srgbClr val="258BCD"/>
                  </a:solidFill>
                </a:rPr>
                <a:t>  </a:t>
              </a:r>
              <a:r>
                <a:rPr lang="es-ES" altLang="ko-KR" sz="1100">
                  <a:solidFill>
                    <a:srgbClr val="258BCD"/>
                  </a:solidFill>
                </a:rPr>
                <a:t> 0.230000         ...     9.500000            5.000000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50%      7.000000          </a:t>
              </a:r>
              <a:r>
                <a:rPr lang="es-ES" altLang="ko-KR" sz="900">
                  <a:solidFill>
                    <a:srgbClr val="258BCD"/>
                  </a:solidFill>
                </a:rPr>
                <a:t> </a:t>
              </a:r>
              <a:r>
                <a:rPr lang="es-ES" altLang="ko-KR" sz="1100">
                  <a:solidFill>
                    <a:srgbClr val="258BCD"/>
                  </a:solidFill>
                </a:rPr>
                <a:t> 0.290000         ...     10.300000          </a:t>
              </a:r>
              <a:r>
                <a:rPr lang="es-ES" altLang="ko-KR" sz="600">
                  <a:solidFill>
                    <a:srgbClr val="258BCD"/>
                  </a:solidFill>
                </a:rPr>
                <a:t> </a:t>
              </a:r>
              <a:r>
                <a:rPr lang="es-ES" altLang="ko-KR" sz="1100">
                  <a:solidFill>
                    <a:srgbClr val="258BCD"/>
                  </a:solidFill>
                </a:rPr>
                <a:t>6.000000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75%      7.700000         </a:t>
              </a:r>
              <a:r>
                <a:rPr lang="es-ES" altLang="ko-KR" sz="1000">
                  <a:solidFill>
                    <a:srgbClr val="258BCD"/>
                  </a:solidFill>
                </a:rPr>
                <a:t>  </a:t>
              </a:r>
              <a:r>
                <a:rPr lang="es-ES" altLang="ko-KR" sz="1100">
                  <a:solidFill>
                    <a:srgbClr val="258BCD"/>
                  </a:solidFill>
                </a:rPr>
                <a:t> 0.400000         ...     11.300000          </a:t>
              </a:r>
              <a:r>
                <a:rPr lang="es-ES" altLang="ko-KR" sz="700">
                  <a:solidFill>
                    <a:srgbClr val="258BCD"/>
                  </a:solidFill>
                </a:rPr>
                <a:t> </a:t>
              </a:r>
              <a:r>
                <a:rPr lang="es-ES" altLang="ko-KR" sz="1100">
                  <a:solidFill>
                    <a:srgbClr val="258BCD"/>
                  </a:solidFill>
                </a:rPr>
                <a:t>6.000000 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100">
                  <a:solidFill>
                    <a:srgbClr val="258BCD"/>
                  </a:solidFill>
                </a:rPr>
                <a:t>    max      15.900000        </a:t>
              </a:r>
              <a:r>
                <a:rPr lang="es-ES" altLang="ko-KR" sz="1000">
                  <a:solidFill>
                    <a:srgbClr val="258BCD"/>
                  </a:solidFill>
                </a:rPr>
                <a:t> </a:t>
              </a:r>
              <a:r>
                <a:rPr lang="es-ES" altLang="ko-KR" sz="800">
                  <a:solidFill>
                    <a:srgbClr val="258BCD"/>
                  </a:solidFill>
                </a:rPr>
                <a:t> </a:t>
              </a:r>
              <a:r>
                <a:rPr lang="es-ES" altLang="ko-KR" sz="1000">
                  <a:solidFill>
                    <a:srgbClr val="258BCD"/>
                  </a:solidFill>
                </a:rPr>
                <a:t> </a:t>
              </a:r>
              <a:r>
                <a:rPr lang="es-ES" altLang="ko-KR" sz="1100">
                  <a:solidFill>
                    <a:srgbClr val="258BCD"/>
                  </a:solidFill>
                </a:rPr>
                <a:t>1.580000         ...     14.900000         </a:t>
              </a:r>
              <a:r>
                <a:rPr lang="es-ES" altLang="ko-KR" sz="900">
                  <a:solidFill>
                    <a:srgbClr val="258BCD"/>
                  </a:solidFill>
                </a:rPr>
                <a:t>  </a:t>
              </a:r>
              <a:r>
                <a:rPr lang="es-ES" altLang="ko-KR" sz="300">
                  <a:solidFill>
                    <a:srgbClr val="258BCD"/>
                  </a:solidFill>
                </a:rPr>
                <a:t> </a:t>
              </a:r>
              <a:r>
                <a:rPr lang="es-ES" altLang="ko-KR" sz="1100">
                  <a:solidFill>
                    <a:srgbClr val="258BCD"/>
                  </a:solidFill>
                </a:rPr>
                <a:t>9.000000</a:t>
              </a:r>
              <a:endParaRPr lang="es-E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endParaRPr lang="en-U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>
                  <a:solidFill>
                    <a:srgbClr val="258BCD"/>
                  </a:solidFill>
                </a:rPr>
                <a:t>    [8 rows x 12 columns]</a:t>
              </a:r>
              <a:endParaRPr lang="es-ES" altLang="ko-KR" sz="1100">
                <a:solidFill>
                  <a:srgbClr val="258BCD"/>
                </a:solidFill>
              </a:endParaRPr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08" y="1051939"/>
            <a:ext cx="8530736" cy="468000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06366" y="1113056"/>
            <a:ext cx="2138371" cy="34576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5. </a:t>
            </a:r>
            <a:r>
              <a:rPr lang="ko-KR" altLang="en-US" sz="3600" dirty="0"/>
              <a:t>数据探索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>
          <a:xfrm>
            <a:off x="538385" y="1079008"/>
            <a:ext cx="11161945" cy="566236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ko-KR" altLang="en-US" dirty="0"/>
              <a:t>데이터 탐색</a:t>
            </a:r>
            <a:endParaRPr lang="en-US" altLang="ko-KR" dirty="0"/>
          </a:p>
          <a:p>
            <a:pPr marL="790575" lvl="2" indent="-342900">
              <a:buFont typeface="+mj-lt"/>
              <a:buAutoNum type="arabicPeriod" startAt="2"/>
              <a:defRPr/>
            </a:pPr>
            <a:r>
              <a:rPr lang="ko-KR" altLang="en-US" dirty="0"/>
              <a:t>함수를 사용해 기술 통계 구하기 </a:t>
            </a:r>
            <a:r>
              <a:rPr lang="zh-CN" altLang="en-US" dirty="0"/>
              <a:t>使用函数查找描述性统计量</a:t>
            </a:r>
            <a:endParaRPr lang="en-US" altLang="ko-KR" dirty="0"/>
          </a:p>
          <a:p>
            <a:pPr marL="790575" lvl="2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 startAt="2"/>
              <a:defRPr/>
            </a:pPr>
            <a:endParaRPr lang="en-US" altLang="ko-KR" sz="2400" dirty="0"/>
          </a:p>
          <a:p>
            <a:pPr lvl="2">
              <a:defRPr/>
            </a:pPr>
            <a:r>
              <a:rPr lang="en-US" altLang="ko-KR" sz="1200" dirty="0"/>
              <a:t>01~02</a:t>
            </a:r>
            <a:r>
              <a:rPr lang="ko-KR" altLang="en-US" sz="1200" dirty="0"/>
              <a:t>행</a:t>
            </a:r>
            <a:r>
              <a:rPr lang="en-US" altLang="ko-KR" sz="1200" dirty="0"/>
              <a:t>  </a:t>
            </a:r>
            <a:r>
              <a:rPr lang="ko-KR" altLang="en-US" sz="1200" dirty="0" err="1"/>
              <a:t>열이름</a:t>
            </a:r>
            <a:r>
              <a:rPr lang="ko-KR" altLang="en-US" sz="1200" dirty="0"/>
              <a:t> 정렬하기 </a:t>
            </a:r>
            <a:r>
              <a:rPr lang="zh-CN" altLang="en-US" sz="1600" dirty="0"/>
              <a:t>对第 </a:t>
            </a:r>
            <a:r>
              <a:rPr lang="en-US" altLang="zh-CN" sz="1600" dirty="0"/>
              <a:t>01~02 </a:t>
            </a:r>
            <a:r>
              <a:rPr lang="zh-CN" altLang="en-US" sz="1600" dirty="0"/>
              <a:t>行的列名进行排序</a:t>
            </a:r>
            <a:endParaRPr lang="en-US" altLang="ko-KR" sz="1600" dirty="0"/>
          </a:p>
          <a:p>
            <a:pPr lvl="3">
              <a:lnSpc>
                <a:spcPts val="1000"/>
              </a:lnSpc>
              <a:defRPr/>
            </a:pPr>
            <a:r>
              <a:rPr lang="en-US" altLang="ko-KR" sz="1200" dirty="0"/>
              <a:t>01</a:t>
            </a:r>
            <a:r>
              <a:rPr lang="ko-KR" altLang="en-US" sz="1200" dirty="0"/>
              <a:t>행 열 이름에 공백이 있으면 밑줄로 바꾼 뒤 한 단어로 연결</a:t>
            </a:r>
            <a:r>
              <a:rPr lang="en-US" altLang="ko-KR" sz="1200" dirty="0"/>
              <a:t>  </a:t>
            </a:r>
            <a:r>
              <a:rPr lang="en-US" altLang="zh-CN" sz="1200" dirty="0"/>
              <a:t>01</a:t>
            </a:r>
            <a:r>
              <a:rPr lang="zh-CN" altLang="en-US" sz="1200" dirty="0"/>
              <a:t>行 列名中若存在空格，则替换为下划线并连接为单词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02</a:t>
            </a:r>
            <a:r>
              <a:rPr lang="ko-KR" altLang="en-US" sz="1200" dirty="0"/>
              <a:t>행 변경된 열 이름을 확인 </a:t>
            </a:r>
            <a:r>
              <a:rPr lang="en-US" altLang="zh-CN" sz="1200" dirty="0"/>
              <a:t>02</a:t>
            </a:r>
            <a:r>
              <a:rPr lang="zh-CN" altLang="en-US" sz="1200" dirty="0"/>
              <a:t>行 确认修改后的列名</a:t>
            </a:r>
            <a:endParaRPr lang="en-US" altLang="ko-KR" sz="1200" dirty="0"/>
          </a:p>
          <a:p>
            <a:pPr lvl="2">
              <a:defRPr/>
            </a:pPr>
            <a:r>
              <a:rPr lang="en-US" altLang="ko-KR" sz="1200" dirty="0"/>
              <a:t>03</a:t>
            </a:r>
            <a:r>
              <a:rPr lang="ko-KR" altLang="en-US" sz="1200" dirty="0"/>
              <a:t>행 </a:t>
            </a:r>
            <a:r>
              <a:rPr lang="en-US" altLang="ko-KR" sz="1200" dirty="0"/>
              <a:t>describe() </a:t>
            </a:r>
            <a:r>
              <a:rPr lang="ko-KR" altLang="en-US" sz="1200" dirty="0"/>
              <a:t>함수를 사용하여 속성별 개수</a:t>
            </a:r>
            <a:r>
              <a:rPr lang="en-US" altLang="ko-KR" sz="1200" dirty="0"/>
              <a:t>, </a:t>
            </a:r>
            <a:r>
              <a:rPr lang="ko-KR" altLang="en-US" sz="1200" dirty="0"/>
              <a:t>평균</a:t>
            </a:r>
            <a:r>
              <a:rPr lang="en-US" altLang="ko-KR" sz="1200" dirty="0"/>
              <a:t>, </a:t>
            </a:r>
            <a:r>
              <a:rPr lang="ko-KR" altLang="en-US" sz="1200" dirty="0"/>
              <a:t>표준편차</a:t>
            </a:r>
            <a:r>
              <a:rPr lang="en-US" altLang="ko-KR" sz="1200" dirty="0"/>
              <a:t>, </a:t>
            </a:r>
            <a:r>
              <a:rPr lang="ko-KR" altLang="en-US" sz="1200" dirty="0"/>
              <a:t>최소값</a:t>
            </a:r>
            <a:r>
              <a:rPr lang="en-US" altLang="ko-KR" sz="1200" dirty="0"/>
              <a:t>, </a:t>
            </a:r>
            <a:r>
              <a:rPr lang="ko-KR" altLang="en-US" sz="1200" dirty="0"/>
              <a:t>전체 데이터 백분율에 대한 </a:t>
            </a:r>
            <a:r>
              <a:rPr lang="en-US" altLang="ko-KR" sz="1200" dirty="0"/>
              <a:t>25</a:t>
            </a:r>
            <a:r>
              <a:rPr lang="ko-KR" altLang="en-US" sz="1200" dirty="0"/>
              <a:t>번째 백분위수</a:t>
            </a:r>
            <a:r>
              <a:rPr lang="en-US" altLang="ko-KR" sz="1200" dirty="0"/>
              <a:t>(25%), </a:t>
            </a:r>
            <a:r>
              <a:rPr lang="ko-KR" altLang="en-US" sz="1200" dirty="0"/>
              <a:t>중앙값인 </a:t>
            </a:r>
            <a:r>
              <a:rPr lang="en-US" altLang="ko-KR" sz="1200" dirty="0"/>
              <a:t>50</a:t>
            </a:r>
            <a:r>
              <a:rPr lang="ko-KR" altLang="en-US" sz="1200" dirty="0"/>
              <a:t>번째 백분위수</a:t>
            </a:r>
            <a:r>
              <a:rPr lang="en-US" altLang="ko-KR" sz="1200" dirty="0"/>
              <a:t>(50%), 75</a:t>
            </a:r>
            <a:r>
              <a:rPr lang="ko-KR" altLang="en-US" sz="1200" dirty="0"/>
              <a:t>번째 백분위수</a:t>
            </a:r>
            <a:r>
              <a:rPr lang="en-US" altLang="ko-KR" sz="1200" dirty="0"/>
              <a:t>(75%) </a:t>
            </a:r>
            <a:r>
              <a:rPr lang="ko-KR" altLang="en-US" sz="1200" dirty="0"/>
              <a:t>그리고 </a:t>
            </a:r>
            <a:r>
              <a:rPr lang="en-US" altLang="ko-KR" sz="1200" dirty="0"/>
              <a:t>100</a:t>
            </a:r>
            <a:r>
              <a:rPr lang="ko-KR" altLang="en-US" sz="1200" dirty="0"/>
              <a:t>번째 </a:t>
            </a:r>
            <a:r>
              <a:rPr lang="ko-KR" altLang="en-US" sz="1200" dirty="0" err="1"/>
              <a:t>백분위수인</a:t>
            </a:r>
            <a:r>
              <a:rPr lang="ko-KR" altLang="en-US" sz="1200" dirty="0"/>
              <a:t> 최대값</a:t>
            </a:r>
            <a:r>
              <a:rPr lang="en-US" altLang="ko-KR" sz="1200" dirty="0"/>
              <a:t>max</a:t>
            </a:r>
            <a:r>
              <a:rPr lang="ko-KR" altLang="en-US" sz="1200" dirty="0"/>
              <a:t>을 출력</a:t>
            </a:r>
            <a:endParaRPr lang="en-US" altLang="ko-KR" sz="1200" dirty="0"/>
          </a:p>
          <a:p>
            <a:pPr marL="447675" lvl="2" indent="0">
              <a:buNone/>
              <a:defRPr/>
            </a:pPr>
            <a:r>
              <a:rPr lang="en-US" altLang="ko-KR" sz="1200" dirty="0"/>
              <a:t>    </a:t>
            </a:r>
            <a:r>
              <a:rPr lang="en-US" altLang="zh-CN" sz="1500" dirty="0"/>
              <a:t>03</a:t>
            </a:r>
            <a:r>
              <a:rPr lang="zh-CN" altLang="en-US" sz="1500" dirty="0"/>
              <a:t>使用</a:t>
            </a:r>
            <a:r>
              <a:rPr lang="en-US" altLang="zh-CN" sz="1500" dirty="0"/>
              <a:t>describe</a:t>
            </a:r>
            <a:r>
              <a:rPr lang="zh-CN" altLang="en-US" sz="1500" dirty="0"/>
              <a:t>（）函数按属性、平均值、标准差、最小值、总数据百分比的第</a:t>
            </a:r>
            <a:r>
              <a:rPr lang="en-US" altLang="zh-CN" sz="1500" dirty="0"/>
              <a:t>25</a:t>
            </a:r>
            <a:r>
              <a:rPr lang="zh-CN" altLang="en-US" sz="1500" dirty="0"/>
              <a:t>个百分位数（</a:t>
            </a:r>
            <a:r>
              <a:rPr lang="en-US" altLang="zh-CN" sz="1500" dirty="0"/>
              <a:t>25%</a:t>
            </a:r>
            <a:r>
              <a:rPr lang="zh-CN" altLang="en-US" sz="1500" dirty="0"/>
              <a:t>）、第</a:t>
            </a:r>
            <a:r>
              <a:rPr lang="en-US" altLang="zh-CN" sz="1500" dirty="0"/>
              <a:t>50</a:t>
            </a:r>
            <a:r>
              <a:rPr lang="zh-CN" altLang="en-US" sz="1500" dirty="0"/>
              <a:t>个百分位数的中位数（</a:t>
            </a:r>
            <a:r>
              <a:rPr lang="en-US" altLang="zh-CN" sz="1500" dirty="0"/>
              <a:t>50%</a:t>
            </a:r>
            <a:r>
              <a:rPr lang="zh-CN" altLang="en-US" sz="1500" dirty="0"/>
              <a:t>）、第</a:t>
            </a:r>
            <a:r>
              <a:rPr lang="en-US" altLang="zh-CN" sz="1500" dirty="0"/>
              <a:t>75</a:t>
            </a:r>
            <a:r>
              <a:rPr lang="zh-CN" altLang="en-US" sz="1500" dirty="0"/>
              <a:t>个百分位数（</a:t>
            </a:r>
            <a:r>
              <a:rPr lang="en-US" altLang="zh-CN" sz="1500" dirty="0"/>
              <a:t>75%</a:t>
            </a:r>
            <a:r>
              <a:rPr lang="zh-CN" altLang="en-US" sz="1500" dirty="0"/>
              <a:t>）和第</a:t>
            </a:r>
            <a:r>
              <a:rPr lang="en-US" altLang="zh-CN" sz="1500" dirty="0"/>
              <a:t>100</a:t>
            </a:r>
            <a:r>
              <a:rPr lang="zh-CN" altLang="en-US" sz="1500" dirty="0"/>
              <a:t>个百分位的最大值输出数字</a:t>
            </a:r>
            <a:endParaRPr lang="en-US" altLang="ko-KR" sz="1000" dirty="0"/>
          </a:p>
          <a:p>
            <a:pPr lvl="2">
              <a:defRPr/>
            </a:pPr>
            <a:r>
              <a:rPr lang="en-US" altLang="ko-KR" sz="1200" dirty="0"/>
              <a:t>04</a:t>
            </a:r>
            <a:r>
              <a:rPr lang="ko-KR" altLang="en-US" sz="1200" dirty="0"/>
              <a:t>행 </a:t>
            </a:r>
            <a:r>
              <a:rPr lang="en-US" altLang="ko-KR" sz="1200" dirty="0" err="1"/>
              <a:t>wine.quality.unique</a:t>
            </a:r>
            <a:r>
              <a:rPr lang="en-US" altLang="ko-KR" sz="1200" dirty="0"/>
              <a:t>() </a:t>
            </a:r>
            <a:r>
              <a:rPr lang="ko-KR" altLang="en-US" sz="1200" dirty="0"/>
              <a:t>함수를 사용하여 </a:t>
            </a:r>
            <a:r>
              <a:rPr lang="en-US" altLang="ko-KR" sz="1200" dirty="0"/>
              <a:t>quality </a:t>
            </a:r>
            <a:r>
              <a:rPr lang="ko-KR" altLang="en-US" sz="1200" dirty="0"/>
              <a:t>속성값 중에서 유일한 값을 출력</a:t>
            </a:r>
            <a:r>
              <a:rPr lang="en-US" altLang="ko-KR" sz="1200" dirty="0"/>
              <a:t>. </a:t>
            </a:r>
            <a:r>
              <a:rPr lang="ko-KR" altLang="en-US" sz="1300" dirty="0"/>
              <a:t>第 </a:t>
            </a:r>
            <a:r>
              <a:rPr lang="en-US" altLang="ko-KR" sz="1300" dirty="0"/>
              <a:t>04 </a:t>
            </a:r>
            <a:r>
              <a:rPr lang="ko-KR" altLang="en-US" sz="1300" dirty="0"/>
              <a:t>行 使用 </a:t>
            </a:r>
            <a:r>
              <a:rPr lang="en-US" altLang="ko-KR" sz="1300" dirty="0" err="1"/>
              <a:t>wine.quality.unique</a:t>
            </a:r>
            <a:r>
              <a:rPr lang="ko-KR" altLang="en-US" sz="1300" dirty="0"/>
              <a:t>（） 函数输出质量属性值中的唯一值。</a:t>
            </a:r>
            <a:endParaRPr lang="en-US" altLang="ko-KR" sz="1200" dirty="0"/>
          </a:p>
          <a:p>
            <a:pPr lvl="3">
              <a:lnSpc>
                <a:spcPts val="1000"/>
              </a:lnSpc>
              <a:defRPr/>
            </a:pPr>
            <a:r>
              <a:rPr lang="ko-KR" altLang="en-US" sz="1200" dirty="0"/>
              <a:t>이를 통해 와인 품질 등급</a:t>
            </a:r>
            <a:r>
              <a:rPr lang="en-US" altLang="ko-KR" sz="1200" dirty="0"/>
              <a:t>quality</a:t>
            </a:r>
            <a:r>
              <a:rPr lang="ko-KR" altLang="en-US" sz="1200" dirty="0"/>
              <a:t>은 </a:t>
            </a:r>
            <a:r>
              <a:rPr lang="en-US" altLang="ko-KR" sz="1200" dirty="0"/>
              <a:t>3, 4, 5, 6, 7, 8, 9</a:t>
            </a:r>
            <a:r>
              <a:rPr lang="ko-KR" altLang="en-US" sz="1200" dirty="0"/>
              <a:t>의 </a:t>
            </a:r>
            <a:r>
              <a:rPr lang="en-US" altLang="ko-KR" sz="1200" dirty="0"/>
              <a:t>7</a:t>
            </a:r>
            <a:r>
              <a:rPr lang="ko-KR" altLang="en-US" sz="1200" dirty="0"/>
              <a:t>개 등급이 있다는 것을 알 수 있음 </a:t>
            </a:r>
            <a:r>
              <a:rPr lang="zh-CN" altLang="en-US" sz="1300" dirty="0"/>
              <a:t>由此可以看出，酒质有</a:t>
            </a:r>
            <a:r>
              <a:rPr lang="en-US" altLang="zh-CN" sz="1300" dirty="0"/>
              <a:t>7</a:t>
            </a:r>
            <a:r>
              <a:rPr lang="zh-CN" altLang="en-US" sz="1300" dirty="0"/>
              <a:t>个等级：</a:t>
            </a:r>
            <a:r>
              <a:rPr lang="en-US" altLang="zh-CN" sz="1300" dirty="0"/>
              <a:t>3</a:t>
            </a:r>
            <a:r>
              <a:rPr lang="zh-CN" altLang="en-US" sz="1300" dirty="0"/>
              <a:t>、</a:t>
            </a:r>
            <a:r>
              <a:rPr lang="en-US" altLang="zh-CN" sz="1300" dirty="0"/>
              <a:t>4</a:t>
            </a:r>
            <a:r>
              <a:rPr lang="zh-CN" altLang="en-US" sz="1300" dirty="0"/>
              <a:t>、</a:t>
            </a:r>
            <a:r>
              <a:rPr lang="en-US" altLang="zh-CN" sz="1300" dirty="0"/>
              <a:t>5</a:t>
            </a:r>
            <a:r>
              <a:rPr lang="zh-CN" altLang="en-US" sz="1300" dirty="0"/>
              <a:t>、</a:t>
            </a:r>
            <a:r>
              <a:rPr lang="en-US" altLang="zh-CN" sz="1300" dirty="0"/>
              <a:t>6</a:t>
            </a:r>
            <a:r>
              <a:rPr lang="zh-CN" altLang="en-US" sz="1300" dirty="0"/>
              <a:t>、</a:t>
            </a:r>
            <a:r>
              <a:rPr lang="en-US" altLang="zh-CN" sz="1300" dirty="0"/>
              <a:t>7</a:t>
            </a:r>
            <a:r>
              <a:rPr lang="zh-CN" altLang="en-US" sz="1300" dirty="0"/>
              <a:t>、</a:t>
            </a:r>
            <a:r>
              <a:rPr lang="en-US" altLang="zh-CN" sz="1300" dirty="0"/>
              <a:t>8</a:t>
            </a:r>
            <a:r>
              <a:rPr lang="zh-CN" altLang="en-US" sz="1300" dirty="0"/>
              <a:t>、</a:t>
            </a:r>
            <a:r>
              <a:rPr lang="en-US" altLang="zh-CN" sz="1300" dirty="0"/>
              <a:t>9</a:t>
            </a:r>
            <a:endParaRPr lang="en-US" altLang="ko-KR" sz="1200" dirty="0"/>
          </a:p>
          <a:p>
            <a:pPr lvl="2">
              <a:defRPr/>
            </a:pPr>
            <a:r>
              <a:rPr lang="en-US" altLang="ko-KR" sz="1200" dirty="0"/>
              <a:t>05</a:t>
            </a:r>
            <a:r>
              <a:rPr lang="ko-KR" altLang="en-US" sz="1200" dirty="0"/>
              <a:t>행 </a:t>
            </a:r>
            <a:r>
              <a:rPr lang="en-US" altLang="ko-KR" sz="1200" dirty="0" err="1"/>
              <a:t>quality.value_counts</a:t>
            </a:r>
            <a:r>
              <a:rPr lang="en-US" altLang="ko-KR" sz="1200" dirty="0"/>
              <a:t>() </a:t>
            </a:r>
            <a:r>
              <a:rPr lang="ko-KR" altLang="en-US" sz="1200" dirty="0"/>
              <a:t>함수는 </a:t>
            </a:r>
            <a:r>
              <a:rPr lang="en-US" altLang="ko-KR" sz="1200" dirty="0"/>
              <a:t>quality </a:t>
            </a:r>
            <a:r>
              <a:rPr lang="ko-KR" altLang="en-US" sz="1200" dirty="0"/>
              <a:t>속성값에 대한 빈도수를 보여줌 </a:t>
            </a:r>
            <a:r>
              <a:rPr lang="en-US" altLang="ko-KR" sz="1200" dirty="0"/>
              <a:t>05</a:t>
            </a:r>
            <a:r>
              <a:rPr lang="ko-KR" altLang="en-US" sz="1200" dirty="0"/>
              <a:t>行 </a:t>
            </a:r>
            <a:r>
              <a:rPr lang="en-US" altLang="ko-KR" sz="1200" dirty="0" err="1"/>
              <a:t>quality.value_counts</a:t>
            </a:r>
            <a:r>
              <a:rPr lang="en-US" altLang="ko-KR" sz="1200" dirty="0"/>
              <a:t>() </a:t>
            </a:r>
            <a:r>
              <a:rPr lang="ko-KR" altLang="en-US" sz="1200" dirty="0"/>
              <a:t>函数显示 </a:t>
            </a:r>
            <a:r>
              <a:rPr lang="en-US" altLang="ko-KR" sz="1200" dirty="0"/>
              <a:t>quality </a:t>
            </a:r>
            <a:r>
              <a:rPr lang="ko-KR" altLang="en-US" sz="1200" dirty="0"/>
              <a:t>属性值的频数</a:t>
            </a:r>
            <a:endParaRPr lang="en-US" altLang="ko-KR" sz="1200" dirty="0"/>
          </a:p>
          <a:p>
            <a:pPr lvl="3">
              <a:lnSpc>
                <a:spcPts val="1000"/>
              </a:lnSpc>
              <a:defRPr/>
            </a:pPr>
            <a:r>
              <a:rPr lang="en-US" altLang="ko-KR" sz="1200" dirty="0"/>
              <a:t>6</a:t>
            </a:r>
            <a:r>
              <a:rPr lang="ko-KR" altLang="en-US" sz="1200" dirty="0"/>
              <a:t>등급인 샘플이 </a:t>
            </a:r>
            <a:r>
              <a:rPr lang="en-US" altLang="ko-KR" sz="1200" dirty="0"/>
              <a:t>2,826</a:t>
            </a:r>
            <a:r>
              <a:rPr lang="ko-KR" altLang="en-US" sz="1200" dirty="0"/>
              <a:t>개로 가장 많고</a:t>
            </a:r>
            <a:r>
              <a:rPr lang="en-US" altLang="ko-KR" sz="1200" dirty="0"/>
              <a:t>, 9</a:t>
            </a:r>
            <a:r>
              <a:rPr lang="ko-KR" altLang="en-US" sz="1200" dirty="0"/>
              <a:t>등급인 샘플이 </a:t>
            </a:r>
            <a:r>
              <a:rPr lang="en-US" altLang="ko-KR" sz="1200" dirty="0"/>
              <a:t>5</a:t>
            </a:r>
            <a:r>
              <a:rPr lang="ko-KR" altLang="en-US" sz="1200" dirty="0"/>
              <a:t>개로 가장 적은 것을 알 수 있음 </a:t>
            </a:r>
            <a:r>
              <a:rPr lang="zh-CN" altLang="en-US" dirty="0"/>
              <a:t>可以看出，</a:t>
            </a:r>
            <a:r>
              <a:rPr lang="en-US" altLang="zh-CN" dirty="0"/>
              <a:t>6</a:t>
            </a:r>
            <a:r>
              <a:rPr lang="zh-CN" altLang="en-US" dirty="0"/>
              <a:t>级样本最高，为</a:t>
            </a:r>
            <a:r>
              <a:rPr lang="en-US" altLang="zh-CN" dirty="0"/>
              <a:t>2826</a:t>
            </a:r>
            <a:r>
              <a:rPr lang="zh-CN" altLang="en-US" dirty="0"/>
              <a:t>个，</a:t>
            </a:r>
            <a:r>
              <a:rPr lang="en-US" altLang="zh-CN" dirty="0"/>
              <a:t>9</a:t>
            </a:r>
            <a:r>
              <a:rPr lang="zh-CN" altLang="en-US" dirty="0"/>
              <a:t>级样本最少，有</a:t>
            </a:r>
            <a:r>
              <a:rPr lang="en-US" altLang="zh-CN" dirty="0"/>
              <a:t>5</a:t>
            </a:r>
            <a:r>
              <a:rPr lang="zh-CN" altLang="en-US" dirty="0"/>
              <a:t>个样本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539637" y="1194955"/>
            <a:ext cx="4652363" cy="2234045"/>
            <a:chOff x="2424114" y="1916114"/>
            <a:chExt cx="5400675" cy="2483626"/>
          </a:xfrm>
        </p:grpSpPr>
        <p:sp>
          <p:nvSpPr>
            <p:cNvPr id="7" name="직사각형 6"/>
            <p:cNvSpPr/>
            <p:nvPr/>
          </p:nvSpPr>
          <p:spPr bwMode="auto">
            <a:xfrm>
              <a:off x="2652713" y="1916114"/>
              <a:ext cx="4995862" cy="22367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4583" name="내용 개체 틀 2"/>
            <p:cNvSpPr txBox="1"/>
            <p:nvPr/>
          </p:nvSpPr>
          <p:spPr bwMode="auto">
            <a:xfrm>
              <a:off x="2424114" y="1916114"/>
              <a:ext cx="5400675" cy="2483626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/>
                <a:t>04 &gt;&gt;&gt; </a:t>
              </a:r>
              <a:r>
                <a:rPr lang="en-US" altLang="ko-KR" sz="1100" b="1" dirty="0"/>
                <a:t>sorted(</a:t>
              </a:r>
              <a:r>
                <a:rPr lang="en-US" altLang="ko-KR" sz="1100" dirty="0" err="1"/>
                <a:t>wine.quality.</a:t>
              </a:r>
              <a:r>
                <a:rPr lang="en-US" altLang="ko-KR" sz="1100" b="1" dirty="0" err="1"/>
                <a:t>unique</a:t>
              </a:r>
              <a:r>
                <a:rPr lang="en-US" altLang="ko-KR" sz="1100" b="1" dirty="0"/>
                <a:t>())</a:t>
              </a:r>
              <a:endParaRPr lang="en-US" altLang="ko-KR" sz="1100" b="1" dirty="0"/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>
                  <a:solidFill>
                    <a:srgbClr val="258BCD"/>
                  </a:solidFill>
                </a:rPr>
                <a:t>    [3, 4, 5, 6, 7, 8, 9]</a:t>
              </a:r>
              <a:endParaRPr lang="en-U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/>
                <a:t>05 &gt;&gt;&gt; </a:t>
              </a:r>
              <a:r>
                <a:rPr lang="en-US" altLang="ko-KR" sz="1100" dirty="0" err="1"/>
                <a:t>wine.quality.</a:t>
              </a:r>
              <a:r>
                <a:rPr lang="en-US" altLang="ko-KR" sz="1100" b="1" dirty="0" err="1"/>
                <a:t>value_counts</a:t>
              </a:r>
              <a:r>
                <a:rPr lang="en-US" altLang="ko-KR" sz="1100" b="1" dirty="0"/>
                <a:t>()</a:t>
              </a:r>
              <a:endParaRPr lang="en-US" altLang="ko-KR" sz="1100" b="1" dirty="0"/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>
                  <a:solidFill>
                    <a:srgbClr val="258BCD"/>
                  </a:solidFill>
                </a:rPr>
                <a:t>    6     2836</a:t>
              </a:r>
              <a:endParaRPr lang="en-U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>
                  <a:solidFill>
                    <a:srgbClr val="258BCD"/>
                  </a:solidFill>
                </a:rPr>
                <a:t>    5     2138</a:t>
              </a:r>
              <a:endParaRPr lang="en-U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>
                  <a:solidFill>
                    <a:srgbClr val="258BCD"/>
                  </a:solidFill>
                </a:rPr>
                <a:t>    7     1079</a:t>
              </a:r>
              <a:endParaRPr lang="en-U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>
                  <a:solidFill>
                    <a:srgbClr val="258BCD"/>
                  </a:solidFill>
                </a:rPr>
                <a:t>    4    </a:t>
              </a:r>
              <a:r>
                <a:rPr lang="en-US" altLang="ko-KR" sz="1050" dirty="0">
                  <a:solidFill>
                    <a:srgbClr val="258BCD"/>
                  </a:solidFill>
                </a:rPr>
                <a:t>  </a:t>
              </a:r>
              <a:r>
                <a:rPr lang="en-US" altLang="ko-KR" sz="1100" dirty="0">
                  <a:solidFill>
                    <a:srgbClr val="258BCD"/>
                  </a:solidFill>
                </a:rPr>
                <a:t> 216</a:t>
              </a:r>
              <a:endParaRPr lang="en-U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>
                  <a:solidFill>
                    <a:srgbClr val="258BCD"/>
                  </a:solidFill>
                </a:rPr>
                <a:t>    8    </a:t>
              </a:r>
              <a:r>
                <a:rPr lang="en-US" altLang="ko-KR" sz="1050" dirty="0">
                  <a:solidFill>
                    <a:srgbClr val="258BCD"/>
                  </a:solidFill>
                </a:rPr>
                <a:t>   </a:t>
              </a:r>
              <a:r>
                <a:rPr lang="en-US" altLang="ko-KR" sz="1100" dirty="0">
                  <a:solidFill>
                    <a:srgbClr val="258BCD"/>
                  </a:solidFill>
                </a:rPr>
                <a:t>193</a:t>
              </a:r>
              <a:endParaRPr lang="en-U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>
                  <a:solidFill>
                    <a:srgbClr val="258BCD"/>
                  </a:solidFill>
                </a:rPr>
                <a:t>    3        30</a:t>
              </a:r>
              <a:endParaRPr lang="en-U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>
                  <a:solidFill>
                    <a:srgbClr val="258BCD"/>
                  </a:solidFill>
                </a:rPr>
                <a:t>    9         5</a:t>
              </a:r>
              <a:endParaRPr lang="en-U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>
                  <a:solidFill>
                    <a:srgbClr val="258BCD"/>
                  </a:solidFill>
                </a:rPr>
                <a:t>    Name: quality, </a:t>
              </a:r>
              <a:r>
                <a:rPr lang="en-US" altLang="ko-KR" sz="1100" dirty="0" err="1">
                  <a:solidFill>
                    <a:srgbClr val="258BCD"/>
                  </a:solidFill>
                </a:rPr>
                <a:t>dtype</a:t>
              </a:r>
              <a:r>
                <a:rPr lang="en-US" altLang="ko-KR" sz="1100" dirty="0">
                  <a:solidFill>
                    <a:srgbClr val="258BCD"/>
                  </a:solidFill>
                </a:rPr>
                <a:t>: int64</a:t>
              </a:r>
              <a:endParaRPr lang="en-US" altLang="ko-KR" sz="1100" dirty="0">
                <a:solidFill>
                  <a:srgbClr val="258BCD"/>
                </a:solidFill>
              </a:endParaRPr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rcRect r="75117" b="612"/>
          <a:stretch>
            <a:fillRect/>
          </a:stretch>
        </p:blipFill>
        <p:spPr>
          <a:xfrm>
            <a:off x="516608" y="1051939"/>
            <a:ext cx="2122683" cy="465134"/>
          </a:xfrm>
          <a:prstGeom prst="rect">
            <a:avLst/>
          </a:prstGeom>
        </p:spPr>
      </p:pic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06366" y="1113056"/>
            <a:ext cx="2138371" cy="34576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5. </a:t>
            </a:r>
            <a:r>
              <a:rPr lang="ko-KR" altLang="en-US" sz="3600" dirty="0"/>
              <a:t>数据探索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ko-KR" altLang="en-US" dirty="0"/>
              <a:t>데이터 모델링</a:t>
            </a: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r>
              <a:rPr lang="en-US" altLang="ko-KR" dirty="0"/>
              <a:t>describe() </a:t>
            </a:r>
            <a:r>
              <a:rPr lang="ko-KR" altLang="en-US" dirty="0"/>
              <a:t>함수로 그룹 비교하기 </a:t>
            </a:r>
            <a:endParaRPr lang="en-US" altLang="ko-KR" dirty="0"/>
          </a:p>
          <a:p>
            <a:pPr marL="266700" lvl="1" indent="0">
              <a:buNone/>
              <a:defRPr/>
            </a:pPr>
            <a:r>
              <a:rPr lang="ko-KR" altLang="en-US" dirty="0"/>
              <a:t>使用 </a:t>
            </a:r>
            <a:r>
              <a:rPr lang="en-US" altLang="ko-KR" dirty="0"/>
              <a:t>describe</a:t>
            </a:r>
            <a:r>
              <a:rPr lang="ko-KR" altLang="en-US" dirty="0"/>
              <a:t>（） 函数比较组</a:t>
            </a: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sz="1050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sz="400" dirty="0"/>
          </a:p>
          <a:p>
            <a:pPr lvl="3">
              <a:spcBef>
                <a:spcPts val="200"/>
              </a:spcBef>
              <a:spcAft>
                <a:spcPts val="200"/>
              </a:spcAft>
              <a:defRPr/>
            </a:pPr>
            <a:r>
              <a:rPr lang="en-US" altLang="ko-KR" sz="1200" dirty="0"/>
              <a:t>01</a:t>
            </a:r>
            <a:r>
              <a:rPr lang="ko-KR" altLang="en-US" sz="1200" dirty="0"/>
              <a:t>행 </a:t>
            </a:r>
            <a:r>
              <a:rPr lang="en-US" altLang="ko-KR" sz="1200" dirty="0"/>
              <a:t> </a:t>
            </a:r>
            <a:r>
              <a:rPr lang="ko-KR" altLang="en-US" sz="1200" dirty="0"/>
              <a:t>레드 와인과 화이트 와인을 구분하는 속성인 </a:t>
            </a:r>
            <a:r>
              <a:rPr lang="en-US" altLang="ko-KR" sz="1200" dirty="0"/>
              <a:t>type</a:t>
            </a:r>
            <a:r>
              <a:rPr lang="ko-KR" altLang="en-US" sz="1200" dirty="0"/>
              <a:t>을 기준으로 그룹을 나눈 뒤 그룹 안에서 </a:t>
            </a:r>
            <a:r>
              <a:rPr lang="en-US" altLang="ko-KR" sz="1200" dirty="0"/>
              <a:t>quality </a:t>
            </a:r>
            <a:r>
              <a:rPr lang="ko-KR" altLang="en-US" sz="1200" dirty="0"/>
              <a:t>속성을 기준으로</a:t>
            </a:r>
            <a:r>
              <a:rPr lang="en-US" altLang="ko-KR" sz="1200" dirty="0"/>
              <a:t> </a:t>
            </a:r>
            <a:r>
              <a:rPr lang="ko-KR" altLang="en-US" sz="1200" dirty="0"/>
              <a:t>기술 통계를 구함</a:t>
            </a:r>
            <a:endParaRPr lang="en-US" altLang="ko-KR" sz="1200" dirty="0"/>
          </a:p>
          <a:p>
            <a:pPr lvl="3"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dirty="0"/>
              <a:t>第</a:t>
            </a:r>
            <a:r>
              <a:rPr lang="en-US" altLang="zh-CN" dirty="0"/>
              <a:t>01</a:t>
            </a:r>
            <a:r>
              <a:rPr lang="zh-CN" altLang="en-US" dirty="0"/>
              <a:t>行 根据类型划分组别，这是区分红酒和白酒的属性，并根据组内的质量属性获得描述性统计</a:t>
            </a:r>
            <a:endParaRPr lang="en-US" altLang="ko-KR" sz="1200" dirty="0"/>
          </a:p>
          <a:p>
            <a:pPr lvl="3">
              <a:spcBef>
                <a:spcPts val="200"/>
              </a:spcBef>
              <a:spcAft>
                <a:spcPts val="200"/>
              </a:spcAft>
              <a:defRPr/>
            </a:pPr>
            <a:r>
              <a:rPr lang="en-US" altLang="ko-KR" sz="1200" dirty="0"/>
              <a:t>02~04</a:t>
            </a:r>
            <a:r>
              <a:rPr lang="ko-KR" altLang="en-US" sz="1200" dirty="0"/>
              <a:t>행 </a:t>
            </a:r>
            <a:r>
              <a:rPr lang="en-US" altLang="ko-KR" sz="1200" dirty="0"/>
              <a:t> </a:t>
            </a:r>
            <a:r>
              <a:rPr lang="ko-KR" altLang="en-US" sz="1200" dirty="0"/>
              <a:t>기술 통계 전부를 구할 때는 </a:t>
            </a:r>
            <a:r>
              <a:rPr lang="en-US" altLang="ko-KR" sz="1200" dirty="0"/>
              <a:t>describe() </a:t>
            </a:r>
            <a:r>
              <a:rPr lang="ko-KR" altLang="en-US" sz="1200" dirty="0"/>
              <a:t>함수를 사용하지만 </a:t>
            </a:r>
            <a:r>
              <a:rPr lang="en-US" altLang="ko-KR" sz="1200" dirty="0"/>
              <a:t>mean() </a:t>
            </a:r>
            <a:r>
              <a:rPr lang="ko-KR" altLang="en-US" sz="1200" dirty="0"/>
              <a:t>함수로 평균만 구하거나 </a:t>
            </a:r>
            <a:r>
              <a:rPr lang="en-US" altLang="ko-KR" sz="1200" dirty="0" err="1"/>
              <a:t>std</a:t>
            </a:r>
            <a:r>
              <a:rPr lang="en-US" altLang="ko-KR" sz="1200" dirty="0"/>
              <a:t>() </a:t>
            </a:r>
            <a:r>
              <a:rPr lang="ko-KR" altLang="en-US" sz="1200" dirty="0"/>
              <a:t>함수로 표준편차만 따로 구할 수도 있음</a:t>
            </a:r>
            <a:r>
              <a:rPr lang="en-US" altLang="ko-KR" sz="1200" dirty="0"/>
              <a:t>. mean() </a:t>
            </a:r>
            <a:r>
              <a:rPr lang="ko-KR" altLang="en-US" sz="1200" dirty="0"/>
              <a:t>함수와 </a:t>
            </a:r>
            <a:r>
              <a:rPr lang="en-US" altLang="ko-KR" sz="1200" dirty="0" err="1"/>
              <a:t>std</a:t>
            </a:r>
            <a:r>
              <a:rPr lang="en-US" altLang="ko-KR" sz="1200" dirty="0"/>
              <a:t>() </a:t>
            </a:r>
            <a:r>
              <a:rPr lang="ko-KR" altLang="en-US" sz="1200" dirty="0"/>
              <a:t>함수를 묶어서 한 번에 사용하려면 </a:t>
            </a:r>
            <a:r>
              <a:rPr lang="en-US" altLang="ko-KR" sz="1200" dirty="0"/>
              <a:t>04</a:t>
            </a:r>
            <a:r>
              <a:rPr lang="ko-KR" altLang="en-US" sz="1200" dirty="0"/>
              <a:t>행과 같이 </a:t>
            </a:r>
            <a:r>
              <a:rPr lang="en-US" altLang="ko-KR" sz="1200" dirty="0" err="1"/>
              <a:t>agg</a:t>
            </a:r>
            <a:r>
              <a:rPr lang="en-US" altLang="ko-KR" sz="1200" dirty="0"/>
              <a:t>() </a:t>
            </a:r>
            <a:r>
              <a:rPr lang="ko-KR" altLang="en-US" sz="1200" dirty="0"/>
              <a:t>함수를 사용</a:t>
            </a:r>
            <a:endParaRPr lang="en-US" altLang="ko-KR" sz="1200" dirty="0"/>
          </a:p>
          <a:p>
            <a:pPr lvl="3">
              <a:spcBef>
                <a:spcPts val="200"/>
              </a:spcBef>
              <a:spcAft>
                <a:spcPts val="200"/>
              </a:spcAft>
              <a:defRPr/>
            </a:pPr>
            <a:r>
              <a:rPr lang="zh-CN" altLang="en-US" dirty="0"/>
              <a:t>要获取第 </a:t>
            </a:r>
            <a:r>
              <a:rPr lang="en-US" altLang="zh-CN" dirty="0"/>
              <a:t>02~04 </a:t>
            </a:r>
            <a:r>
              <a:rPr lang="zh-CN" altLang="en-US" dirty="0"/>
              <a:t>行中的所有描述性统计量，您可以使用 </a:t>
            </a:r>
            <a:r>
              <a:rPr lang="en-US" altLang="zh-CN" dirty="0"/>
              <a:t>describe</a:t>
            </a:r>
            <a:r>
              <a:rPr lang="zh-CN" altLang="en-US" dirty="0"/>
              <a:t>（） 函数，但也可以使用 </a:t>
            </a:r>
            <a:r>
              <a:rPr lang="en-US" altLang="zh-CN" dirty="0"/>
              <a:t>mean</a:t>
            </a:r>
            <a:r>
              <a:rPr lang="zh-CN" altLang="en-US" dirty="0"/>
              <a:t>（） 函数仅查找平均值或使用 </a:t>
            </a:r>
            <a:r>
              <a:rPr lang="en-US" altLang="zh-CN" dirty="0"/>
              <a:t>std</a:t>
            </a:r>
            <a:r>
              <a:rPr lang="zh-CN" altLang="en-US" dirty="0"/>
              <a:t>（） 函数仅查找标准差。如果要将 </a:t>
            </a:r>
            <a:r>
              <a:rPr lang="en-US" altLang="zh-CN" dirty="0"/>
              <a:t>mean</a:t>
            </a:r>
            <a:r>
              <a:rPr lang="zh-CN" altLang="en-US" dirty="0"/>
              <a:t>（） 和 </a:t>
            </a:r>
            <a:r>
              <a:rPr lang="en-US" altLang="zh-CN" dirty="0"/>
              <a:t>std</a:t>
            </a:r>
            <a:r>
              <a:rPr lang="zh-CN" altLang="en-US" dirty="0"/>
              <a:t>（） 函数捆绑在一起并一次使用它们，请使用 </a:t>
            </a:r>
            <a:r>
              <a:rPr lang="en-US" altLang="zh-CN" dirty="0" err="1"/>
              <a:t>agg</a:t>
            </a:r>
            <a:r>
              <a:rPr lang="zh-CN" altLang="en-US" dirty="0"/>
              <a:t>（） 函数，如第 </a:t>
            </a:r>
            <a:r>
              <a:rPr lang="en-US" altLang="zh-CN" dirty="0"/>
              <a:t>04 </a:t>
            </a:r>
            <a:r>
              <a:rPr lang="zh-CN" altLang="en-US" dirty="0"/>
              <a:t>行所示。</a:t>
            </a:r>
            <a:endParaRPr lang="en-US" altLang="ko-KR" sz="1200" dirty="0"/>
          </a:p>
        </p:txBody>
      </p:sp>
      <p:grpSp>
        <p:nvGrpSpPr>
          <p:cNvPr id="3" name="그룹 2"/>
          <p:cNvGrpSpPr/>
          <p:nvPr/>
        </p:nvGrpSpPr>
        <p:grpSpPr>
          <a:xfrm>
            <a:off x="6879734" y="1029130"/>
            <a:ext cx="6551612" cy="3960812"/>
            <a:chOff x="5749203" y="837938"/>
            <a:chExt cx="6551612" cy="3960812"/>
          </a:xfrm>
        </p:grpSpPr>
        <p:sp>
          <p:nvSpPr>
            <p:cNvPr id="5" name="직사각형 4"/>
            <p:cNvSpPr/>
            <p:nvPr/>
          </p:nvSpPr>
          <p:spPr>
            <a:xfrm>
              <a:off x="5884286" y="837938"/>
              <a:ext cx="4994275" cy="39608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8916" name="내용 개체 틀 2"/>
            <p:cNvSpPr txBox="1"/>
            <p:nvPr/>
          </p:nvSpPr>
          <p:spPr bwMode="auto">
            <a:xfrm>
              <a:off x="5749203" y="837938"/>
              <a:ext cx="6551612" cy="3673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/>
                <a:t>01 &gt;&gt;&gt; wine.</a:t>
              </a:r>
              <a:r>
                <a:rPr lang="es-ES" altLang="ko-KR" sz="1100" b="1" dirty="0"/>
                <a:t>groupby</a:t>
              </a:r>
              <a:r>
                <a:rPr lang="es-ES" altLang="ko-KR" sz="1100" dirty="0"/>
                <a:t>('type')['quality']</a:t>
              </a:r>
              <a:r>
                <a:rPr lang="es-ES" altLang="ko-KR" sz="1100" b="1" dirty="0"/>
                <a:t>.describe()</a:t>
              </a:r>
              <a:endParaRPr lang="es-ES" altLang="ko-KR" sz="1100" b="1" dirty="0"/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>
                  <a:solidFill>
                    <a:srgbClr val="258BCD"/>
                  </a:solidFill>
                </a:rPr>
                <a:t>               count      mean            std   min   25%   50%   75%   max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>
                  <a:solidFill>
                    <a:srgbClr val="258BCD"/>
                  </a:solidFill>
                </a:rPr>
                <a:t>    type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>
                  <a:solidFill>
                    <a:srgbClr val="258BCD"/>
                  </a:solidFill>
                </a:rPr>
                <a:t>    Red     1599.0    5.636023   0.807569  3.0    5.0     6.0    6.0     8.0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>
                  <a:solidFill>
                    <a:srgbClr val="258BCD"/>
                  </a:solidFill>
                </a:rPr>
                <a:t>    White  </a:t>
              </a:r>
              <a:r>
                <a:rPr lang="es-ES" altLang="ko-KR" sz="700" dirty="0">
                  <a:solidFill>
                    <a:srgbClr val="258BCD"/>
                  </a:solidFill>
                </a:rPr>
                <a:t> </a:t>
              </a:r>
              <a:r>
                <a:rPr lang="es-ES" altLang="ko-KR" sz="1100" dirty="0">
                  <a:solidFill>
                    <a:srgbClr val="258BCD"/>
                  </a:solidFill>
                </a:rPr>
                <a:t>4898.0    5.877909   0.885639  3.0    5.0     6.0    6.0     9.0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/>
                <a:t>02 &gt;&gt;&gt; wine.</a:t>
              </a:r>
              <a:r>
                <a:rPr lang="es-ES" altLang="ko-KR" sz="1100" b="1" dirty="0"/>
                <a:t>groupby</a:t>
              </a:r>
              <a:r>
                <a:rPr lang="es-ES" altLang="ko-KR" sz="1100" dirty="0"/>
                <a:t>('type')['quality'].</a:t>
              </a:r>
              <a:r>
                <a:rPr lang="es-ES" altLang="ko-KR" sz="1100" b="1" dirty="0"/>
                <a:t>mean()</a:t>
              </a:r>
              <a:endParaRPr lang="es-ES" altLang="ko-KR" sz="1100" b="1" dirty="0"/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>
                  <a:solidFill>
                    <a:srgbClr val="258BCD"/>
                  </a:solidFill>
                </a:rPr>
                <a:t>    type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>
                  <a:solidFill>
                    <a:srgbClr val="258BCD"/>
                  </a:solidFill>
                </a:rPr>
                <a:t>    red       </a:t>
              </a:r>
              <a:r>
                <a:rPr lang="es-ES" altLang="ko-KR" sz="900" dirty="0">
                  <a:solidFill>
                    <a:srgbClr val="258BCD"/>
                  </a:solidFill>
                </a:rPr>
                <a:t>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5.636023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>
                  <a:solidFill>
                    <a:srgbClr val="258BCD"/>
                  </a:solidFill>
                </a:rPr>
                <a:t>    white    </a:t>
              </a:r>
              <a:r>
                <a:rPr lang="es-ES" altLang="ko-KR" sz="1000" dirty="0">
                  <a:solidFill>
                    <a:srgbClr val="258BCD"/>
                  </a:solidFill>
                </a:rPr>
                <a:t>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5.877909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>
                  <a:solidFill>
                    <a:srgbClr val="258BCD"/>
                  </a:solidFill>
                </a:rPr>
                <a:t>    Name: quality, dtype: float64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/>
                <a:t>03 &gt;&gt;&gt; wine.</a:t>
              </a:r>
              <a:r>
                <a:rPr lang="es-ES" altLang="ko-KR" sz="1100" b="1" dirty="0"/>
                <a:t>groupby</a:t>
              </a:r>
              <a:r>
                <a:rPr lang="es-ES" altLang="ko-KR" sz="1100" dirty="0"/>
                <a:t>('type')['quality'].</a:t>
              </a:r>
              <a:r>
                <a:rPr lang="es-ES" altLang="ko-KR" sz="1100" b="1" dirty="0"/>
                <a:t>std()</a:t>
              </a:r>
              <a:endParaRPr lang="es-ES" altLang="ko-KR" sz="1100" b="1" dirty="0"/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>
                  <a:solidFill>
                    <a:srgbClr val="258BCD"/>
                  </a:solidFill>
                </a:rPr>
                <a:t>    type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>
                  <a:solidFill>
                    <a:srgbClr val="258BCD"/>
                  </a:solidFill>
                </a:rPr>
                <a:t>    red      </a:t>
              </a:r>
              <a:r>
                <a:rPr lang="es-ES" altLang="ko-KR" sz="900" dirty="0">
                  <a:solidFill>
                    <a:srgbClr val="258BCD"/>
                  </a:solidFill>
                </a:rPr>
                <a:t>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 0.807569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>
                  <a:solidFill>
                    <a:srgbClr val="258BCD"/>
                  </a:solidFill>
                </a:rPr>
                <a:t>    white </a:t>
              </a:r>
              <a:r>
                <a:rPr lang="es-ES" altLang="ko-KR" sz="1000" dirty="0">
                  <a:solidFill>
                    <a:srgbClr val="258BCD"/>
                  </a:solidFill>
                </a:rPr>
                <a:t>     </a:t>
              </a:r>
              <a:r>
                <a:rPr lang="es-ES" altLang="ko-KR" sz="800" dirty="0">
                  <a:solidFill>
                    <a:srgbClr val="258BCD"/>
                  </a:solidFill>
                </a:rPr>
                <a:t> </a:t>
              </a:r>
              <a:r>
                <a:rPr lang="es-ES" altLang="ko-KR" sz="1100" dirty="0">
                  <a:solidFill>
                    <a:srgbClr val="258BCD"/>
                  </a:solidFill>
                </a:rPr>
                <a:t>0.885639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>
                  <a:solidFill>
                    <a:srgbClr val="258BCD"/>
                  </a:solidFill>
                </a:rPr>
                <a:t>    Name: quality, dtype: float64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/>
                <a:t>04 &gt;&gt;&gt; wine.</a:t>
              </a:r>
              <a:r>
                <a:rPr lang="es-ES" altLang="ko-KR" sz="1100" b="1" dirty="0"/>
                <a:t>groupby</a:t>
              </a:r>
              <a:r>
                <a:rPr lang="es-ES" altLang="ko-KR" sz="1100" dirty="0"/>
                <a:t>('type')['quality']</a:t>
              </a:r>
              <a:r>
                <a:rPr lang="es-ES" altLang="ko-KR" sz="1100" b="1" dirty="0"/>
                <a:t>.agg</a:t>
              </a:r>
              <a:r>
                <a:rPr lang="es-ES" altLang="ko-KR" sz="1100" dirty="0"/>
                <a:t>(['mean', 'std'])</a:t>
              </a:r>
              <a:endParaRPr lang="es-ES" altLang="ko-KR" sz="1100" dirty="0"/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 dirty="0">
                  <a:solidFill>
                    <a:srgbClr val="258BCD"/>
                  </a:solidFill>
                </a:rPr>
                <a:t>               </a:t>
              </a:r>
              <a:r>
                <a:rPr lang="en-US" altLang="ko-KR" sz="1100" dirty="0">
                  <a:solidFill>
                    <a:srgbClr val="258BCD"/>
                  </a:solidFill>
                </a:rPr>
                <a:t>mean           std</a:t>
              </a:r>
              <a:endParaRPr lang="en-U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100" dirty="0">
                  <a:solidFill>
                    <a:srgbClr val="258BCD"/>
                  </a:solidFill>
                </a:rPr>
                <a:t>    type</a:t>
              </a:r>
              <a:endParaRPr lang="en-U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100" dirty="0">
                  <a:solidFill>
                    <a:srgbClr val="258BCD"/>
                  </a:solidFill>
                </a:rPr>
                <a:t>    red</a:t>
              </a:r>
              <a:r>
                <a:rPr lang="es-ES" altLang="ko-KR" sz="1100" dirty="0">
                  <a:solidFill>
                    <a:srgbClr val="258BCD"/>
                  </a:solidFill>
                </a:rPr>
                <a:t>     </a:t>
              </a:r>
              <a:r>
                <a:rPr lang="en-US" altLang="ko-KR" sz="1100" dirty="0">
                  <a:solidFill>
                    <a:srgbClr val="258BCD"/>
                  </a:solidFill>
                </a:rPr>
                <a:t>5.636023     0.807569</a:t>
              </a:r>
              <a:endParaRPr lang="en-U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100" dirty="0">
                  <a:solidFill>
                    <a:srgbClr val="258BCD"/>
                  </a:solidFill>
                </a:rPr>
                <a:t>    white  5.877909     0.885639</a:t>
              </a:r>
              <a:endParaRPr lang="es-ES" altLang="ko-KR" sz="1100" dirty="0">
                <a:solidFill>
                  <a:srgbClr val="258BCD"/>
                </a:solidFill>
              </a:endParaRPr>
            </a:p>
          </p:txBody>
        </p:sp>
      </p:grp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rcRect r="68579"/>
          <a:stretch>
            <a:fillRect/>
          </a:stretch>
        </p:blipFill>
        <p:spPr>
          <a:xfrm>
            <a:off x="508295" y="1029130"/>
            <a:ext cx="2629760" cy="529200"/>
          </a:xfrm>
          <a:prstGeom prst="rect">
            <a:avLst/>
          </a:prstGeom>
        </p:spPr>
      </p:pic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15936" y="1118444"/>
            <a:ext cx="2961410" cy="38903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6. </a:t>
            </a:r>
            <a:r>
              <a:rPr lang="ko-KR" altLang="en-US" sz="3600" dirty="0"/>
              <a:t>数据建模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모델링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en-US" altLang="ko-KR" dirty="0"/>
              <a:t>t-</a:t>
            </a:r>
            <a:r>
              <a:rPr lang="ko-KR" altLang="en-US" dirty="0"/>
              <a:t>검정과 회귀 분석으로 그룹 비교하기 </a:t>
            </a:r>
            <a:r>
              <a:rPr lang="zh-CN" altLang="en-US" dirty="0"/>
              <a:t>使用 </a:t>
            </a:r>
            <a:r>
              <a:rPr lang="en-US" altLang="zh-CN" dirty="0"/>
              <a:t>t </a:t>
            </a:r>
            <a:r>
              <a:rPr lang="zh-CN" altLang="en-US" dirty="0"/>
              <a:t>检验和回归分析比较组</a:t>
            </a:r>
            <a:endParaRPr lang="en-US" altLang="ko-KR" dirty="0"/>
          </a:p>
          <a:p>
            <a:pPr lvl="3">
              <a:defRPr/>
            </a:pPr>
            <a:r>
              <a:rPr lang="en-US" altLang="ko-KR" dirty="0"/>
              <a:t>t-</a:t>
            </a:r>
            <a:r>
              <a:rPr lang="ko-KR" altLang="en-US" dirty="0"/>
              <a:t>검정을 위해서는 </a:t>
            </a:r>
            <a:r>
              <a:rPr lang="en-US" altLang="ko-KR" dirty="0" err="1"/>
              <a:t>scipy</a:t>
            </a:r>
            <a:r>
              <a:rPr lang="en-US" altLang="ko-KR" dirty="0"/>
              <a:t> </a:t>
            </a:r>
            <a:r>
              <a:rPr lang="ko-KR" altLang="en-US" dirty="0"/>
              <a:t>라이브러리 패키지를 사용 </a:t>
            </a:r>
            <a:r>
              <a:rPr lang="zh-CN" altLang="en-US" dirty="0"/>
              <a:t>对于 </a:t>
            </a:r>
            <a:r>
              <a:rPr lang="en-US" altLang="zh-CN" dirty="0"/>
              <a:t>t </a:t>
            </a:r>
            <a:r>
              <a:rPr lang="zh-CN" altLang="en-US" dirty="0"/>
              <a:t>检验，请使用 </a:t>
            </a:r>
            <a:r>
              <a:rPr lang="en-US" altLang="zh-CN" dirty="0" err="1"/>
              <a:t>scipy</a:t>
            </a:r>
            <a:r>
              <a:rPr lang="en-US" altLang="zh-CN" dirty="0"/>
              <a:t> </a:t>
            </a:r>
            <a:r>
              <a:rPr lang="zh-CN" altLang="en-US" dirty="0"/>
              <a:t>库包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회귀 분석을 위해서는 </a:t>
            </a:r>
            <a:r>
              <a:rPr lang="en-US" altLang="ko-KR" dirty="0" err="1"/>
              <a:t>statsmodels</a:t>
            </a:r>
            <a:r>
              <a:rPr lang="en-US" altLang="ko-KR" dirty="0"/>
              <a:t> </a:t>
            </a:r>
            <a:r>
              <a:rPr lang="ko-KR" altLang="en-US" dirty="0"/>
              <a:t>라이브러리 패키지를 사용 对于回归分析，请使用 </a:t>
            </a:r>
            <a:r>
              <a:rPr lang="en-US" altLang="ko-KR" dirty="0" err="1"/>
              <a:t>statsmodels</a:t>
            </a:r>
            <a:r>
              <a:rPr lang="en-US" altLang="ko-KR" dirty="0"/>
              <a:t> </a:t>
            </a:r>
            <a:r>
              <a:rPr lang="ko-KR" altLang="en-US" dirty="0"/>
              <a:t>库包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명령 프롬프트 창에서 다음과 같이 입력하여 </a:t>
            </a:r>
            <a:r>
              <a:rPr lang="en-US" altLang="ko-KR" dirty="0" err="1"/>
              <a:t>statsmodels</a:t>
            </a:r>
            <a:r>
              <a:rPr lang="en-US" altLang="ko-KR" dirty="0"/>
              <a:t> </a:t>
            </a:r>
            <a:r>
              <a:rPr lang="ko-KR" altLang="en-US" dirty="0"/>
              <a:t>패키지 설치 </a:t>
            </a:r>
            <a:endParaRPr lang="en-US" altLang="ko-KR" dirty="0"/>
          </a:p>
          <a:p>
            <a:pPr marL="628650" lvl="3" indent="0">
              <a:buNone/>
              <a:defRPr/>
            </a:pPr>
            <a:r>
              <a:rPr lang="en-US" altLang="ko-KR" dirty="0"/>
              <a:t>   </a:t>
            </a:r>
            <a:r>
              <a:rPr lang="ko-KR" altLang="en-US" dirty="0"/>
              <a:t>在命令提示符窗口中，键入以下内容以安装 </a:t>
            </a:r>
            <a:r>
              <a:rPr lang="en-US" altLang="ko-KR" dirty="0" err="1"/>
              <a:t>statsmodels</a:t>
            </a:r>
            <a:r>
              <a:rPr lang="en-US" altLang="ko-KR" dirty="0"/>
              <a:t> </a:t>
            </a:r>
            <a:r>
              <a:rPr lang="ko-KR" altLang="en-US" dirty="0"/>
              <a:t>包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</p:txBody>
      </p:sp>
      <p:sp>
        <p:nvSpPr>
          <p:cNvPr id="40966" name="TextBox 3"/>
          <p:cNvSpPr txBox="1">
            <a:spLocks noChangeArrowheads="1"/>
          </p:cNvSpPr>
          <p:nvPr/>
        </p:nvSpPr>
        <p:spPr bwMode="auto">
          <a:xfrm>
            <a:off x="5657850" y="2973388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Blip>
                <a:blip r:embed="rId1"/>
              </a:buBlip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3600">
              <a:ea typeface="굴림" panose="020B0600000101010101" pitchFamily="50" charset="-127"/>
            </a:endParaRPr>
          </a:p>
        </p:txBody>
      </p:sp>
      <p:pic>
        <p:nvPicPr>
          <p:cNvPr id="40967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4229" y="2802581"/>
            <a:ext cx="360045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그룹 1"/>
          <p:cNvGrpSpPr/>
          <p:nvPr/>
        </p:nvGrpSpPr>
        <p:grpSpPr>
          <a:xfrm>
            <a:off x="1033802" y="3820815"/>
            <a:ext cx="6772275" cy="2776537"/>
            <a:chOff x="1033802" y="3779251"/>
            <a:chExt cx="6772275" cy="2776537"/>
          </a:xfrm>
        </p:grpSpPr>
        <p:sp>
          <p:nvSpPr>
            <p:cNvPr id="10" name="직사각형 9"/>
            <p:cNvSpPr/>
            <p:nvPr/>
          </p:nvSpPr>
          <p:spPr>
            <a:xfrm>
              <a:off x="1235415" y="3779251"/>
              <a:ext cx="6570662" cy="27765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0964" name="내용 개체 틀 2"/>
            <p:cNvSpPr txBox="1"/>
            <p:nvPr/>
          </p:nvSpPr>
          <p:spPr bwMode="auto">
            <a:xfrm>
              <a:off x="1033802" y="3796712"/>
              <a:ext cx="6629400" cy="203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01   &gt;&gt;&gt; </a:t>
              </a:r>
              <a:r>
                <a:rPr lang="es-ES" altLang="ko-KR" sz="1200" b="1" dirty="0"/>
                <a:t>from</a:t>
              </a:r>
              <a:r>
                <a:rPr lang="es-ES" altLang="ko-KR" sz="1200" dirty="0"/>
                <a:t> scipy </a:t>
              </a:r>
              <a:r>
                <a:rPr lang="es-ES" altLang="ko-KR" sz="1200" b="1" dirty="0"/>
                <a:t>import</a:t>
              </a:r>
              <a:r>
                <a:rPr lang="es-ES" altLang="ko-KR" sz="1200" dirty="0"/>
                <a:t> stats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02   &gt;&gt;&gt; </a:t>
              </a:r>
              <a:r>
                <a:rPr lang="es-ES" altLang="ko-KR" sz="1200" b="1" dirty="0"/>
                <a:t>from</a:t>
              </a:r>
              <a:r>
                <a:rPr lang="es-ES" altLang="ko-KR" sz="1200" dirty="0"/>
                <a:t> statsmodels.formula.api </a:t>
              </a:r>
              <a:r>
                <a:rPr lang="es-ES" altLang="ko-KR" sz="1200" b="1" dirty="0"/>
                <a:t>import</a:t>
              </a:r>
              <a:r>
                <a:rPr lang="es-ES" altLang="ko-KR" sz="1200" dirty="0"/>
                <a:t> ols, glm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03   &gt;&gt;&gt; red_wine_quality = wine</a:t>
              </a:r>
              <a:r>
                <a:rPr lang="es-ES" altLang="ko-KR" sz="1200" b="1" dirty="0"/>
                <a:t>.loc</a:t>
              </a:r>
              <a:r>
                <a:rPr lang="es-ES" altLang="ko-KR" sz="1200" dirty="0"/>
                <a:t>[wine['type'] == 'red', 'quality']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04   &gt;&gt;&gt; white_wine_quality = wine</a:t>
              </a:r>
              <a:r>
                <a:rPr lang="es-ES" altLang="ko-KR" sz="1200" b="1" dirty="0"/>
                <a:t>.loc</a:t>
              </a:r>
              <a:r>
                <a:rPr lang="es-ES" altLang="ko-KR" sz="1200" dirty="0"/>
                <a:t>[wine['type'] == 'white', 'quality']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05   &gt;&gt;&gt; </a:t>
              </a:r>
              <a:r>
                <a:rPr lang="es-ES" altLang="ko-KR" sz="1200" b="1" dirty="0"/>
                <a:t>stats.ttest_ind</a:t>
              </a:r>
              <a:r>
                <a:rPr lang="es-ES" altLang="ko-KR" sz="1200" dirty="0"/>
                <a:t>(red_wine_quality, white_wine_quality, equal_var = False)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  Ttest_indResult(statistic = -10.149363059143164, pvalue = 8.168348870049682e-24)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06   &gt;&gt;&gt; Rformula = 'quality ~ fixed_acidity + volatile_acidity + citric_acid + \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      residual_sugar + chlorides + free_sulfur_dioxide + total_sulfur_dioxide + \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      density + pH + sulphates + alcohol'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 dirty="0"/>
                <a:t>07</a:t>
              </a:r>
              <a:r>
                <a:rPr lang="es-ES" altLang="ko-KR" sz="1200" dirty="0"/>
                <a:t>   </a:t>
              </a:r>
              <a:r>
                <a:rPr lang="en-US" altLang="ko-KR" sz="1200" dirty="0"/>
                <a:t>&gt;&gt;&gt; </a:t>
              </a:r>
              <a:r>
                <a:rPr lang="en-US" altLang="ko-KR" sz="1200" dirty="0" err="1"/>
                <a:t>regression_result</a:t>
              </a:r>
              <a:r>
                <a:rPr lang="en-US" altLang="ko-KR" sz="1200" dirty="0"/>
                <a:t> = </a:t>
              </a:r>
              <a:r>
                <a:rPr lang="en-US" altLang="ko-KR" sz="1200" b="1" dirty="0" err="1"/>
                <a:t>ols</a:t>
              </a:r>
              <a:r>
                <a:rPr lang="en-US" altLang="ko-KR" sz="1200" b="1" dirty="0"/>
                <a:t>(</a:t>
              </a:r>
              <a:r>
                <a:rPr lang="en-US" altLang="ko-KR" sz="1200" dirty="0" err="1"/>
                <a:t>Rformula</a:t>
              </a:r>
              <a:r>
                <a:rPr lang="en-US" altLang="ko-KR" sz="1200" dirty="0"/>
                <a:t>, data = wine</a:t>
              </a:r>
              <a:r>
                <a:rPr lang="en-US" altLang="ko-KR" sz="1200" b="1" dirty="0"/>
                <a:t>).fit()</a:t>
              </a:r>
              <a:endParaRPr lang="en-US" altLang="ko-KR" sz="1200" b="1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 dirty="0"/>
                <a:t>08</a:t>
              </a:r>
              <a:r>
                <a:rPr lang="es-ES" altLang="ko-KR" sz="1200" dirty="0"/>
                <a:t>   </a:t>
              </a:r>
              <a:r>
                <a:rPr lang="en-US" altLang="ko-KR" sz="1200" dirty="0"/>
                <a:t>&gt;&gt;&gt; </a:t>
              </a:r>
              <a:r>
                <a:rPr lang="en-US" altLang="ko-KR" sz="1200" dirty="0" err="1"/>
                <a:t>regression_result</a:t>
              </a:r>
              <a:r>
                <a:rPr lang="en-US" altLang="ko-KR" sz="1200" b="1" dirty="0" err="1"/>
                <a:t>.summary</a:t>
              </a:r>
              <a:r>
                <a:rPr lang="en-US" altLang="ko-KR" sz="1200" b="1" dirty="0"/>
                <a:t>()</a:t>
              </a:r>
              <a:endParaRPr lang="en-US" altLang="ko-KR" sz="1200" b="1" dirty="0"/>
            </a:p>
            <a:p>
              <a:pPr lvl="1">
                <a:spcBef>
                  <a:spcPts val="10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endParaRPr lang="es-ES" altLang="ko-KR" sz="1200" dirty="0"/>
            </a:p>
          </p:txBody>
        </p:sp>
        <p:pic>
          <p:nvPicPr>
            <p:cNvPr id="40969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4202" y="6250987"/>
              <a:ext cx="14287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95" y="1029130"/>
            <a:ext cx="8369500" cy="529200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15936" y="1118444"/>
            <a:ext cx="2961410" cy="38903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6. </a:t>
            </a:r>
            <a:r>
              <a:rPr lang="ko-KR" altLang="en-US" sz="3600" dirty="0"/>
              <a:t>数据建模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모델링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en-US" altLang="ko-KR" dirty="0"/>
              <a:t>t-</a:t>
            </a:r>
            <a:r>
              <a:rPr lang="ko-KR" altLang="en-US" dirty="0"/>
              <a:t>검정과 회귀 분석으로 그룹 비교하기</a:t>
            </a:r>
            <a:endParaRPr lang="en-US" altLang="ko-KR" dirty="0"/>
          </a:p>
          <a:p>
            <a:pPr marL="266700" lvl="1" indent="0">
              <a:buNone/>
              <a:defRPr/>
            </a:pPr>
            <a:r>
              <a:rPr lang="en-US" altLang="ko-KR" dirty="0"/>
              <a:t>   </a:t>
            </a:r>
            <a:r>
              <a:rPr lang="zh-CN" altLang="en-US" dirty="0"/>
              <a:t>使用 </a:t>
            </a:r>
            <a:r>
              <a:rPr lang="en-US" altLang="zh-CN" dirty="0"/>
              <a:t>t </a:t>
            </a:r>
            <a:r>
              <a:rPr lang="zh-CN" altLang="en-US" dirty="0"/>
              <a:t>检验和回归分析比较组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295" y="1029130"/>
            <a:ext cx="8369500" cy="529200"/>
          </a:xfrm>
          <a:prstGeom prst="rect">
            <a:avLst/>
          </a:prstGeom>
        </p:spPr>
      </p:pic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38163" y="115888"/>
            <a:ext cx="11161712" cy="620712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6309359" y="40493"/>
            <a:ext cx="5364000" cy="6768000"/>
            <a:chOff x="6309359" y="40493"/>
            <a:chExt cx="5364000" cy="6768000"/>
          </a:xfrm>
        </p:grpSpPr>
        <p:grpSp>
          <p:nvGrpSpPr>
            <p:cNvPr id="6" name="그룹 5"/>
            <p:cNvGrpSpPr/>
            <p:nvPr/>
          </p:nvGrpSpPr>
          <p:grpSpPr>
            <a:xfrm>
              <a:off x="6309359" y="40493"/>
              <a:ext cx="5364000" cy="6768000"/>
              <a:chOff x="2097503" y="548640"/>
              <a:chExt cx="4892856" cy="6231569"/>
            </a:xfrm>
          </p:grpSpPr>
          <p:pic>
            <p:nvPicPr>
              <p:cNvPr id="3" name="그림 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97503" y="548640"/>
                <a:ext cx="4727246" cy="2322988"/>
              </a:xfrm>
              <a:prstGeom prst="rect">
                <a:avLst/>
              </a:prstGeom>
            </p:spPr>
          </p:pic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2272958" y="2549031"/>
                <a:ext cx="4717401" cy="4231178"/>
              </a:xfrm>
              <a:prstGeom prst="rect">
                <a:avLst/>
              </a:prstGeom>
            </p:spPr>
          </p:pic>
        </p:grpSp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68079" y="2210141"/>
              <a:ext cx="653069" cy="288000"/>
            </a:xfrm>
            <a:prstGeom prst="rect">
              <a:avLst/>
            </a:prstGeom>
          </p:spPr>
        </p:pic>
      </p:grpSp>
      <p:sp>
        <p:nvSpPr>
          <p:cNvPr id="10" name="TextBox 9"/>
          <p:cNvSpPr txBox="1"/>
          <p:nvPr/>
        </p:nvSpPr>
        <p:spPr>
          <a:xfrm>
            <a:off x="2815936" y="1118444"/>
            <a:ext cx="2961410" cy="38903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6. </a:t>
            </a:r>
            <a:r>
              <a:rPr lang="ko-KR" altLang="en-US" sz="3600" dirty="0"/>
              <a:t>数据建模</a:t>
            </a:r>
            <a:endParaRPr lang="ko-KR" altLang="en-US" sz="3600" dirty="0"/>
          </a:p>
        </p:txBody>
      </p:sp>
      <p:sp>
        <p:nvSpPr>
          <p:cNvPr id="13" name="TextBox 12"/>
          <p:cNvSpPr txBox="1"/>
          <p:nvPr/>
        </p:nvSpPr>
        <p:spPr>
          <a:xfrm>
            <a:off x="6174395" y="771685"/>
            <a:ext cx="654628" cy="32211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32500" lnSpcReduction="20000"/>
          </a:bodyPr>
          <a:lstStyle/>
          <a:p>
            <a:r>
              <a:rPr lang="ko-KR" altLang="en-US" sz="3600" dirty="0"/>
              <a:t>因变量</a:t>
            </a:r>
            <a:endParaRPr lang="ko-KR" altLang="en-US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5723719" y="986732"/>
            <a:ext cx="901352" cy="2843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25000" lnSpcReduction="20000"/>
          </a:bodyPr>
          <a:lstStyle/>
          <a:p>
            <a:r>
              <a:rPr lang="zh-CN" altLang="en-US" sz="3600" dirty="0"/>
              <a:t>回归模型类型</a:t>
            </a:r>
            <a:endParaRPr lang="ko-KR" altLang="en-US" sz="3600" dirty="0"/>
          </a:p>
        </p:txBody>
      </p:sp>
      <p:sp>
        <p:nvSpPr>
          <p:cNvPr id="15" name="TextBox 14"/>
          <p:cNvSpPr txBox="1"/>
          <p:nvPr/>
        </p:nvSpPr>
        <p:spPr>
          <a:xfrm>
            <a:off x="5763348" y="1103831"/>
            <a:ext cx="952501" cy="33442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25000" lnSpcReduction="20000"/>
          </a:bodyPr>
          <a:lstStyle/>
          <a:p>
            <a:r>
              <a:rPr lang="zh-CN" altLang="en-US" sz="3600" dirty="0"/>
              <a:t>回归分析函数</a:t>
            </a:r>
            <a:endParaRPr lang="ko-KR" altLang="en-US" sz="3600" dirty="0"/>
          </a:p>
        </p:txBody>
      </p:sp>
      <p:sp>
        <p:nvSpPr>
          <p:cNvPr id="16" name="TextBox 15"/>
          <p:cNvSpPr txBox="1"/>
          <p:nvPr/>
        </p:nvSpPr>
        <p:spPr>
          <a:xfrm>
            <a:off x="5266573" y="1435148"/>
            <a:ext cx="1291473" cy="31046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25000" lnSpcReduction="20000"/>
          </a:bodyPr>
          <a:lstStyle/>
          <a:p>
            <a:r>
              <a:rPr lang="zh-CN" altLang="en-US" sz="3600" dirty="0"/>
              <a:t>执行回归分析的时间</a:t>
            </a:r>
            <a:endParaRPr lang="ko-KR" altLang="en-US" sz="3600" dirty="0"/>
          </a:p>
        </p:txBody>
      </p:sp>
      <p:sp>
        <p:nvSpPr>
          <p:cNvPr id="17" name="TextBox 16"/>
          <p:cNvSpPr txBox="1"/>
          <p:nvPr/>
        </p:nvSpPr>
        <p:spPr>
          <a:xfrm>
            <a:off x="7394682" y="1540395"/>
            <a:ext cx="1402955" cy="31046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32500" lnSpcReduction="20000"/>
          </a:bodyPr>
          <a:lstStyle/>
          <a:p>
            <a:r>
              <a:rPr lang="zh-CN" altLang="en-US" sz="3600" dirty="0"/>
              <a:t>样本数：样本总数</a:t>
            </a:r>
            <a:endParaRPr lang="ko-KR" altLang="en-US" sz="3600" dirty="0"/>
          </a:p>
        </p:txBody>
      </p:sp>
      <p:sp>
        <p:nvSpPr>
          <p:cNvPr id="18" name="TextBox 17"/>
          <p:cNvSpPr txBox="1"/>
          <p:nvPr/>
        </p:nvSpPr>
        <p:spPr>
          <a:xfrm>
            <a:off x="4165485" y="3267941"/>
            <a:ext cx="2336223" cy="60786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lnSpcReduction="10000"/>
          </a:bodyPr>
          <a:lstStyle/>
          <a:p>
            <a:endParaRPr lang="ko-KR" altLang="en-US" sz="3600" dirty="0"/>
          </a:p>
        </p:txBody>
      </p:sp>
      <p:sp>
        <p:nvSpPr>
          <p:cNvPr id="19" name="TextBox 18"/>
          <p:cNvSpPr txBox="1"/>
          <p:nvPr/>
        </p:nvSpPr>
        <p:spPr>
          <a:xfrm>
            <a:off x="4640805" y="1810457"/>
            <a:ext cx="1917241" cy="44847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25000" lnSpcReduction="20000"/>
          </a:bodyPr>
          <a:lstStyle/>
          <a:p>
            <a:r>
              <a:rPr lang="zh-CN" altLang="en-US" sz="3600" dirty="0"/>
              <a:t>残差自由度：
总样本量 </a:t>
            </a:r>
            <a:r>
              <a:rPr lang="en-US" altLang="zh-CN" sz="3600" dirty="0"/>
              <a:t>- </a:t>
            </a:r>
            <a:r>
              <a:rPr lang="zh-CN" altLang="en-US" sz="3600" dirty="0"/>
              <a:t>因变量数 </a:t>
            </a:r>
            <a:r>
              <a:rPr lang="en-US" altLang="zh-CN" sz="3600" dirty="0"/>
              <a:t>- </a:t>
            </a:r>
            <a:r>
              <a:rPr lang="zh-CN" altLang="en-US" sz="3600" dirty="0"/>
              <a:t>自变量数</a:t>
            </a:r>
            <a:endParaRPr lang="ko-KR" altLang="en-US" sz="3600" dirty="0"/>
          </a:p>
        </p:txBody>
      </p:sp>
      <p:sp>
        <p:nvSpPr>
          <p:cNvPr id="20" name="TextBox 19"/>
          <p:cNvSpPr txBox="1"/>
          <p:nvPr/>
        </p:nvSpPr>
        <p:spPr>
          <a:xfrm>
            <a:off x="5639263" y="2258928"/>
            <a:ext cx="1070264" cy="29692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25000" lnSpcReduction="20000"/>
          </a:bodyPr>
          <a:lstStyle/>
          <a:p>
            <a:r>
              <a:rPr lang="zh-CN" altLang="en-US" sz="3600" dirty="0"/>
              <a:t>模型自由：
自变量计数</a:t>
            </a:r>
            <a:endParaRPr lang="ko-KR" altLang="en-US" sz="3600" dirty="0"/>
          </a:p>
        </p:txBody>
      </p:sp>
      <p:sp>
        <p:nvSpPr>
          <p:cNvPr id="21" name="TextBox 20"/>
          <p:cNvSpPr txBox="1"/>
          <p:nvPr/>
        </p:nvSpPr>
        <p:spPr>
          <a:xfrm>
            <a:off x="10655990" y="553742"/>
            <a:ext cx="1536010" cy="3957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32500" lnSpcReduction="20000"/>
          </a:bodyPr>
          <a:lstStyle/>
          <a:p>
            <a:r>
              <a:rPr lang="zh-CN" altLang="en-US" sz="3600" dirty="0"/>
              <a:t>晶体系数：
模型的解释力</a:t>
            </a:r>
            <a:endParaRPr lang="ko-KR" altLang="en-US" sz="3600" dirty="0"/>
          </a:p>
        </p:txBody>
      </p:sp>
      <p:sp>
        <p:nvSpPr>
          <p:cNvPr id="22" name="TextBox 21"/>
          <p:cNvSpPr txBox="1"/>
          <p:nvPr/>
        </p:nvSpPr>
        <p:spPr>
          <a:xfrm>
            <a:off x="11312469" y="1117905"/>
            <a:ext cx="946218" cy="4404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32500" lnSpcReduction="20000"/>
          </a:bodyPr>
          <a:lstStyle/>
          <a:p>
            <a:r>
              <a:rPr lang="zh-CN" altLang="en-US" sz="3600" dirty="0"/>
              <a:t>整个模型的统计显著性</a:t>
            </a:r>
            <a:endParaRPr lang="ko-KR" altLang="en-US" sz="3600" dirty="0"/>
          </a:p>
        </p:txBody>
      </p:sp>
      <p:sp>
        <p:nvSpPr>
          <p:cNvPr id="23" name="TextBox 22"/>
          <p:cNvSpPr txBox="1"/>
          <p:nvPr/>
        </p:nvSpPr>
        <p:spPr>
          <a:xfrm>
            <a:off x="11035698" y="1920553"/>
            <a:ext cx="1041744" cy="3512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25000" lnSpcReduction="20000"/>
          </a:bodyPr>
          <a:lstStyle/>
          <a:p>
            <a:r>
              <a:rPr lang="zh-CN" altLang="en-US" sz="3600" dirty="0"/>
              <a:t>模型评估指标</a:t>
            </a:r>
            <a:endParaRPr lang="ko-KR" altLang="en-US" sz="3600" dirty="0"/>
          </a:p>
        </p:txBody>
      </p:sp>
      <p:sp>
        <p:nvSpPr>
          <p:cNvPr id="24" name="TextBox 23"/>
          <p:cNvSpPr txBox="1"/>
          <p:nvPr/>
        </p:nvSpPr>
        <p:spPr>
          <a:xfrm>
            <a:off x="7481454" y="4936471"/>
            <a:ext cx="1496291" cy="2929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25000" lnSpcReduction="20000"/>
          </a:bodyPr>
          <a:lstStyle/>
          <a:p>
            <a:r>
              <a:rPr lang="zh-CN" altLang="en-US" sz="3600" dirty="0"/>
              <a:t>正常可分发的测试指示器</a:t>
            </a:r>
            <a:endParaRPr lang="ko-KR" altLang="en-US" sz="3600" dirty="0"/>
          </a:p>
        </p:txBody>
      </p:sp>
      <p:sp>
        <p:nvSpPr>
          <p:cNvPr id="25" name="TextBox 24"/>
          <p:cNvSpPr txBox="1"/>
          <p:nvPr/>
        </p:nvSpPr>
        <p:spPr>
          <a:xfrm>
            <a:off x="10611253" y="5568705"/>
            <a:ext cx="1580747" cy="4205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32500" lnSpcReduction="20000"/>
          </a:bodyPr>
          <a:lstStyle/>
          <a:p>
            <a:r>
              <a:rPr lang="zh-CN" altLang="en-US" sz="3600" dirty="0"/>
              <a:t>回归矩阵中的条件数：
多重共线性指示器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 dirty="0"/>
              <a:t>데이터 모델링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en-US" altLang="ko-KR" dirty="0"/>
              <a:t>t-</a:t>
            </a:r>
            <a:r>
              <a:rPr lang="ko-KR" altLang="en-US" dirty="0"/>
              <a:t>검정과 회귀 분석으로 그룹 비교하기 </a:t>
            </a:r>
            <a:r>
              <a:rPr lang="zh-CN" altLang="en-US" dirty="0"/>
              <a:t>使用 </a:t>
            </a:r>
            <a:r>
              <a:rPr lang="en-US" altLang="zh-CN" dirty="0"/>
              <a:t>t </a:t>
            </a:r>
            <a:r>
              <a:rPr lang="zh-CN" altLang="en-US" dirty="0"/>
              <a:t>检验和回归分析比较组</a:t>
            </a:r>
            <a:endParaRPr lang="en-US" altLang="ko-KR" dirty="0"/>
          </a:p>
          <a:p>
            <a:pPr lvl="2">
              <a:defRPr/>
            </a:pPr>
            <a:r>
              <a:rPr lang="en-US" altLang="ko-KR" sz="1400" dirty="0"/>
              <a:t>01~02</a:t>
            </a:r>
            <a:r>
              <a:rPr lang="ko-KR" altLang="en-US" sz="1400" dirty="0"/>
              <a:t>행  </a:t>
            </a:r>
            <a:r>
              <a:rPr lang="en-US" altLang="ko-KR" dirty="0"/>
              <a:t>01~02</a:t>
            </a:r>
            <a:r>
              <a:rPr lang="ko-KR" altLang="en-US" dirty="0"/>
              <a:t>行</a:t>
            </a:r>
            <a:endParaRPr lang="en-US" altLang="ko-KR" sz="1400" dirty="0"/>
          </a:p>
          <a:p>
            <a:pPr lvl="3">
              <a:defRPr/>
            </a:pPr>
            <a:r>
              <a:rPr lang="en-US" altLang="ko-KR" sz="1200" dirty="0"/>
              <a:t>t-</a:t>
            </a:r>
            <a:r>
              <a:rPr lang="ko-KR" altLang="en-US" sz="1200" dirty="0"/>
              <a:t>검정에 필요한 </a:t>
            </a:r>
            <a:r>
              <a:rPr lang="en-US" altLang="ko-KR" sz="1200" dirty="0" err="1"/>
              <a:t>scipy</a:t>
            </a:r>
            <a:r>
              <a:rPr lang="en-US" altLang="ko-KR" sz="1200" dirty="0"/>
              <a:t> </a:t>
            </a:r>
            <a:r>
              <a:rPr lang="ko-KR" altLang="en-US" sz="1200" dirty="0"/>
              <a:t>패키지의 </a:t>
            </a:r>
            <a:r>
              <a:rPr lang="en-US" altLang="ko-KR" sz="1200" dirty="0"/>
              <a:t>stats </a:t>
            </a:r>
            <a:r>
              <a:rPr lang="ko-KR" altLang="en-US" sz="1200" dirty="0"/>
              <a:t>함수와 회귀 분석에 필요한 </a:t>
            </a:r>
            <a:r>
              <a:rPr lang="en-US" altLang="ko-KR" sz="1200" dirty="0" err="1"/>
              <a:t>statsmodels.formula.api</a:t>
            </a:r>
            <a:r>
              <a:rPr lang="en-US" altLang="ko-KR" sz="1200" dirty="0"/>
              <a:t> </a:t>
            </a:r>
            <a:r>
              <a:rPr lang="ko-KR" altLang="en-US" sz="1200" dirty="0"/>
              <a:t>패키지의 </a:t>
            </a:r>
            <a:r>
              <a:rPr lang="en-US" altLang="ko-KR" sz="1200" dirty="0" err="1"/>
              <a:t>ols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glm</a:t>
            </a:r>
            <a:r>
              <a:rPr lang="en-US" altLang="ko-KR" sz="1200" dirty="0"/>
              <a:t> </a:t>
            </a:r>
            <a:r>
              <a:rPr lang="ko-KR" altLang="en-US" sz="1200" dirty="0"/>
              <a:t>함수를 로드</a:t>
            </a:r>
            <a:endParaRPr lang="en-US" altLang="ko-KR" sz="1200" dirty="0"/>
          </a:p>
          <a:p>
            <a:pPr lvl="3">
              <a:defRPr/>
            </a:pPr>
            <a:r>
              <a:rPr lang="ko-KR" altLang="en-US" dirty="0"/>
              <a:t>加载 </a:t>
            </a:r>
            <a:r>
              <a:rPr lang="en-US" altLang="ko-KR" dirty="0"/>
              <a:t>t </a:t>
            </a:r>
            <a:r>
              <a:rPr lang="ko-KR" altLang="en-US" dirty="0"/>
              <a:t>检验所需的 </a:t>
            </a:r>
            <a:r>
              <a:rPr lang="en-US" altLang="ko-KR" dirty="0" err="1"/>
              <a:t>scipy</a:t>
            </a:r>
            <a:r>
              <a:rPr lang="en-US" altLang="ko-KR" dirty="0"/>
              <a:t> </a:t>
            </a:r>
            <a:r>
              <a:rPr lang="ko-KR" altLang="en-US" dirty="0"/>
              <a:t>包的 </a:t>
            </a:r>
            <a:r>
              <a:rPr lang="en-US" altLang="ko-KR" dirty="0"/>
              <a:t>stats </a:t>
            </a:r>
            <a:r>
              <a:rPr lang="ko-KR" altLang="en-US" dirty="0"/>
              <a:t>函数以及回归分析所需的 </a:t>
            </a:r>
            <a:r>
              <a:rPr lang="en-US" altLang="ko-KR" dirty="0" err="1"/>
              <a:t>statsmodels.formula.api</a:t>
            </a:r>
            <a:r>
              <a:rPr lang="en-US" altLang="ko-KR" dirty="0"/>
              <a:t> </a:t>
            </a:r>
            <a:r>
              <a:rPr lang="ko-KR" altLang="en-US" dirty="0"/>
              <a:t>包的 </a:t>
            </a:r>
            <a:r>
              <a:rPr lang="en-US" altLang="ko-KR" dirty="0" err="1"/>
              <a:t>ols</a:t>
            </a:r>
            <a:r>
              <a:rPr lang="en-US" altLang="ko-KR" dirty="0"/>
              <a:t> </a:t>
            </a:r>
            <a:r>
              <a:rPr lang="ko-KR" altLang="en-US" dirty="0"/>
              <a:t>和 </a:t>
            </a:r>
            <a:r>
              <a:rPr lang="en-US" altLang="ko-KR" dirty="0" err="1"/>
              <a:t>glm</a:t>
            </a:r>
            <a:r>
              <a:rPr lang="en-US" altLang="ko-KR" dirty="0"/>
              <a:t> </a:t>
            </a:r>
            <a:r>
              <a:rPr lang="ko-KR" altLang="en-US" dirty="0"/>
              <a:t>函数</a:t>
            </a:r>
            <a:endParaRPr lang="en-US" altLang="ko-KR" sz="1200" dirty="0"/>
          </a:p>
          <a:p>
            <a:pPr lvl="3">
              <a:defRPr/>
            </a:pPr>
            <a:endParaRPr lang="en-US" altLang="ko-KR" sz="300" dirty="0"/>
          </a:p>
          <a:p>
            <a:pPr lvl="2">
              <a:defRPr/>
            </a:pPr>
            <a:r>
              <a:rPr lang="en-US" altLang="ko-KR" sz="1400" dirty="0"/>
              <a:t>[03~04</a:t>
            </a:r>
            <a:r>
              <a:rPr lang="ko-KR" altLang="en-US" sz="1400" dirty="0"/>
              <a:t>행</a:t>
            </a:r>
            <a:r>
              <a:rPr lang="en-US" altLang="ko-KR" sz="1400" dirty="0"/>
              <a:t>] </a:t>
            </a:r>
            <a:r>
              <a:rPr lang="ko-KR" altLang="en-US" sz="1400" dirty="0"/>
              <a:t>그룹 분리하기 </a:t>
            </a:r>
            <a:r>
              <a:rPr lang="en-US" altLang="ko-KR" dirty="0"/>
              <a:t>[03~04</a:t>
            </a:r>
            <a:r>
              <a:rPr lang="ko-KR" altLang="en-US" dirty="0"/>
              <a:t>行</a:t>
            </a:r>
            <a:r>
              <a:rPr lang="en-US" altLang="ko-KR" dirty="0"/>
              <a:t>] </a:t>
            </a:r>
            <a:r>
              <a:rPr lang="ko-KR" altLang="en-US" dirty="0"/>
              <a:t>分组</a:t>
            </a:r>
            <a:endParaRPr lang="ko-KR" altLang="en-US" sz="1400" dirty="0"/>
          </a:p>
          <a:p>
            <a:pPr lvl="3">
              <a:defRPr/>
            </a:pPr>
            <a:r>
              <a:rPr lang="en-US" altLang="ko-KR" sz="1200" dirty="0"/>
              <a:t>03</a:t>
            </a:r>
            <a:r>
              <a:rPr lang="ko-KR" altLang="en-US" sz="1200" dirty="0"/>
              <a:t>행 레드 와인 샘플의 </a:t>
            </a:r>
            <a:r>
              <a:rPr lang="en-US" altLang="ko-KR" sz="1200" dirty="0"/>
              <a:t>quality </a:t>
            </a:r>
            <a:r>
              <a:rPr lang="ko-KR" altLang="en-US" sz="1200" dirty="0"/>
              <a:t>값만 찾아서 </a:t>
            </a:r>
            <a:r>
              <a:rPr lang="en-US" altLang="ko-KR" sz="1200" dirty="0" err="1"/>
              <a:t>red_wine</a:t>
            </a:r>
            <a:r>
              <a:rPr lang="ko-KR" altLang="en-US" sz="1200" dirty="0"/>
              <a:t>에 저장 仅查找第</a:t>
            </a:r>
            <a:r>
              <a:rPr lang="en-US" altLang="ko-KR" sz="1200" dirty="0"/>
              <a:t>03</a:t>
            </a:r>
            <a:r>
              <a:rPr lang="ko-KR" altLang="en-US" sz="1200" dirty="0"/>
              <a:t>行红葡萄酒样本的</a:t>
            </a:r>
            <a:r>
              <a:rPr lang="en-US" altLang="ko-KR" sz="1200" dirty="0"/>
              <a:t>quality</a:t>
            </a:r>
            <a:r>
              <a:rPr lang="ko-KR" altLang="en-US" sz="1200" dirty="0"/>
              <a:t>值并存储至</a:t>
            </a:r>
            <a:r>
              <a:rPr lang="en-US" altLang="ko-KR" sz="1200" dirty="0" err="1"/>
              <a:t>red_wine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04</a:t>
            </a:r>
            <a:r>
              <a:rPr lang="ko-KR" altLang="en-US" sz="1200" dirty="0"/>
              <a:t>행 화이트 와인 샘플의 </a:t>
            </a:r>
            <a:r>
              <a:rPr lang="en-US" altLang="ko-KR" sz="1200" dirty="0"/>
              <a:t>quality </a:t>
            </a:r>
            <a:r>
              <a:rPr lang="ko-KR" altLang="en-US" sz="1200" dirty="0"/>
              <a:t>값만 찾아서 </a:t>
            </a:r>
            <a:r>
              <a:rPr lang="en-US" altLang="ko-KR" sz="1200" dirty="0" err="1"/>
              <a:t>white_wine</a:t>
            </a:r>
            <a:r>
              <a:rPr lang="ko-KR" altLang="en-US" sz="1200" dirty="0"/>
              <a:t>에 저장</a:t>
            </a:r>
            <a:r>
              <a:rPr lang="en-US" altLang="ko-KR" sz="1200" dirty="0"/>
              <a:t>  </a:t>
            </a:r>
            <a:r>
              <a:rPr lang="ko-KR" altLang="en-US" dirty="0"/>
              <a:t>第 </a:t>
            </a:r>
            <a:r>
              <a:rPr lang="en-US" altLang="ko-KR" dirty="0"/>
              <a:t>04 </a:t>
            </a:r>
            <a:r>
              <a:rPr lang="ko-KR" altLang="en-US" dirty="0"/>
              <a:t>行 仅查找白葡萄酒样品的质量值并将其保存到</a:t>
            </a:r>
            <a:r>
              <a:rPr lang="en-US" altLang="ko-KR" dirty="0" err="1"/>
              <a:t>white_wine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05</a:t>
            </a:r>
            <a:r>
              <a:rPr lang="ko-KR" altLang="en-US" sz="1200" dirty="0"/>
              <a:t>행 </a:t>
            </a:r>
            <a:r>
              <a:rPr lang="en-US" altLang="ko-KR" sz="1200" dirty="0" err="1"/>
              <a:t>scipy</a:t>
            </a:r>
            <a:r>
              <a:rPr lang="en-US" altLang="ko-KR" sz="1200" dirty="0"/>
              <a:t> </a:t>
            </a:r>
            <a:r>
              <a:rPr lang="ko-KR" altLang="en-US" sz="1200" dirty="0"/>
              <a:t>패키지의 </a:t>
            </a:r>
            <a:r>
              <a:rPr lang="en-US" altLang="ko-KR" sz="1200" dirty="0" err="1"/>
              <a:t>stats.ttest_ind</a:t>
            </a:r>
            <a:r>
              <a:rPr lang="en-US" altLang="ko-KR" sz="1200" dirty="0"/>
              <a:t>() </a:t>
            </a:r>
            <a:r>
              <a:rPr lang="ko-KR" altLang="en-US" sz="1200" dirty="0"/>
              <a:t>함수를 사용하여 </a:t>
            </a:r>
            <a:r>
              <a:rPr lang="en-US" altLang="ko-KR" sz="1200" dirty="0"/>
              <a:t>t-</a:t>
            </a:r>
            <a:r>
              <a:rPr lang="ko-KR" altLang="en-US" sz="1200" dirty="0"/>
              <a:t>검정을 하고 두 그룹 간 차이를 확인 </a:t>
            </a:r>
            <a:r>
              <a:rPr lang="en-US" altLang="ko-KR" dirty="0"/>
              <a:t>05 </a:t>
            </a:r>
            <a:r>
              <a:rPr lang="ko-KR" altLang="en-US" dirty="0"/>
              <a:t>使用 </a:t>
            </a:r>
            <a:r>
              <a:rPr lang="en-US" altLang="ko-KR" dirty="0" err="1"/>
              <a:t>scipy</a:t>
            </a:r>
            <a:r>
              <a:rPr lang="en-US" altLang="ko-KR" dirty="0"/>
              <a:t> </a:t>
            </a:r>
            <a:r>
              <a:rPr lang="ko-KR" altLang="en-US" dirty="0"/>
              <a:t>包的 </a:t>
            </a:r>
            <a:r>
              <a:rPr lang="en-US" altLang="ko-KR" dirty="0" err="1"/>
              <a:t>stats.ttest_ind</a:t>
            </a:r>
            <a:r>
              <a:rPr lang="ko-KR" altLang="en-US" dirty="0"/>
              <a:t>（） 函数做 </a:t>
            </a:r>
            <a:r>
              <a:rPr lang="en-US" altLang="ko-KR" dirty="0"/>
              <a:t>t </a:t>
            </a:r>
            <a:r>
              <a:rPr lang="ko-KR" altLang="en-US" dirty="0"/>
              <a:t>检验，检查两组之间的差异</a:t>
            </a:r>
            <a:endParaRPr lang="en-US" altLang="ko-KR" sz="1200" dirty="0"/>
          </a:p>
          <a:p>
            <a:pPr lvl="3">
              <a:defRPr/>
            </a:pPr>
            <a:endParaRPr lang="en-US" altLang="ko-KR" sz="300" dirty="0"/>
          </a:p>
          <a:p>
            <a:pPr lvl="2">
              <a:defRPr/>
            </a:pPr>
            <a:r>
              <a:rPr lang="en-US" altLang="ko-KR" sz="1400" dirty="0"/>
              <a:t>[06~08</a:t>
            </a:r>
            <a:r>
              <a:rPr lang="ko-KR" altLang="en-US" sz="1400" dirty="0"/>
              <a:t>행</a:t>
            </a:r>
            <a:r>
              <a:rPr lang="en-US" altLang="ko-KR" sz="1400" dirty="0"/>
              <a:t>] </a:t>
            </a:r>
            <a:r>
              <a:rPr lang="ko-KR" altLang="en-US" sz="1400" dirty="0"/>
              <a:t>선형 회귀 분석 수행하기 </a:t>
            </a:r>
            <a:r>
              <a:rPr lang="en-US" altLang="zh-CN" dirty="0"/>
              <a:t>[</a:t>
            </a:r>
            <a:r>
              <a:rPr lang="zh-CN" altLang="en-US" dirty="0"/>
              <a:t>第 </a:t>
            </a:r>
            <a:r>
              <a:rPr lang="en-US" altLang="zh-CN" dirty="0"/>
              <a:t>06~08 </a:t>
            </a:r>
            <a:r>
              <a:rPr lang="zh-CN" altLang="en-US" dirty="0"/>
              <a:t>行</a:t>
            </a:r>
            <a:r>
              <a:rPr lang="en-US" altLang="zh-CN" dirty="0"/>
              <a:t>] </a:t>
            </a:r>
            <a:r>
              <a:rPr lang="zh-CN" altLang="en-US" dirty="0"/>
              <a:t>执行线性回归分析</a:t>
            </a:r>
            <a:endParaRPr lang="ko-KR" altLang="en-US" sz="1400" dirty="0"/>
          </a:p>
          <a:p>
            <a:pPr lvl="3">
              <a:defRPr/>
            </a:pPr>
            <a:r>
              <a:rPr lang="en-US" altLang="ko-KR" sz="1200" dirty="0"/>
              <a:t>06</a:t>
            </a:r>
            <a:r>
              <a:rPr lang="ko-KR" altLang="en-US" sz="1200" dirty="0"/>
              <a:t>행 선형 회귀 </a:t>
            </a:r>
            <a:r>
              <a:rPr lang="ko-KR" altLang="en-US" sz="1200" dirty="0" err="1"/>
              <a:t>분석식의</a:t>
            </a:r>
            <a:r>
              <a:rPr lang="ko-KR" altLang="en-US" sz="1200" dirty="0"/>
              <a:t> 종속 변수</a:t>
            </a:r>
            <a:r>
              <a:rPr lang="en-US" altLang="ko-KR" sz="1200" dirty="0"/>
              <a:t>(y)</a:t>
            </a:r>
            <a:r>
              <a:rPr lang="ko-KR" altLang="en-US" sz="1200" dirty="0"/>
              <a:t>와 독립 변수</a:t>
            </a:r>
            <a:r>
              <a:rPr lang="en-US" altLang="ko-KR" sz="1200" dirty="0"/>
              <a:t>(x</a:t>
            </a:r>
            <a:r>
              <a:rPr lang="en-US" altLang="ko-KR" sz="1200" baseline="-25000" dirty="0"/>
              <a:t>1</a:t>
            </a:r>
            <a:r>
              <a:rPr lang="en-US" altLang="ko-KR" sz="1200" dirty="0"/>
              <a:t>~x</a:t>
            </a:r>
            <a:r>
              <a:rPr lang="en-US" altLang="ko-KR" sz="1200" baseline="-25000" dirty="0"/>
              <a:t>10</a:t>
            </a:r>
            <a:r>
              <a:rPr lang="en-US" altLang="ko-KR" sz="1200" dirty="0"/>
              <a:t>)</a:t>
            </a:r>
            <a:r>
              <a:rPr lang="ko-KR" altLang="en-US" sz="1200" dirty="0"/>
              <a:t>를 구성 </a:t>
            </a:r>
            <a:r>
              <a:rPr lang="en-US" altLang="zh-CN" dirty="0"/>
              <a:t>06 </a:t>
            </a:r>
            <a:r>
              <a:rPr lang="zh-CN" altLang="en-US" dirty="0"/>
              <a:t>构建线性回归分析公式的因变量（</a:t>
            </a:r>
            <a:r>
              <a:rPr lang="en-US" altLang="zh-CN" dirty="0"/>
              <a:t>y</a:t>
            </a:r>
            <a:r>
              <a:rPr lang="zh-CN" altLang="en-US" dirty="0"/>
              <a:t>）和自变量（</a:t>
            </a:r>
            <a:r>
              <a:rPr lang="en-US" altLang="ko-KR" dirty="0"/>
              <a:t> x</a:t>
            </a:r>
            <a:r>
              <a:rPr lang="en-US" altLang="ko-KR" baseline="-25000" dirty="0"/>
              <a:t>1</a:t>
            </a:r>
            <a:r>
              <a:rPr lang="en-US" altLang="ko-KR" dirty="0"/>
              <a:t>~x</a:t>
            </a:r>
            <a:r>
              <a:rPr lang="en-US" altLang="ko-KR" baseline="-25000" dirty="0"/>
              <a:t>10 </a:t>
            </a:r>
            <a:r>
              <a:rPr lang="zh-CN" altLang="en-US" dirty="0"/>
              <a:t>）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07</a:t>
            </a:r>
            <a:r>
              <a:rPr lang="ko-KR" altLang="en-US" sz="1200" dirty="0"/>
              <a:t>행 선형 회귀 모델 중에서 </a:t>
            </a:r>
            <a:r>
              <a:rPr lang="en-US" altLang="ko-KR" sz="1200" dirty="0" err="1"/>
              <a:t>OLS</a:t>
            </a:r>
            <a:r>
              <a:rPr lang="en-US" altLang="ko-KR" sz="900" dirty="0" err="1">
                <a:solidFill>
                  <a:srgbClr val="007BC7"/>
                </a:solidFill>
              </a:rPr>
              <a:t>Ordinary</a:t>
            </a:r>
            <a:r>
              <a:rPr lang="en-US" altLang="ko-KR" sz="900" dirty="0">
                <a:solidFill>
                  <a:srgbClr val="007BC7"/>
                </a:solidFill>
              </a:rPr>
              <a:t> Least Squares </a:t>
            </a:r>
            <a:r>
              <a:rPr lang="ko-KR" altLang="en-US" sz="1200" dirty="0"/>
              <a:t>모델 사용 </a:t>
            </a:r>
            <a:r>
              <a:rPr lang="en-US" altLang="zh-CN" dirty="0"/>
              <a:t>07 </a:t>
            </a:r>
            <a:r>
              <a:rPr lang="zh-CN" altLang="en-US" dirty="0"/>
              <a:t>在线性回归模型中使用 </a:t>
            </a:r>
            <a:r>
              <a:rPr lang="en-US" altLang="zh-CN" dirty="0"/>
              <a:t>OLS</a:t>
            </a:r>
            <a:r>
              <a:rPr lang="zh-CN" altLang="en-US" dirty="0"/>
              <a:t>逆最小二乘模型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08</a:t>
            </a:r>
            <a:r>
              <a:rPr lang="ko-KR" altLang="en-US" sz="1200" dirty="0"/>
              <a:t>행 선형 회귀 분석과 관련된 </a:t>
            </a:r>
            <a:r>
              <a:rPr lang="ko-KR" altLang="en-US" sz="1200" dirty="0" err="1"/>
              <a:t>통계값을</a:t>
            </a:r>
            <a:r>
              <a:rPr lang="ko-KR" altLang="en-US" sz="1200" dirty="0"/>
              <a:t> 출력 </a:t>
            </a:r>
            <a:r>
              <a:rPr lang="zh-CN" altLang="en-US" sz="1200" dirty="0"/>
              <a:t>输出与</a:t>
            </a:r>
            <a:r>
              <a:rPr lang="en-US" altLang="zh-CN" sz="1200" dirty="0"/>
              <a:t>08</a:t>
            </a:r>
            <a:r>
              <a:rPr lang="zh-CN" altLang="en-US" sz="1200" dirty="0"/>
              <a:t>行线性回归分析相关的统计值</a:t>
            </a:r>
            <a:endParaRPr lang="en-US" altLang="ko-KR" sz="1200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295" y="1029130"/>
            <a:ext cx="8369500" cy="5292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15936" y="1118444"/>
            <a:ext cx="2961410" cy="38903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6. </a:t>
            </a:r>
            <a:r>
              <a:rPr lang="ko-KR" altLang="en-US" sz="3600" dirty="0"/>
              <a:t>数据建模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모델링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r>
              <a:rPr lang="ko-KR" altLang="en-US" dirty="0"/>
              <a:t>회귀 분석 모델로 새로운 샘플의 품질 등급 예측하기</a:t>
            </a:r>
            <a:endParaRPr lang="en-US" altLang="ko-KR" dirty="0"/>
          </a:p>
          <a:p>
            <a:pPr marL="266700" lvl="1" indent="0">
              <a:buNone/>
              <a:defRPr/>
            </a:pPr>
            <a:r>
              <a:rPr lang="zh-CN" altLang="en-US" dirty="0"/>
              <a:t>使用回归模型预测新样本的质量等级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</p:txBody>
      </p:sp>
      <p:grpSp>
        <p:nvGrpSpPr>
          <p:cNvPr id="2" name="그룹 1"/>
          <p:cNvGrpSpPr/>
          <p:nvPr/>
        </p:nvGrpSpPr>
        <p:grpSpPr>
          <a:xfrm>
            <a:off x="5533803" y="2216353"/>
            <a:ext cx="6119812" cy="3910012"/>
            <a:chOff x="2208213" y="2039938"/>
            <a:chExt cx="6119812" cy="3910012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2492375" y="2039938"/>
              <a:ext cx="5835650" cy="39100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9157" name="내용 개체 틀 2"/>
            <p:cNvSpPr txBox="1"/>
            <p:nvPr/>
          </p:nvSpPr>
          <p:spPr bwMode="auto">
            <a:xfrm>
              <a:off x="2208213" y="2039939"/>
              <a:ext cx="5759450" cy="2928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01 &gt;&gt;&gt; sample1 = wine[wine.columns</a:t>
              </a:r>
              <a:r>
                <a:rPr lang="es-ES" altLang="ko-KR" sz="1200" b="1"/>
                <a:t>.difference(</a:t>
              </a:r>
              <a:r>
                <a:rPr lang="es-ES" altLang="ko-KR" sz="1200"/>
                <a:t>['quality', 'type']</a:t>
              </a:r>
              <a:r>
                <a:rPr lang="es-ES" altLang="ko-KR" sz="1200" b="1"/>
                <a:t>)</a:t>
              </a:r>
              <a:r>
                <a:rPr lang="es-ES" altLang="ko-KR" sz="1200"/>
                <a:t>]</a:t>
              </a:r>
              <a:endParaRPr lang="es-E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02 &gt;&gt;&gt; sample1 = sample1[0:5][:]</a:t>
              </a:r>
              <a:endParaRPr lang="es-E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03 &gt;&gt;&gt; sample1_predict = regression_result</a:t>
              </a:r>
              <a:r>
                <a:rPr lang="es-ES" altLang="ko-KR" sz="1200" b="1"/>
                <a:t>.predict(</a:t>
              </a:r>
              <a:r>
                <a:rPr lang="es-ES" altLang="ko-KR" sz="1200"/>
                <a:t>sample1</a:t>
              </a:r>
              <a:r>
                <a:rPr lang="es-ES" altLang="ko-KR" sz="1200" b="1"/>
                <a:t>)</a:t>
              </a:r>
              <a:endParaRPr lang="es-ES" altLang="ko-KR" sz="1200" b="1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04 &gt;&gt;&gt; sample1_predict</a:t>
              </a:r>
              <a:endParaRPr lang="es-E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>
                  <a:solidFill>
                    <a:srgbClr val="258BCD"/>
                  </a:solidFill>
                </a:rPr>
                <a:t>    0    4.997607</a:t>
              </a:r>
              <a:endParaRPr lang="es-E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>
                  <a:solidFill>
                    <a:srgbClr val="258BCD"/>
                  </a:solidFill>
                </a:rPr>
                <a:t>    1    4.924993</a:t>
              </a:r>
              <a:endParaRPr lang="es-E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>
                  <a:solidFill>
                    <a:srgbClr val="258BCD"/>
                  </a:solidFill>
                </a:rPr>
                <a:t>    2    5.034663</a:t>
              </a:r>
              <a:endParaRPr lang="es-E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>
                  <a:solidFill>
                    <a:srgbClr val="258BCD"/>
                  </a:solidFill>
                </a:rPr>
                <a:t>    3    5.680333</a:t>
              </a:r>
              <a:endParaRPr lang="es-E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>
                  <a:solidFill>
                    <a:srgbClr val="258BCD"/>
                  </a:solidFill>
                </a:rPr>
                <a:t>    4    4.997607</a:t>
              </a:r>
              <a:endParaRPr lang="es-E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>
                  <a:solidFill>
                    <a:srgbClr val="258BCD"/>
                  </a:solidFill>
                </a:rPr>
                <a:t>    dtype: float64</a:t>
              </a:r>
              <a:endParaRPr lang="es-E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05 &gt;&gt;&gt; wine[0:5]['quality’]</a:t>
              </a:r>
              <a:endParaRPr lang="es-E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>
                  <a:solidFill>
                    <a:srgbClr val="258BCD"/>
                  </a:solidFill>
                </a:rPr>
                <a:t>    0    5</a:t>
              </a:r>
              <a:endParaRPr lang="es-E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>
                  <a:solidFill>
                    <a:srgbClr val="258BCD"/>
                  </a:solidFill>
                </a:rPr>
                <a:t>    1    5</a:t>
              </a:r>
              <a:endParaRPr lang="es-E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>
                  <a:solidFill>
                    <a:srgbClr val="258BCD"/>
                  </a:solidFill>
                </a:rPr>
                <a:t>    2    5</a:t>
              </a:r>
              <a:endParaRPr lang="es-E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>
                  <a:solidFill>
                    <a:srgbClr val="258BCD"/>
                  </a:solidFill>
                </a:rPr>
                <a:t>    3    6</a:t>
              </a:r>
              <a:endParaRPr lang="es-E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>
                  <a:solidFill>
                    <a:srgbClr val="258BCD"/>
                  </a:solidFill>
                </a:rPr>
                <a:t>    4    5</a:t>
              </a:r>
              <a:endParaRPr lang="es-E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>
                  <a:solidFill>
                    <a:srgbClr val="258BCD"/>
                  </a:solidFill>
                </a:rPr>
                <a:t>    Name: quality, dtype: int64 </a:t>
              </a:r>
              <a:endParaRPr lang="es-ES" altLang="ko-KR" sz="1200">
                <a:solidFill>
                  <a:srgbClr val="258BCD"/>
                </a:solidFill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95" y="1029130"/>
            <a:ext cx="8369500" cy="529200"/>
          </a:xfrm>
          <a:prstGeom prst="rect">
            <a:avLst/>
          </a:prstGeo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15936" y="1118444"/>
            <a:ext cx="2961410" cy="38903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6. </a:t>
            </a:r>
            <a:r>
              <a:rPr lang="ko-KR" altLang="en-US" sz="3600" dirty="0"/>
              <a:t>数据建模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모델링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r>
              <a:rPr lang="ko-KR" altLang="en-US" dirty="0"/>
              <a:t>회귀 분석 모델로 새로운 샘플의 품질 등급 예측하기 </a:t>
            </a:r>
            <a:r>
              <a:rPr lang="zh-CN" altLang="en-US" dirty="0"/>
              <a:t>使用回归模型预测新样本的质量等级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 bwMode="auto">
          <a:xfrm>
            <a:off x="2492375" y="2039939"/>
            <a:ext cx="6051550" cy="36925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1205" name="내용 개체 틀 2"/>
          <p:cNvSpPr txBox="1"/>
          <p:nvPr/>
        </p:nvSpPr>
        <p:spPr bwMode="auto">
          <a:xfrm>
            <a:off x="2239386" y="2058987"/>
            <a:ext cx="6048375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66700" indent="-266700" latinLnBrk="1">
              <a:spcBef>
                <a:spcPct val="20000"/>
              </a:spcBef>
              <a:buFont typeface="Arial" panose="020B0604020202020204" pitchFamily="34" charset="0"/>
              <a:buBlip>
                <a:blip r:embed="rId1"/>
              </a:buBlip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628650" indent="-180975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9625" indent="-180975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990600" indent="-180975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47800" indent="-1809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05000" indent="-1809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362200" indent="-1809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19400" indent="-1809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s-ES" altLang="ko-KR" sz="1200"/>
              <a:t>06 &gt;&gt;&gt; data = {"fixed_acidity" : [8.5, 8.1], "volatile_acidity":[0.8, 0.5],</a:t>
            </a:r>
            <a:endParaRPr lang="es-ES" altLang="ko-KR" sz="1200"/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s-ES" altLang="ko-KR" sz="1200"/>
              <a:t>"citric_acid":[0.3, 0.4], "residual_sugar":[6.1, 5.8], "chlorides":[0.055,</a:t>
            </a:r>
            <a:endParaRPr lang="es-ES" altLang="ko-KR" sz="1200"/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s-ES" altLang="ko-KR" sz="1200"/>
              <a:t>0.04], "free_sulfur_dioxide":[30.0, 31.0], "total_sulfur_dioxide":[98.0,</a:t>
            </a:r>
            <a:endParaRPr lang="es-ES" altLang="ko-KR" sz="1200"/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s-ES" altLang="ko-KR" sz="1200"/>
              <a:t>99], "density":[0.996, 0.91], "pH":[3.25, 3.01], "sulphates":[0.4, 0.35],</a:t>
            </a:r>
            <a:endParaRPr lang="es-ES" altLang="ko-KR" sz="1200"/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s-ES" altLang="ko-KR" sz="1200"/>
              <a:t>"alcohol":[9.0, 0.88]}</a:t>
            </a:r>
            <a:endParaRPr lang="es-ES" altLang="ko-KR" sz="1200"/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s-ES" altLang="ko-KR" sz="1200"/>
              <a:t>07 &gt;&gt;&gt; sample2 = pd.DataFrame(data, columns= sample1.columns)</a:t>
            </a:r>
            <a:endParaRPr lang="es-ES" altLang="ko-KR" sz="1200"/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s-ES" altLang="ko-KR" sz="1200"/>
              <a:t>08 &gt;&gt;&gt; sample2</a:t>
            </a:r>
            <a:endParaRPr lang="es-ES" altLang="ko-KR" sz="1200"/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s-ES" altLang="ko-KR" sz="1200">
                <a:solidFill>
                  <a:srgbClr val="258BCD"/>
                </a:solidFill>
              </a:rPr>
              <a:t>         alcohol chlorides </a:t>
            </a:r>
            <a:r>
              <a:rPr lang="en-US" altLang="ko-KR" sz="1200"/>
              <a:t>...</a:t>
            </a:r>
            <a:r>
              <a:rPr lang="en-US" altLang="ko-KR" sz="1200">
                <a:solidFill>
                  <a:srgbClr val="258BCD"/>
                </a:solidFill>
              </a:rPr>
              <a:t>    total_sulfur_dioxide    volatile_acidity</a:t>
            </a:r>
            <a:endParaRPr lang="es-ES" altLang="ko-KR" sz="1200">
              <a:solidFill>
                <a:srgbClr val="258BCD"/>
              </a:solidFill>
            </a:endParaRPr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n-US" altLang="ko-KR" sz="1200">
                <a:solidFill>
                  <a:srgbClr val="258BCD"/>
                </a:solidFill>
              </a:rPr>
              <a:t>    0     9.00      0.055   ...             98.0                      0.8</a:t>
            </a:r>
            <a:endParaRPr lang="en-US" altLang="ko-KR" sz="1200">
              <a:solidFill>
                <a:srgbClr val="258BCD"/>
              </a:solidFill>
            </a:endParaRPr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n-US" altLang="ko-KR" sz="1200">
                <a:solidFill>
                  <a:srgbClr val="258BCD"/>
                </a:solidFill>
              </a:rPr>
              <a:t>    1     0.88      0.040   ...             99.0                      0.5</a:t>
            </a:r>
            <a:endParaRPr lang="en-US" altLang="ko-KR" sz="1200">
              <a:solidFill>
                <a:srgbClr val="258BCD"/>
              </a:solidFill>
            </a:endParaRPr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n-US" altLang="ko-KR" sz="1200">
                <a:solidFill>
                  <a:srgbClr val="258BCD"/>
                </a:solidFill>
              </a:rPr>
              <a:t>    [2 rows x 11 columns]</a:t>
            </a:r>
            <a:endParaRPr lang="en-US" altLang="ko-KR" sz="1200">
              <a:solidFill>
                <a:srgbClr val="258BCD"/>
              </a:solidFill>
            </a:endParaRPr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n-US" altLang="ko-KR" sz="1200"/>
              <a:t>09 &gt;&gt;&gt; sample2_predict = regression_result</a:t>
            </a:r>
            <a:r>
              <a:rPr lang="en-US" altLang="ko-KR" sz="1200" b="1"/>
              <a:t>.predict</a:t>
            </a:r>
            <a:r>
              <a:rPr lang="en-US" altLang="ko-KR" sz="1200"/>
              <a:t>(sample2)</a:t>
            </a:r>
            <a:endParaRPr lang="en-US" altLang="ko-KR" sz="1200"/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n-US" altLang="ko-KR" sz="1200"/>
              <a:t>10 &gt;&gt;&gt; sample2_predict</a:t>
            </a:r>
            <a:endParaRPr lang="en-US" altLang="ko-KR" sz="1200"/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n-US" altLang="ko-KR" sz="1200">
                <a:solidFill>
                  <a:srgbClr val="258BCD"/>
                </a:solidFill>
              </a:rPr>
              <a:t>    0   4.809094</a:t>
            </a:r>
            <a:endParaRPr lang="en-US" altLang="ko-KR" sz="1200">
              <a:solidFill>
                <a:srgbClr val="258BCD"/>
              </a:solidFill>
            </a:endParaRPr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n-US" altLang="ko-KR" sz="1200">
                <a:solidFill>
                  <a:srgbClr val="258BCD"/>
                </a:solidFill>
              </a:rPr>
              <a:t>    1   7.582129</a:t>
            </a:r>
            <a:endParaRPr lang="en-US" altLang="ko-KR" sz="1200">
              <a:solidFill>
                <a:srgbClr val="258BCD"/>
              </a:solidFill>
            </a:endParaRPr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n-US" altLang="ko-KR" sz="1200">
                <a:solidFill>
                  <a:srgbClr val="258BCD"/>
                </a:solidFill>
              </a:rPr>
              <a:t>    dtype: float64</a:t>
            </a:r>
            <a:endParaRPr lang="es-ES" altLang="ko-KR" sz="1200">
              <a:solidFill>
                <a:srgbClr val="258BCD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95" y="1029130"/>
            <a:ext cx="8369500" cy="5292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15936" y="1118444"/>
            <a:ext cx="2961410" cy="38903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6. </a:t>
            </a:r>
            <a:r>
              <a:rPr lang="ko-KR" altLang="en-US" sz="3600" dirty="0"/>
              <a:t>数据建模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>
          <a:xfrm>
            <a:off x="404386" y="1647644"/>
            <a:ext cx="11161945" cy="5581580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ko-KR" altLang="en-US" dirty="0"/>
              <a:t>데이터 모델링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r>
              <a:rPr lang="ko-KR" altLang="en-US" dirty="0"/>
              <a:t>회귀 분석 모델로 새로운 샘플의 품질 등급 예측하기 </a:t>
            </a:r>
            <a:r>
              <a:rPr lang="zh-CN" altLang="en-US" dirty="0"/>
              <a:t>使用回归模型预测新样本的质量等级</a:t>
            </a:r>
            <a:endParaRPr lang="en-US" altLang="ko-KR" dirty="0"/>
          </a:p>
          <a:p>
            <a:pPr lvl="2">
              <a:defRPr/>
            </a:pPr>
            <a:r>
              <a:rPr lang="en-US" altLang="ko-KR" sz="1100" dirty="0"/>
              <a:t>[01~02</a:t>
            </a:r>
            <a:r>
              <a:rPr lang="ko-KR" altLang="en-US" sz="1100" dirty="0"/>
              <a:t>행</a:t>
            </a:r>
            <a:r>
              <a:rPr lang="en-US" altLang="ko-KR" sz="1100" dirty="0"/>
              <a:t>] </a:t>
            </a:r>
            <a:r>
              <a:rPr lang="ko-KR" altLang="en-US" sz="1100" dirty="0"/>
              <a:t>예측에 사용할 첫 번째 샘플 데이터 만들기 </a:t>
            </a:r>
            <a:r>
              <a:rPr lang="en-US" altLang="zh-CN" sz="1200" dirty="0"/>
              <a:t>[</a:t>
            </a:r>
            <a:r>
              <a:rPr lang="zh-CN" altLang="en-US" sz="1200" dirty="0"/>
              <a:t>第 </a:t>
            </a:r>
            <a:r>
              <a:rPr lang="en-US" altLang="zh-CN" sz="1200" dirty="0"/>
              <a:t>01~02 </a:t>
            </a:r>
            <a:r>
              <a:rPr lang="zh-CN" altLang="en-US" sz="1200" dirty="0"/>
              <a:t>行</a:t>
            </a:r>
            <a:r>
              <a:rPr lang="en-US" altLang="zh-CN" sz="1200" dirty="0"/>
              <a:t>] </a:t>
            </a:r>
            <a:r>
              <a:rPr lang="zh-CN" altLang="en-US" sz="1200" dirty="0"/>
              <a:t>创建用于预测的第一个示例数据</a:t>
            </a:r>
            <a:endParaRPr lang="ko-KR" altLang="en-US" sz="900" dirty="0"/>
          </a:p>
          <a:p>
            <a:pPr lvl="3">
              <a:defRPr/>
            </a:pPr>
            <a:r>
              <a:rPr lang="en-US" altLang="ko-KR" sz="1100" dirty="0"/>
              <a:t>01</a:t>
            </a:r>
            <a:r>
              <a:rPr lang="ko-KR" altLang="en-US" sz="1100" dirty="0"/>
              <a:t>행 </a:t>
            </a:r>
            <a:r>
              <a:rPr lang="en-US" altLang="ko-KR" sz="1100" dirty="0"/>
              <a:t>wine</a:t>
            </a:r>
            <a:r>
              <a:rPr lang="ko-KR" altLang="en-US" sz="1100" dirty="0"/>
              <a:t>에서 </a:t>
            </a:r>
            <a:r>
              <a:rPr lang="en-US" altLang="ko-KR" sz="1100" dirty="0"/>
              <a:t>quality</a:t>
            </a:r>
            <a:r>
              <a:rPr lang="ko-KR" altLang="en-US" sz="1100" dirty="0"/>
              <a:t>와 </a:t>
            </a:r>
            <a:r>
              <a:rPr lang="en-US" altLang="ko-KR" sz="1100" dirty="0"/>
              <a:t>type </a:t>
            </a:r>
            <a:r>
              <a:rPr lang="ko-KR" altLang="en-US" sz="1100" dirty="0"/>
              <a:t>열은 제외하고</a:t>
            </a:r>
            <a:r>
              <a:rPr lang="en-US" altLang="ko-KR" sz="1100" dirty="0"/>
              <a:t>, </a:t>
            </a:r>
            <a:r>
              <a:rPr lang="ko-KR" altLang="en-US" sz="1100" dirty="0"/>
              <a:t>회귀 분석 모델에 사용할 독립 변수만 추출하여 </a:t>
            </a:r>
            <a:r>
              <a:rPr lang="en-US" altLang="ko-KR" sz="1100" dirty="0"/>
              <a:t>sample1</a:t>
            </a:r>
            <a:r>
              <a:rPr lang="ko-KR" altLang="en-US" sz="1100" dirty="0"/>
              <a:t>에 저장</a:t>
            </a:r>
            <a:endParaRPr lang="en-US" altLang="ko-KR" sz="1100" dirty="0"/>
          </a:p>
          <a:p>
            <a:pPr marL="628650" lvl="3" indent="0">
              <a:buNone/>
              <a:defRPr/>
            </a:pPr>
            <a:r>
              <a:rPr lang="en-US" altLang="ko-KR" sz="900" dirty="0"/>
              <a:t>    </a:t>
            </a:r>
            <a:r>
              <a:rPr lang="zh-CN" altLang="en-US" sz="1100" dirty="0"/>
              <a:t>在第 </a:t>
            </a:r>
            <a:r>
              <a:rPr lang="en-US" altLang="zh-CN" sz="1100" dirty="0"/>
              <a:t>01 </a:t>
            </a:r>
            <a:r>
              <a:rPr lang="zh-CN" altLang="en-US" sz="1100" dirty="0"/>
              <a:t>行中，排除第 </a:t>
            </a:r>
            <a:r>
              <a:rPr lang="en-US" altLang="zh-CN" sz="1100" dirty="0"/>
              <a:t>01 </a:t>
            </a:r>
            <a:r>
              <a:rPr lang="zh-CN" altLang="en-US" sz="1100" dirty="0"/>
              <a:t>行中的质量和类型列，仅提取回归分析模型中使用的自变量并将其存储在 </a:t>
            </a:r>
            <a:r>
              <a:rPr lang="en-US" altLang="zh-CN" sz="1100" dirty="0"/>
              <a:t>sample1 </a:t>
            </a:r>
            <a:r>
              <a:rPr lang="zh-CN" altLang="en-US" sz="1100" dirty="0"/>
              <a:t>中</a:t>
            </a:r>
            <a:endParaRPr lang="en-US" altLang="ko-KR" sz="900" dirty="0"/>
          </a:p>
          <a:p>
            <a:pPr lvl="3">
              <a:defRPr/>
            </a:pPr>
            <a:r>
              <a:rPr lang="en-US" altLang="ko-KR" sz="1100" dirty="0"/>
              <a:t>02</a:t>
            </a:r>
            <a:r>
              <a:rPr lang="ko-KR" altLang="en-US" sz="1100" dirty="0"/>
              <a:t>행 </a:t>
            </a:r>
            <a:r>
              <a:rPr lang="en-US" altLang="ko-KR" sz="1100" dirty="0"/>
              <a:t>sample1</a:t>
            </a:r>
            <a:r>
              <a:rPr lang="ko-KR" altLang="en-US" sz="1100" dirty="0"/>
              <a:t>에 있는 샘플 중에서 </a:t>
            </a:r>
            <a:r>
              <a:rPr lang="en-US" altLang="ko-KR" sz="1100" dirty="0"/>
              <a:t>0</a:t>
            </a:r>
            <a:r>
              <a:rPr lang="ko-KR" altLang="en-US" sz="1100" dirty="0"/>
              <a:t>번</a:t>
            </a:r>
            <a:r>
              <a:rPr lang="en-US" altLang="ko-KR" sz="1100" dirty="0"/>
              <a:t>~4</a:t>
            </a:r>
            <a:r>
              <a:rPr lang="ko-KR" altLang="en-US" sz="1100" dirty="0"/>
              <a:t>번 </a:t>
            </a:r>
            <a:r>
              <a:rPr lang="en-US" altLang="ko-KR" sz="1100" dirty="0"/>
              <a:t>5</a:t>
            </a:r>
            <a:r>
              <a:rPr lang="ko-KR" altLang="en-US" sz="1100" dirty="0"/>
              <a:t>개 샘플만 추출하고</a:t>
            </a:r>
            <a:r>
              <a:rPr lang="en-US" altLang="ko-KR" sz="1100" dirty="0"/>
              <a:t>, sample1</a:t>
            </a:r>
            <a:r>
              <a:rPr lang="ko-KR" altLang="en-US" sz="1100" dirty="0"/>
              <a:t>에 다시 저장하여 예측에 사용할 샘플을 제작</a:t>
            </a:r>
            <a:endParaRPr lang="en-US" altLang="ko-KR" sz="1100" dirty="0"/>
          </a:p>
          <a:p>
            <a:pPr marL="628650" lvl="3" indent="0">
              <a:buNone/>
              <a:defRPr/>
            </a:pPr>
            <a:r>
              <a:rPr lang="en-US" altLang="ko-KR" sz="1100" dirty="0"/>
              <a:t>    </a:t>
            </a:r>
            <a:r>
              <a:rPr lang="zh-CN" altLang="en-US" sz="1100" dirty="0"/>
              <a:t>从</a:t>
            </a:r>
            <a:r>
              <a:rPr lang="en-US" altLang="zh-CN" sz="1100" dirty="0"/>
              <a:t>02</a:t>
            </a:r>
            <a:r>
              <a:rPr lang="zh-CN" altLang="en-US" sz="1100" dirty="0"/>
              <a:t>行</a:t>
            </a:r>
            <a:r>
              <a:rPr lang="en-US" altLang="zh-CN" sz="1100" dirty="0"/>
              <a:t>sample1</a:t>
            </a:r>
            <a:r>
              <a:rPr lang="zh-CN" altLang="en-US" sz="1100" dirty="0"/>
              <a:t>中的样本中提取</a:t>
            </a:r>
            <a:r>
              <a:rPr lang="en-US" altLang="zh-CN" sz="1100" dirty="0"/>
              <a:t>0</a:t>
            </a:r>
            <a:r>
              <a:rPr lang="zh-CN" altLang="en-US" sz="1100" dirty="0"/>
              <a:t>号至</a:t>
            </a:r>
            <a:r>
              <a:rPr lang="en-US" altLang="zh-CN" sz="1100" dirty="0"/>
              <a:t>4</a:t>
            </a:r>
            <a:r>
              <a:rPr lang="zh-CN" altLang="en-US" sz="1100" dirty="0"/>
              <a:t>号共</a:t>
            </a:r>
            <a:r>
              <a:rPr lang="en-US" altLang="zh-CN" sz="1100" dirty="0"/>
              <a:t>5</a:t>
            </a:r>
            <a:r>
              <a:rPr lang="zh-CN" altLang="en-US" sz="1100" dirty="0"/>
              <a:t>个样本，重新保存至</a:t>
            </a:r>
            <a:r>
              <a:rPr lang="en-US" altLang="zh-CN" sz="1100" dirty="0"/>
              <a:t>sample1</a:t>
            </a:r>
            <a:r>
              <a:rPr lang="zh-CN" altLang="en-US" sz="1100" dirty="0"/>
              <a:t>以制作用于预测的样本。</a:t>
            </a:r>
            <a:endParaRPr lang="en-US" altLang="ko-KR" sz="1100" dirty="0"/>
          </a:p>
          <a:p>
            <a:pPr marL="628650" lvl="3" indent="0">
              <a:buNone/>
              <a:defRPr/>
            </a:pPr>
            <a:r>
              <a:rPr lang="en-US" altLang="ko-KR" sz="1100" dirty="0"/>
              <a:t>   </a:t>
            </a:r>
            <a:endParaRPr lang="en-US" altLang="ko-KR" sz="300" dirty="0"/>
          </a:p>
          <a:p>
            <a:pPr lvl="2">
              <a:defRPr/>
            </a:pPr>
            <a:r>
              <a:rPr lang="en-US" altLang="ko-KR" sz="1100" dirty="0"/>
              <a:t>[03~05</a:t>
            </a:r>
            <a:r>
              <a:rPr lang="ko-KR" altLang="en-US" sz="1100" dirty="0"/>
              <a:t>행</a:t>
            </a:r>
            <a:r>
              <a:rPr lang="en-US" altLang="ko-KR" sz="1100" dirty="0"/>
              <a:t>] </a:t>
            </a:r>
            <a:r>
              <a:rPr lang="ko-KR" altLang="en-US" sz="1100" dirty="0"/>
              <a:t>첫 번째 샘플의 </a:t>
            </a:r>
            <a:r>
              <a:rPr lang="en-US" altLang="ko-KR" sz="1100" dirty="0"/>
              <a:t>quality </a:t>
            </a:r>
            <a:r>
              <a:rPr lang="ko-KR" altLang="en-US" sz="1100" dirty="0"/>
              <a:t>예측하기 </a:t>
            </a:r>
            <a:r>
              <a:rPr lang="en-US" altLang="zh-CN" sz="1300" dirty="0"/>
              <a:t>[</a:t>
            </a:r>
            <a:r>
              <a:rPr lang="zh-CN" altLang="en-US" sz="1300" dirty="0"/>
              <a:t>第 </a:t>
            </a:r>
            <a:r>
              <a:rPr lang="en-US" altLang="zh-CN" sz="1300" dirty="0"/>
              <a:t>03~05 </a:t>
            </a:r>
            <a:r>
              <a:rPr lang="zh-CN" altLang="en-US" sz="1300" dirty="0"/>
              <a:t>行</a:t>
            </a:r>
            <a:r>
              <a:rPr lang="en-US" altLang="zh-CN" sz="1300" dirty="0"/>
              <a:t>] </a:t>
            </a:r>
            <a:r>
              <a:rPr lang="zh-CN" altLang="en-US" sz="1300" dirty="0"/>
              <a:t>预测第一个样本的质量</a:t>
            </a:r>
            <a:endParaRPr lang="ko-KR" altLang="en-US" sz="1100" dirty="0"/>
          </a:p>
          <a:p>
            <a:pPr lvl="3">
              <a:defRPr/>
            </a:pPr>
            <a:r>
              <a:rPr lang="en-US" altLang="ko-KR" sz="1100" dirty="0"/>
              <a:t>03</a:t>
            </a:r>
            <a:r>
              <a:rPr lang="ko-KR" altLang="en-US" sz="1100" dirty="0"/>
              <a:t>행 샘플 데이터를 회귀 분석 모델 </a:t>
            </a:r>
            <a:r>
              <a:rPr lang="en-US" altLang="ko-KR" sz="1100" dirty="0" err="1"/>
              <a:t>regression_result</a:t>
            </a:r>
            <a:r>
              <a:rPr lang="ko-KR" altLang="en-US" sz="1100" dirty="0"/>
              <a:t>의 예측 함수 </a:t>
            </a:r>
            <a:r>
              <a:rPr lang="en-US" altLang="ko-KR" sz="1100" dirty="0"/>
              <a:t>predict()</a:t>
            </a:r>
            <a:r>
              <a:rPr lang="ko-KR" altLang="en-US" sz="1100" dirty="0"/>
              <a:t>에 적용하여 수행한 뒤 결과 </a:t>
            </a:r>
            <a:r>
              <a:rPr lang="ko-KR" altLang="en-US" sz="1100" dirty="0" err="1"/>
              <a:t>예측값을</a:t>
            </a:r>
            <a:r>
              <a:rPr lang="ko-KR" altLang="en-US" sz="1100" dirty="0"/>
              <a:t> </a:t>
            </a:r>
            <a:r>
              <a:rPr lang="en-US" altLang="ko-KR" sz="1100" dirty="0"/>
              <a:t>sample1_predict</a:t>
            </a:r>
            <a:r>
              <a:rPr lang="ko-KR" altLang="en-US" sz="1100" dirty="0"/>
              <a:t>에 저장</a:t>
            </a:r>
            <a:endParaRPr lang="en-US" altLang="ko-KR" sz="1100" dirty="0"/>
          </a:p>
          <a:p>
            <a:pPr marL="628650" lvl="3" indent="0">
              <a:buNone/>
              <a:defRPr/>
            </a:pPr>
            <a:r>
              <a:rPr lang="en-US" altLang="ko-KR" sz="900" dirty="0"/>
              <a:t>    </a:t>
            </a:r>
            <a:r>
              <a:rPr lang="ko-KR" altLang="en-US" sz="1400" dirty="0"/>
              <a:t>第 </a:t>
            </a:r>
            <a:r>
              <a:rPr lang="en-US" altLang="ko-KR" sz="1400" dirty="0"/>
              <a:t>03 </a:t>
            </a:r>
            <a:r>
              <a:rPr lang="ko-KR" altLang="en-US" sz="1400" dirty="0"/>
              <a:t>行 将样本数据应用于回归分析模型</a:t>
            </a:r>
            <a:r>
              <a:rPr lang="en-US" altLang="ko-KR" sz="1400" dirty="0" err="1"/>
              <a:t>regression_result</a:t>
            </a:r>
            <a:r>
              <a:rPr lang="ko-KR" altLang="en-US" sz="1400" dirty="0"/>
              <a:t>的预测函数 </a:t>
            </a:r>
            <a:r>
              <a:rPr lang="en-US" altLang="ko-KR" sz="1400" dirty="0"/>
              <a:t>predict</a:t>
            </a:r>
            <a:r>
              <a:rPr lang="ko-KR" altLang="en-US" sz="1400" dirty="0"/>
              <a:t>（），然后将生成的预测值保存到</a:t>
            </a:r>
            <a:r>
              <a:rPr lang="en-US" altLang="ko-KR" sz="1400" dirty="0"/>
              <a:t>sample1_predict</a:t>
            </a:r>
            <a:r>
              <a:rPr lang="ko-KR" altLang="en-US" sz="1400" dirty="0"/>
              <a:t>中</a:t>
            </a:r>
            <a:r>
              <a:rPr lang="ko-KR" altLang="en-US" dirty="0"/>
              <a:t>。</a:t>
            </a:r>
            <a:endParaRPr lang="en-US" altLang="ko-KR" sz="1100" dirty="0"/>
          </a:p>
          <a:p>
            <a:pPr lvl="3">
              <a:defRPr/>
            </a:pPr>
            <a:r>
              <a:rPr lang="en-US" altLang="ko-KR" sz="1100" dirty="0"/>
              <a:t>04</a:t>
            </a:r>
            <a:r>
              <a:rPr lang="ko-KR" altLang="en-US" sz="1100" dirty="0"/>
              <a:t>행 </a:t>
            </a:r>
            <a:r>
              <a:rPr lang="en-US" altLang="ko-KR" sz="1100" dirty="0"/>
              <a:t>sample1_predict</a:t>
            </a:r>
            <a:r>
              <a:rPr lang="ko-KR" altLang="en-US" sz="1100" dirty="0"/>
              <a:t>를 출력하여 예측한 </a:t>
            </a:r>
            <a:r>
              <a:rPr lang="en-US" altLang="ko-KR" sz="1100" dirty="0"/>
              <a:t>quality</a:t>
            </a:r>
            <a:r>
              <a:rPr lang="ko-KR" altLang="en-US" sz="1100" dirty="0"/>
              <a:t>를 확인 </a:t>
            </a:r>
            <a:r>
              <a:rPr lang="en-US" altLang="ko-KR" sz="1300" dirty="0"/>
              <a:t>04</a:t>
            </a:r>
            <a:r>
              <a:rPr lang="ko-KR" altLang="en-US" sz="1300" dirty="0"/>
              <a:t>打印出线</a:t>
            </a:r>
            <a:r>
              <a:rPr lang="en-US" altLang="ko-KR" sz="1300" dirty="0"/>
              <a:t>sample1_predict</a:t>
            </a:r>
            <a:r>
              <a:rPr lang="ko-KR" altLang="en-US" sz="1300" dirty="0"/>
              <a:t>，检查预测质量</a:t>
            </a:r>
            <a:endParaRPr lang="en-US" altLang="ko-KR" sz="1100" dirty="0"/>
          </a:p>
          <a:p>
            <a:pPr lvl="3">
              <a:defRPr/>
            </a:pPr>
            <a:r>
              <a:rPr lang="en-US" altLang="ko-KR" sz="1100" dirty="0"/>
              <a:t>05</a:t>
            </a:r>
            <a:r>
              <a:rPr lang="ko-KR" altLang="en-US" sz="1100" dirty="0"/>
              <a:t>행 </a:t>
            </a:r>
            <a:r>
              <a:rPr lang="en-US" altLang="ko-KR" sz="1100" dirty="0"/>
              <a:t>wine</a:t>
            </a:r>
            <a:r>
              <a:rPr lang="ko-KR" altLang="en-US" sz="1100" dirty="0"/>
              <a:t>에서 </a:t>
            </a:r>
            <a:r>
              <a:rPr lang="en-US" altLang="ko-KR" sz="1100" dirty="0"/>
              <a:t>0</a:t>
            </a:r>
            <a:r>
              <a:rPr lang="ko-KR" altLang="en-US" sz="1100" dirty="0"/>
              <a:t>번부터 </a:t>
            </a:r>
            <a:r>
              <a:rPr lang="en-US" altLang="ko-KR" sz="1100" dirty="0"/>
              <a:t>4</a:t>
            </a:r>
            <a:r>
              <a:rPr lang="ko-KR" altLang="en-US" sz="1100" dirty="0"/>
              <a:t>번까지 샘플의 </a:t>
            </a:r>
            <a:r>
              <a:rPr lang="en-US" altLang="ko-KR" sz="1100" dirty="0"/>
              <a:t>quality </a:t>
            </a:r>
            <a:r>
              <a:rPr lang="ko-KR" altLang="en-US" sz="1100" dirty="0"/>
              <a:t>값을 출력하여 </a:t>
            </a:r>
            <a:r>
              <a:rPr lang="en-US" altLang="ko-KR" sz="1100" dirty="0"/>
              <a:t>sample1_predict</a:t>
            </a:r>
            <a:r>
              <a:rPr lang="ko-KR" altLang="en-US" sz="1100" dirty="0"/>
              <a:t>이 맞게 예측되었는지 확인 </a:t>
            </a:r>
            <a:r>
              <a:rPr lang="ko-KR" altLang="en-US" sz="1400" dirty="0"/>
              <a:t>在第 </a:t>
            </a:r>
            <a:r>
              <a:rPr lang="en-US" altLang="ko-KR" sz="1400" dirty="0"/>
              <a:t>05 </a:t>
            </a:r>
            <a:r>
              <a:rPr lang="ko-KR" altLang="en-US" sz="1400" dirty="0"/>
              <a:t>行，在葡萄酒中，输出样品的质量值从 </a:t>
            </a:r>
            <a:r>
              <a:rPr lang="en-US" altLang="ko-KR" sz="1400" dirty="0"/>
              <a:t>0 </a:t>
            </a:r>
            <a:r>
              <a:rPr lang="ko-KR" altLang="en-US" sz="1400" dirty="0"/>
              <a:t>到 </a:t>
            </a:r>
            <a:r>
              <a:rPr lang="en-US" altLang="ko-KR" sz="1400" dirty="0"/>
              <a:t>4</a:t>
            </a:r>
            <a:r>
              <a:rPr lang="ko-KR" altLang="en-US" sz="1400" dirty="0"/>
              <a:t>，以确保正确预测</a:t>
            </a:r>
            <a:r>
              <a:rPr lang="en-US" altLang="ko-KR" sz="1400" dirty="0"/>
              <a:t>sample1_predict</a:t>
            </a:r>
            <a:r>
              <a:rPr lang="ko-KR" altLang="en-US" sz="1400" dirty="0"/>
              <a:t>。</a:t>
            </a:r>
            <a:endParaRPr lang="en-US" altLang="ko-KR" sz="1100" dirty="0"/>
          </a:p>
          <a:p>
            <a:pPr lvl="3">
              <a:defRPr/>
            </a:pPr>
            <a:endParaRPr lang="en-US" altLang="ko-KR" sz="300" dirty="0"/>
          </a:p>
          <a:p>
            <a:pPr lvl="2">
              <a:defRPr/>
            </a:pPr>
            <a:r>
              <a:rPr lang="en-US" altLang="ko-KR" sz="1100" dirty="0"/>
              <a:t>[06~08</a:t>
            </a:r>
            <a:r>
              <a:rPr lang="ko-KR" altLang="en-US" sz="1100" dirty="0"/>
              <a:t>행</a:t>
            </a:r>
            <a:r>
              <a:rPr lang="en-US" altLang="ko-KR" sz="1100" dirty="0"/>
              <a:t>] </a:t>
            </a:r>
            <a:r>
              <a:rPr lang="ko-KR" altLang="en-US" sz="1100" dirty="0"/>
              <a:t>예측에 사용할 두 번째 샘플 데이터 만들기 </a:t>
            </a:r>
            <a:r>
              <a:rPr lang="en-US" altLang="zh-CN" sz="1400" dirty="0"/>
              <a:t>[</a:t>
            </a:r>
            <a:r>
              <a:rPr lang="zh-CN" altLang="en-US" sz="1400" dirty="0"/>
              <a:t>第 </a:t>
            </a:r>
            <a:r>
              <a:rPr lang="en-US" altLang="zh-CN" sz="1400" dirty="0"/>
              <a:t>06~08 </a:t>
            </a:r>
            <a:r>
              <a:rPr lang="zh-CN" altLang="en-US" sz="1400" dirty="0"/>
              <a:t>行</a:t>
            </a:r>
            <a:r>
              <a:rPr lang="en-US" altLang="zh-CN" sz="1400" dirty="0"/>
              <a:t>] </a:t>
            </a:r>
            <a:r>
              <a:rPr lang="zh-CN" altLang="en-US" sz="1400" dirty="0"/>
              <a:t>创建第二个示例数据以用于预测</a:t>
            </a:r>
            <a:endParaRPr lang="ko-KR" altLang="en-US" sz="800" dirty="0"/>
          </a:p>
          <a:p>
            <a:pPr lvl="3">
              <a:defRPr/>
            </a:pPr>
            <a:r>
              <a:rPr lang="en-US" altLang="ko-KR" sz="1100" dirty="0"/>
              <a:t>06</a:t>
            </a:r>
            <a:r>
              <a:rPr lang="ko-KR" altLang="en-US" sz="1100" dirty="0"/>
              <a:t>행 회귀식에 사용한 독립 변수에 대입할 임의의 값을 </a:t>
            </a:r>
            <a:r>
              <a:rPr lang="ko-KR" altLang="en-US" sz="1100" dirty="0" err="1"/>
              <a:t>딕셔너리</a:t>
            </a:r>
            <a:r>
              <a:rPr lang="ko-KR" altLang="en-US" sz="1100" dirty="0"/>
              <a:t> 형태로 제작 </a:t>
            </a:r>
            <a:r>
              <a:rPr lang="en-US" altLang="zh-CN" dirty="0"/>
              <a:t>06 </a:t>
            </a:r>
            <a:r>
              <a:rPr lang="zh-CN" altLang="en-US" dirty="0"/>
              <a:t>以字典的形式创建要应用于回归表达式中使用的自变量的任意值</a:t>
            </a:r>
            <a:endParaRPr lang="en-US" altLang="ko-KR" sz="1100" dirty="0"/>
          </a:p>
          <a:p>
            <a:pPr lvl="3">
              <a:defRPr/>
            </a:pPr>
            <a:r>
              <a:rPr lang="en-US" altLang="ko-KR" sz="1100" dirty="0"/>
              <a:t>07</a:t>
            </a:r>
            <a:r>
              <a:rPr lang="ko-KR" altLang="en-US" sz="1100" dirty="0"/>
              <a:t>행 </a:t>
            </a:r>
            <a:r>
              <a:rPr lang="ko-KR" altLang="en-US" sz="1100" dirty="0" err="1"/>
              <a:t>딕셔너리</a:t>
            </a:r>
            <a:r>
              <a:rPr lang="ko-KR" altLang="en-US" sz="1100" dirty="0"/>
              <a:t> 형태의 값과 </a:t>
            </a:r>
            <a:r>
              <a:rPr lang="en-US" altLang="ko-KR" sz="1100" dirty="0"/>
              <a:t>sample1</a:t>
            </a:r>
            <a:r>
              <a:rPr lang="ko-KR" altLang="en-US" sz="1100" dirty="0"/>
              <a:t>의 열 이름만 뽑아 데이터프레임으로 묶은 </a:t>
            </a:r>
            <a:r>
              <a:rPr lang="en-US" altLang="ko-KR" sz="1100" dirty="0"/>
              <a:t>sample2</a:t>
            </a:r>
            <a:r>
              <a:rPr lang="ko-KR" altLang="en-US" sz="1100" dirty="0"/>
              <a:t>를 제작 </a:t>
            </a:r>
            <a:r>
              <a:rPr lang="en-US" altLang="zh-CN" dirty="0"/>
              <a:t>07 </a:t>
            </a:r>
            <a:r>
              <a:rPr lang="zh-CN" altLang="en-US" dirty="0"/>
              <a:t>生成 </a:t>
            </a:r>
            <a:r>
              <a:rPr lang="en-US" altLang="zh-CN" dirty="0"/>
              <a:t>sample2</a:t>
            </a:r>
            <a:r>
              <a:rPr lang="zh-CN" altLang="en-US" dirty="0"/>
              <a:t>，仅包含字典形式的值和 </a:t>
            </a:r>
            <a:r>
              <a:rPr lang="en-US" altLang="zh-CN" dirty="0"/>
              <a:t>sample1 </a:t>
            </a:r>
            <a:r>
              <a:rPr lang="zh-CN" altLang="en-US" dirty="0"/>
              <a:t>的列名，并将它们分组到一个数据框中。</a:t>
            </a:r>
            <a:endParaRPr lang="en-US" altLang="ko-KR" sz="1100" dirty="0"/>
          </a:p>
          <a:p>
            <a:pPr lvl="3">
              <a:defRPr/>
            </a:pPr>
            <a:r>
              <a:rPr lang="en-US" altLang="ko-KR" sz="1100" dirty="0"/>
              <a:t>08</a:t>
            </a:r>
            <a:r>
              <a:rPr lang="ko-KR" altLang="en-US" sz="1100" dirty="0"/>
              <a:t>행 </a:t>
            </a:r>
            <a:r>
              <a:rPr lang="en-US" altLang="ko-KR" sz="1100" dirty="0"/>
              <a:t>sample2</a:t>
            </a:r>
            <a:r>
              <a:rPr lang="ko-KR" altLang="en-US" sz="1100" dirty="0"/>
              <a:t>를 출력하여 제대로 구성되었는지 확인 </a:t>
            </a:r>
            <a:r>
              <a:rPr lang="ko-KR" altLang="en-US" dirty="0"/>
              <a:t>打印出 </a:t>
            </a:r>
            <a:r>
              <a:rPr lang="en-US" altLang="ko-KR" dirty="0"/>
              <a:t>08 </a:t>
            </a:r>
            <a:r>
              <a:rPr lang="ko-KR" altLang="en-US" dirty="0"/>
              <a:t>行 </a:t>
            </a:r>
            <a:r>
              <a:rPr lang="en-US" altLang="ko-KR" dirty="0"/>
              <a:t>sample2 </a:t>
            </a:r>
            <a:r>
              <a:rPr lang="ko-KR" altLang="en-US" dirty="0"/>
              <a:t>以确保其配置正确</a:t>
            </a:r>
            <a:endParaRPr lang="en-US" altLang="ko-KR" sz="1100" dirty="0"/>
          </a:p>
          <a:p>
            <a:pPr lvl="3">
              <a:defRPr/>
            </a:pPr>
            <a:endParaRPr lang="en-US" altLang="ko-KR" sz="300" dirty="0"/>
          </a:p>
          <a:p>
            <a:pPr lvl="2">
              <a:defRPr/>
            </a:pPr>
            <a:r>
              <a:rPr lang="en-US" altLang="ko-KR" sz="1100" dirty="0"/>
              <a:t>[09~10</a:t>
            </a:r>
            <a:r>
              <a:rPr lang="ko-KR" altLang="en-US" sz="1100" dirty="0"/>
              <a:t>행</a:t>
            </a:r>
            <a:r>
              <a:rPr lang="en-US" altLang="ko-KR" sz="1100" dirty="0"/>
              <a:t>] </a:t>
            </a:r>
            <a:r>
              <a:rPr lang="ko-KR" altLang="en-US" sz="1100" dirty="0"/>
              <a:t>두 번째 샘플의 </a:t>
            </a:r>
            <a:r>
              <a:rPr lang="en-US" altLang="ko-KR" sz="1100" dirty="0"/>
              <a:t>quality </a:t>
            </a:r>
            <a:r>
              <a:rPr lang="ko-KR" altLang="en-US" sz="1100" dirty="0"/>
              <a:t>예측하기 </a:t>
            </a:r>
            <a:r>
              <a:rPr lang="en-US" altLang="zh-CN" dirty="0"/>
              <a:t>[</a:t>
            </a:r>
            <a:r>
              <a:rPr lang="zh-CN" altLang="en-US" dirty="0"/>
              <a:t>第 </a:t>
            </a:r>
            <a:r>
              <a:rPr lang="en-US" altLang="zh-CN" dirty="0"/>
              <a:t>09~10 </a:t>
            </a:r>
            <a:r>
              <a:rPr lang="zh-CN" altLang="en-US" dirty="0"/>
              <a:t>行</a:t>
            </a:r>
            <a:r>
              <a:rPr lang="en-US" altLang="zh-CN" dirty="0"/>
              <a:t>] </a:t>
            </a:r>
            <a:r>
              <a:rPr lang="zh-CN" altLang="en-US" dirty="0"/>
              <a:t>预测第二个样本的质量</a:t>
            </a:r>
            <a:endParaRPr lang="ko-KR" altLang="en-US" sz="1100" dirty="0"/>
          </a:p>
          <a:p>
            <a:pPr lvl="3">
              <a:defRPr/>
            </a:pPr>
            <a:r>
              <a:rPr lang="en-US" altLang="ko-KR" sz="1100" dirty="0"/>
              <a:t>09</a:t>
            </a:r>
            <a:r>
              <a:rPr lang="ko-KR" altLang="en-US" sz="1100" dirty="0"/>
              <a:t>행 샘플 데이터를 회귀 분석 모델 </a:t>
            </a:r>
            <a:r>
              <a:rPr lang="en-US" altLang="ko-KR" sz="1100" dirty="0" err="1"/>
              <a:t>regression_result</a:t>
            </a:r>
            <a:r>
              <a:rPr lang="ko-KR" altLang="en-US" sz="1100" dirty="0"/>
              <a:t>의 예측 함수 </a:t>
            </a:r>
            <a:r>
              <a:rPr lang="en-US" altLang="ko-KR" sz="1100" dirty="0"/>
              <a:t>predict()</a:t>
            </a:r>
            <a:r>
              <a:rPr lang="ko-KR" altLang="en-US" sz="1100" dirty="0"/>
              <a:t>에 적용하여 수행한 뒤 결과 </a:t>
            </a:r>
            <a:r>
              <a:rPr lang="ko-KR" altLang="en-US" sz="1100" dirty="0" err="1"/>
              <a:t>예측값을</a:t>
            </a:r>
            <a:r>
              <a:rPr lang="ko-KR" altLang="en-US" sz="1100" dirty="0"/>
              <a:t>  </a:t>
            </a:r>
            <a:r>
              <a:rPr lang="en-US" altLang="ko-KR" sz="1100" dirty="0"/>
              <a:t>sample2_predict</a:t>
            </a:r>
            <a:r>
              <a:rPr lang="ko-KR" altLang="en-US" sz="1100" dirty="0"/>
              <a:t>에 저장 </a:t>
            </a:r>
            <a:endParaRPr lang="en-US" altLang="ko-KR" sz="1100" dirty="0"/>
          </a:p>
          <a:p>
            <a:pPr marL="628650" lvl="3" indent="0">
              <a:buNone/>
              <a:defRPr/>
            </a:pPr>
            <a:r>
              <a:rPr lang="en-US" altLang="ko-KR" sz="1100" dirty="0"/>
              <a:t>    </a:t>
            </a:r>
            <a:r>
              <a:rPr lang="ko-KR" altLang="en-US" dirty="0"/>
              <a:t>第 </a:t>
            </a:r>
            <a:r>
              <a:rPr lang="en-US" altLang="ko-KR" dirty="0"/>
              <a:t>09 </a:t>
            </a:r>
            <a:r>
              <a:rPr lang="ko-KR" altLang="en-US" dirty="0"/>
              <a:t>行 将样本数据应用于回归分析模型</a:t>
            </a:r>
            <a:r>
              <a:rPr lang="en-US" altLang="ko-KR" dirty="0" err="1"/>
              <a:t>regression_result</a:t>
            </a:r>
            <a:r>
              <a:rPr lang="ko-KR" altLang="en-US" dirty="0"/>
              <a:t>的预测函数 </a:t>
            </a:r>
            <a:r>
              <a:rPr lang="en-US" altLang="ko-KR" dirty="0"/>
              <a:t>predict</a:t>
            </a:r>
            <a:r>
              <a:rPr lang="ko-KR" altLang="en-US" dirty="0"/>
              <a:t>（） 中，然后将生成的预测值保存到</a:t>
            </a:r>
            <a:r>
              <a:rPr lang="en-US" altLang="ko-KR" dirty="0"/>
              <a:t>sample2_predict</a:t>
            </a:r>
            <a:r>
              <a:rPr lang="ko-KR" altLang="en-US" dirty="0"/>
              <a:t>中。</a:t>
            </a:r>
            <a:endParaRPr lang="en-US" altLang="ko-KR" sz="1100" dirty="0"/>
          </a:p>
          <a:p>
            <a:pPr lvl="3">
              <a:defRPr/>
            </a:pPr>
            <a:r>
              <a:rPr lang="en-US" altLang="ko-KR" sz="1100" dirty="0"/>
              <a:t>10</a:t>
            </a:r>
            <a:r>
              <a:rPr lang="ko-KR" altLang="en-US" sz="1100" dirty="0"/>
              <a:t>행 </a:t>
            </a:r>
            <a:r>
              <a:rPr lang="en-US" altLang="ko-KR" sz="1100" dirty="0"/>
              <a:t>sample2_predict</a:t>
            </a:r>
            <a:r>
              <a:rPr lang="ko-KR" altLang="en-US" sz="1100" dirty="0"/>
              <a:t>를 출력하여 예측한 </a:t>
            </a:r>
            <a:r>
              <a:rPr lang="en-US" altLang="ko-KR" sz="1100" dirty="0"/>
              <a:t>quality</a:t>
            </a:r>
            <a:r>
              <a:rPr lang="ko-KR" altLang="en-US" sz="1100" dirty="0"/>
              <a:t>를 확인 </a:t>
            </a:r>
            <a:r>
              <a:rPr lang="ko-KR" altLang="en-US" dirty="0"/>
              <a:t>打印出 </a:t>
            </a:r>
            <a:r>
              <a:rPr lang="en-US" altLang="ko-KR" dirty="0"/>
              <a:t>10 </a:t>
            </a:r>
            <a:r>
              <a:rPr lang="ko-KR" altLang="en-US" dirty="0"/>
              <a:t>行</a:t>
            </a:r>
            <a:r>
              <a:rPr lang="en-US" altLang="ko-KR" dirty="0"/>
              <a:t>sample2_predict</a:t>
            </a:r>
            <a:r>
              <a:rPr lang="ko-KR" altLang="en-US" dirty="0"/>
              <a:t>以检查预测质量</a:t>
            </a: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sz="1200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sz="1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295" y="1029130"/>
            <a:ext cx="8369500" cy="529200"/>
          </a:xfrm>
          <a:prstGeom prst="rect">
            <a:avLst/>
          </a:prstGeo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15936" y="1118444"/>
            <a:ext cx="2961410" cy="38903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6. </a:t>
            </a:r>
            <a:r>
              <a:rPr lang="ko-KR" altLang="en-US" sz="3600" dirty="0"/>
              <a:t>数据建模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결과 시각화</a:t>
            </a: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r>
              <a:rPr lang="ko-KR" altLang="en-US" dirty="0"/>
              <a:t>와인 유형에 따른 품질 등급 히스토그램 그리기 </a:t>
            </a:r>
            <a:r>
              <a:rPr lang="zh-CN" altLang="en-US" dirty="0"/>
              <a:t>根据葡萄酒类型绘制质量等级直方图</a:t>
            </a: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r>
              <a:rPr lang="ko-KR" altLang="en-US" dirty="0"/>
              <a:t>명령 프롬프트 창에서 다음 명령을 입력하여 </a:t>
            </a:r>
            <a:r>
              <a:rPr lang="en-US" altLang="ko-KR" dirty="0" err="1"/>
              <a:t>seaborn</a:t>
            </a:r>
            <a:r>
              <a:rPr lang="en-US" altLang="ko-KR" dirty="0"/>
              <a:t> </a:t>
            </a:r>
            <a:r>
              <a:rPr lang="ko-KR" altLang="en-US" dirty="0"/>
              <a:t>라이브러리 패키지를 설치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dirty="0"/>
              <a:t>     </a:t>
            </a:r>
            <a:r>
              <a:rPr lang="ko-KR" altLang="en-US" dirty="0"/>
              <a:t>在命令提示符窗口中，键入以下命令以安装 </a:t>
            </a:r>
            <a:r>
              <a:rPr lang="en-US" altLang="ko-KR" dirty="0"/>
              <a:t>Seaborn </a:t>
            </a:r>
            <a:r>
              <a:rPr lang="ko-KR" altLang="en-US" dirty="0"/>
              <a:t>库包</a:t>
            </a:r>
            <a:endParaRPr lang="en-US" altLang="ko-KR" dirty="0"/>
          </a:p>
          <a:p>
            <a:pPr marL="628650" lvl="3" indent="0">
              <a:buNone/>
              <a:defRPr/>
            </a:pPr>
            <a:r>
              <a:rPr lang="ko-KR" altLang="en-US" sz="1600" dirty="0"/>
              <a:t>  </a:t>
            </a:r>
            <a:r>
              <a:rPr lang="ko-KR" altLang="en-US" sz="1800" dirty="0"/>
              <a:t>파이썬 셸 창에서</a:t>
            </a:r>
            <a:r>
              <a:rPr lang="en-US" altLang="ko-KR" sz="1800" dirty="0"/>
              <a:t> </a:t>
            </a:r>
            <a:r>
              <a:rPr lang="ko-KR" altLang="en-US" sz="1800" dirty="0" err="1"/>
              <a:t>임포트</a:t>
            </a:r>
            <a:r>
              <a:rPr lang="ko-KR" altLang="en-US" sz="1800" dirty="0"/>
              <a:t> 在</a:t>
            </a:r>
            <a:r>
              <a:rPr lang="en-US" altLang="ko-KR" sz="1800" dirty="0"/>
              <a:t>Python</a:t>
            </a:r>
            <a:r>
              <a:rPr lang="ko-KR" altLang="en-US" sz="1800" dirty="0"/>
              <a:t>命令行窗口中导入</a:t>
            </a:r>
            <a:endParaRPr lang="en-US" altLang="ko-KR" dirty="0"/>
          </a:p>
          <a:p>
            <a:pPr marL="857250" lvl="3" indent="-228600">
              <a:buFont typeface="+mj-lt"/>
              <a:buAutoNum type="arabicPeriod"/>
              <a:defRPr/>
            </a:pP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dirty="0"/>
              <a:t>2)</a:t>
            </a:r>
            <a:r>
              <a:rPr lang="ko-KR" altLang="en-US" dirty="0"/>
              <a:t> 파이썬 셸 창에 명령 입력</a:t>
            </a:r>
            <a:r>
              <a:rPr lang="en-US" altLang="ko-KR" dirty="0"/>
              <a:t>  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dirty="0"/>
              <a:t> </a:t>
            </a:r>
            <a:r>
              <a:rPr lang="ko-KR" altLang="en-US" dirty="0"/>
              <a:t>在 </a:t>
            </a:r>
            <a:r>
              <a:rPr lang="en-US" altLang="ko-KR" dirty="0"/>
              <a:t>Python shell </a:t>
            </a:r>
            <a:r>
              <a:rPr lang="ko-KR" altLang="en-US" dirty="0"/>
              <a:t>窗口中输入命令</a:t>
            </a:r>
            <a:endParaRPr lang="en-US" altLang="ko-KR" dirty="0"/>
          </a:p>
          <a:p>
            <a:pPr marL="790575" lvl="2" indent="-342900">
              <a:buFont typeface="+mj-lt"/>
              <a:buAutoNum type="arabicParenR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</p:txBody>
      </p:sp>
      <p:grpSp>
        <p:nvGrpSpPr>
          <p:cNvPr id="55301" name="그룹 4"/>
          <p:cNvGrpSpPr/>
          <p:nvPr/>
        </p:nvGrpSpPr>
        <p:grpSpPr bwMode="auto">
          <a:xfrm>
            <a:off x="4257509" y="3594837"/>
            <a:ext cx="7489536" cy="2792413"/>
            <a:chOff x="2807609" y="1714163"/>
            <a:chExt cx="5168300" cy="2425132"/>
          </a:xfrm>
        </p:grpSpPr>
        <p:sp>
          <p:nvSpPr>
            <p:cNvPr id="6" name="직사각형 5"/>
            <p:cNvSpPr/>
            <p:nvPr/>
          </p:nvSpPr>
          <p:spPr>
            <a:xfrm>
              <a:off x="2957491" y="1714163"/>
              <a:ext cx="5018418" cy="2425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2400"/>
            </a:p>
          </p:txBody>
        </p:sp>
        <p:sp>
          <p:nvSpPr>
            <p:cNvPr id="55304" name="내용 개체 틀 2"/>
            <p:cNvSpPr txBox="1"/>
            <p:nvPr/>
          </p:nvSpPr>
          <p:spPr bwMode="auto">
            <a:xfrm>
              <a:off x="2807609" y="1781801"/>
              <a:ext cx="5118107" cy="2088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01   &gt;&gt;&gt; import matplotlib.pyplot as plt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02   &gt;&gt;&gt; import </a:t>
              </a:r>
              <a:r>
                <a:rPr lang="es-ES" altLang="ko-KR" sz="1200" b="1" dirty="0"/>
                <a:t>seaborn</a:t>
              </a:r>
              <a:r>
                <a:rPr lang="es-ES" altLang="ko-KR" sz="1200" dirty="0"/>
                <a:t> as sns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03   &gt;&gt;&gt; sns.set_style('dark')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04   &gt;&gt;&gt; sns</a:t>
              </a:r>
              <a:r>
                <a:rPr lang="es-ES" altLang="ko-KR" sz="1200" b="1" dirty="0"/>
                <a:t>.histplot</a:t>
              </a:r>
              <a:r>
                <a:rPr lang="es-ES" altLang="ko-KR" sz="1200" dirty="0"/>
                <a:t>(red_wine_quality, stat='density', kde = True, color = "red", label = 'red wine')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  &lt;Axes: xlabel='quality', ylabel='Density'&gt;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05   &gt;&gt;&gt; sns</a:t>
              </a:r>
              <a:r>
                <a:rPr lang="es-ES" altLang="ko-KR" sz="1200" b="1" dirty="0"/>
                <a:t>.histplot</a:t>
              </a:r>
              <a:r>
                <a:rPr lang="es-ES" altLang="ko-KR" sz="1200" dirty="0"/>
                <a:t>(white_wine_quality, stat='density', kde = True, label = 'white wine’)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 &lt;Axes: xlabel='quality', ylabel='Density'&gt;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06   &gt;&gt;&gt; plt</a:t>
              </a:r>
              <a:r>
                <a:rPr lang="es-ES" altLang="ko-KR" sz="1200" b="1" dirty="0"/>
                <a:t>.title</a:t>
              </a:r>
              <a:r>
                <a:rPr lang="es-ES" altLang="ko-KR" sz="1200" dirty="0"/>
                <a:t>("Quality of Wine Type")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  Text(0.5, 1.0, 'Quality of Wine Type')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07   &gt;&gt;&gt; plt</a:t>
              </a:r>
              <a:r>
                <a:rPr lang="es-ES" altLang="ko-KR" sz="1200" b="1" dirty="0"/>
                <a:t>.legend</a:t>
              </a:r>
              <a:r>
                <a:rPr lang="es-ES" altLang="ko-KR" sz="1200" dirty="0"/>
                <a:t>()</a:t>
              </a:r>
              <a:endParaRPr lang="es-E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>
                  <a:solidFill>
                    <a:srgbClr val="258BCD"/>
                  </a:solidFill>
                </a:rPr>
                <a:t>     &lt;matplotlib.legend.Legend object at 0x0000014F20DFA548&gt;</a:t>
              </a:r>
              <a:endParaRPr lang="es-ES" altLang="ko-KR" sz="12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 dirty="0"/>
                <a:t>08   &gt;&gt;&gt; plt</a:t>
              </a:r>
              <a:r>
                <a:rPr lang="es-ES" altLang="ko-KR" sz="1200" b="1" dirty="0"/>
                <a:t>.show</a:t>
              </a:r>
              <a:r>
                <a:rPr lang="es-ES" altLang="ko-KR" sz="1200" dirty="0"/>
                <a:t>()</a:t>
              </a:r>
              <a:endParaRPr lang="es-ES" altLang="ko-KR" sz="1200" dirty="0">
                <a:solidFill>
                  <a:srgbClr val="258BCD"/>
                </a:solidFill>
              </a:endParaRPr>
            </a:p>
          </p:txBody>
        </p:sp>
      </p:grp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70" y="1056663"/>
            <a:ext cx="7398779" cy="5328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138" y="2512009"/>
            <a:ext cx="3212192" cy="791843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15936" y="1118444"/>
            <a:ext cx="2961410" cy="38903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7. </a:t>
            </a:r>
            <a:r>
              <a:rPr lang="ko-KR" altLang="en-US" sz="3600" dirty="0"/>
              <a:t>可视化结果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 dirty="0"/>
              <a:t>결과 시각화</a:t>
            </a: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r>
              <a:rPr lang="ko-KR" altLang="en-US" dirty="0"/>
              <a:t>와인 유형에 따른 품질 등급 히스토그램 그리기 </a:t>
            </a:r>
            <a:r>
              <a:rPr lang="zh-CN" altLang="en-US" dirty="0"/>
              <a:t>根据葡萄酒类型绘制质量等级直方图</a:t>
            </a:r>
            <a:endParaRPr lang="en-US" altLang="ko-KR" dirty="0"/>
          </a:p>
          <a:p>
            <a:pPr marL="790575" lvl="2" indent="-342900">
              <a:buFont typeface="+mj-lt"/>
              <a:buAutoNum type="arabicParenR" startAt="2"/>
              <a:defRPr/>
            </a:pPr>
            <a:r>
              <a:rPr lang="ko-KR" altLang="en-US" dirty="0"/>
              <a:t>파이썬 셸 창에 명령 입력 在 </a:t>
            </a:r>
            <a:r>
              <a:rPr lang="en-US" altLang="ko-KR" dirty="0"/>
              <a:t>Python shell </a:t>
            </a:r>
            <a:r>
              <a:rPr lang="ko-KR" altLang="en-US" dirty="0"/>
              <a:t>窗口中输入命令</a:t>
            </a:r>
            <a:endParaRPr lang="en-US" altLang="ko-KR" dirty="0"/>
          </a:p>
          <a:p>
            <a:pPr lvl="2">
              <a:defRPr/>
            </a:pPr>
            <a:r>
              <a:rPr lang="en-US" altLang="ko-KR" sz="1400" dirty="0"/>
              <a:t>01~02</a:t>
            </a:r>
            <a:r>
              <a:rPr lang="ko-KR" altLang="en-US" sz="1400" dirty="0"/>
              <a:t>행 시각화에 필요한 패키지를 로드 </a:t>
            </a:r>
            <a:r>
              <a:rPr lang="en-US" altLang="zh-CN" dirty="0"/>
              <a:t>01~02 </a:t>
            </a:r>
            <a:r>
              <a:rPr lang="zh-CN" altLang="en-US" dirty="0"/>
              <a:t>加载可视化所需的包</a:t>
            </a:r>
            <a:endParaRPr lang="en-US" altLang="ko-KR" sz="1400" dirty="0"/>
          </a:p>
          <a:p>
            <a:pPr lvl="2">
              <a:defRPr/>
            </a:pPr>
            <a:r>
              <a:rPr lang="en-US" altLang="ko-KR" sz="1400" dirty="0"/>
              <a:t>03~08</a:t>
            </a:r>
            <a:r>
              <a:rPr lang="ko-KR" altLang="en-US" sz="1400" dirty="0"/>
              <a:t>행</a:t>
            </a:r>
            <a:r>
              <a:rPr lang="en-US" altLang="ko-KR" sz="1400" dirty="0"/>
              <a:t> </a:t>
            </a:r>
            <a:r>
              <a:rPr lang="ko-KR" altLang="en-US" sz="1400" dirty="0"/>
              <a:t>커널 밀도 추정</a:t>
            </a:r>
            <a:r>
              <a:rPr lang="en-US" altLang="ko-KR" sz="1400" dirty="0"/>
              <a:t>(</a:t>
            </a:r>
            <a:r>
              <a:rPr lang="en-US" altLang="ko-KR" sz="1400" dirty="0" err="1"/>
              <a:t>kde</a:t>
            </a:r>
            <a:r>
              <a:rPr lang="en-US" altLang="ko-KR" sz="1400" dirty="0"/>
              <a:t>)</a:t>
            </a:r>
            <a:r>
              <a:rPr lang="ko-KR" altLang="en-US" sz="1400" dirty="0"/>
              <a:t>을 적용한 히스토그램 그리기 </a:t>
            </a:r>
            <a:endParaRPr lang="en-US" altLang="ko-KR" sz="1400" dirty="0"/>
          </a:p>
          <a:p>
            <a:pPr marL="447675" lvl="2" indent="0">
              <a:buNone/>
              <a:defRPr/>
            </a:pPr>
            <a:r>
              <a:rPr lang="en-US" altLang="zh-CN" sz="1400" dirty="0"/>
              <a:t>    </a:t>
            </a:r>
            <a:r>
              <a:rPr lang="zh-CN" altLang="en-US" sz="1200" dirty="0"/>
              <a:t>绘制行 </a:t>
            </a:r>
            <a:r>
              <a:rPr lang="en-US" altLang="zh-CN" sz="1200" dirty="0"/>
              <a:t>03~08 </a:t>
            </a:r>
            <a:r>
              <a:rPr lang="zh-CN" altLang="en-US" sz="1200" dirty="0"/>
              <a:t>的直方图核密度估计 （</a:t>
            </a:r>
            <a:r>
              <a:rPr lang="en-US" altLang="zh-CN" sz="1200" dirty="0"/>
              <a:t>KDE</a:t>
            </a:r>
            <a:r>
              <a:rPr lang="zh-CN" altLang="en-US" sz="1200" dirty="0"/>
              <a:t>）</a:t>
            </a:r>
            <a:endParaRPr lang="ko-KR" altLang="en-US" sz="1050" dirty="0"/>
          </a:p>
          <a:p>
            <a:pPr lvl="3">
              <a:defRPr/>
            </a:pPr>
            <a:r>
              <a:rPr lang="en-US" altLang="ko-KR" sz="1200" dirty="0"/>
              <a:t>03</a:t>
            </a:r>
            <a:r>
              <a:rPr lang="ko-KR" altLang="en-US" sz="1200" dirty="0"/>
              <a:t>행 히스토그램 차트의 배경색 스타일을 설정 </a:t>
            </a:r>
            <a:r>
              <a:rPr lang="zh-CN" altLang="en-US" sz="1200" dirty="0"/>
              <a:t>第</a:t>
            </a:r>
            <a:r>
              <a:rPr lang="en-US" altLang="zh-CN" dirty="0"/>
              <a:t>03 </a:t>
            </a:r>
            <a:r>
              <a:rPr lang="zh-CN" altLang="en-US" dirty="0"/>
              <a:t>设置直方图的背景颜色样式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04</a:t>
            </a:r>
            <a:r>
              <a:rPr lang="ko-KR" altLang="en-US" sz="1200" dirty="0"/>
              <a:t>행 레드 와인에 대한 </a:t>
            </a:r>
            <a:r>
              <a:rPr lang="en-US" altLang="ko-KR" sz="1200" dirty="0" err="1"/>
              <a:t>histplot</a:t>
            </a:r>
            <a:r>
              <a:rPr lang="en-US" altLang="ko-KR" sz="1200" dirty="0"/>
              <a:t> </a:t>
            </a:r>
            <a:r>
              <a:rPr lang="ko-KR" altLang="en-US" sz="1200" dirty="0"/>
              <a:t>객체를 생성 </a:t>
            </a:r>
            <a:r>
              <a:rPr lang="zh-CN" altLang="en-US" dirty="0"/>
              <a:t>第 </a:t>
            </a:r>
            <a:r>
              <a:rPr lang="en-US" altLang="zh-CN" dirty="0"/>
              <a:t>04 </a:t>
            </a:r>
            <a:r>
              <a:rPr lang="zh-CN" altLang="en-US" dirty="0"/>
              <a:t>行 为红酒创建直线图对象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05</a:t>
            </a:r>
            <a:r>
              <a:rPr lang="ko-KR" altLang="en-US" sz="1200" dirty="0"/>
              <a:t>행 화이트 와인에 대한 </a:t>
            </a:r>
            <a:r>
              <a:rPr lang="en-US" altLang="ko-KR" sz="1200" dirty="0" err="1"/>
              <a:t>histplot</a:t>
            </a:r>
            <a:r>
              <a:rPr lang="en-US" altLang="ko-KR" sz="1200" dirty="0"/>
              <a:t> </a:t>
            </a:r>
            <a:r>
              <a:rPr lang="ko-KR" altLang="en-US" sz="1200" dirty="0"/>
              <a:t>객체를 생성 </a:t>
            </a:r>
            <a:r>
              <a:rPr lang="en-US" altLang="zh-CN" dirty="0"/>
              <a:t>05 </a:t>
            </a:r>
            <a:r>
              <a:rPr lang="zh-CN" altLang="en-US" dirty="0"/>
              <a:t>生成行白葡萄酒的直线图对象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06</a:t>
            </a:r>
            <a:r>
              <a:rPr lang="ko-KR" altLang="en-US" sz="1200" dirty="0"/>
              <a:t>행 차트 제목을 설정 </a:t>
            </a:r>
            <a:r>
              <a:rPr lang="en-US" altLang="zh-CN" dirty="0"/>
              <a:t>06 </a:t>
            </a:r>
            <a:r>
              <a:rPr lang="zh-CN" altLang="en-US" dirty="0"/>
              <a:t>设置行图标题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07</a:t>
            </a:r>
            <a:r>
              <a:rPr lang="ko-KR" altLang="en-US" sz="1200" dirty="0"/>
              <a:t>행 차트 범례를 설정 </a:t>
            </a:r>
            <a:r>
              <a:rPr lang="en-US" altLang="zh-CN" dirty="0"/>
              <a:t>07</a:t>
            </a:r>
            <a:r>
              <a:rPr lang="zh-CN" altLang="en-US" dirty="0"/>
              <a:t>设置行图图例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08</a:t>
            </a:r>
            <a:r>
              <a:rPr lang="ko-KR" altLang="en-US" sz="1200" dirty="0"/>
              <a:t>행 설정한 내용대로 차트를 표시</a:t>
            </a:r>
            <a:r>
              <a:rPr lang="en-US" altLang="ko-KR" sz="1200" dirty="0"/>
              <a:t> </a:t>
            </a:r>
            <a:r>
              <a:rPr lang="en-US" altLang="zh-CN" dirty="0"/>
              <a:t>08</a:t>
            </a:r>
            <a:r>
              <a:rPr lang="zh-CN" altLang="en-US" dirty="0"/>
              <a:t>按行设置显示图表</a:t>
            </a:r>
            <a:endParaRPr lang="en-US" altLang="ko-KR" dirty="0"/>
          </a:p>
          <a:p>
            <a:pPr lvl="2">
              <a:defRPr/>
            </a:pPr>
            <a:r>
              <a:rPr lang="en-US" altLang="ko-KR" sz="1200" dirty="0"/>
              <a:t>x</a:t>
            </a:r>
            <a:r>
              <a:rPr lang="ko-KR" altLang="en-US" sz="1200" dirty="0"/>
              <a:t>축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quality x</a:t>
            </a:r>
            <a:r>
              <a:rPr lang="ko-KR" altLang="en-US" sz="1200" dirty="0"/>
              <a:t>轴：质量</a:t>
            </a:r>
            <a:endParaRPr lang="en-US" altLang="ko-KR" sz="1200" dirty="0"/>
          </a:p>
          <a:p>
            <a:pPr lvl="2">
              <a:defRPr/>
            </a:pPr>
            <a:r>
              <a:rPr lang="en-US" altLang="ko-KR" sz="1200" dirty="0"/>
              <a:t>y</a:t>
            </a:r>
            <a:r>
              <a:rPr lang="ko-KR" altLang="en-US" sz="1200" dirty="0"/>
              <a:t>축</a:t>
            </a:r>
            <a:r>
              <a:rPr lang="en-US" altLang="ko-KR" sz="1200" dirty="0"/>
              <a:t>:</a:t>
            </a:r>
            <a:r>
              <a:rPr lang="ko-KR" altLang="en-US" sz="1200" dirty="0"/>
              <a:t> 확률 밀도 </a:t>
            </a:r>
            <a:r>
              <a:rPr lang="ko-KR" altLang="en-US" sz="1200" dirty="0" err="1"/>
              <a:t>함수값</a:t>
            </a:r>
            <a:r>
              <a:rPr lang="ko-KR" altLang="en-US" sz="1200" dirty="0"/>
              <a:t> </a:t>
            </a:r>
            <a:r>
              <a:rPr lang="en-US" altLang="zh-CN" sz="1200" dirty="0"/>
              <a:t>y</a:t>
            </a:r>
            <a:r>
              <a:rPr lang="zh-CN" altLang="en-US" sz="1200" dirty="0"/>
              <a:t>轴：概率密度函数值</a:t>
            </a:r>
            <a:endParaRPr lang="en-US" altLang="ko-KR" sz="1400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790575" lvl="2" indent="-342900">
              <a:buFont typeface="+mj-lt"/>
              <a:buAutoNum type="arabicPeriod"/>
              <a:defRPr/>
            </a:pPr>
            <a:endParaRPr lang="en-US" altLang="ko-KR" dirty="0"/>
          </a:p>
        </p:txBody>
      </p:sp>
      <p:pic>
        <p:nvPicPr>
          <p:cNvPr id="57349" name="그림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4612" y="2366597"/>
            <a:ext cx="4497388" cy="38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70" y="1056663"/>
            <a:ext cx="7398779" cy="5328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92001" y="1079008"/>
            <a:ext cx="2961410" cy="38903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lnSpcReduction="10000"/>
          </a:bodyPr>
          <a:lstStyle/>
          <a:p>
            <a:r>
              <a:rPr lang="en-US" altLang="ko-KR" sz="2000" dirty="0"/>
              <a:t>7. </a:t>
            </a:r>
            <a:r>
              <a:rPr lang="ko-KR" altLang="en-US" sz="2000" dirty="0"/>
              <a:t>可视化结果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결과 시각화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ko-KR" altLang="en-US" dirty="0"/>
              <a:t>부분 회귀 플롯으로 시각화하기 </a:t>
            </a:r>
            <a:r>
              <a:rPr lang="zh-CN" altLang="en-US" dirty="0"/>
              <a:t>使用部分回归图进行可视化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독립 변수가 </a:t>
            </a:r>
            <a:r>
              <a:rPr lang="en-US" altLang="ko-KR" dirty="0"/>
              <a:t>2</a:t>
            </a:r>
            <a:r>
              <a:rPr lang="ko-KR" altLang="en-US" dirty="0"/>
              <a:t>개 이상인 경우에는 부분 회귀 플롯을 사용하여 하나의 독립 변수가 종속 변수에 미치는 영향력을 시각화 함으로써 결과를 분석할 수 있음 </a:t>
            </a:r>
            <a:r>
              <a:rPr lang="zh-CN" altLang="en-US" dirty="0"/>
              <a:t>当存在两个或更多自变量时，可通过部分回归图来分析结果，该图能可视化单个自变量对因变量的影响程度。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28650" lvl="3" indent="0">
              <a:buNone/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</p:txBody>
      </p:sp>
      <p:grpSp>
        <p:nvGrpSpPr>
          <p:cNvPr id="59396" name="그룹 5"/>
          <p:cNvGrpSpPr/>
          <p:nvPr/>
        </p:nvGrpSpPr>
        <p:grpSpPr bwMode="auto">
          <a:xfrm>
            <a:off x="1249117" y="2811637"/>
            <a:ext cx="8662988" cy="2232198"/>
            <a:chOff x="865796" y="1857862"/>
            <a:chExt cx="5118107" cy="2251197"/>
          </a:xfrm>
        </p:grpSpPr>
        <p:sp>
          <p:nvSpPr>
            <p:cNvPr id="7" name="직사각형 6"/>
            <p:cNvSpPr/>
            <p:nvPr/>
          </p:nvSpPr>
          <p:spPr>
            <a:xfrm>
              <a:off x="1045872" y="1857862"/>
              <a:ext cx="4938031" cy="22511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2800"/>
            </a:p>
          </p:txBody>
        </p:sp>
        <p:sp>
          <p:nvSpPr>
            <p:cNvPr id="59399" name="내용 개체 틀 2"/>
            <p:cNvSpPr txBox="1"/>
            <p:nvPr/>
          </p:nvSpPr>
          <p:spPr bwMode="auto">
            <a:xfrm>
              <a:off x="865796" y="1939343"/>
              <a:ext cx="5118107" cy="2088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01   &gt;&gt;&gt; </a:t>
              </a:r>
              <a:r>
                <a:rPr lang="es-ES" altLang="ko-KR" sz="1200" b="1"/>
                <a:t>import</a:t>
              </a:r>
              <a:r>
                <a:rPr lang="es-ES" altLang="ko-KR" sz="1200"/>
                <a:t> statsmodels.api </a:t>
              </a:r>
              <a:r>
                <a:rPr lang="es-ES" altLang="ko-KR" sz="1200" b="1"/>
                <a:t>as</a:t>
              </a:r>
              <a:r>
                <a:rPr lang="es-ES" altLang="ko-KR" sz="1200"/>
                <a:t> sm</a:t>
              </a:r>
              <a:endParaRPr lang="es-E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02   &gt;&gt;&gt; others = list(set(wine.columns).difference(set(["quality", "fixed_acidity"])))</a:t>
              </a:r>
              <a:endParaRPr lang="es-E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03   &gt;&gt;&gt; p, resids = sm</a:t>
              </a:r>
              <a:r>
                <a:rPr lang="es-ES" altLang="ko-KR" sz="1200" b="1"/>
                <a:t>.graphics.plot_partregres</a:t>
              </a:r>
              <a:r>
                <a:rPr lang="es-ES" altLang="ko-KR" sz="1200"/>
                <a:t>s("quality", "fixed_acidity", others, data = wine, ret_coords = True)</a:t>
              </a:r>
              <a:endParaRPr lang="es-E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04   &gt;&gt;&gt; plt.show()</a:t>
              </a:r>
              <a:endParaRPr lang="es-E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05   &gt;&gt;&gt; fig = plt.figure(figsize = (8, 13))</a:t>
              </a:r>
              <a:endParaRPr lang="es-E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06   &gt;&gt;&gt; sm.graphics.</a:t>
              </a:r>
              <a:r>
                <a:rPr lang="es-ES" altLang="ko-KR" sz="1200" b="1"/>
                <a:t>plot_partregress_grid</a:t>
              </a:r>
              <a:r>
                <a:rPr lang="es-ES" altLang="ko-KR" sz="1200"/>
                <a:t>(regression_result, fig = fig)</a:t>
              </a:r>
              <a:endParaRPr lang="es-E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      </a:t>
              </a:r>
              <a:r>
                <a:rPr lang="es-ES" altLang="ko-KR" sz="1200">
                  <a:solidFill>
                    <a:srgbClr val="258BCD"/>
                  </a:solidFill>
                </a:rPr>
                <a:t>&lt;Figure size 800x1300 with 12 Axes&gt;</a:t>
              </a:r>
              <a:endParaRPr lang="es-E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07   &gt;&gt;&gt; plt.show()</a:t>
              </a:r>
              <a:endParaRPr lang="es-ES" altLang="ko-KR" sz="1200">
                <a:solidFill>
                  <a:srgbClr val="258BCD"/>
                </a:solidFill>
              </a:endParaRPr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70" y="1056663"/>
            <a:ext cx="7398779" cy="5328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92001" y="1079008"/>
            <a:ext cx="2961410" cy="38903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lnSpcReduction="10000"/>
          </a:bodyPr>
          <a:lstStyle/>
          <a:p>
            <a:r>
              <a:rPr lang="en-US" altLang="ko-KR" sz="2000" dirty="0"/>
              <a:t>7. </a:t>
            </a:r>
            <a:r>
              <a:rPr lang="ko-KR" altLang="en-US" sz="2000" dirty="0"/>
              <a:t>可视化结果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결과 시각화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ko-KR" altLang="en-US" dirty="0"/>
              <a:t>부분 회귀 플롯으로 시각화하기</a:t>
            </a:r>
            <a:r>
              <a:rPr lang="zh-CN" altLang="en-US" dirty="0"/>
              <a:t>使用部分回归图进行可视化</a:t>
            </a:r>
            <a:endParaRPr lang="en-US" altLang="ko-KR" dirty="0"/>
          </a:p>
          <a:p>
            <a:pPr lvl="2">
              <a:defRPr/>
            </a:pPr>
            <a:r>
              <a:rPr lang="en-US" altLang="ko-KR" sz="1400" dirty="0"/>
              <a:t>01</a:t>
            </a:r>
            <a:r>
              <a:rPr lang="ko-KR" altLang="en-US" sz="1400" dirty="0"/>
              <a:t>행 부분 회귀 계산을 위해 </a:t>
            </a:r>
            <a:r>
              <a:rPr lang="en-US" altLang="ko-KR" sz="1400" dirty="0" err="1"/>
              <a:t>statsmodels.api</a:t>
            </a:r>
            <a:r>
              <a:rPr lang="ko-KR" altLang="en-US" sz="1400" dirty="0"/>
              <a:t>를 로드 </a:t>
            </a:r>
            <a:r>
              <a:rPr lang="en-US" altLang="ko-KR" dirty="0"/>
              <a:t>01</a:t>
            </a:r>
            <a:r>
              <a:rPr lang="ko-KR" altLang="en-US" dirty="0"/>
              <a:t>加载 </a:t>
            </a:r>
            <a:r>
              <a:rPr lang="en-US" altLang="ko-KR" dirty="0" err="1"/>
              <a:t>statsmodels.api</a:t>
            </a:r>
            <a:r>
              <a:rPr lang="en-US" altLang="ko-KR" dirty="0"/>
              <a:t> </a:t>
            </a:r>
            <a:r>
              <a:rPr lang="ko-KR" altLang="en-US" dirty="0"/>
              <a:t>进行行部分回归计算</a:t>
            </a:r>
            <a:endParaRPr lang="en-US" altLang="ko-KR" sz="1400" dirty="0"/>
          </a:p>
          <a:p>
            <a:pPr lvl="2">
              <a:defRPr/>
            </a:pPr>
            <a:r>
              <a:rPr lang="en-US" altLang="ko-KR" sz="1400" dirty="0"/>
              <a:t>02~04</a:t>
            </a:r>
            <a:r>
              <a:rPr lang="ko-KR" altLang="en-US" sz="1400" dirty="0"/>
              <a:t>행 </a:t>
            </a:r>
            <a:r>
              <a:rPr lang="en-US" altLang="ko-KR" sz="1400" dirty="0"/>
              <a:t> </a:t>
            </a:r>
            <a:r>
              <a:rPr lang="en-US" altLang="ko-KR" sz="1400" dirty="0" err="1"/>
              <a:t>fixed_acidity</a:t>
            </a:r>
            <a:r>
              <a:rPr lang="ko-KR" altLang="en-US" sz="1400" dirty="0"/>
              <a:t>가 종속 변수 </a:t>
            </a:r>
            <a:r>
              <a:rPr lang="en-US" altLang="ko-KR" sz="1400" dirty="0"/>
              <a:t>quality</a:t>
            </a:r>
            <a:r>
              <a:rPr lang="ko-KR" altLang="en-US" sz="1400" dirty="0"/>
              <a:t>에 미치는 영향력을 시각화하기 </a:t>
            </a:r>
            <a:r>
              <a:rPr lang="zh-CN" altLang="en-US" dirty="0"/>
              <a:t>第 </a:t>
            </a:r>
            <a:r>
              <a:rPr lang="en-US" altLang="zh-CN" dirty="0"/>
              <a:t>02~04 </a:t>
            </a:r>
            <a:r>
              <a:rPr lang="zh-CN" altLang="en-US" dirty="0"/>
              <a:t>行 可视化</a:t>
            </a:r>
            <a:r>
              <a:rPr lang="en-US" altLang="zh-CN" dirty="0" err="1"/>
              <a:t>fixed_acidity</a:t>
            </a:r>
            <a:r>
              <a:rPr lang="zh-CN" altLang="en-US" dirty="0"/>
              <a:t>对因变量质量的影响</a:t>
            </a:r>
            <a:endParaRPr lang="ko-KR" altLang="en-US" sz="1400" dirty="0"/>
          </a:p>
          <a:p>
            <a:pPr lvl="3">
              <a:defRPr/>
            </a:pPr>
            <a:r>
              <a:rPr lang="en-US" altLang="ko-KR" sz="1200" dirty="0"/>
              <a:t>02</a:t>
            </a:r>
            <a:r>
              <a:rPr lang="ko-KR" altLang="en-US" sz="1200" dirty="0"/>
              <a:t>행 부분 회귀에 사용할</a:t>
            </a:r>
            <a:r>
              <a:rPr lang="en-US" altLang="ko-KR" sz="1200" dirty="0"/>
              <a:t> </a:t>
            </a:r>
            <a:r>
              <a:rPr lang="ko-KR" altLang="en-US" sz="1200" dirty="0"/>
              <a:t>독립 변수</a:t>
            </a:r>
            <a:r>
              <a:rPr lang="en-US" altLang="ko-KR" sz="1200" dirty="0"/>
              <a:t> </a:t>
            </a:r>
            <a:r>
              <a:rPr lang="en-US" altLang="ko-KR" sz="1200" dirty="0" err="1"/>
              <a:t>fixed_acidity</a:t>
            </a:r>
            <a:r>
              <a:rPr lang="ko-KR" altLang="en-US" sz="1200" dirty="0"/>
              <a:t>와 종속 변수를 제외한 나머지 변수 이름을 리스트 </a:t>
            </a:r>
            <a:r>
              <a:rPr lang="en-US" altLang="ko-KR" sz="1200" dirty="0"/>
              <a:t>others</a:t>
            </a:r>
            <a:r>
              <a:rPr lang="ko-KR" altLang="en-US" sz="1200" dirty="0"/>
              <a:t>로 추출</a:t>
            </a:r>
            <a:endParaRPr lang="en-US" altLang="ko-KR" sz="1200" dirty="0"/>
          </a:p>
          <a:p>
            <a:pPr marL="628650" lvl="3" indent="0">
              <a:buNone/>
              <a:defRPr/>
            </a:pPr>
            <a:r>
              <a:rPr lang="en-US" altLang="ko-KR" sz="1200" dirty="0"/>
              <a:t>    02</a:t>
            </a:r>
            <a:r>
              <a:rPr lang="ko-KR" altLang="en-US" sz="1200" dirty="0"/>
              <a:t>行 提取用于部分回归的自变量</a:t>
            </a:r>
            <a:r>
              <a:rPr lang="en-US" altLang="ko-KR" sz="1200" dirty="0" err="1"/>
              <a:t>fixed_acidity</a:t>
            </a:r>
            <a:r>
              <a:rPr lang="ko-KR" altLang="en-US" sz="1200" dirty="0"/>
              <a:t>与因变量以外的其余变量名称至列表</a:t>
            </a:r>
            <a:r>
              <a:rPr lang="en-US" altLang="ko-KR" sz="1200" dirty="0"/>
              <a:t>others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03</a:t>
            </a:r>
            <a:r>
              <a:rPr lang="ko-KR" altLang="en-US" sz="1200" dirty="0"/>
              <a:t>행 나머지 변수는 고정하고 </a:t>
            </a:r>
            <a:r>
              <a:rPr lang="en-US" altLang="ko-KR" sz="1200" dirty="0" err="1"/>
              <a:t>fixed_acidity</a:t>
            </a:r>
            <a:r>
              <a:rPr lang="ko-KR" altLang="en-US" sz="1200" dirty="0"/>
              <a:t>가 종속 변수 </a:t>
            </a:r>
            <a:r>
              <a:rPr lang="en-US" altLang="ko-KR" sz="1200" dirty="0"/>
              <a:t>quality</a:t>
            </a:r>
            <a:r>
              <a:rPr lang="ko-KR" altLang="en-US" sz="1200" dirty="0"/>
              <a:t>에 미치는 영향에 대한 부분회귀 수행</a:t>
            </a:r>
            <a:endParaRPr lang="en-US" altLang="ko-KR" sz="1200" dirty="0"/>
          </a:p>
          <a:p>
            <a:pPr marL="628650" lvl="3" indent="0">
              <a:buNone/>
              <a:defRPr/>
            </a:pPr>
            <a:r>
              <a:rPr lang="en-US" altLang="ko-KR" sz="1050" dirty="0"/>
              <a:t>   </a:t>
            </a:r>
            <a:r>
              <a:rPr lang="zh-CN" altLang="en-US" sz="1200" dirty="0"/>
              <a:t>第 </a:t>
            </a:r>
            <a:r>
              <a:rPr lang="en-US" altLang="zh-CN" sz="1200" dirty="0"/>
              <a:t>03 </a:t>
            </a:r>
            <a:r>
              <a:rPr lang="zh-CN" altLang="en-US" sz="1200" dirty="0"/>
              <a:t>行 固定其余变量并对</a:t>
            </a:r>
            <a:r>
              <a:rPr lang="en-US" altLang="zh-CN" sz="1200" dirty="0" err="1"/>
              <a:t>fixed_acidity</a:t>
            </a:r>
            <a:r>
              <a:rPr lang="zh-CN" altLang="en-US" sz="1200" dirty="0"/>
              <a:t>对因变量质量的影响进行部分回归</a:t>
            </a:r>
            <a:endParaRPr lang="en-US" altLang="ko-KR" sz="1050" dirty="0"/>
          </a:p>
          <a:p>
            <a:pPr lvl="3">
              <a:defRPr/>
            </a:pPr>
            <a:r>
              <a:rPr lang="en-US" altLang="ko-KR" sz="1200" dirty="0"/>
              <a:t>04</a:t>
            </a:r>
            <a:r>
              <a:rPr lang="ko-KR" altLang="en-US" sz="1200" dirty="0"/>
              <a:t>행 부분 회귀의 결과를 플롯으로 </a:t>
            </a:r>
            <a:r>
              <a:rPr lang="ko-KR" altLang="en-US" sz="1200" dirty="0" err="1"/>
              <a:t>시각화하여</a:t>
            </a:r>
            <a:r>
              <a:rPr lang="ko-KR" altLang="en-US" sz="1200" dirty="0"/>
              <a:t> 나타냄</a:t>
            </a:r>
            <a:endParaRPr lang="en-US" altLang="ko-KR" sz="1200" dirty="0"/>
          </a:p>
          <a:p>
            <a:pPr marL="628650" lvl="3" indent="0">
              <a:buNone/>
              <a:defRPr/>
            </a:pPr>
            <a:r>
              <a:rPr lang="en-US" altLang="ko-KR" sz="1100" dirty="0"/>
              <a:t>   </a:t>
            </a:r>
            <a:r>
              <a:rPr lang="en-US" altLang="zh-CN" sz="1400" dirty="0"/>
              <a:t>04 </a:t>
            </a:r>
            <a:r>
              <a:rPr lang="zh-CN" altLang="en-US" sz="1400" dirty="0"/>
              <a:t>在图中可视化部分回归的结果</a:t>
            </a:r>
            <a:endParaRPr lang="en-US" altLang="ko-KR" sz="1100" dirty="0"/>
          </a:p>
          <a:p>
            <a:pPr marL="447675" lvl="2" indent="0">
              <a:buNone/>
              <a:defRPr/>
            </a:pPr>
            <a:endParaRPr lang="en-US" altLang="ko-KR" sz="1400" dirty="0"/>
          </a:p>
        </p:txBody>
      </p:sp>
      <p:pic>
        <p:nvPicPr>
          <p:cNvPr id="6144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718" y="4126226"/>
            <a:ext cx="3350756" cy="2493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70" y="1056663"/>
            <a:ext cx="7398779" cy="5328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92001" y="1079008"/>
            <a:ext cx="2961410" cy="38903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lnSpcReduction="10000"/>
          </a:bodyPr>
          <a:lstStyle/>
          <a:p>
            <a:r>
              <a:rPr lang="en-US" altLang="ko-KR" sz="2000" dirty="0"/>
              <a:t>7. </a:t>
            </a:r>
            <a:r>
              <a:rPr lang="ko-KR" altLang="en-US" sz="2000" dirty="0"/>
              <a:t>可视化结果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결과 시각화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ko-KR" altLang="en-US" dirty="0"/>
              <a:t>부분 회귀 플롯으로 시각화하기 </a:t>
            </a:r>
            <a:r>
              <a:rPr lang="zh-CN" altLang="en-US" dirty="0"/>
              <a:t>使用部分回归图进行可视化</a:t>
            </a:r>
            <a:endParaRPr lang="en-US" altLang="ko-KR" dirty="0"/>
          </a:p>
          <a:p>
            <a:pPr lvl="2">
              <a:defRPr/>
            </a:pPr>
            <a:r>
              <a:rPr lang="en-US" altLang="ko-KR" sz="1400" dirty="0"/>
              <a:t>05~07</a:t>
            </a:r>
            <a:r>
              <a:rPr lang="ko-KR" altLang="en-US" sz="1400" dirty="0"/>
              <a:t>행 </a:t>
            </a:r>
            <a:r>
              <a:rPr lang="en-US" altLang="ko-KR" sz="1400" dirty="0"/>
              <a:t> </a:t>
            </a:r>
            <a:r>
              <a:rPr lang="ko-KR" altLang="en-US" sz="1400" dirty="0"/>
              <a:t>각 독립 변수가 종속 변수 </a:t>
            </a:r>
            <a:r>
              <a:rPr lang="en-US" altLang="ko-KR" sz="1400" dirty="0"/>
              <a:t>quality</a:t>
            </a:r>
            <a:r>
              <a:rPr lang="ko-KR" altLang="en-US" sz="1400" dirty="0"/>
              <a:t>에 미치는 영향력을 시각화하기</a:t>
            </a:r>
            <a:endParaRPr lang="en-US" altLang="ko-KR" sz="1400" dirty="0"/>
          </a:p>
          <a:p>
            <a:pPr marL="447675" lvl="2" indent="0">
              <a:buNone/>
              <a:defRPr/>
            </a:pPr>
            <a:r>
              <a:rPr lang="en-US" altLang="ko-KR" sz="1400" dirty="0"/>
              <a:t>   </a:t>
            </a:r>
            <a:r>
              <a:rPr lang="zh-CN" altLang="en-US" dirty="0"/>
              <a:t>第 </a:t>
            </a:r>
            <a:r>
              <a:rPr lang="en-US" altLang="zh-CN" dirty="0"/>
              <a:t>05~07 </a:t>
            </a:r>
            <a:r>
              <a:rPr lang="zh-CN" altLang="en-US" dirty="0"/>
              <a:t>行 可视化每个自变量对因变量质量的影响</a:t>
            </a:r>
            <a:endParaRPr lang="ko-KR" altLang="en-US" sz="1400" dirty="0"/>
          </a:p>
          <a:p>
            <a:pPr lvl="3">
              <a:defRPr/>
            </a:pPr>
            <a:r>
              <a:rPr lang="en-US" altLang="ko-KR" sz="1200" dirty="0"/>
              <a:t>05</a:t>
            </a:r>
            <a:r>
              <a:rPr lang="ko-KR" altLang="en-US" sz="1200" dirty="0"/>
              <a:t>행 차트의 크기를 지정 </a:t>
            </a:r>
            <a:r>
              <a:rPr lang="en-US" altLang="zh-CN" dirty="0"/>
              <a:t>05</a:t>
            </a:r>
            <a:r>
              <a:rPr lang="zh-CN" altLang="en-US" dirty="0"/>
              <a:t>指定行图的大小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06</a:t>
            </a:r>
            <a:r>
              <a:rPr lang="ko-KR" altLang="en-US" sz="1200" dirty="0"/>
              <a:t>행 다중 선형 회귀 분석 결과를 가지고 있는 </a:t>
            </a:r>
            <a:r>
              <a:rPr lang="en-US" altLang="ko-KR" sz="1200" dirty="0" err="1"/>
              <a:t>regression_result</a:t>
            </a:r>
            <a:r>
              <a:rPr lang="ko-KR" altLang="en-US" sz="1200" dirty="0"/>
              <a:t>를 이용해</a:t>
            </a:r>
            <a:endParaRPr lang="en-US" altLang="ko-KR" sz="1200" dirty="0"/>
          </a:p>
          <a:p>
            <a:pPr marL="628650" lvl="3" indent="0">
              <a:buNone/>
              <a:defRPr/>
            </a:pPr>
            <a:r>
              <a:rPr lang="en-US" altLang="ko-KR" sz="1200" dirty="0"/>
              <a:t>   </a:t>
            </a:r>
            <a:r>
              <a:rPr lang="ko-KR" altLang="en-US" sz="1200" dirty="0"/>
              <a:t> </a:t>
            </a:r>
            <a:r>
              <a:rPr lang="ko-KR" altLang="en-US" sz="1200" b="1" u="sng" dirty="0"/>
              <a:t>각 독립 변수의 부분 회귀 플롯</a:t>
            </a:r>
            <a:r>
              <a:rPr lang="ko-KR" altLang="en-US" sz="1200" dirty="0"/>
              <a:t>을 구함</a:t>
            </a:r>
            <a:endParaRPr lang="en-US" altLang="ko-KR" sz="1200" dirty="0"/>
          </a:p>
          <a:p>
            <a:pPr marL="628650" lvl="3" indent="0">
              <a:buNone/>
              <a:defRPr/>
            </a:pPr>
            <a:r>
              <a:rPr lang="en-US" altLang="ko-KR" sz="1200" dirty="0"/>
              <a:t>   </a:t>
            </a:r>
            <a:r>
              <a:rPr lang="en-US" altLang="ko-KR" sz="1400" dirty="0"/>
              <a:t>06 </a:t>
            </a:r>
            <a:r>
              <a:rPr lang="ko-KR" altLang="en-US" sz="1400" dirty="0"/>
              <a:t>使用多元线性回归分析结果的</a:t>
            </a:r>
            <a:r>
              <a:rPr lang="en-US" altLang="ko-KR" sz="1400" dirty="0" err="1"/>
              <a:t>regression_result</a:t>
            </a:r>
            <a:r>
              <a:rPr lang="en-US" altLang="ko-KR" sz="1400" dirty="0"/>
              <a:t> </a:t>
            </a:r>
            <a:endParaRPr lang="en-US" altLang="ko-KR" sz="1400" dirty="0"/>
          </a:p>
          <a:p>
            <a:pPr marL="628650" lvl="3" indent="0">
              <a:buNone/>
              <a:defRPr/>
            </a:pPr>
            <a:r>
              <a:rPr lang="en-US" altLang="ko-KR" sz="1400" dirty="0"/>
              <a:t>   </a:t>
            </a:r>
            <a:r>
              <a:rPr lang="ko-KR" altLang="en-US" sz="1400" dirty="0"/>
              <a:t>获取每个自变量的偏回归图</a:t>
            </a:r>
            <a:endParaRPr lang="en-US" altLang="ko-KR" sz="1100" dirty="0"/>
          </a:p>
          <a:p>
            <a:pPr lvl="3">
              <a:defRPr/>
            </a:pPr>
            <a:r>
              <a:rPr lang="en-US" altLang="ko-KR" sz="1200" dirty="0"/>
              <a:t>07</a:t>
            </a:r>
            <a:r>
              <a:rPr lang="ko-KR" altLang="en-US" sz="1200" dirty="0"/>
              <a:t>행 부분 회귀 결과를 플롯으로 </a:t>
            </a:r>
            <a:r>
              <a:rPr lang="ko-KR" altLang="en-US" sz="1200" dirty="0" err="1"/>
              <a:t>시각화하여</a:t>
            </a:r>
            <a:r>
              <a:rPr lang="ko-KR" altLang="en-US" sz="1200" dirty="0"/>
              <a:t> 나타냄 </a:t>
            </a:r>
            <a:endParaRPr lang="en-US" altLang="ko-KR" sz="1200" dirty="0"/>
          </a:p>
          <a:p>
            <a:pPr marL="628650" lvl="3" indent="0">
              <a:buNone/>
              <a:defRPr/>
            </a:pPr>
            <a:r>
              <a:rPr lang="en-US" altLang="zh-CN" sz="1100" dirty="0"/>
              <a:t>    </a:t>
            </a:r>
            <a:r>
              <a:rPr lang="zh-CN" altLang="en-US" sz="1400" dirty="0"/>
              <a:t>将 </a:t>
            </a:r>
            <a:r>
              <a:rPr lang="en-US" altLang="zh-CN" sz="1400" dirty="0"/>
              <a:t>07 </a:t>
            </a:r>
            <a:r>
              <a:rPr lang="zh-CN" altLang="en-US" sz="1400" dirty="0"/>
              <a:t>行部分回归的结果可视化为图</a:t>
            </a:r>
            <a:endParaRPr lang="en-US" altLang="ko-KR" sz="11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670" y="1056663"/>
            <a:ext cx="7398779" cy="532800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8011391" y="1163782"/>
            <a:ext cx="4008810" cy="5591322"/>
            <a:chOff x="4723649" y="2663527"/>
            <a:chExt cx="3059113" cy="4050012"/>
          </a:xfrm>
        </p:grpSpPr>
        <p:pic>
          <p:nvPicPr>
            <p:cNvPr id="63492" name="그림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0275" y="2924176"/>
              <a:ext cx="2755900" cy="3789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494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213"/>
            <a:stretch>
              <a:fillRect/>
            </a:stretch>
          </p:blipFill>
          <p:spPr bwMode="auto">
            <a:xfrm>
              <a:off x="4723649" y="2663527"/>
              <a:ext cx="3059113" cy="3933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38385" y="116632"/>
            <a:ext cx="11161946" cy="6204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01. [</a:t>
            </a:r>
            <a:r>
              <a:rPr lang="ko-KR" altLang="en-US" dirty="0"/>
              <a:t>기술 통계 분석 </a:t>
            </a:r>
            <a:r>
              <a:rPr lang="en-US" altLang="ko-KR" dirty="0"/>
              <a:t>+ </a:t>
            </a:r>
            <a:r>
              <a:rPr lang="ko-KR" altLang="en-US" dirty="0"/>
              <a:t>그래프</a:t>
            </a:r>
            <a:r>
              <a:rPr lang="en-US" altLang="ko-KR" dirty="0"/>
              <a:t>] </a:t>
            </a:r>
            <a:r>
              <a:rPr lang="ko-KR" altLang="en-US" dirty="0"/>
              <a:t>와인 품질 예측하기</a:t>
            </a:r>
            <a:br>
              <a:rPr lang="en-US" altLang="ko-KR" dirty="0"/>
            </a:br>
            <a:r>
              <a:rPr lang="en-US" altLang="zh-CN" dirty="0">
                <a:latin typeface="+mj-ea"/>
                <a:ea typeface="+mj-ea"/>
              </a:rPr>
              <a:t>[</a:t>
            </a:r>
            <a:r>
              <a:rPr lang="zh-CN" altLang="en-US" dirty="0">
                <a:latin typeface="+mj-ea"/>
                <a:ea typeface="+mj-ea"/>
              </a:rPr>
              <a:t>描述性统计分析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图表</a:t>
            </a:r>
            <a:r>
              <a:rPr lang="en-US" altLang="zh-CN" dirty="0">
                <a:latin typeface="+mj-ea"/>
                <a:ea typeface="+mj-ea"/>
              </a:rPr>
              <a:t>]</a:t>
            </a:r>
            <a:r>
              <a:rPr lang="zh-CN" altLang="en-US" dirty="0">
                <a:latin typeface="+mj-ea"/>
                <a:ea typeface="+mj-ea"/>
              </a:rPr>
              <a:t>预测葡萄酒品质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89993" y="1084785"/>
            <a:ext cx="2961410" cy="38903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lnSpcReduction="10000"/>
          </a:bodyPr>
          <a:lstStyle/>
          <a:p>
            <a:r>
              <a:rPr lang="en-US" altLang="ko-KR" sz="2000" dirty="0"/>
              <a:t>7. </a:t>
            </a:r>
            <a:r>
              <a:rPr lang="ko-KR" altLang="en-US" sz="2000" dirty="0"/>
              <a:t>可视化结果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제목 1"/>
          <p:cNvSpPr>
            <a:spLocks noGrp="1"/>
          </p:cNvSpPr>
          <p:nvPr>
            <p:ph type="title"/>
          </p:nvPr>
        </p:nvSpPr>
        <p:spPr>
          <a:xfrm>
            <a:off x="538385" y="0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분석 미리보기</a:t>
            </a:r>
            <a:endParaRPr lang="en-US" altLang="ko-KR" dirty="0"/>
          </a:p>
        </p:txBody>
      </p:sp>
      <p:grpSp>
        <p:nvGrpSpPr>
          <p:cNvPr id="2" name="그룹 1"/>
          <p:cNvGrpSpPr/>
          <p:nvPr/>
        </p:nvGrpSpPr>
        <p:grpSpPr>
          <a:xfrm>
            <a:off x="3574041" y="1079008"/>
            <a:ext cx="5488471" cy="6048000"/>
            <a:chOff x="3719514" y="914401"/>
            <a:chExt cx="5329237" cy="5934074"/>
          </a:xfrm>
        </p:grpSpPr>
        <p:pic>
          <p:nvPicPr>
            <p:cNvPr id="65541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9514" y="914401"/>
              <a:ext cx="5329237" cy="5884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그림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844702" y="3809207"/>
              <a:ext cx="2016224" cy="1492002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7" name="그림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457618" y="3809207"/>
              <a:ext cx="1601648" cy="1516153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8" name="그림 7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3844702" y="5455022"/>
              <a:ext cx="1632582" cy="1393453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/>
          <a:srcRect r="47066" b="5462"/>
          <a:stretch>
            <a:fillRect/>
          </a:stretch>
        </p:blipFill>
        <p:spPr>
          <a:xfrm>
            <a:off x="516610" y="1036442"/>
            <a:ext cx="2841734" cy="4764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512" y="1624723"/>
            <a:ext cx="2152860" cy="37507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62500" lnSpcReduction="20000"/>
          </a:bodyPr>
          <a:lstStyle/>
          <a:p>
            <a:r>
              <a:rPr lang="en-US" altLang="ko-KR" sz="3600" dirty="0"/>
              <a:t>0. </a:t>
            </a:r>
            <a:r>
              <a:rPr lang="ko-KR" altLang="en-US" sz="3600" dirty="0"/>
              <a:t>预览分析</a:t>
            </a:r>
            <a:endParaRPr lang="ko-KR" alt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7034647" y="1037596"/>
            <a:ext cx="2337953" cy="43390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0000" lnSpcReduction="20000"/>
          </a:bodyPr>
          <a:lstStyle/>
          <a:p>
            <a:r>
              <a:rPr lang="zh-CN" altLang="en-US" sz="3600" dirty="0"/>
              <a:t>分析泰坦尼克号存活率</a:t>
            </a:r>
            <a:endParaRPr lang="ko-KR" alt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7461514" y="1403475"/>
            <a:ext cx="48013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目的：分析泰坦尼克号乘客变量，找出与生存率的相关性。</a:t>
            </a:r>
            <a:endParaRPr lang="ko-KR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7461514" y="1725737"/>
            <a:ext cx="48013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关键概念：相关分析、相关系数、</a:t>
            </a:r>
            <a:r>
              <a:rPr lang="en-US" altLang="zh-CN" sz="1400" dirty="0"/>
              <a:t>Pearson </a:t>
            </a:r>
            <a:r>
              <a:rPr lang="zh-CN" altLang="en-US" sz="1400" dirty="0"/>
              <a:t>相关系数、热图</a:t>
            </a:r>
            <a:endParaRPr lang="ko-KR" alt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7461514" y="2007775"/>
            <a:ext cx="48013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数据收集：泰坦尼克号数据；</a:t>
            </a:r>
            <a:r>
              <a:rPr lang="en-US" altLang="zh-CN" sz="1400" dirty="0"/>
              <a:t>seaborn</a:t>
            </a:r>
            <a:r>
              <a:rPr lang="zh-CN" altLang="en-US" sz="1400" dirty="0"/>
              <a:t>内置数据集</a:t>
            </a:r>
            <a:endParaRPr lang="ko-KR" alt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7461514" y="2297045"/>
            <a:ext cx="48013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数据准备：缺失牙替换</a:t>
            </a:r>
            <a:r>
              <a:rPr lang="en-US" altLang="zh-CN" sz="1400" dirty="0"/>
              <a:t>;</a:t>
            </a:r>
            <a:r>
              <a:rPr lang="zh-CN" altLang="en-US" sz="1400" dirty="0"/>
              <a:t>中位数替换，调制解调器的替换</a:t>
            </a:r>
            <a:endParaRPr lang="ko-KR" alt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7461513" y="2604822"/>
            <a:ext cx="4801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数据挖掘：</a:t>
            </a:r>
            <a:r>
              <a:rPr lang="en-US" altLang="zh-CN" sz="1400" dirty="0"/>
              <a:t>1</a:t>
            </a:r>
            <a:r>
              <a:rPr lang="zh-CN" altLang="en-US" sz="1400" dirty="0"/>
              <a:t>、信息核查</a:t>
            </a:r>
            <a:r>
              <a:rPr lang="en-US" altLang="zh-CN" sz="1400" dirty="0"/>
              <a:t>;</a:t>
            </a:r>
            <a:r>
              <a:rPr lang="zh-CN" altLang="en-US" sz="1400" dirty="0"/>
              <a:t>信息（）
</a:t>
            </a:r>
            <a:r>
              <a:rPr lang="en-US" altLang="zh-CN" sz="1400" dirty="0"/>
              <a:t>              </a:t>
            </a:r>
            <a:r>
              <a:rPr lang="zh-CN" altLang="en-US" sz="1400" dirty="0"/>
              <a:t> </a:t>
            </a:r>
            <a:r>
              <a:rPr lang="en-US" altLang="zh-CN" sz="1400" dirty="0"/>
              <a:t>2</a:t>
            </a:r>
            <a:r>
              <a:rPr lang="zh-CN" altLang="en-US" sz="1400" dirty="0"/>
              <a:t>、通过图表探索数据</a:t>
            </a:r>
            <a:r>
              <a:rPr lang="en-US" altLang="zh-CN" sz="1400" dirty="0"/>
              <a:t>;</a:t>
            </a:r>
            <a:r>
              <a:rPr lang="zh-CN" altLang="en-US" sz="1400" dirty="0"/>
              <a:t>饼图（）、计数图（）</a:t>
            </a:r>
            <a:endParaRPr lang="ko-KR" alt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7461513" y="3128042"/>
            <a:ext cx="4801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数据建模</a:t>
            </a:r>
            <a:r>
              <a:rPr lang="zh-CN" altLang="en-US" sz="1400" dirty="0"/>
              <a:t>：</a:t>
            </a:r>
            <a:r>
              <a:rPr lang="en-US" altLang="zh-CN" sz="1400" dirty="0"/>
              <a:t>1</a:t>
            </a:r>
            <a:r>
              <a:rPr lang="zh-CN" altLang="en-US" sz="1400" dirty="0"/>
              <a:t>、查找所有变量之间的相关因子
</a:t>
            </a:r>
            <a:r>
              <a:rPr lang="en-US" altLang="zh-CN" sz="1400" dirty="0"/>
              <a:t>              </a:t>
            </a:r>
            <a:r>
              <a:rPr lang="zh-CN" altLang="en-US" sz="1400" dirty="0"/>
              <a:t> </a:t>
            </a:r>
            <a:r>
              <a:rPr lang="en-US" altLang="zh-CN" sz="1400" dirty="0"/>
              <a:t>2</a:t>
            </a:r>
            <a:r>
              <a:rPr lang="zh-CN" altLang="en-US" sz="1400" dirty="0"/>
              <a:t>、求两个指定变量之间的相关系数</a:t>
            </a:r>
            <a:endParaRPr lang="ko-KR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8336344" y="4385643"/>
            <a:ext cx="48013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1400" dirty="0"/>
              <a:t>使用散点图进行可视化
可视化特定变量之间的相关性
使用热图进行可视化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목표 설정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타이타닉호의 생존자와 관련된 변수의 상관관계 찾아보기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dirty="0"/>
              <a:t>   </a:t>
            </a:r>
            <a:r>
              <a:rPr lang="zh-CN" altLang="en-US" dirty="0"/>
              <a:t>查找与泰坦尼克号幸存者的相关性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생존과 가장 상관도가 높은 변수는 무엇인지 분석 </a:t>
            </a:r>
            <a:r>
              <a:rPr lang="zh-CN" altLang="en-US" dirty="0"/>
              <a:t>分析哪些变量与生存最相关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상관 분석을 위해 </a:t>
            </a:r>
            <a:r>
              <a:rPr lang="ko-KR" altLang="en-US" dirty="0" err="1"/>
              <a:t>피어슨</a:t>
            </a:r>
            <a:r>
              <a:rPr lang="ko-KR" altLang="en-US" dirty="0"/>
              <a:t> 상관 계수를 사용 </a:t>
            </a:r>
            <a:r>
              <a:rPr lang="zh-CN" altLang="en-US" dirty="0"/>
              <a:t>使用皮尔逊相关系数进行相关性分析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변수 간의 상관관계는 </a:t>
            </a:r>
            <a:r>
              <a:rPr lang="ko-KR" altLang="en-US" dirty="0" err="1"/>
              <a:t>시각화하여</a:t>
            </a:r>
            <a:r>
              <a:rPr lang="ko-KR" altLang="en-US" dirty="0"/>
              <a:t> 분석 </a:t>
            </a:r>
            <a:r>
              <a:rPr lang="zh-CN" altLang="en-US" dirty="0"/>
              <a:t>变量之间的相关性被可视化和分析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089" y="1053367"/>
            <a:ext cx="5895660" cy="4680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515027" y="93518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17173" y="1109207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1. </a:t>
            </a:r>
            <a:r>
              <a:rPr lang="ko-KR" altLang="en-US" sz="3600" dirty="0"/>
              <a:t>设定目标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>
          <a:xfrm>
            <a:off x="538385" y="1079008"/>
            <a:ext cx="11161945" cy="5872510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ko-KR" altLang="en-US" sz="1800" dirty="0"/>
              <a:t>핵심 개념 이해</a:t>
            </a:r>
            <a:endParaRPr lang="en-US" altLang="ko-KR" sz="1800" dirty="0"/>
          </a:p>
          <a:p>
            <a:pPr lvl="3">
              <a:defRPr/>
            </a:pPr>
            <a:endParaRPr lang="en-US" altLang="ko-KR" sz="400" dirty="0"/>
          </a:p>
          <a:p>
            <a:pPr lvl="1">
              <a:defRPr/>
            </a:pPr>
            <a:r>
              <a:rPr lang="ko-KR" altLang="en-US" sz="1600" dirty="0"/>
              <a:t>상관 계수 </a:t>
            </a:r>
            <a:r>
              <a:rPr lang="en-US" altLang="ko-KR" sz="1600" dirty="0"/>
              <a:t>ρ </a:t>
            </a:r>
            <a:r>
              <a:rPr lang="ko-KR" altLang="en-US" dirty="0"/>
              <a:t>相关系数 </a:t>
            </a:r>
            <a:r>
              <a:rPr lang="el-GR" altLang="ko-KR" dirty="0"/>
              <a:t>ρ</a:t>
            </a:r>
            <a:endParaRPr lang="en-US" altLang="ko-KR" sz="1600" dirty="0"/>
          </a:p>
          <a:p>
            <a:pPr lvl="3">
              <a:defRPr/>
            </a:pPr>
            <a:r>
              <a:rPr lang="ko-KR" altLang="en-US" sz="1200" dirty="0"/>
              <a:t>변수 간 관계의 정도</a:t>
            </a:r>
            <a:r>
              <a:rPr lang="en-US" altLang="ko-KR" sz="1200" dirty="0"/>
              <a:t>(0~1)</a:t>
            </a:r>
            <a:r>
              <a:rPr lang="ko-KR" altLang="en-US" sz="1200" dirty="0"/>
              <a:t>와 방향</a:t>
            </a:r>
            <a:r>
              <a:rPr lang="en-US" altLang="ko-KR" sz="1200" dirty="0"/>
              <a:t>(+, -)</a:t>
            </a:r>
            <a:r>
              <a:rPr lang="ko-KR" altLang="en-US" sz="1200" dirty="0"/>
              <a:t>을 하나의 수치로 요약해주는 지수로 </a:t>
            </a:r>
            <a:r>
              <a:rPr lang="en-US" altLang="ko-KR" sz="1200" dirty="0"/>
              <a:t>-1</a:t>
            </a:r>
            <a:r>
              <a:rPr lang="ko-KR" altLang="en-US" sz="1200" dirty="0"/>
              <a:t>에서 </a:t>
            </a:r>
            <a:r>
              <a:rPr lang="en-US" altLang="ko-KR" sz="1200" dirty="0"/>
              <a:t>+1 </a:t>
            </a:r>
            <a:r>
              <a:rPr lang="ko-KR" altLang="en-US" sz="1200" dirty="0"/>
              <a:t>사이의 값을 가짐</a:t>
            </a:r>
            <a:endParaRPr lang="en-US" altLang="ko-KR" sz="1200" dirty="0"/>
          </a:p>
          <a:p>
            <a:pPr marL="628650" lvl="3" indent="0">
              <a:buNone/>
              <a:defRPr/>
            </a:pPr>
            <a:r>
              <a:rPr lang="en-US" altLang="ko-KR" sz="1200" dirty="0"/>
              <a:t>   </a:t>
            </a:r>
            <a:r>
              <a:rPr lang="zh-CN" altLang="en-US" dirty="0"/>
              <a:t>将变量之间关系的度数（</a:t>
            </a:r>
            <a:r>
              <a:rPr lang="en-US" altLang="zh-CN" dirty="0"/>
              <a:t>0~1</a:t>
            </a:r>
            <a:r>
              <a:rPr lang="zh-CN" altLang="en-US" dirty="0"/>
              <a:t>）和方向（</a:t>
            </a:r>
            <a:r>
              <a:rPr lang="en-US" altLang="zh-CN" dirty="0"/>
              <a:t>+</a:t>
            </a:r>
            <a:r>
              <a:rPr lang="zh-CN" altLang="en-US" dirty="0"/>
              <a:t>、</a:t>
            </a:r>
            <a:r>
              <a:rPr lang="en-US" altLang="zh-CN" dirty="0"/>
              <a:t>-</a:t>
            </a:r>
            <a:r>
              <a:rPr lang="zh-CN" altLang="en-US" dirty="0"/>
              <a:t>）汇总为一个数字的指数，值介于</a:t>
            </a:r>
            <a:r>
              <a:rPr lang="en-US" altLang="zh-CN" dirty="0"/>
              <a:t>-1</a:t>
            </a:r>
            <a:r>
              <a:rPr lang="zh-CN" altLang="en-US" dirty="0"/>
              <a:t>和</a:t>
            </a:r>
            <a:r>
              <a:rPr lang="en-US" altLang="zh-CN" dirty="0"/>
              <a:t>+1</a:t>
            </a:r>
            <a:r>
              <a:rPr lang="zh-CN" altLang="en-US" dirty="0"/>
              <a:t>之间。</a:t>
            </a:r>
            <a:endParaRPr lang="en-US" altLang="ko-KR" sz="1200" dirty="0"/>
          </a:p>
          <a:p>
            <a:pPr lvl="3">
              <a:defRPr/>
            </a:pPr>
            <a:r>
              <a:rPr lang="ko-KR" altLang="en-US" sz="1200" dirty="0"/>
              <a:t>상관 계수가 </a:t>
            </a:r>
            <a:r>
              <a:rPr lang="en-US" altLang="ko-KR" sz="1200" dirty="0"/>
              <a:t>+</a:t>
            </a:r>
            <a:r>
              <a:rPr lang="ko-KR" altLang="en-US" sz="1200" dirty="0"/>
              <a:t>이면 양의 상관관계이며 한 변수가 증가하면 다른 변수도 증가 </a:t>
            </a:r>
            <a:r>
              <a:rPr lang="zh-CN" altLang="en-US" dirty="0"/>
              <a:t>如果相关系数为</a:t>
            </a:r>
            <a:r>
              <a:rPr lang="en-US" altLang="zh-CN" dirty="0"/>
              <a:t>+</a:t>
            </a:r>
            <a:r>
              <a:rPr lang="zh-CN" altLang="en-US" dirty="0"/>
              <a:t>，则为正相关，如果一个变量增加，则另一个变量也增加</a:t>
            </a:r>
            <a:endParaRPr lang="en-US" altLang="ko-KR" sz="1200" dirty="0"/>
          </a:p>
          <a:p>
            <a:pPr lvl="3">
              <a:defRPr/>
            </a:pPr>
            <a:r>
              <a:rPr lang="ko-KR" altLang="en-US" sz="1200" dirty="0"/>
              <a:t>상관 계수가 </a:t>
            </a:r>
            <a:r>
              <a:rPr lang="en-US" altLang="ko-KR" sz="1200" dirty="0"/>
              <a:t>–</a:t>
            </a:r>
            <a:r>
              <a:rPr lang="ko-KR" altLang="en-US" sz="1200" dirty="0"/>
              <a:t>이면 음의 상관관계이며 한 변수가 증가할 때 다른 변수는 감소 </a:t>
            </a:r>
            <a:r>
              <a:rPr lang="zh-CN" altLang="en-US" dirty="0"/>
              <a:t>如果相关系数为 </a:t>
            </a:r>
            <a:r>
              <a:rPr lang="en-US" altLang="zh-CN" dirty="0"/>
              <a:t>–</a:t>
            </a:r>
            <a:r>
              <a:rPr lang="zh-CN" altLang="en-US" dirty="0"/>
              <a:t>，则为负相关，当一个变量增加时，另一个变量减少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100" dirty="0"/>
              <a:t>0.0 ~ 0.2: </a:t>
            </a:r>
            <a:r>
              <a:rPr lang="ko-KR" altLang="en-US" sz="1100" dirty="0"/>
              <a:t>상관관계가 거의 없음 </a:t>
            </a:r>
            <a:r>
              <a:rPr lang="en-US" altLang="ko-KR" dirty="0"/>
              <a:t>0.0 ~ 0.2</a:t>
            </a:r>
            <a:r>
              <a:rPr lang="ko-KR" altLang="en-US" dirty="0"/>
              <a:t>：相关性小</a:t>
            </a:r>
            <a:endParaRPr lang="en-US" altLang="ko-KR" sz="1100" dirty="0"/>
          </a:p>
          <a:p>
            <a:pPr lvl="3">
              <a:defRPr/>
            </a:pPr>
            <a:r>
              <a:rPr lang="en-US" altLang="ko-KR" sz="1100" dirty="0"/>
              <a:t>0.2 ~ 0.4: </a:t>
            </a:r>
            <a:r>
              <a:rPr lang="ko-KR" altLang="en-US" sz="1100" dirty="0"/>
              <a:t>약한 상관관계가 있음 </a:t>
            </a:r>
            <a:r>
              <a:rPr lang="en-US" altLang="ko-KR" dirty="0"/>
              <a:t>0.2 ~ 0.4</a:t>
            </a:r>
            <a:r>
              <a:rPr lang="ko-KR" altLang="en-US" dirty="0"/>
              <a:t>：弱相关</a:t>
            </a:r>
            <a:endParaRPr lang="en-US" altLang="ko-KR" sz="1100" dirty="0"/>
          </a:p>
          <a:p>
            <a:pPr lvl="3">
              <a:defRPr/>
            </a:pPr>
            <a:r>
              <a:rPr lang="en-US" altLang="ko-KR" sz="1100" dirty="0"/>
              <a:t>0.4 ~ 0.6: </a:t>
            </a:r>
            <a:r>
              <a:rPr lang="ko-KR" altLang="en-US" sz="1100" dirty="0"/>
              <a:t>상관관계가 있음 </a:t>
            </a:r>
            <a:r>
              <a:rPr lang="en-US" altLang="ko-KR" dirty="0"/>
              <a:t>0.4 ~ 0.6</a:t>
            </a:r>
            <a:r>
              <a:rPr lang="ko-KR" altLang="en-US" dirty="0"/>
              <a:t>：相关</a:t>
            </a:r>
            <a:endParaRPr lang="en-US" altLang="ko-KR" sz="1100" dirty="0"/>
          </a:p>
          <a:p>
            <a:pPr lvl="3">
              <a:defRPr/>
            </a:pPr>
            <a:r>
              <a:rPr lang="en-US" altLang="ko-KR" sz="1100" dirty="0"/>
              <a:t>0.6 ~ 0.8: </a:t>
            </a:r>
            <a:r>
              <a:rPr lang="ko-KR" altLang="en-US" sz="1100" dirty="0"/>
              <a:t>강한 상관관계가 있음 </a:t>
            </a:r>
            <a:r>
              <a:rPr lang="en-US" altLang="ko-KR" dirty="0"/>
              <a:t>0.6 ~ 0.8</a:t>
            </a:r>
            <a:r>
              <a:rPr lang="ko-KR" altLang="en-US" dirty="0"/>
              <a:t>：强相关</a:t>
            </a:r>
            <a:endParaRPr lang="en-US" altLang="ko-KR" sz="1100" dirty="0"/>
          </a:p>
          <a:p>
            <a:pPr lvl="3">
              <a:defRPr/>
            </a:pPr>
            <a:r>
              <a:rPr lang="en-US" altLang="ko-KR" sz="1100" dirty="0"/>
              <a:t>0.8 ~ 1.0: </a:t>
            </a:r>
            <a:r>
              <a:rPr lang="ko-KR" altLang="en-US" sz="1100" dirty="0"/>
              <a:t>매우 강한 상관관계가 있음</a:t>
            </a:r>
            <a:r>
              <a:rPr lang="en-US" altLang="ko-KR" sz="1100" dirty="0"/>
              <a:t>  </a:t>
            </a:r>
            <a:r>
              <a:rPr lang="en-US" altLang="zh-CN" dirty="0"/>
              <a:t>0.8 ~ 1.0</a:t>
            </a:r>
            <a:r>
              <a:rPr lang="zh-CN" altLang="en-US" dirty="0"/>
              <a:t>：非常强的相关性</a:t>
            </a:r>
            <a:endParaRPr lang="en-US" altLang="ko-KR" sz="1100" dirty="0"/>
          </a:p>
          <a:p>
            <a:pPr lvl="3">
              <a:defRPr/>
            </a:pPr>
            <a:endParaRPr lang="en-US" altLang="ko-KR" sz="1100" dirty="0"/>
          </a:p>
          <a:p>
            <a:pPr lvl="1">
              <a:defRPr/>
            </a:pPr>
            <a:r>
              <a:rPr lang="ko-KR" altLang="en-US" sz="1500" dirty="0" err="1"/>
              <a:t>피어슨</a:t>
            </a:r>
            <a:r>
              <a:rPr lang="ko-KR" altLang="en-US" sz="1500" dirty="0"/>
              <a:t> 상관 계수 </a:t>
            </a:r>
            <a:r>
              <a:rPr lang="zh-CN" altLang="en-US" sz="1500" dirty="0"/>
              <a:t>皮尔逊</a:t>
            </a:r>
            <a:r>
              <a:rPr lang="en-US" altLang="zh-CN" sz="1500" dirty="0"/>
              <a:t>(</a:t>
            </a:r>
            <a:r>
              <a:rPr lang="en-US" altLang="ko-KR" sz="1600" dirty="0"/>
              <a:t>Pearson)</a:t>
            </a:r>
            <a:r>
              <a:rPr lang="zh-CN" altLang="en-US" sz="1500" dirty="0"/>
              <a:t>相关系数</a:t>
            </a:r>
            <a:endParaRPr lang="ko-KR" altLang="en-US" sz="1500" dirty="0"/>
          </a:p>
          <a:p>
            <a:pPr lvl="2">
              <a:defRPr/>
            </a:pPr>
            <a:r>
              <a:rPr lang="ko-KR" altLang="en-US" sz="1200" dirty="0"/>
              <a:t>상관 계수 중에서 많이 사용하는 것은 </a:t>
            </a:r>
            <a:r>
              <a:rPr lang="ko-KR" altLang="en-US" sz="1200" dirty="0" err="1"/>
              <a:t>피어슨</a:t>
            </a:r>
            <a:r>
              <a:rPr lang="ko-KR" altLang="en-US" sz="1200" dirty="0"/>
              <a:t> 상관 계수 </a:t>
            </a:r>
            <a:r>
              <a:rPr lang="en-US" altLang="ko-KR" sz="1200" dirty="0"/>
              <a:t>Pearson correlation coefficient </a:t>
            </a:r>
            <a:r>
              <a:rPr lang="ko-KR" altLang="en-US" sz="1200" dirty="0"/>
              <a:t>또는 </a:t>
            </a:r>
            <a:r>
              <a:rPr lang="en-US" altLang="ko-KR" sz="1200" dirty="0"/>
              <a:t>Pearson’s r </a:t>
            </a:r>
            <a:r>
              <a:rPr lang="zh-CN" altLang="en-US" dirty="0"/>
              <a:t>在相关系数中，最常用的是皮尔逊相关系数或皮尔逊的 </a:t>
            </a:r>
            <a:r>
              <a:rPr lang="en-US" altLang="zh-CN" dirty="0"/>
              <a:t>r</a:t>
            </a:r>
            <a:endParaRPr lang="en-US" altLang="ko-KR" sz="1200" dirty="0"/>
          </a:p>
          <a:p>
            <a:pPr lvl="2">
              <a:defRPr/>
            </a:pPr>
            <a:r>
              <a:rPr lang="ko-KR" altLang="en-US" sz="1200" dirty="0" err="1"/>
              <a:t>피어슨</a:t>
            </a:r>
            <a:r>
              <a:rPr lang="ko-KR" altLang="en-US" sz="1200" dirty="0"/>
              <a:t> 상관 계수는 </a:t>
            </a:r>
            <a:r>
              <a:rPr lang="en-US" altLang="ko-KR" sz="1200" dirty="0"/>
              <a:t>r</a:t>
            </a:r>
            <a:r>
              <a:rPr lang="ko-KR" altLang="en-US" sz="1200" dirty="0"/>
              <a:t>로 표현 </a:t>
            </a:r>
            <a:r>
              <a:rPr lang="zh-CN" altLang="en-US" dirty="0"/>
              <a:t>皮尔逊相关系数表示为 </a:t>
            </a:r>
            <a:r>
              <a:rPr lang="en-US" altLang="zh-CN" dirty="0"/>
              <a:t>r</a:t>
            </a:r>
            <a:endParaRPr lang="en-US" altLang="ko-KR" sz="1200" dirty="0"/>
          </a:p>
          <a:p>
            <a:pPr lvl="2">
              <a:defRPr/>
            </a:pPr>
            <a:endParaRPr lang="en-US" altLang="ko-KR" sz="1200" dirty="0"/>
          </a:p>
          <a:p>
            <a:pPr lvl="1">
              <a:defRPr/>
            </a:pPr>
            <a:r>
              <a:rPr lang="ko-KR" altLang="en-US" sz="1500" dirty="0"/>
              <a:t>상관 분석 결과의 시각화 </a:t>
            </a:r>
            <a:r>
              <a:rPr lang="zh-CN" altLang="en-US" dirty="0"/>
              <a:t>可视化相关性结果</a:t>
            </a:r>
            <a:endParaRPr lang="ko-KR" altLang="en-US" sz="1500" dirty="0"/>
          </a:p>
          <a:p>
            <a:pPr lvl="2">
              <a:defRPr/>
            </a:pPr>
            <a:r>
              <a:rPr lang="ko-KR" altLang="en-US" sz="1300" dirty="0"/>
              <a:t>상관 분석 결과를 </a:t>
            </a:r>
            <a:r>
              <a:rPr lang="ko-KR" altLang="en-US" sz="1300" dirty="0" err="1"/>
              <a:t>시각화할</a:t>
            </a:r>
            <a:r>
              <a:rPr lang="ko-KR" altLang="en-US" sz="1300" dirty="0"/>
              <a:t> 때는 두 변수의 관계를 보여주는 </a:t>
            </a:r>
            <a:r>
              <a:rPr lang="ko-KR" altLang="en-US" sz="1300" dirty="0" err="1"/>
              <a:t>산점도나</a:t>
            </a:r>
            <a:r>
              <a:rPr lang="ko-KR" altLang="en-US" sz="1300" dirty="0"/>
              <a:t> </a:t>
            </a:r>
            <a:r>
              <a:rPr lang="ko-KR" altLang="en-US" sz="1300" dirty="0" err="1"/>
              <a:t>히트맵을</a:t>
            </a:r>
            <a:r>
              <a:rPr lang="ko-KR" altLang="en-US" sz="1300" dirty="0"/>
              <a:t> 많이 사용 </a:t>
            </a:r>
            <a:r>
              <a:rPr lang="zh-CN" altLang="en-US" sz="1300" dirty="0"/>
              <a:t>在可视化相关分析结果时，常使用展示两个变量关系的散点图或热力图。</a:t>
            </a:r>
            <a:endParaRPr lang="en-US" altLang="ko-KR" sz="15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1"/>
          <a:srcRect t="10227" b="14087"/>
          <a:stretch>
            <a:fillRect/>
          </a:stretch>
        </p:blipFill>
        <p:spPr>
          <a:xfrm>
            <a:off x="391652" y="1005841"/>
            <a:ext cx="7505317" cy="49045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515027" y="93518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61410" y="1124457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zh-CN" sz="3600" dirty="0"/>
              <a:t>2. </a:t>
            </a:r>
            <a:r>
              <a:rPr lang="zh-CN" altLang="en-US" sz="3600" dirty="0"/>
              <a:t>了解关键概念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수집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r>
              <a:rPr lang="en-US" altLang="ko-KR" sz="1200" dirty="0"/>
              <a:t>01</a:t>
            </a:r>
            <a:r>
              <a:rPr lang="ko-KR" altLang="en-US" sz="1200" dirty="0"/>
              <a:t>행  </a:t>
            </a:r>
            <a:r>
              <a:rPr lang="en-US" altLang="ko-KR" sz="1200" dirty="0"/>
              <a:t>seaborn </a:t>
            </a:r>
            <a:r>
              <a:rPr lang="ko-KR" altLang="en-US" sz="1200" dirty="0"/>
              <a:t>패키지 로드</a:t>
            </a:r>
            <a:r>
              <a:rPr lang="en-US" altLang="ko-KR" sz="1200" dirty="0"/>
              <a:t>  </a:t>
            </a:r>
            <a:r>
              <a:rPr lang="en-US" altLang="ko-KR" dirty="0"/>
              <a:t>01 </a:t>
            </a:r>
            <a:r>
              <a:rPr lang="ko-KR" altLang="en-US" dirty="0"/>
              <a:t>行 </a:t>
            </a:r>
            <a:r>
              <a:rPr lang="en-US" altLang="ko-KR" dirty="0"/>
              <a:t>Seaborn </a:t>
            </a:r>
            <a:r>
              <a:rPr lang="ko-KR" altLang="en-US" dirty="0"/>
              <a:t>包裹装载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03</a:t>
            </a:r>
            <a:r>
              <a:rPr lang="ko-KR" altLang="en-US" sz="1200" dirty="0"/>
              <a:t>행  </a:t>
            </a:r>
            <a:r>
              <a:rPr lang="en-US" altLang="ko-KR" sz="1200" dirty="0"/>
              <a:t>titanic </a:t>
            </a:r>
            <a:r>
              <a:rPr lang="ko-KR" altLang="en-US" sz="1200" dirty="0"/>
              <a:t>데이터 로드 </a:t>
            </a:r>
            <a:r>
              <a:rPr lang="zh-CN" altLang="en-US" dirty="0"/>
              <a:t>第 </a:t>
            </a:r>
            <a:r>
              <a:rPr lang="en-US" altLang="zh-CN" dirty="0"/>
              <a:t>03 </a:t>
            </a:r>
            <a:r>
              <a:rPr lang="zh-CN" altLang="en-US" dirty="0"/>
              <a:t>行 加载泰坦尼克号数据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04</a:t>
            </a:r>
            <a:r>
              <a:rPr lang="ko-KR" altLang="en-US" sz="1200" dirty="0"/>
              <a:t>행  데이터를 </a:t>
            </a:r>
            <a:r>
              <a:rPr lang="en-US" altLang="ko-KR" sz="1200" dirty="0"/>
              <a:t>CSV </a:t>
            </a:r>
            <a:r>
              <a:rPr lang="ko-KR" altLang="en-US" sz="1200" dirty="0"/>
              <a:t>파일로 저장 </a:t>
            </a:r>
            <a:r>
              <a:rPr lang="en-US" altLang="zh-CN" dirty="0"/>
              <a:t>04</a:t>
            </a:r>
            <a:r>
              <a:rPr lang="zh-CN" altLang="en-US" dirty="0"/>
              <a:t>将行数据保存为 </a:t>
            </a:r>
            <a:r>
              <a:rPr lang="en-US" altLang="zh-CN" dirty="0"/>
              <a:t>CSV </a:t>
            </a:r>
            <a:r>
              <a:rPr lang="zh-CN" altLang="en-US" dirty="0"/>
              <a:t>文件</a:t>
            </a:r>
            <a:endParaRPr lang="en-US" altLang="ko-KR" sz="1200" dirty="0"/>
          </a:p>
          <a:p>
            <a:pPr lvl="3"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데이터 준비</a:t>
            </a:r>
            <a:endParaRPr lang="en-US" altLang="ko-KR" sz="700" dirty="0"/>
          </a:p>
          <a:p>
            <a:pPr lvl="3">
              <a:defRPr/>
            </a:pPr>
            <a:r>
              <a:rPr lang="ko-KR" altLang="en-US" dirty="0"/>
              <a:t>저장한 </a:t>
            </a:r>
            <a:r>
              <a:rPr lang="en-US" altLang="ko-KR" dirty="0"/>
              <a:t>titanic.csv </a:t>
            </a:r>
            <a:r>
              <a:rPr lang="ko-KR" altLang="en-US" dirty="0"/>
              <a:t>파일을 열어서 데이터 정리 작업이 필요한지 확인하기 打开已保存的</a:t>
            </a:r>
            <a:r>
              <a:rPr lang="en-US" altLang="ko-KR" dirty="0"/>
              <a:t>titanic.csv</a:t>
            </a:r>
            <a:r>
              <a:rPr lang="ko-KR" altLang="en-US" dirty="0"/>
              <a:t>文件，查看是否需要清理数据</a:t>
            </a:r>
            <a:endParaRPr lang="en-US" altLang="ko-KR" dirty="0"/>
          </a:p>
        </p:txBody>
      </p:sp>
      <p:grpSp>
        <p:nvGrpSpPr>
          <p:cNvPr id="3" name="그룹 2"/>
          <p:cNvGrpSpPr/>
          <p:nvPr/>
        </p:nvGrpSpPr>
        <p:grpSpPr>
          <a:xfrm>
            <a:off x="4053550" y="4925684"/>
            <a:ext cx="7805738" cy="1797402"/>
            <a:chOff x="2416175" y="4620519"/>
            <a:chExt cx="7805738" cy="2087562"/>
          </a:xfrm>
        </p:grpSpPr>
        <p:pic>
          <p:nvPicPr>
            <p:cNvPr id="71686" name="그림 1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0013" y="4620519"/>
              <a:ext cx="5765800" cy="2087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993" name="Picture 9"/>
            <p:cNvPicPr>
              <a:picLocks noChangeAspect="1" noChangeArrowheads="1"/>
            </p:cNvPicPr>
            <p:nvPr/>
          </p:nvPicPr>
          <p:blipFill rotWithShape="1">
            <a:blip r:embed="rId2"/>
            <a:srcRect t="10827"/>
            <a:stretch>
              <a:fillRect/>
            </a:stretch>
          </p:blipFill>
          <p:spPr bwMode="auto">
            <a:xfrm>
              <a:off x="2416175" y="4641156"/>
              <a:ext cx="7805738" cy="1843088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  <a:miter lim="800000"/>
              <a:headEnd/>
              <a:tailEnd/>
            </a:ln>
          </p:spPr>
        </p:pic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5470" y="1033615"/>
            <a:ext cx="7564858" cy="52200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" name="그룹 1"/>
          <p:cNvGrpSpPr/>
          <p:nvPr/>
        </p:nvGrpSpPr>
        <p:grpSpPr>
          <a:xfrm>
            <a:off x="2343007" y="1424452"/>
            <a:ext cx="8353425" cy="946151"/>
            <a:chOff x="2135189" y="1546225"/>
            <a:chExt cx="8353425" cy="946151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2419350" y="1557339"/>
              <a:ext cx="7564438" cy="9350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685" name="내용 개체 틀 2"/>
            <p:cNvSpPr txBox="1"/>
            <p:nvPr/>
          </p:nvSpPr>
          <p:spPr bwMode="auto">
            <a:xfrm>
              <a:off x="2135189" y="1546225"/>
              <a:ext cx="8353425" cy="863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01   &gt;&gt;&gt; </a:t>
              </a:r>
              <a:r>
                <a:rPr lang="es-ES" altLang="ko-KR" sz="1200" b="1"/>
                <a:t>import</a:t>
              </a:r>
              <a:r>
                <a:rPr lang="es-ES" altLang="ko-KR" sz="1200"/>
                <a:t> seaborn </a:t>
              </a:r>
              <a:r>
                <a:rPr lang="es-ES" altLang="ko-KR" sz="1200" b="1"/>
                <a:t>as</a:t>
              </a:r>
              <a:r>
                <a:rPr lang="es-ES" altLang="ko-KR" sz="1200"/>
                <a:t> sns</a:t>
              </a:r>
              <a:endParaRPr lang="es-E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02   &gt;&gt;&gt; import pandas as pd</a:t>
              </a:r>
              <a:endParaRPr lang="es-E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03   &gt;&gt;&gt; titanic = sns</a:t>
              </a:r>
              <a:r>
                <a:rPr lang="es-ES" altLang="ko-KR" sz="1200" b="1"/>
                <a:t>.load_datase</a:t>
              </a:r>
              <a:r>
                <a:rPr lang="es-ES" altLang="ko-KR" sz="1200"/>
                <a:t>t("titanic")</a:t>
              </a:r>
              <a:endParaRPr lang="es-E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200"/>
                <a:t>04   &gt;&gt;&gt; titanic.to_csv('C:/Users/</a:t>
              </a:r>
              <a:r>
                <a:rPr lang="en-US" altLang="ko-KR" sz="1200"/>
                <a:t>OOOO</a:t>
              </a:r>
              <a:r>
                <a:rPr lang="es-ES" altLang="ko-KR" sz="1200"/>
                <a:t>/My_Python/7</a:t>
              </a:r>
              <a:r>
                <a:rPr lang="ko-KR" altLang="en-US" sz="1200"/>
                <a:t>장</a:t>
              </a:r>
              <a:r>
                <a:rPr lang="en-US" altLang="ko-KR" sz="1200"/>
                <a:t>_</a:t>
              </a:r>
              <a:r>
                <a:rPr lang="es-ES" altLang="ko-KR" sz="1200"/>
                <a:t>data/titanic.csv', index = False)</a:t>
              </a:r>
              <a:endParaRPr lang="es-ES" altLang="ko-KR" sz="1200">
                <a:solidFill>
                  <a:srgbClr val="258BCD"/>
                </a:solidFill>
              </a:endParaRP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385" y="3874838"/>
            <a:ext cx="8138361" cy="504000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515027" y="93518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27168" y="1119912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3. </a:t>
            </a:r>
            <a:r>
              <a:rPr lang="ko-KR" altLang="en-US" sz="3600" dirty="0"/>
              <a:t>数据收集</a:t>
            </a:r>
            <a:endParaRPr lang="ko-KR" alt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2526228" y="3965251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4. </a:t>
            </a:r>
            <a:r>
              <a:rPr lang="ko-KR" altLang="en-US" sz="3600" dirty="0"/>
              <a:t>数据准备</a:t>
            </a:r>
            <a:endParaRPr lang="ko-KR" altLang="en-US" sz="3600" dirty="0"/>
          </a:p>
        </p:txBody>
      </p:sp>
      <p:sp>
        <p:nvSpPr>
          <p:cNvPr id="13" name="TextBox 12"/>
          <p:cNvSpPr txBox="1"/>
          <p:nvPr/>
        </p:nvSpPr>
        <p:spPr>
          <a:xfrm>
            <a:off x="1128984" y="6530362"/>
            <a:ext cx="3565975" cy="31381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0000" lnSpcReduction="20000"/>
          </a:bodyPr>
          <a:lstStyle/>
          <a:p>
            <a:r>
              <a:rPr lang="ko-KR" altLang="en-US" sz="3600" dirty="0"/>
              <a:t>图 </a:t>
            </a:r>
            <a:r>
              <a:rPr lang="en-US" altLang="ko-KR" sz="3600" dirty="0"/>
              <a:t>7-8 </a:t>
            </a:r>
            <a:r>
              <a:rPr lang="ko-KR" altLang="en-US" sz="3600" dirty="0"/>
              <a:t>打开下载的文件 （</a:t>
            </a:r>
            <a:r>
              <a:rPr lang="en-US" altLang="ko-KR" sz="3600" dirty="0"/>
              <a:t>titanic.csv</a:t>
            </a:r>
            <a:r>
              <a:rPr lang="ko-KR" altLang="en-US" sz="3600" dirty="0"/>
              <a:t>）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준비</a:t>
            </a:r>
            <a:endParaRPr lang="en-US" altLang="ko-KR" dirty="0"/>
          </a:p>
        </p:txBody>
      </p:sp>
      <p:grpSp>
        <p:nvGrpSpPr>
          <p:cNvPr id="2" name="그룹 1"/>
          <p:cNvGrpSpPr/>
          <p:nvPr/>
        </p:nvGrpSpPr>
        <p:grpSpPr>
          <a:xfrm>
            <a:off x="750917" y="1542503"/>
            <a:ext cx="10912562" cy="4913312"/>
            <a:chOff x="1524000" y="1484313"/>
            <a:chExt cx="10912562" cy="4913312"/>
          </a:xfrm>
        </p:grpSpPr>
        <p:sp>
          <p:nvSpPr>
            <p:cNvPr id="11" name="직사각형 10"/>
            <p:cNvSpPr/>
            <p:nvPr/>
          </p:nvSpPr>
          <p:spPr bwMode="auto">
            <a:xfrm>
              <a:off x="1646239" y="1501775"/>
              <a:ext cx="5170487" cy="48958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3733" name="내용 개체 틀 2"/>
            <p:cNvSpPr txBox="1"/>
            <p:nvPr/>
          </p:nvSpPr>
          <p:spPr bwMode="auto">
            <a:xfrm>
              <a:off x="1524000" y="1501775"/>
              <a:ext cx="5651500" cy="4464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100"/>
                <a:t>01   &gt;&gt;&gt; titanic</a:t>
              </a:r>
              <a:r>
                <a:rPr lang="en-US" altLang="ko-KR" sz="1100" b="1"/>
                <a:t>.isnull().sum()</a:t>
              </a:r>
              <a:endParaRPr lang="en-US" altLang="ko-KR" sz="1100" b="1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survived           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pclass             </a:t>
              </a:r>
              <a:r>
                <a:rPr lang="en-US" altLang="ko-KR" sz="800">
                  <a:solidFill>
                    <a:srgbClr val="258BCD"/>
                  </a:solidFill>
                </a:rPr>
                <a:t>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sex              </a:t>
              </a:r>
              <a:r>
                <a:rPr lang="en-US" altLang="ko-KR" sz="900">
                  <a:solidFill>
                    <a:srgbClr val="258BCD"/>
                  </a:solidFill>
                </a:rPr>
                <a:t>   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age              </a:t>
              </a:r>
              <a:r>
                <a:rPr lang="en-US" altLang="ko-KR" sz="800">
                  <a:solidFill>
                    <a:srgbClr val="258BCD"/>
                  </a:solidFill>
                </a:rPr>
                <a:t> </a:t>
              </a:r>
              <a:r>
                <a:rPr lang="en-US" altLang="ko-KR" sz="1000">
                  <a:solidFill>
                    <a:srgbClr val="258BCD"/>
                  </a:solidFill>
                </a:rPr>
                <a:t>177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sibsp               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parch          </a:t>
              </a:r>
              <a:r>
                <a:rPr lang="en-US" altLang="ko-KR" sz="800">
                  <a:solidFill>
                    <a:srgbClr val="258BCD"/>
                  </a:solidFill>
                </a:rPr>
                <a:t>   </a:t>
              </a:r>
              <a:r>
                <a:rPr lang="en-US" altLang="ko-KR" sz="1000">
                  <a:solidFill>
                    <a:srgbClr val="258BCD"/>
                  </a:solidFill>
                </a:rPr>
                <a:t>  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fare                </a:t>
              </a:r>
              <a:r>
                <a:rPr lang="en-US" altLang="ko-KR" sz="700">
                  <a:solidFill>
                    <a:srgbClr val="258BCD"/>
                  </a:solidFill>
                </a:rPr>
                <a:t>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embarked      </a:t>
              </a:r>
              <a:r>
                <a:rPr lang="en-US" altLang="ko-KR" sz="800">
                  <a:solidFill>
                    <a:srgbClr val="258BCD"/>
                  </a:solidFill>
                </a:rPr>
                <a:t>  </a:t>
              </a:r>
              <a:r>
                <a:rPr lang="en-US" altLang="ko-KR" sz="1000">
                  <a:solidFill>
                    <a:srgbClr val="258BCD"/>
                  </a:solidFill>
                </a:rPr>
                <a:t>  2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class              </a:t>
              </a:r>
              <a:r>
                <a:rPr lang="en-US" altLang="ko-KR" sz="700">
                  <a:solidFill>
                    <a:srgbClr val="258BCD"/>
                  </a:solidFill>
                </a:rPr>
                <a:t> 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</a:t>
              </a:r>
              <a:r>
                <a:rPr lang="en-US" altLang="ko-KR" sz="1000"/>
                <a:t> </a:t>
              </a:r>
              <a:r>
                <a:rPr lang="en-US" altLang="ko-KR" sz="1000">
                  <a:solidFill>
                    <a:srgbClr val="258BCD"/>
                  </a:solidFill>
                </a:rPr>
                <a:t>who                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adult_male     </a:t>
              </a:r>
              <a:r>
                <a:rPr lang="en-US" altLang="ko-KR" sz="800">
                  <a:solidFill>
                    <a:srgbClr val="258BCD"/>
                  </a:solidFill>
                </a:rPr>
                <a:t>  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deck              688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embark_town   </a:t>
              </a:r>
              <a:r>
                <a:rPr lang="en-US" altLang="ko-KR" sz="700">
                  <a:solidFill>
                    <a:srgbClr val="258BCD"/>
                  </a:solidFill>
                </a:rPr>
                <a:t>  </a:t>
              </a:r>
              <a:r>
                <a:rPr lang="en-US" altLang="ko-KR" sz="1000">
                  <a:solidFill>
                    <a:srgbClr val="258BCD"/>
                  </a:solidFill>
                </a:rPr>
                <a:t> 2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alive            </a:t>
              </a:r>
              <a:r>
                <a:rPr lang="en-US" altLang="ko-KR" sz="900">
                  <a:solidFill>
                    <a:srgbClr val="258BCD"/>
                  </a:solidFill>
                </a:rPr>
                <a:t>  </a:t>
              </a:r>
              <a:r>
                <a:rPr lang="en-US" altLang="ko-KR" sz="1000">
                  <a:solidFill>
                    <a:srgbClr val="258BCD"/>
                  </a:solidFill>
                </a:rPr>
                <a:t>  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alone          </a:t>
              </a:r>
              <a:r>
                <a:rPr lang="en-US" altLang="ko-KR" sz="700">
                  <a:solidFill>
                    <a:srgbClr val="258BCD"/>
                  </a:solidFill>
                </a:rPr>
                <a:t>  </a:t>
              </a:r>
              <a:r>
                <a:rPr lang="en-US" altLang="ko-KR" sz="900">
                  <a:solidFill>
                    <a:srgbClr val="258BCD"/>
                  </a:solidFill>
                </a:rPr>
                <a:t> </a:t>
              </a:r>
              <a:r>
                <a:rPr lang="en-US" altLang="ko-KR" sz="1000">
                  <a:solidFill>
                    <a:srgbClr val="258BCD"/>
                  </a:solidFill>
                </a:rPr>
                <a:t>  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</a:t>
              </a:r>
              <a:r>
                <a:rPr lang="es-ES" altLang="ko-KR" sz="1000">
                  <a:solidFill>
                    <a:srgbClr val="258BCD"/>
                  </a:solidFill>
                </a:rPr>
                <a:t>dtype  :  int64</a:t>
              </a:r>
              <a:endParaRPr lang="es-E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/>
                <a:t>02   &gt;&gt;&gt; titanic['age'] = titanic['age'].</a:t>
              </a:r>
              <a:r>
                <a:rPr lang="es-ES" altLang="ko-KR" sz="1100" b="1"/>
                <a:t>fillna</a:t>
              </a:r>
              <a:r>
                <a:rPr lang="es-ES" altLang="ko-KR" sz="1100"/>
                <a:t>(titanic['age']</a:t>
              </a:r>
              <a:r>
                <a:rPr lang="es-ES" altLang="ko-KR" sz="1100" b="1"/>
                <a:t>.median())</a:t>
              </a:r>
              <a:endParaRPr lang="es-ES" altLang="ko-KR" sz="1100" b="1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s-ES" altLang="ko-KR" sz="1100"/>
                <a:t>03   &gt;&gt;&gt; titanic['embarked']</a:t>
              </a:r>
              <a:r>
                <a:rPr lang="es-ES" altLang="ko-KR" sz="1100" b="1"/>
                <a:t>.value_counts()</a:t>
              </a:r>
              <a:endParaRPr lang="es-ES" altLang="ko-KR" sz="1100" b="1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</a:t>
              </a:r>
              <a:r>
                <a:rPr lang="es-ES" altLang="ko-KR" sz="1000">
                  <a:solidFill>
                    <a:srgbClr val="258BCD"/>
                  </a:solidFill>
                </a:rPr>
                <a:t>S     644</a:t>
              </a:r>
              <a:endParaRPr lang="es-E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</a:t>
              </a:r>
              <a:r>
                <a:rPr lang="es-ES" altLang="ko-KR" sz="1000">
                  <a:solidFill>
                    <a:srgbClr val="258BCD"/>
                  </a:solidFill>
                </a:rPr>
                <a:t>C     168</a:t>
              </a:r>
              <a:endParaRPr lang="es-E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</a:t>
              </a:r>
              <a:r>
                <a:rPr lang="es-ES" altLang="ko-KR" sz="1000">
                  <a:solidFill>
                    <a:srgbClr val="258BCD"/>
                  </a:solidFill>
                </a:rPr>
                <a:t>Q      77</a:t>
              </a:r>
              <a:endParaRPr lang="es-E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</a:t>
              </a:r>
              <a:r>
                <a:rPr lang="es-ES" altLang="ko-KR" sz="1000">
                  <a:solidFill>
                    <a:srgbClr val="258BCD"/>
                  </a:solidFill>
                </a:rPr>
                <a:t>Name  :  embarked, dtype: int64</a:t>
              </a:r>
              <a:endParaRPr lang="es-E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100"/>
                <a:t>04   &gt;&gt;&gt; titanic['embarked'] = titanic['embarked']</a:t>
              </a:r>
              <a:r>
                <a:rPr lang="en-US" altLang="ko-KR" sz="1100" b="1"/>
                <a:t>.fillna</a:t>
              </a:r>
              <a:r>
                <a:rPr lang="en-US" altLang="ko-KR" sz="1100"/>
                <a:t>('S')</a:t>
              </a:r>
              <a:endParaRPr lang="en-US" altLang="ko-KR" sz="1100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7052167" y="1484313"/>
              <a:ext cx="5384395" cy="49133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3014" name="내용 개체 틀 2"/>
            <p:cNvSpPr txBox="1"/>
            <p:nvPr/>
          </p:nvSpPr>
          <p:spPr bwMode="auto">
            <a:xfrm>
              <a:off x="6887938" y="1581151"/>
              <a:ext cx="5458332" cy="37805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/>
                <a:t>05 &gt;&gt;&gt; titanic['embark_town'].</a:t>
              </a:r>
              <a:r>
                <a:rPr lang="en-US" altLang="ko-KR" sz="1100" b="1"/>
                <a:t>value_counts()</a:t>
              </a:r>
              <a:endParaRPr lang="en-US" altLang="ko-KR" sz="1100" b="1"/>
            </a:p>
            <a:p>
              <a:pPr lvl="2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>
                  <a:solidFill>
                    <a:srgbClr val="007BC7"/>
                  </a:solidFill>
                </a:rPr>
                <a:t>Southampton    646</a:t>
              </a:r>
              <a:endParaRPr lang="en-US" altLang="ko-KR" sz="1000">
                <a:solidFill>
                  <a:srgbClr val="007BC7"/>
                </a:solidFill>
              </a:endParaRPr>
            </a:p>
            <a:p>
              <a:pPr lvl="2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>
                  <a:solidFill>
                    <a:srgbClr val="007BC7"/>
                  </a:solidFill>
                </a:rPr>
                <a:t>Cherbourg        168</a:t>
              </a:r>
              <a:endParaRPr lang="en-US" altLang="ko-KR" sz="1000">
                <a:solidFill>
                  <a:srgbClr val="007BC7"/>
                </a:solidFill>
              </a:endParaRPr>
            </a:p>
            <a:p>
              <a:pPr lvl="2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>
                  <a:solidFill>
                    <a:srgbClr val="007BC7"/>
                  </a:solidFill>
                </a:rPr>
                <a:t>Queenstown       77</a:t>
              </a:r>
              <a:endParaRPr lang="en-US" altLang="ko-KR" sz="1000">
                <a:solidFill>
                  <a:srgbClr val="007BC7"/>
                </a:solidFill>
              </a:endParaRPr>
            </a:p>
            <a:p>
              <a:pPr lvl="2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00">
                  <a:solidFill>
                    <a:srgbClr val="007BC7"/>
                  </a:solidFill>
                </a:rPr>
                <a:t>Name: embark_town, dtype: int64</a:t>
              </a:r>
              <a:endParaRPr lang="en-US" altLang="ko-KR" sz="1000">
                <a:solidFill>
                  <a:srgbClr val="007BC7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/>
                <a:t>06   &gt;&gt;&gt; titanic['embark_town'] = titanic['embark_town']</a:t>
              </a:r>
              <a:r>
                <a:rPr lang="en-US" altLang="ko-KR" sz="1100" b="1"/>
                <a:t>.fillna</a:t>
              </a:r>
              <a:r>
                <a:rPr lang="en-US" altLang="ko-KR" sz="1100"/>
                <a:t>('Southampton')</a:t>
              </a:r>
              <a:endParaRPr lang="en-US" altLang="ko-KR" sz="11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/>
                <a:t>07   &gt;&gt;&gt; titanic['deck'].</a:t>
              </a:r>
              <a:r>
                <a:rPr lang="en-US" altLang="ko-KR" sz="1100" b="1"/>
                <a:t>value_counts()</a:t>
              </a:r>
              <a:endParaRPr lang="en-US" altLang="ko-KR" sz="11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50">
                  <a:solidFill>
                    <a:srgbClr val="258BCD"/>
                  </a:solidFill>
                </a:rPr>
                <a:t>      C     59</a:t>
              </a:r>
              <a:endParaRPr lang="en-US" altLang="ko-KR" sz="105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50">
                  <a:solidFill>
                    <a:srgbClr val="258BCD"/>
                  </a:solidFill>
                </a:rPr>
                <a:t>      B     47</a:t>
              </a:r>
              <a:endParaRPr lang="en-US" altLang="ko-KR" sz="105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50">
                  <a:solidFill>
                    <a:srgbClr val="258BCD"/>
                  </a:solidFill>
                </a:rPr>
                <a:t>      D     33</a:t>
              </a:r>
              <a:endParaRPr lang="en-US" altLang="ko-KR" sz="105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50">
                  <a:solidFill>
                    <a:srgbClr val="258BCD"/>
                  </a:solidFill>
                </a:rPr>
                <a:t>      E     32</a:t>
              </a:r>
              <a:endParaRPr lang="en-US" altLang="ko-KR" sz="105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50">
                  <a:solidFill>
                    <a:srgbClr val="258BCD"/>
                  </a:solidFill>
                </a:rPr>
                <a:t>      A     15</a:t>
              </a:r>
              <a:endParaRPr lang="en-US" altLang="ko-KR" sz="105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50">
                  <a:solidFill>
                    <a:srgbClr val="258BCD"/>
                  </a:solidFill>
                </a:rPr>
                <a:t>      F     13</a:t>
              </a:r>
              <a:endParaRPr lang="en-US" altLang="ko-KR" sz="105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50">
                  <a:solidFill>
                    <a:srgbClr val="258BCD"/>
                  </a:solidFill>
                </a:rPr>
                <a:t>      G      4</a:t>
              </a:r>
              <a:endParaRPr lang="en-US" altLang="ko-KR" sz="105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050">
                  <a:solidFill>
                    <a:srgbClr val="258BCD"/>
                  </a:solidFill>
                </a:rPr>
                <a:t>      Name: deck, dtype: int64</a:t>
              </a:r>
              <a:endParaRPr lang="en-US" altLang="ko-KR" sz="105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200"/>
                <a:t>08   &gt;&gt;&gt; titanic['deck'] = titanic['deck'].</a:t>
              </a:r>
              <a:r>
                <a:rPr lang="en-US" altLang="ko-KR" sz="1200" b="1"/>
                <a:t>fillna</a:t>
              </a:r>
              <a:r>
                <a:rPr lang="en-US" altLang="ko-KR" sz="1200"/>
                <a:t>('C')</a:t>
              </a:r>
              <a:endParaRPr lang="en-US" altLang="ko-KR" sz="1200"/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09" y="1043302"/>
            <a:ext cx="8138361" cy="504000"/>
          </a:xfrm>
          <a:prstGeom prst="rect">
            <a:avLst/>
          </a:prstGeo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515027" y="93518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7998" y="1128165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4. </a:t>
            </a:r>
            <a:r>
              <a:rPr lang="ko-KR" altLang="en-US" sz="3600" dirty="0"/>
              <a:t>数据准备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준비</a:t>
            </a:r>
            <a:endParaRPr lang="en-US" altLang="ko-KR" dirty="0"/>
          </a:p>
        </p:txBody>
      </p:sp>
      <p:grpSp>
        <p:nvGrpSpPr>
          <p:cNvPr id="2" name="그룹 1"/>
          <p:cNvGrpSpPr/>
          <p:nvPr/>
        </p:nvGrpSpPr>
        <p:grpSpPr>
          <a:xfrm>
            <a:off x="745404" y="1563465"/>
            <a:ext cx="5350596" cy="4744837"/>
            <a:chOff x="1859309" y="1464770"/>
            <a:chExt cx="5248072" cy="4744837"/>
          </a:xfrm>
        </p:grpSpPr>
        <p:sp>
          <p:nvSpPr>
            <p:cNvPr id="23" name="직사각형 22"/>
            <p:cNvSpPr/>
            <p:nvPr/>
          </p:nvSpPr>
          <p:spPr>
            <a:xfrm>
              <a:off x="1992314" y="1484313"/>
              <a:ext cx="5115067" cy="4725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5781" name="내용 개체 틀 2"/>
            <p:cNvSpPr txBox="1"/>
            <p:nvPr/>
          </p:nvSpPr>
          <p:spPr bwMode="auto">
            <a:xfrm>
              <a:off x="1859309" y="1464770"/>
              <a:ext cx="4913312" cy="3040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100"/>
                <a:t>09   &gt;&gt;&gt; titanic</a:t>
              </a:r>
              <a:r>
                <a:rPr lang="en-US" altLang="ko-KR" sz="1100" b="1"/>
                <a:t>.isnull().sum()</a:t>
              </a:r>
              <a:endParaRPr lang="en-US" altLang="ko-KR" sz="1100" b="1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survived           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pclass           </a:t>
              </a:r>
              <a:r>
                <a:rPr lang="en-US" altLang="ko-KR" sz="900">
                  <a:solidFill>
                    <a:srgbClr val="258BCD"/>
                  </a:solidFill>
                </a:rPr>
                <a:t>  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sex                </a:t>
              </a:r>
              <a:r>
                <a:rPr lang="en-US" altLang="ko-KR" sz="700">
                  <a:solidFill>
                    <a:srgbClr val="258BCD"/>
                  </a:solidFill>
                </a:rPr>
                <a:t> 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age               </a:t>
              </a:r>
              <a:r>
                <a:rPr lang="en-US" altLang="ko-KR" sz="900">
                  <a:solidFill>
                    <a:srgbClr val="258BCD"/>
                  </a:solidFill>
                </a:rPr>
                <a:t> 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sibsp           </a:t>
              </a:r>
              <a:r>
                <a:rPr lang="en-US" altLang="ko-KR" sz="900">
                  <a:solidFill>
                    <a:srgbClr val="258BCD"/>
                  </a:solidFill>
                </a:rPr>
                <a:t> </a:t>
              </a:r>
              <a:r>
                <a:rPr lang="en-US" altLang="ko-KR" sz="700">
                  <a:solidFill>
                    <a:srgbClr val="258BCD"/>
                  </a:solidFill>
                </a:rPr>
                <a:t> </a:t>
              </a:r>
              <a:r>
                <a:rPr lang="en-US" altLang="ko-KR" sz="800">
                  <a:solidFill>
                    <a:srgbClr val="258BCD"/>
                  </a:solidFill>
                </a:rPr>
                <a:t>  </a:t>
              </a:r>
              <a:r>
                <a:rPr lang="en-US" altLang="ko-KR" sz="600">
                  <a:solidFill>
                    <a:srgbClr val="258BCD"/>
                  </a:solidFill>
                </a:rPr>
                <a:t>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parch             </a:t>
              </a:r>
              <a:r>
                <a:rPr lang="en-US" altLang="ko-KR" sz="700">
                  <a:solidFill>
                    <a:srgbClr val="258BCD"/>
                  </a:solidFill>
                </a:rPr>
                <a:t> 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fare              </a:t>
              </a:r>
              <a:r>
                <a:rPr lang="en-US" altLang="ko-KR" sz="900">
                  <a:solidFill>
                    <a:srgbClr val="258BCD"/>
                  </a:solidFill>
                </a:rPr>
                <a:t>  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embarked       </a:t>
              </a:r>
              <a:r>
                <a:rPr lang="en-US" altLang="ko-KR" sz="800">
                  <a:solidFill>
                    <a:srgbClr val="258BCD"/>
                  </a:solidFill>
                </a:rPr>
                <a:t> 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class           </a:t>
              </a:r>
              <a:r>
                <a:rPr lang="en-US" altLang="ko-KR" sz="800">
                  <a:solidFill>
                    <a:srgbClr val="258BCD"/>
                  </a:solidFill>
                </a:rPr>
                <a:t>    </a:t>
              </a:r>
              <a:r>
                <a:rPr lang="en-US" altLang="ko-KR" sz="1000">
                  <a:solidFill>
                    <a:srgbClr val="258BCD"/>
                  </a:solidFill>
                </a:rPr>
                <a:t> 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who                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adult_male    </a:t>
              </a:r>
              <a:r>
                <a:rPr lang="en-US" altLang="ko-KR" sz="800">
                  <a:solidFill>
                    <a:srgbClr val="258BCD"/>
                  </a:solidFill>
                </a:rPr>
                <a:t>   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deck             </a:t>
              </a:r>
              <a:r>
                <a:rPr lang="en-US" altLang="ko-KR" sz="800">
                  <a:solidFill>
                    <a:srgbClr val="258BCD"/>
                  </a:solidFill>
                </a:rPr>
                <a:t>  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embark_town</a:t>
              </a:r>
              <a:r>
                <a:rPr lang="en-US" altLang="ko-KR" sz="800">
                  <a:solidFill>
                    <a:srgbClr val="258BCD"/>
                  </a:solidFill>
                </a:rPr>
                <a:t>  </a:t>
              </a:r>
              <a:r>
                <a:rPr lang="en-US" altLang="ko-KR" sz="700">
                  <a:solidFill>
                    <a:srgbClr val="258BCD"/>
                  </a:solidFill>
                </a:rPr>
                <a:t>  </a:t>
              </a:r>
              <a:r>
                <a:rPr lang="en-US" altLang="ko-KR" sz="900">
                  <a:solidFill>
                    <a:srgbClr val="258BCD"/>
                  </a:solidFill>
                </a:rPr>
                <a:t> </a:t>
              </a:r>
              <a:r>
                <a:rPr lang="en-US" altLang="ko-KR" sz="1000">
                  <a:solidFill>
                    <a:srgbClr val="258BCD"/>
                  </a:solidFill>
                </a:rPr>
                <a:t>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alive          </a:t>
              </a:r>
              <a:r>
                <a:rPr lang="en-US" altLang="ko-KR" sz="900">
                  <a:solidFill>
                    <a:srgbClr val="258BCD"/>
                  </a:solidFill>
                </a:rPr>
                <a:t>    </a:t>
              </a:r>
              <a:r>
                <a:rPr lang="en-US" altLang="ko-KR" sz="1000">
                  <a:solidFill>
                    <a:srgbClr val="258BCD"/>
                  </a:solidFill>
                </a:rPr>
                <a:t>  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alone         </a:t>
              </a:r>
              <a:r>
                <a:rPr lang="en-US" altLang="ko-KR" sz="800">
                  <a:solidFill>
                    <a:srgbClr val="258BCD"/>
                  </a:solidFill>
                </a:rPr>
                <a:t>    </a:t>
              </a:r>
              <a:r>
                <a:rPr lang="en-US" altLang="ko-KR" sz="1000">
                  <a:solidFill>
                    <a:srgbClr val="258BCD"/>
                  </a:solidFill>
                </a:rPr>
                <a:t>   0</a:t>
              </a:r>
              <a:endParaRPr lang="en-US" altLang="ko-KR" sz="10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000">
                  <a:solidFill>
                    <a:srgbClr val="258BCD"/>
                  </a:solidFill>
                </a:rPr>
                <a:t>      dtype: int64</a:t>
              </a:r>
              <a:endParaRPr lang="es-ES" altLang="ko-KR" sz="1000">
                <a:solidFill>
                  <a:srgbClr val="258BCD"/>
                </a:solidFill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09" y="1043302"/>
            <a:ext cx="8138361" cy="504000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5027" y="93518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7998" y="1128165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4. </a:t>
            </a:r>
            <a:r>
              <a:rPr lang="ko-KR" altLang="en-US" sz="3600" dirty="0"/>
              <a:t>数据准备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탐색</a:t>
            </a: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r>
              <a:rPr lang="ko-KR" altLang="en-US" dirty="0"/>
              <a:t>데이터의 기본 정보 탐색하기 </a:t>
            </a:r>
            <a:r>
              <a:rPr lang="zh-CN" altLang="en-US" dirty="0"/>
              <a:t>探索数据的基础知识</a:t>
            </a:r>
            <a:endParaRPr lang="en-US" altLang="ko-KR" dirty="0"/>
          </a:p>
        </p:txBody>
      </p:sp>
      <p:sp>
        <p:nvSpPr>
          <p:cNvPr id="7" name="내용 개체 틀 2"/>
          <p:cNvSpPr txBox="1"/>
          <p:nvPr/>
        </p:nvSpPr>
        <p:spPr bwMode="auto">
          <a:xfrm>
            <a:off x="5313219" y="2313371"/>
            <a:ext cx="6878781" cy="44338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66700" indent="-2667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SzPct val="96000"/>
              <a:buFont typeface="Arial" panose="020B0604020202020204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>
              <a:defRPr/>
            </a:pPr>
            <a:endParaRPr lang="en-US" altLang="ko-KR" dirty="0"/>
          </a:p>
          <a:p>
            <a:pPr marL="360045" lvl="3">
              <a:defRPr/>
            </a:pPr>
            <a:r>
              <a:rPr lang="en-US" altLang="ko-KR" dirty="0"/>
              <a:t>01</a:t>
            </a:r>
            <a:r>
              <a:rPr lang="ko-KR" altLang="en-US" dirty="0"/>
              <a:t>행 타이타닉 데이터의 기본 정보를 확인 </a:t>
            </a:r>
            <a:r>
              <a:rPr lang="zh-CN" altLang="en-US" dirty="0"/>
              <a:t>第</a:t>
            </a:r>
            <a:r>
              <a:rPr lang="en-US" altLang="zh-CN" dirty="0"/>
              <a:t>01</a:t>
            </a:r>
            <a:r>
              <a:rPr lang="zh-CN" altLang="en-US" dirty="0"/>
              <a:t>行 查看泰坦尼克号数据的基本信息</a:t>
            </a:r>
            <a:endParaRPr lang="en-US" altLang="ko-KR" dirty="0"/>
          </a:p>
          <a:p>
            <a:pPr marL="360045" lvl="3">
              <a:defRPr/>
            </a:pPr>
            <a:r>
              <a:rPr lang="en-US" altLang="ko-KR" dirty="0"/>
              <a:t>02</a:t>
            </a:r>
            <a:r>
              <a:rPr lang="ko-KR" altLang="en-US" dirty="0"/>
              <a:t>행 </a:t>
            </a:r>
            <a:r>
              <a:rPr lang="en-US" altLang="ko-KR" dirty="0"/>
              <a:t>survived </a:t>
            </a:r>
            <a:r>
              <a:rPr lang="ko-KR" altLang="en-US" dirty="0"/>
              <a:t>속성값의 빈도를 확인 </a:t>
            </a:r>
            <a:r>
              <a:rPr lang="en-US" altLang="zh-CN" dirty="0"/>
              <a:t>02</a:t>
            </a:r>
            <a:r>
              <a:rPr lang="zh-CN" altLang="en-US" dirty="0"/>
              <a:t>检查</a:t>
            </a:r>
            <a:r>
              <a:rPr lang="en-US" altLang="zh-CN" dirty="0"/>
              <a:t>02</a:t>
            </a:r>
            <a:r>
              <a:rPr lang="zh-CN" altLang="en-US" dirty="0"/>
              <a:t>行存活属性值的频率</a:t>
            </a:r>
            <a:endParaRPr lang="en-US" altLang="ko-KR" dirty="0"/>
          </a:p>
          <a:p>
            <a:pPr marL="360045" lvl="3">
              <a:defRPr/>
            </a:pPr>
            <a:endParaRPr lang="en-US" altLang="ko-KR" dirty="0"/>
          </a:p>
          <a:p>
            <a:pPr marL="360045" lvl="3">
              <a:defRPr/>
            </a:pPr>
            <a:r>
              <a:rPr lang="ko-KR" altLang="en-US" dirty="0"/>
              <a:t>전체 샘플의 수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891</a:t>
            </a:r>
            <a:r>
              <a:rPr lang="ko-KR" altLang="en-US" dirty="0"/>
              <a:t>개이고 속성은 </a:t>
            </a:r>
            <a:r>
              <a:rPr lang="en-US" altLang="ko-KR" dirty="0"/>
              <a:t>15</a:t>
            </a:r>
            <a:r>
              <a:rPr lang="ko-KR" altLang="en-US" dirty="0"/>
              <a:t>개 </a:t>
            </a:r>
            <a:r>
              <a:rPr lang="zh-CN" altLang="en-US" dirty="0"/>
              <a:t>总样本数：</a:t>
            </a:r>
            <a:r>
              <a:rPr lang="en-US" altLang="zh-CN" dirty="0"/>
              <a:t>891</a:t>
            </a:r>
            <a:r>
              <a:rPr lang="zh-CN" altLang="en-US" dirty="0"/>
              <a:t>，属性</a:t>
            </a:r>
            <a:r>
              <a:rPr lang="en-US" altLang="zh-CN" dirty="0"/>
              <a:t>15</a:t>
            </a:r>
            <a:endParaRPr lang="en-US" altLang="ko-KR" dirty="0"/>
          </a:p>
          <a:p>
            <a:pPr marL="360045" lvl="3">
              <a:defRPr/>
            </a:pPr>
            <a:r>
              <a:rPr lang="ko-KR" altLang="en-US" dirty="0"/>
              <a:t>샘플 </a:t>
            </a:r>
            <a:r>
              <a:rPr lang="en-US" altLang="ko-KR" dirty="0"/>
              <a:t>891</a:t>
            </a:r>
            <a:r>
              <a:rPr lang="ko-KR" altLang="en-US" dirty="0"/>
              <a:t>명 중에서 생존자는 </a:t>
            </a:r>
            <a:r>
              <a:rPr lang="en-US" altLang="ko-KR" dirty="0"/>
              <a:t>342</a:t>
            </a:r>
            <a:r>
              <a:rPr lang="ko-KR" altLang="en-US" dirty="0"/>
              <a:t>명이고 사망자는 </a:t>
            </a:r>
            <a:r>
              <a:rPr lang="en-US" altLang="ko-KR" dirty="0"/>
              <a:t>549</a:t>
            </a:r>
            <a:r>
              <a:rPr lang="ko-KR" altLang="en-US" dirty="0"/>
              <a:t>명 </a:t>
            </a:r>
            <a:r>
              <a:rPr lang="zh-CN" altLang="en-US" dirty="0"/>
              <a:t>样本中的 </a:t>
            </a:r>
            <a:r>
              <a:rPr lang="en-US" altLang="zh-CN" dirty="0"/>
              <a:t>891 </a:t>
            </a:r>
            <a:r>
              <a:rPr lang="zh-CN" altLang="en-US" dirty="0"/>
              <a:t>人中，有 </a:t>
            </a:r>
            <a:r>
              <a:rPr lang="en-US" altLang="zh-CN" dirty="0"/>
              <a:t>342 </a:t>
            </a:r>
            <a:r>
              <a:rPr lang="zh-CN" altLang="en-US" dirty="0"/>
              <a:t>人幸存，</a:t>
            </a:r>
            <a:r>
              <a:rPr lang="en-US" altLang="zh-CN" dirty="0"/>
              <a:t>549 </a:t>
            </a:r>
            <a:r>
              <a:rPr lang="zh-CN" altLang="en-US" dirty="0"/>
              <a:t>人死亡</a:t>
            </a:r>
            <a:endParaRPr lang="en-US" altLang="ko-KR" dirty="0"/>
          </a:p>
          <a:p>
            <a:pPr marL="360045" lvl="3">
              <a:defRPr/>
            </a:pPr>
            <a:r>
              <a:rPr lang="en-US" altLang="ko-KR" dirty="0" err="1"/>
              <a:t>pclass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class:</a:t>
            </a:r>
            <a:r>
              <a:rPr lang="ko-KR" altLang="en-US" dirty="0"/>
              <a:t> 객실 등급 房间等级</a:t>
            </a:r>
            <a:endParaRPr lang="en-US" altLang="ko-KR" dirty="0"/>
          </a:p>
          <a:p>
            <a:pPr marL="360045" lvl="3">
              <a:defRPr/>
            </a:pPr>
            <a:r>
              <a:rPr lang="en-US" altLang="ko-KR" dirty="0" err="1"/>
              <a:t>sibsp</a:t>
            </a:r>
            <a:r>
              <a:rPr lang="en-US" altLang="ko-KR" dirty="0"/>
              <a:t>:</a:t>
            </a:r>
            <a:r>
              <a:rPr lang="ko-KR" altLang="en-US" dirty="0"/>
              <a:t> 함께 탑승한 형제자매와 배우자 수 一起登机的兄弟姐妹和配偶人数</a:t>
            </a:r>
            <a:endParaRPr lang="en-US" altLang="ko-KR" dirty="0"/>
          </a:p>
          <a:p>
            <a:pPr marL="360045" lvl="3">
              <a:defRPr/>
            </a:pPr>
            <a:r>
              <a:rPr lang="en-US" altLang="ko-KR" dirty="0"/>
              <a:t>parch:</a:t>
            </a:r>
            <a:r>
              <a:rPr lang="ko-KR" altLang="en-US" dirty="0"/>
              <a:t> 함께 탑승한 부모</a:t>
            </a:r>
            <a:r>
              <a:rPr lang="en-US" altLang="ko-KR" dirty="0"/>
              <a:t>/</a:t>
            </a:r>
            <a:r>
              <a:rPr lang="ko-KR" altLang="en-US" dirty="0"/>
              <a:t>자식 수 一起登机的父母</a:t>
            </a:r>
            <a:r>
              <a:rPr lang="en-US" altLang="ko-KR" dirty="0"/>
              <a:t>/</a:t>
            </a:r>
            <a:r>
              <a:rPr lang="ko-KR" altLang="en-US" dirty="0"/>
              <a:t>孩子人数</a:t>
            </a:r>
            <a:endParaRPr lang="en-US" altLang="ko-KR" dirty="0"/>
          </a:p>
          <a:p>
            <a:pPr marL="360045" lvl="3">
              <a:defRPr/>
            </a:pPr>
            <a:r>
              <a:rPr lang="en-US" altLang="ko-KR" dirty="0"/>
              <a:t>embarked,</a:t>
            </a:r>
            <a:r>
              <a:rPr lang="ko-KR" altLang="en-US" dirty="0"/>
              <a:t> </a:t>
            </a:r>
            <a:r>
              <a:rPr lang="en-US" altLang="ko-KR" dirty="0" err="1"/>
              <a:t>embark_town</a:t>
            </a:r>
            <a:r>
              <a:rPr lang="en-US" altLang="ko-KR" dirty="0"/>
              <a:t>:</a:t>
            </a:r>
            <a:r>
              <a:rPr lang="ko-KR" altLang="en-US" dirty="0"/>
              <a:t> 탑승 항구 登船口</a:t>
            </a:r>
            <a:endParaRPr lang="en-US" altLang="ko-KR" dirty="0"/>
          </a:p>
          <a:p>
            <a:pPr marL="360045" lvl="3">
              <a:defRPr/>
            </a:pPr>
            <a:r>
              <a:rPr lang="en-US" altLang="ko-KR" dirty="0" err="1"/>
              <a:t>adult_male</a:t>
            </a:r>
            <a:r>
              <a:rPr lang="en-US" altLang="ko-KR" dirty="0"/>
              <a:t>:</a:t>
            </a:r>
            <a:r>
              <a:rPr lang="ko-KR" altLang="en-US" dirty="0"/>
              <a:t> 성인 남자 여부 成年男性与否</a:t>
            </a:r>
            <a:endParaRPr lang="en-US" altLang="ko-KR" dirty="0"/>
          </a:p>
          <a:p>
            <a:pPr marL="360045" lvl="3">
              <a:defRPr/>
            </a:pPr>
            <a:r>
              <a:rPr lang="en-US" altLang="ko-KR" dirty="0"/>
              <a:t>alone:</a:t>
            </a:r>
            <a:r>
              <a:rPr lang="ko-KR" altLang="en-US" dirty="0"/>
              <a:t> 동행 여부를 </a:t>
            </a:r>
            <a:r>
              <a:rPr lang="en-US" altLang="ko-KR" dirty="0"/>
              <a:t>True/False</a:t>
            </a:r>
            <a:r>
              <a:rPr lang="ko-KR" altLang="en-US" dirty="0"/>
              <a:t>로 나타냄 指示是否伴随为</a:t>
            </a:r>
            <a:r>
              <a:rPr lang="en-US" altLang="ko-KR" dirty="0"/>
              <a:t>True/False</a:t>
            </a:r>
            <a:endParaRPr lang="en-US" altLang="ko-KR" dirty="0"/>
          </a:p>
        </p:txBody>
      </p:sp>
      <p:grpSp>
        <p:nvGrpSpPr>
          <p:cNvPr id="6" name="그룹 5"/>
          <p:cNvGrpSpPr/>
          <p:nvPr/>
        </p:nvGrpSpPr>
        <p:grpSpPr>
          <a:xfrm>
            <a:off x="1195735" y="1925877"/>
            <a:ext cx="4054668" cy="4907184"/>
            <a:chOff x="1726536" y="609893"/>
            <a:chExt cx="6791325" cy="7605088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745586" y="609893"/>
              <a:ext cx="6772275" cy="1323975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2"/>
            <a:srcRect t="1776" b="3257"/>
            <a:stretch>
              <a:fillRect/>
            </a:stretch>
          </p:blipFill>
          <p:spPr>
            <a:xfrm>
              <a:off x="1726536" y="1828800"/>
              <a:ext cx="6791325" cy="6386181"/>
            </a:xfrm>
            <a:prstGeom prst="rect">
              <a:avLst/>
            </a:prstGeom>
          </p:spPr>
        </p:pic>
      </p:grp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08" y="1051939"/>
            <a:ext cx="8530736" cy="468000"/>
          </a:xfrm>
          <a:prstGeom prst="rect">
            <a:avLst/>
          </a:prstGeom>
        </p:spPr>
      </p:pic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5027" y="93518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69952" y="1133610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5. </a:t>
            </a:r>
            <a:r>
              <a:rPr lang="ko-KR" altLang="en-US" sz="3600" dirty="0"/>
              <a:t>数据探索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ko-KR" altLang="en-US" dirty="0"/>
              <a:t>데이터 탐색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ko-KR" altLang="en-US" dirty="0"/>
              <a:t>차트를 그려 데이터를 시각적으로 탐색하기 </a:t>
            </a:r>
            <a:r>
              <a:rPr lang="zh-CN" altLang="en-US" dirty="0"/>
              <a:t>绘制图表以直观地浏览数据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sz="2400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sz="1200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sz="1400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sz="1400" dirty="0"/>
          </a:p>
          <a:p>
            <a:pPr lvl="2">
              <a:lnSpc>
                <a:spcPts val="1000"/>
              </a:lnSpc>
              <a:defRPr/>
            </a:pPr>
            <a:r>
              <a:rPr lang="en-US" altLang="ko-KR" sz="1200" dirty="0"/>
              <a:t>01</a:t>
            </a:r>
            <a:r>
              <a:rPr lang="ko-KR" altLang="en-US" sz="1200" dirty="0"/>
              <a:t>행 차트를 그리기 위해 </a:t>
            </a:r>
            <a:r>
              <a:rPr lang="en-US" altLang="ko-KR" sz="1200" dirty="0" err="1"/>
              <a:t>matplotlib.pyplot</a:t>
            </a:r>
            <a:r>
              <a:rPr lang="ko-KR" altLang="en-US" sz="1200" dirty="0"/>
              <a:t>를 로드 </a:t>
            </a:r>
            <a:r>
              <a:rPr lang="en-US" altLang="ko-KR" dirty="0"/>
              <a:t>01</a:t>
            </a:r>
            <a:r>
              <a:rPr lang="ko-KR" altLang="en-US" dirty="0"/>
              <a:t>加载 </a:t>
            </a:r>
            <a:r>
              <a:rPr lang="en-US" altLang="ko-KR" dirty="0" err="1"/>
              <a:t>matplotlib.pyplot</a:t>
            </a:r>
            <a:r>
              <a:rPr lang="en-US" altLang="ko-KR" dirty="0"/>
              <a:t> </a:t>
            </a:r>
            <a:r>
              <a:rPr lang="ko-KR" altLang="en-US" dirty="0"/>
              <a:t>绘制行图</a:t>
            </a:r>
            <a:endParaRPr lang="en-US" altLang="ko-KR" sz="1200" dirty="0"/>
          </a:p>
          <a:p>
            <a:pPr lvl="2">
              <a:lnSpc>
                <a:spcPts val="1000"/>
              </a:lnSpc>
              <a:defRPr/>
            </a:pPr>
            <a:r>
              <a:rPr lang="en-US" altLang="ko-KR" sz="1200" dirty="0"/>
              <a:t>[02~07</a:t>
            </a:r>
            <a:r>
              <a:rPr lang="ko-KR" altLang="en-US" sz="1200" dirty="0"/>
              <a:t>행</a:t>
            </a:r>
            <a:r>
              <a:rPr lang="en-US" altLang="ko-KR" sz="1200" dirty="0"/>
              <a:t>] </a:t>
            </a:r>
            <a:r>
              <a:rPr lang="ko-KR" altLang="en-US" sz="1200" dirty="0"/>
              <a:t>남자 승객과 여자 승객의 생존율을 </a:t>
            </a:r>
            <a:r>
              <a:rPr lang="en-US" altLang="ko-KR" sz="1200" dirty="0"/>
              <a:t>pie </a:t>
            </a:r>
            <a:r>
              <a:rPr lang="ko-KR" altLang="en-US" sz="1200" dirty="0"/>
              <a:t>차트로 그리기 </a:t>
            </a:r>
            <a:r>
              <a:rPr lang="en-US" altLang="zh-CN" dirty="0"/>
              <a:t>【02~07</a:t>
            </a:r>
            <a:r>
              <a:rPr lang="zh-CN" altLang="en-US" dirty="0"/>
              <a:t>行</a:t>
            </a:r>
            <a:r>
              <a:rPr lang="en-US" altLang="zh-CN" dirty="0"/>
              <a:t>】</a:t>
            </a:r>
            <a:r>
              <a:rPr lang="zh-CN" altLang="en-US" dirty="0"/>
              <a:t>用饼图绘制男女乘客的存活率</a:t>
            </a:r>
            <a:endParaRPr lang="ko-KR" altLang="en-US" sz="1200" dirty="0"/>
          </a:p>
          <a:p>
            <a:pPr lvl="3">
              <a:lnSpc>
                <a:spcPts val="1000"/>
              </a:lnSpc>
              <a:defRPr/>
            </a:pPr>
            <a:r>
              <a:rPr lang="en-US" altLang="ko-KR" sz="1100" dirty="0"/>
              <a:t>02</a:t>
            </a:r>
            <a:r>
              <a:rPr lang="ko-KR" altLang="en-US" sz="1100" dirty="0"/>
              <a:t>행 한 줄에 두 개의 차트를 그리도록 하고 크기를 설정 </a:t>
            </a:r>
            <a:r>
              <a:rPr lang="zh-CN" altLang="en-US" dirty="0"/>
              <a:t>第</a:t>
            </a:r>
            <a:r>
              <a:rPr lang="en-US" altLang="zh-CN" dirty="0"/>
              <a:t>02</a:t>
            </a:r>
            <a:r>
              <a:rPr lang="zh-CN" altLang="en-US" dirty="0"/>
              <a:t>在一行上绘制两个图表并设置大小</a:t>
            </a:r>
            <a:endParaRPr lang="en-US" altLang="ko-KR" sz="1100" dirty="0"/>
          </a:p>
          <a:p>
            <a:pPr lvl="3">
              <a:lnSpc>
                <a:spcPts val="1000"/>
              </a:lnSpc>
              <a:defRPr/>
            </a:pPr>
            <a:r>
              <a:rPr lang="en-US" altLang="ko-KR" sz="1100" dirty="0"/>
              <a:t>03</a:t>
            </a:r>
            <a:r>
              <a:rPr lang="ko-KR" altLang="en-US" sz="1100" dirty="0"/>
              <a:t>행 첫 번째 </a:t>
            </a:r>
            <a:r>
              <a:rPr lang="en-US" altLang="ko-KR" sz="1100" dirty="0"/>
              <a:t>pie </a:t>
            </a:r>
            <a:r>
              <a:rPr lang="ko-KR" altLang="en-US" sz="1100" dirty="0"/>
              <a:t>차트는 남자 승객의 생존율을 나타내도록 설정 </a:t>
            </a:r>
            <a:r>
              <a:rPr lang="zh-CN" altLang="en-US" dirty="0"/>
              <a:t>第</a:t>
            </a:r>
            <a:r>
              <a:rPr lang="en-US" altLang="zh-CN" dirty="0"/>
              <a:t>03</a:t>
            </a:r>
            <a:r>
              <a:rPr lang="zh-CN" altLang="en-US" dirty="0"/>
              <a:t>行 设置第一张</a:t>
            </a:r>
            <a:r>
              <a:rPr lang="en-US" altLang="zh-CN" dirty="0"/>
              <a:t>PIE</a:t>
            </a:r>
            <a:r>
              <a:rPr lang="zh-CN" altLang="en-US" dirty="0"/>
              <a:t>图显示男性乘客的存活率</a:t>
            </a:r>
            <a:endParaRPr lang="en-US" altLang="ko-KR" sz="1100" dirty="0"/>
          </a:p>
          <a:p>
            <a:pPr lvl="3">
              <a:lnSpc>
                <a:spcPts val="1000"/>
              </a:lnSpc>
              <a:defRPr/>
            </a:pPr>
            <a:r>
              <a:rPr lang="en-US" altLang="ko-KR" sz="1100" dirty="0"/>
              <a:t>04</a:t>
            </a:r>
            <a:r>
              <a:rPr lang="ko-KR" altLang="en-US" sz="1100" dirty="0"/>
              <a:t>행 두 번째 </a:t>
            </a:r>
            <a:r>
              <a:rPr lang="en-US" altLang="ko-KR" sz="1100" dirty="0"/>
              <a:t>pie </a:t>
            </a:r>
            <a:r>
              <a:rPr lang="ko-KR" altLang="en-US" sz="1100" dirty="0"/>
              <a:t>차트는 여자 승객의 생존율을 나타내도록 설정 </a:t>
            </a:r>
            <a:r>
              <a:rPr lang="zh-CN" altLang="en-US" dirty="0"/>
              <a:t>第 </a:t>
            </a:r>
            <a:r>
              <a:rPr lang="en-US" altLang="zh-CN" dirty="0"/>
              <a:t>04 </a:t>
            </a:r>
            <a:r>
              <a:rPr lang="zh-CN" altLang="en-US" dirty="0"/>
              <a:t>行的第二张 </a:t>
            </a:r>
            <a:r>
              <a:rPr lang="en-US" altLang="zh-CN" dirty="0"/>
              <a:t>PIE </a:t>
            </a:r>
            <a:r>
              <a:rPr lang="zh-CN" altLang="en-US" dirty="0"/>
              <a:t>图表设置为显示女性乘客的生存率</a:t>
            </a:r>
            <a:endParaRPr lang="en-US" altLang="ko-KR" sz="1100" dirty="0"/>
          </a:p>
          <a:p>
            <a:pPr lvl="3">
              <a:lnSpc>
                <a:spcPts val="1000"/>
              </a:lnSpc>
              <a:defRPr/>
            </a:pPr>
            <a:r>
              <a:rPr lang="en-US" altLang="ko-KR" sz="1100" dirty="0"/>
              <a:t>05</a:t>
            </a:r>
            <a:r>
              <a:rPr lang="ko-KR" altLang="en-US" sz="1100" dirty="0"/>
              <a:t>행 첫 번째 차트의 제목을 설정 </a:t>
            </a:r>
            <a:r>
              <a:rPr lang="en-US" altLang="zh-CN" dirty="0"/>
              <a:t>05 </a:t>
            </a:r>
            <a:r>
              <a:rPr lang="zh-CN" altLang="en-US" dirty="0"/>
              <a:t>设置行中第一个图表的标题</a:t>
            </a:r>
            <a:endParaRPr lang="en-US" altLang="ko-KR" sz="1100" dirty="0"/>
          </a:p>
          <a:p>
            <a:pPr lvl="3">
              <a:lnSpc>
                <a:spcPts val="1000"/>
              </a:lnSpc>
              <a:defRPr/>
            </a:pPr>
            <a:r>
              <a:rPr lang="en-US" altLang="ko-KR" sz="1100" dirty="0"/>
              <a:t>06</a:t>
            </a:r>
            <a:r>
              <a:rPr lang="ko-KR" altLang="en-US" sz="1100" dirty="0"/>
              <a:t>행 두 번째 차트의 제목을 설정 </a:t>
            </a:r>
            <a:r>
              <a:rPr lang="en-US" altLang="zh-CN" dirty="0"/>
              <a:t>06 </a:t>
            </a:r>
            <a:r>
              <a:rPr lang="zh-CN" altLang="en-US" dirty="0"/>
              <a:t>设置行中第二个图表的标题</a:t>
            </a:r>
            <a:endParaRPr lang="en-US" altLang="ko-KR" sz="1100" dirty="0"/>
          </a:p>
          <a:p>
            <a:pPr lvl="3">
              <a:lnSpc>
                <a:spcPts val="1000"/>
              </a:lnSpc>
              <a:defRPr/>
            </a:pPr>
            <a:r>
              <a:rPr lang="en-US" altLang="ko-KR" sz="1100" dirty="0"/>
              <a:t>07</a:t>
            </a:r>
            <a:r>
              <a:rPr lang="ko-KR" altLang="en-US" sz="1100" dirty="0"/>
              <a:t>행 구성한 차트를 나타낸다</a:t>
            </a:r>
            <a:r>
              <a:rPr lang="en-US" altLang="ko-KR" sz="1100" dirty="0"/>
              <a:t>. </a:t>
            </a:r>
            <a:r>
              <a:rPr lang="en-US" altLang="zh-CN" dirty="0"/>
              <a:t>07 </a:t>
            </a:r>
            <a:r>
              <a:rPr lang="zh-CN" altLang="en-US" dirty="0"/>
              <a:t>表示由行组成的图表</a:t>
            </a:r>
            <a:endParaRPr lang="en-US" altLang="ko-KR" sz="1100" dirty="0"/>
          </a:p>
        </p:txBody>
      </p:sp>
      <p:grpSp>
        <p:nvGrpSpPr>
          <p:cNvPr id="79876" name="그룹 17"/>
          <p:cNvGrpSpPr/>
          <p:nvPr/>
        </p:nvGrpSpPr>
        <p:grpSpPr bwMode="auto">
          <a:xfrm>
            <a:off x="1064031" y="2044181"/>
            <a:ext cx="10474037" cy="2594322"/>
            <a:chOff x="599200" y="1839098"/>
            <a:chExt cx="13115304" cy="518135"/>
          </a:xfrm>
        </p:grpSpPr>
        <p:sp>
          <p:nvSpPr>
            <p:cNvPr id="19" name="직사각형 18"/>
            <p:cNvSpPr/>
            <p:nvPr/>
          </p:nvSpPr>
          <p:spPr>
            <a:xfrm>
              <a:off x="796971" y="1839098"/>
              <a:ext cx="12917533" cy="5181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9879" name="내용 개체 틀 2"/>
            <p:cNvSpPr txBox="1"/>
            <p:nvPr/>
          </p:nvSpPr>
          <p:spPr bwMode="auto">
            <a:xfrm>
              <a:off x="599200" y="1839215"/>
              <a:ext cx="13028562" cy="455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/>
                <a:t>01    &gt;&gt;&gt; </a:t>
              </a:r>
              <a:r>
                <a:rPr lang="en-US" altLang="ko-KR" sz="1200" b="1"/>
                <a:t>import</a:t>
              </a:r>
              <a:r>
                <a:rPr lang="en-US" altLang="ko-KR" sz="1200"/>
                <a:t> matplotlib.pyplot </a:t>
              </a:r>
              <a:r>
                <a:rPr lang="en-US" altLang="ko-KR" sz="1200" b="1"/>
                <a:t>as</a:t>
              </a:r>
              <a:r>
                <a:rPr lang="en-US" altLang="ko-KR" sz="1200"/>
                <a:t> plt</a:t>
              </a:r>
              <a:endParaRPr lang="en-U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/>
                <a:t>02    &gt;&gt;&gt; f, ax = plt.</a:t>
              </a:r>
              <a:r>
                <a:rPr lang="en-US" altLang="ko-KR" sz="1200" b="1"/>
                <a:t>subplots(</a:t>
              </a:r>
              <a:r>
                <a:rPr lang="en-US" altLang="ko-KR" sz="1200"/>
                <a:t>1, 2, figsize = (10, 5)</a:t>
              </a:r>
              <a:r>
                <a:rPr lang="en-US" altLang="ko-KR" sz="1200" b="1"/>
                <a:t>)</a:t>
              </a:r>
              <a:endParaRPr lang="en-US" altLang="ko-KR" sz="1200" b="1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/>
                <a:t>03    &gt;&gt;&gt; titanic['survived'][titanic['sex'] == 'male'].value_counts().</a:t>
              </a:r>
              <a:r>
                <a:rPr lang="en-US" altLang="ko-KR" sz="1200" b="1"/>
                <a:t>plot.pie</a:t>
              </a:r>
              <a:r>
                <a:rPr lang="en-US" altLang="ko-KR" sz="1200"/>
                <a:t>(explode = [0,0.1], autopct = '%1.1f%%', ax = ax[0], shadow = True)</a:t>
              </a:r>
              <a:endParaRPr lang="en-U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>
                  <a:solidFill>
                    <a:srgbClr val="258BCD"/>
                  </a:solidFill>
                </a:rPr>
                <a:t>       &lt;Axes: ylabel='survived'&gt;</a:t>
              </a:r>
              <a:endParaRPr lang="en-U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/>
                <a:t>04    &gt;&gt;&gt; titanic['survived'][titanic['sex'] == 'female'].value_counts().</a:t>
              </a:r>
              <a:r>
                <a:rPr lang="en-US" altLang="ko-KR" sz="1200" b="1"/>
                <a:t>plot.pie</a:t>
              </a:r>
              <a:r>
                <a:rPr lang="en-US" altLang="ko-KR" sz="1200"/>
                <a:t>(explode = [0,0.1], autopct = '%1.1f%%', ax = ax[1], shadow = True)</a:t>
              </a:r>
              <a:endParaRPr lang="en-U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/>
                <a:t>       </a:t>
              </a:r>
              <a:r>
                <a:rPr lang="en-US" altLang="ko-KR" sz="1200">
                  <a:solidFill>
                    <a:srgbClr val="258BCD"/>
                  </a:solidFill>
                </a:rPr>
                <a:t>&lt;Axes: ylabel='survived'&gt;</a:t>
              </a:r>
              <a:endParaRPr lang="en-U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/>
                <a:t>05    &gt;&gt;&gt; ax[0].set_title('Survived (Male)')</a:t>
              </a:r>
              <a:endParaRPr lang="en-U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/>
                <a:t>       </a:t>
              </a:r>
              <a:r>
                <a:rPr lang="en-US" altLang="ko-KR" sz="1200">
                  <a:solidFill>
                    <a:srgbClr val="258BCD"/>
                  </a:solidFill>
                </a:rPr>
                <a:t>Text(0.5, 1.0, 'Survived (Male)')</a:t>
              </a:r>
              <a:endParaRPr lang="en-U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/>
                <a:t>06    &gt;&gt;&gt; ax[1].set_title('Survived (Female)')</a:t>
              </a:r>
              <a:endParaRPr lang="en-U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/>
                <a:t>       </a:t>
              </a:r>
              <a:r>
                <a:rPr lang="en-US" altLang="ko-KR" sz="1200">
                  <a:solidFill>
                    <a:srgbClr val="258BCD"/>
                  </a:solidFill>
                </a:rPr>
                <a:t>Text(0.5, 1.0, 'Survived (Female)')</a:t>
              </a:r>
              <a:endParaRPr lang="en-U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/>
                <a:t>07    &gt;&gt;&gt; plt.show()</a:t>
              </a:r>
              <a:endParaRPr lang="es-ES" altLang="ko-KR" sz="1200">
                <a:solidFill>
                  <a:srgbClr val="258BCD"/>
                </a:solidFill>
              </a:endParaRPr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08" y="1051939"/>
            <a:ext cx="8530736" cy="4680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515027" y="93518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69952" y="1133610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5. </a:t>
            </a:r>
            <a:r>
              <a:rPr lang="ko-KR" altLang="en-US" sz="3600" dirty="0"/>
              <a:t>数据探索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탐색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ko-KR" altLang="en-US" dirty="0"/>
              <a:t>차트를 그려 데이터를 시각적으로 탐색하기 </a:t>
            </a:r>
            <a:r>
              <a:rPr lang="zh-CN" altLang="en-US" dirty="0"/>
              <a:t>绘制图表以直观地浏览数据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sz="1400" dirty="0"/>
          </a:p>
          <a:p>
            <a:pPr lvl="2">
              <a:lnSpc>
                <a:spcPct val="100000"/>
              </a:lnSpc>
              <a:defRPr/>
            </a:pPr>
            <a:r>
              <a:rPr lang="ko-KR" altLang="en-US" sz="1400" dirty="0"/>
              <a:t>남자 승객의 생존율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18.9%</a:t>
            </a:r>
            <a:r>
              <a:rPr lang="ko-KR" altLang="en-US" sz="1400" dirty="0"/>
              <a:t>  </a:t>
            </a:r>
            <a:r>
              <a:rPr lang="ko-KR" altLang="en-US" dirty="0"/>
              <a:t>男性乘客存活率：</a:t>
            </a:r>
            <a:r>
              <a:rPr lang="en-US" altLang="ko-KR" dirty="0"/>
              <a:t>18.9%</a:t>
            </a:r>
            <a:endParaRPr lang="en-US" altLang="ko-KR" sz="1400" dirty="0"/>
          </a:p>
          <a:p>
            <a:pPr lvl="2">
              <a:defRPr/>
            </a:pPr>
            <a:r>
              <a:rPr lang="ko-KR" altLang="en-US" sz="1400" dirty="0"/>
              <a:t>여자 승객의 생존율 </a:t>
            </a:r>
            <a:r>
              <a:rPr lang="en-US" altLang="ko-KR" sz="1400" dirty="0"/>
              <a:t>74.2% </a:t>
            </a:r>
            <a:r>
              <a:rPr lang="ko-KR" altLang="en-US" dirty="0"/>
              <a:t>女性乘客存活率 </a:t>
            </a:r>
            <a:r>
              <a:rPr lang="en-US" altLang="ko-KR" dirty="0"/>
              <a:t>74.2%</a:t>
            </a:r>
            <a:endParaRPr lang="en-US" altLang="ko-KR" sz="1400" dirty="0"/>
          </a:p>
        </p:txBody>
      </p:sp>
      <p:pic>
        <p:nvPicPr>
          <p:cNvPr id="8192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003" y="2035951"/>
            <a:ext cx="5906877" cy="333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08" y="1051939"/>
            <a:ext cx="8530736" cy="4680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515027" y="93518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69952" y="1133610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5. </a:t>
            </a:r>
            <a:r>
              <a:rPr lang="ko-KR" altLang="en-US" sz="3600" dirty="0"/>
              <a:t>数据探索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탐색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r>
              <a:rPr lang="ko-KR" altLang="en-US" dirty="0"/>
              <a:t>등급별 생존자 수를 차트로 나타내기 </a:t>
            </a:r>
            <a:r>
              <a:rPr lang="zh-CN" altLang="en-US" dirty="0"/>
              <a:t>按等级绘制幸存者数量图表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lvl="3">
              <a:defRPr/>
            </a:pP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01</a:t>
            </a:r>
            <a:r>
              <a:rPr lang="ko-KR" altLang="en-US" sz="1200" dirty="0"/>
              <a:t>행 </a:t>
            </a:r>
            <a:r>
              <a:rPr lang="en-US" altLang="ko-KR" sz="1150" dirty="0" err="1"/>
              <a:t>pclass</a:t>
            </a:r>
            <a:r>
              <a:rPr lang="en-US" altLang="ko-KR" sz="1150" dirty="0"/>
              <a:t> </a:t>
            </a:r>
            <a:r>
              <a:rPr lang="ko-KR" altLang="en-US" sz="1150" dirty="0"/>
              <a:t>유형 </a:t>
            </a:r>
            <a:r>
              <a:rPr lang="en-US" altLang="ko-KR" sz="1150" dirty="0"/>
              <a:t>1,2,3</a:t>
            </a:r>
            <a:r>
              <a:rPr lang="ko-KR" altLang="en-US" sz="1150" dirty="0"/>
              <a:t>을 </a:t>
            </a:r>
            <a:r>
              <a:rPr lang="en-US" altLang="ko-KR" sz="1150" dirty="0"/>
              <a:t>x</a:t>
            </a:r>
            <a:r>
              <a:rPr lang="ko-KR" altLang="en-US" sz="1150" dirty="0"/>
              <a:t>축으로 하고 </a:t>
            </a:r>
            <a:r>
              <a:rPr lang="en-US" altLang="ko-KR" sz="1150" dirty="0"/>
              <a:t>survived =0</a:t>
            </a:r>
            <a:r>
              <a:rPr lang="ko-KR" altLang="en-US" sz="1150" dirty="0"/>
              <a:t>과 </a:t>
            </a:r>
            <a:r>
              <a:rPr lang="en-US" altLang="ko-KR" sz="1150" dirty="0"/>
              <a:t>survived =1</a:t>
            </a:r>
            <a:r>
              <a:rPr lang="ko-KR" altLang="en-US" sz="1150" dirty="0"/>
              <a:t>의 개수를 계산하여</a:t>
            </a:r>
            <a:endParaRPr lang="en-US" altLang="ko-KR" sz="1150" dirty="0"/>
          </a:p>
          <a:p>
            <a:pPr marL="628650" lvl="3" indent="0">
              <a:buNone/>
              <a:defRPr/>
            </a:pPr>
            <a:r>
              <a:rPr lang="en-US" altLang="ko-KR" sz="1150" dirty="0"/>
              <a:t>          </a:t>
            </a:r>
            <a:r>
              <a:rPr lang="ko-KR" altLang="en-US" sz="1150" dirty="0"/>
              <a:t> </a:t>
            </a:r>
            <a:r>
              <a:rPr lang="en-US" altLang="ko-KR" sz="1150" dirty="0"/>
              <a:t>y</a:t>
            </a:r>
            <a:r>
              <a:rPr lang="ko-KR" altLang="en-US" sz="1150" dirty="0"/>
              <a:t>축으로 하는 </a:t>
            </a:r>
            <a:r>
              <a:rPr lang="en-US" altLang="ko-KR" sz="1150" dirty="0" err="1"/>
              <a:t>countplot</a:t>
            </a:r>
            <a:r>
              <a:rPr lang="ko-KR" altLang="en-US" sz="1150" dirty="0"/>
              <a:t>을 설정 </a:t>
            </a:r>
            <a:r>
              <a:rPr lang="en-US" altLang="ko-KR" sz="1150" dirty="0"/>
              <a:t> </a:t>
            </a:r>
            <a:endParaRPr lang="en-US" altLang="ko-KR" sz="1150" dirty="0"/>
          </a:p>
          <a:p>
            <a:pPr marL="628650" lvl="3" indent="0">
              <a:buNone/>
              <a:defRPr/>
            </a:pPr>
            <a:r>
              <a:rPr lang="en-US" altLang="ko-KR" sz="1150" dirty="0"/>
              <a:t>    </a:t>
            </a:r>
            <a:r>
              <a:rPr lang="en-US" altLang="zh-CN" dirty="0"/>
              <a:t>1 </a:t>
            </a:r>
            <a:r>
              <a:rPr lang="zh-CN" altLang="en-US" dirty="0"/>
              <a:t>行 </a:t>
            </a:r>
            <a:r>
              <a:rPr lang="en-US" altLang="zh-CN" dirty="0" err="1"/>
              <a:t>pclass</a:t>
            </a:r>
            <a:r>
              <a:rPr lang="zh-CN" altLang="en-US" dirty="0"/>
              <a:t>，类型 </a:t>
            </a:r>
            <a:r>
              <a:rPr lang="en-US" altLang="zh-CN" dirty="0"/>
              <a:t>1,2,3 </a:t>
            </a:r>
            <a:r>
              <a:rPr lang="zh-CN" altLang="en-US" dirty="0"/>
              <a:t>作为 </a:t>
            </a:r>
            <a:r>
              <a:rPr lang="en-US" altLang="zh-CN" dirty="0"/>
              <a:t>x </a:t>
            </a:r>
            <a:r>
              <a:rPr lang="zh-CN" altLang="en-US" dirty="0"/>
              <a:t>轴，计算存活数 </a:t>
            </a:r>
            <a:r>
              <a:rPr lang="en-US" altLang="zh-CN" dirty="0"/>
              <a:t>=0 </a:t>
            </a:r>
            <a:r>
              <a:rPr lang="zh-CN" altLang="en-US" dirty="0"/>
              <a:t>和存活数 </a:t>
            </a:r>
            <a:r>
              <a:rPr lang="en-US" altLang="zh-CN" dirty="0"/>
              <a:t>=1 </a:t>
            </a:r>
            <a:r>
              <a:rPr lang="zh-CN" altLang="en-US" dirty="0"/>
              <a:t>在 </a:t>
            </a:r>
            <a:r>
              <a:rPr lang="en-US" altLang="zh-CN" dirty="0"/>
              <a:t>y </a:t>
            </a:r>
            <a:r>
              <a:rPr lang="zh-CN" altLang="en-US" dirty="0"/>
              <a:t>轴上设置计数图</a:t>
            </a:r>
            <a:endParaRPr lang="en-US" altLang="ko-KR" sz="1150" dirty="0"/>
          </a:p>
          <a:p>
            <a:pPr lvl="3">
              <a:defRPr/>
            </a:pPr>
            <a:r>
              <a:rPr lang="en-US" altLang="ko-KR" sz="1200" dirty="0"/>
              <a:t>02</a:t>
            </a:r>
            <a:r>
              <a:rPr lang="ko-KR" altLang="en-US" sz="1200" dirty="0"/>
              <a:t>행 차트 제목을 설정 </a:t>
            </a:r>
            <a:r>
              <a:rPr lang="en-US" altLang="zh-CN" dirty="0"/>
              <a:t>02</a:t>
            </a:r>
            <a:r>
              <a:rPr lang="zh-CN" altLang="en-US" dirty="0"/>
              <a:t>设置行图标题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03</a:t>
            </a:r>
            <a:r>
              <a:rPr lang="ko-KR" altLang="en-US" sz="1200" dirty="0"/>
              <a:t>행 구성한 차트를 나타냄 </a:t>
            </a:r>
            <a:r>
              <a:rPr lang="en-US" altLang="zh-CN" dirty="0"/>
              <a:t>03 </a:t>
            </a:r>
            <a:r>
              <a:rPr lang="zh-CN" altLang="en-US" dirty="0"/>
              <a:t>表示您配置的图表</a:t>
            </a:r>
            <a:endParaRPr lang="en-US" altLang="ko-KR" sz="1200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r>
              <a:rPr lang="ko-KR" altLang="en-US" sz="1200" dirty="0"/>
              <a:t>생존자</a:t>
            </a:r>
            <a:r>
              <a:rPr lang="en-US" altLang="ko-KR" sz="1200" dirty="0"/>
              <a:t>(1)</a:t>
            </a:r>
            <a:r>
              <a:rPr lang="ko-KR" altLang="en-US" sz="1200" dirty="0"/>
              <a:t>는 </a:t>
            </a:r>
            <a:r>
              <a:rPr lang="en-US" altLang="ko-KR" sz="1200" dirty="0"/>
              <a:t>1</a:t>
            </a:r>
            <a:r>
              <a:rPr lang="ko-KR" altLang="en-US" sz="1200" dirty="0"/>
              <a:t>등급에서 가장 많음 </a:t>
            </a:r>
            <a:r>
              <a:rPr lang="zh-CN" altLang="en-US" dirty="0"/>
              <a:t>幸存者 （</a:t>
            </a:r>
            <a:r>
              <a:rPr lang="en-US" altLang="zh-CN" dirty="0"/>
              <a:t>1</a:t>
            </a:r>
            <a:r>
              <a:rPr lang="zh-CN" altLang="en-US" dirty="0"/>
              <a:t>） 在第 </a:t>
            </a:r>
            <a:r>
              <a:rPr lang="en-US" altLang="zh-CN" dirty="0"/>
              <a:t>1 </a:t>
            </a:r>
            <a:r>
              <a:rPr lang="zh-CN" altLang="en-US" dirty="0"/>
              <a:t>层中拥有最多</a:t>
            </a:r>
            <a:endParaRPr lang="en-US" altLang="ko-KR" sz="1200" dirty="0"/>
          </a:p>
          <a:p>
            <a:pPr lvl="3">
              <a:defRPr/>
            </a:pPr>
            <a:r>
              <a:rPr lang="ko-KR" altLang="en-US" sz="1200" dirty="0"/>
              <a:t>사망자</a:t>
            </a:r>
            <a:r>
              <a:rPr lang="en-US" altLang="ko-KR" sz="1200" dirty="0"/>
              <a:t>(0)</a:t>
            </a:r>
            <a:r>
              <a:rPr lang="ko-KR" altLang="en-US" sz="1200" dirty="0"/>
              <a:t>는 </a:t>
            </a:r>
            <a:r>
              <a:rPr lang="en-US" altLang="ko-KR" sz="1200" dirty="0"/>
              <a:t>3</a:t>
            </a:r>
            <a:r>
              <a:rPr lang="ko-KR" altLang="en-US" sz="1200" dirty="0"/>
              <a:t>등급에서 월등히 많음 </a:t>
            </a:r>
            <a:r>
              <a:rPr lang="en-US" altLang="zh-CN" dirty="0"/>
              <a:t>3</a:t>
            </a:r>
            <a:r>
              <a:rPr lang="zh-CN" altLang="en-US" dirty="0"/>
              <a:t>级的死亡人数（</a:t>
            </a:r>
            <a:r>
              <a:rPr lang="en-US" altLang="zh-CN" dirty="0"/>
              <a:t>0</a:t>
            </a:r>
            <a:r>
              <a:rPr lang="zh-CN" altLang="en-US" dirty="0"/>
              <a:t>）明显更高</a:t>
            </a: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sz="1400" dirty="0"/>
          </a:p>
        </p:txBody>
      </p:sp>
      <p:grpSp>
        <p:nvGrpSpPr>
          <p:cNvPr id="2" name="그룹 1"/>
          <p:cNvGrpSpPr/>
          <p:nvPr/>
        </p:nvGrpSpPr>
        <p:grpSpPr>
          <a:xfrm>
            <a:off x="1007800" y="2135045"/>
            <a:ext cx="6696075" cy="1285875"/>
            <a:chOff x="2279651" y="1927226"/>
            <a:chExt cx="6696075" cy="1285875"/>
          </a:xfrm>
        </p:grpSpPr>
        <p:sp>
          <p:nvSpPr>
            <p:cNvPr id="6" name="직사각형 5"/>
            <p:cNvSpPr/>
            <p:nvPr/>
          </p:nvSpPr>
          <p:spPr bwMode="auto">
            <a:xfrm>
              <a:off x="2560638" y="1951038"/>
              <a:ext cx="6343650" cy="12430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2800"/>
            </a:p>
          </p:txBody>
        </p:sp>
        <p:sp>
          <p:nvSpPr>
            <p:cNvPr id="83973" name="내용 개체 틀 2"/>
            <p:cNvSpPr txBox="1"/>
            <p:nvPr/>
          </p:nvSpPr>
          <p:spPr bwMode="auto">
            <a:xfrm>
              <a:off x="2279651" y="1927226"/>
              <a:ext cx="6696075" cy="1285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400"/>
                <a:t>01    &gt;&gt;&gt; sns.</a:t>
              </a:r>
              <a:r>
                <a:rPr lang="en-US" altLang="ko-KR" sz="1400" b="1"/>
                <a:t>countplot</a:t>
              </a:r>
              <a:r>
                <a:rPr lang="en-US" altLang="ko-KR" sz="1400"/>
                <a:t>(x='pclass', hue = 'survived', data = titanic)</a:t>
              </a:r>
              <a:endParaRPr lang="en-US" altLang="ko-KR" sz="14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>
                  <a:solidFill>
                    <a:srgbClr val="258BCD"/>
                  </a:solidFill>
                </a:rPr>
                <a:t>            &lt;Axes: xlabel='pclass', ylabel='count'&gt;</a:t>
              </a:r>
              <a:endParaRPr lang="en-U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400"/>
                <a:t>02    &gt;&gt;&gt; plt.title('Pclass vs Survived')</a:t>
              </a:r>
              <a:endParaRPr lang="en-US" altLang="ko-KR" sz="14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>
                  <a:solidFill>
                    <a:srgbClr val="258BCD"/>
                  </a:solidFill>
                </a:rPr>
                <a:t>             Text(0.5, 1.0, 'Pclass vs Survived')</a:t>
              </a:r>
              <a:endParaRPr lang="en-U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400"/>
                <a:t>03    &gt;&gt;&gt; plt.show()</a:t>
              </a:r>
              <a:endParaRPr lang="es-ES" altLang="ko-KR" sz="1400">
                <a:solidFill>
                  <a:srgbClr val="258BCD"/>
                </a:solidFill>
              </a:endParaRPr>
            </a:p>
          </p:txBody>
        </p:sp>
      </p:grpSp>
      <p:pic>
        <p:nvPicPr>
          <p:cNvPr id="8397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003" y="1288473"/>
            <a:ext cx="3384433" cy="2878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rcRect t="5783" r="32972" b="1"/>
          <a:stretch>
            <a:fillRect/>
          </a:stretch>
        </p:blipFill>
        <p:spPr>
          <a:xfrm>
            <a:off x="516608" y="1079007"/>
            <a:ext cx="5717937" cy="440931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5027" y="93518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69952" y="1133610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5. </a:t>
            </a:r>
            <a:r>
              <a:rPr lang="ko-KR" altLang="en-US" sz="3600" dirty="0"/>
              <a:t>数据探索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>
          <a:xfrm>
            <a:off x="130647" y="1029130"/>
            <a:ext cx="11930706" cy="6090719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데이터 모델링</a:t>
            </a: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r>
              <a:rPr lang="ko-KR" altLang="en-US" dirty="0"/>
              <a:t>상관 분석을 위한 상관 계수 구하고 저장하기 </a:t>
            </a: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sz="1400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sz="800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lvl="3">
              <a:lnSpc>
                <a:spcPts val="800"/>
              </a:lnSpc>
              <a:defRPr/>
            </a:pPr>
            <a:r>
              <a:rPr lang="en-US" altLang="ko-KR" sz="1200" dirty="0"/>
              <a:t>01</a:t>
            </a:r>
            <a:r>
              <a:rPr lang="ko-KR" altLang="en-US" sz="1200" dirty="0"/>
              <a:t>행  자료형</a:t>
            </a:r>
            <a:r>
              <a:rPr lang="en-US" altLang="ko-KR" sz="1200" dirty="0"/>
              <a:t>(</a:t>
            </a:r>
            <a:r>
              <a:rPr lang="en-US" altLang="ko-KR" sz="1200" dirty="0" err="1"/>
              <a:t>dtype</a:t>
            </a:r>
            <a:r>
              <a:rPr lang="en-US" altLang="ko-KR" sz="1200" dirty="0"/>
              <a:t>)</a:t>
            </a:r>
            <a:r>
              <a:rPr lang="ko-KR" altLang="en-US" sz="1200" dirty="0"/>
              <a:t>이 </a:t>
            </a:r>
            <a:r>
              <a:rPr lang="en-US" altLang="ko-KR" sz="1200" dirty="0"/>
              <a:t>int, float, </a:t>
            </a:r>
            <a:r>
              <a:rPr lang="en-US" altLang="ko-KR" sz="1200" dirty="0" err="1"/>
              <a:t>boolean</a:t>
            </a:r>
            <a:r>
              <a:rPr lang="en-US" altLang="ko-KR" sz="1200" dirty="0"/>
              <a:t> </a:t>
            </a:r>
            <a:r>
              <a:rPr lang="ko-KR" altLang="en-US" sz="1200" dirty="0"/>
              <a:t>인 것만 추출해서 </a:t>
            </a:r>
            <a:r>
              <a:rPr lang="en-US" altLang="ko-KR" sz="1200" dirty="0"/>
              <a:t>tianic2</a:t>
            </a:r>
            <a:r>
              <a:rPr lang="ko-KR" altLang="en-US" sz="1200" dirty="0"/>
              <a:t>에 저장 </a:t>
            </a:r>
            <a:r>
              <a:rPr lang="en-US" altLang="ko-KR" sz="1200" dirty="0"/>
              <a:t>01</a:t>
            </a:r>
            <a:r>
              <a:rPr lang="ko-KR" altLang="en-US" sz="1200" dirty="0"/>
              <a:t>仅提取 </a:t>
            </a:r>
            <a:r>
              <a:rPr lang="en-US" altLang="ko-KR" sz="1200" dirty="0"/>
              <a:t>int</a:t>
            </a:r>
            <a:r>
              <a:rPr lang="ko-KR" altLang="en-US" sz="1200" dirty="0"/>
              <a:t>、</a:t>
            </a:r>
            <a:r>
              <a:rPr lang="en-US" altLang="ko-KR" sz="1200" dirty="0"/>
              <a:t>float </a:t>
            </a:r>
            <a:r>
              <a:rPr lang="ko-KR" altLang="en-US" sz="1200" dirty="0"/>
              <a:t>或 </a:t>
            </a:r>
            <a:r>
              <a:rPr lang="en-US" altLang="ko-KR" sz="1200" dirty="0" err="1"/>
              <a:t>boolean</a:t>
            </a:r>
            <a:r>
              <a:rPr lang="en-US" altLang="ko-KR" sz="1200" dirty="0"/>
              <a:t> </a:t>
            </a:r>
            <a:r>
              <a:rPr lang="ko-KR" altLang="en-US" sz="1200" dirty="0"/>
              <a:t>的数据类型（</a:t>
            </a:r>
            <a:r>
              <a:rPr lang="en-US" altLang="ko-KR" sz="1200" dirty="0" err="1"/>
              <a:t>dtype</a:t>
            </a:r>
            <a:r>
              <a:rPr lang="ko-KR" altLang="en-US" sz="1200" dirty="0"/>
              <a:t>）并将其存储在 </a:t>
            </a:r>
            <a:r>
              <a:rPr lang="en-US" altLang="ko-KR" sz="1200" dirty="0"/>
              <a:t>tianic2 </a:t>
            </a:r>
            <a:r>
              <a:rPr lang="ko-KR" altLang="en-US" sz="1200" dirty="0"/>
              <a:t>中</a:t>
            </a:r>
            <a:endParaRPr lang="en-US" altLang="ko-KR" sz="1200" dirty="0"/>
          </a:p>
          <a:p>
            <a:pPr lvl="3">
              <a:lnSpc>
                <a:spcPts val="800"/>
              </a:lnSpc>
              <a:defRPr/>
            </a:pPr>
            <a:r>
              <a:rPr lang="en-US" altLang="ko-KR" sz="1200" dirty="0"/>
              <a:t>02</a:t>
            </a:r>
            <a:r>
              <a:rPr lang="ko-KR" altLang="en-US" sz="1200" dirty="0"/>
              <a:t>행  </a:t>
            </a:r>
            <a:r>
              <a:rPr lang="en-US" altLang="ko-KR" sz="1200" dirty="0"/>
              <a:t>titanic2</a:t>
            </a:r>
            <a:r>
              <a:rPr lang="ko-KR" altLang="en-US" sz="1200" dirty="0"/>
              <a:t>의 구조를 출력하여 숫자형태의 자료형을 갖는 </a:t>
            </a:r>
            <a:r>
              <a:rPr lang="en-US" altLang="ko-KR" sz="1200" dirty="0"/>
              <a:t>8</a:t>
            </a:r>
            <a:r>
              <a:rPr lang="ko-KR" altLang="en-US" sz="1200" dirty="0"/>
              <a:t>개 속성만 추출된 것을 확인 </a:t>
            </a:r>
            <a:r>
              <a:rPr lang="zh-CN" altLang="en-US" sz="1100" dirty="0"/>
              <a:t>输出 </a:t>
            </a:r>
            <a:r>
              <a:rPr lang="en-US" altLang="zh-CN" sz="1100" dirty="0"/>
              <a:t>02 </a:t>
            </a:r>
            <a:r>
              <a:rPr lang="zh-CN" altLang="en-US" sz="1100" dirty="0"/>
              <a:t>行 </a:t>
            </a:r>
            <a:r>
              <a:rPr lang="en-US" altLang="zh-CN" sz="1100" dirty="0"/>
              <a:t>titanic2 </a:t>
            </a:r>
            <a:r>
              <a:rPr lang="zh-CN" altLang="en-US" sz="1100" dirty="0"/>
              <a:t>的结构，确认仅提取了 </a:t>
            </a:r>
            <a:r>
              <a:rPr lang="en-US" altLang="zh-CN" sz="1100" dirty="0"/>
              <a:t>8 </a:t>
            </a:r>
            <a:r>
              <a:rPr lang="zh-CN" altLang="en-US" sz="1100" dirty="0"/>
              <a:t>个具有数字数据类型的属性。</a:t>
            </a:r>
            <a:endParaRPr lang="en-US" altLang="ko-KR" sz="1200" dirty="0"/>
          </a:p>
          <a:p>
            <a:pPr lvl="3">
              <a:lnSpc>
                <a:spcPts val="800"/>
              </a:lnSpc>
              <a:defRPr/>
            </a:pPr>
            <a:r>
              <a:rPr lang="en-US" altLang="ko-KR" sz="1200" dirty="0"/>
              <a:t>03</a:t>
            </a:r>
            <a:r>
              <a:rPr lang="ko-KR" altLang="en-US" sz="1200" dirty="0"/>
              <a:t>행  </a:t>
            </a:r>
            <a:r>
              <a:rPr lang="ko-KR" altLang="en-US" sz="1200" dirty="0" err="1"/>
              <a:t>피어슨</a:t>
            </a:r>
            <a:r>
              <a:rPr lang="ko-KR" altLang="en-US" sz="1200" dirty="0"/>
              <a:t> 상관 계수를 적용하여 상관 계수를 구함 </a:t>
            </a:r>
            <a:r>
              <a:rPr lang="zh-CN" altLang="en-US" dirty="0"/>
              <a:t>第 </a:t>
            </a:r>
            <a:r>
              <a:rPr lang="en-US" altLang="zh-CN" dirty="0"/>
              <a:t>03 </a:t>
            </a:r>
            <a:r>
              <a:rPr lang="zh-CN" altLang="en-US" dirty="0"/>
              <a:t>行 应用 </a:t>
            </a:r>
            <a:r>
              <a:rPr lang="en-US" altLang="zh-CN" dirty="0"/>
              <a:t>Pearson </a:t>
            </a:r>
            <a:r>
              <a:rPr lang="zh-CN" altLang="en-US" dirty="0"/>
              <a:t>相关系数获得相关系数</a:t>
            </a:r>
            <a:endParaRPr lang="en-US" altLang="ko-KR" sz="1200" dirty="0"/>
          </a:p>
          <a:p>
            <a:pPr lvl="3">
              <a:lnSpc>
                <a:spcPts val="800"/>
              </a:lnSpc>
              <a:defRPr/>
            </a:pPr>
            <a:r>
              <a:rPr lang="en-US" altLang="ko-KR" sz="1200" dirty="0"/>
              <a:t>04</a:t>
            </a:r>
            <a:r>
              <a:rPr lang="ko-KR" altLang="en-US" sz="1200" dirty="0"/>
              <a:t>행  상관 계수를 출력</a:t>
            </a:r>
            <a:r>
              <a:rPr lang="en-US" altLang="ko-KR" sz="1200" dirty="0"/>
              <a:t>  </a:t>
            </a:r>
            <a:r>
              <a:rPr lang="en-US" altLang="zh-CN" dirty="0"/>
              <a:t>04 </a:t>
            </a:r>
            <a:r>
              <a:rPr lang="zh-CN" altLang="en-US" dirty="0"/>
              <a:t>打印线相关系数</a:t>
            </a:r>
            <a:endParaRPr lang="en-US" altLang="ko-KR" sz="1200" dirty="0"/>
          </a:p>
          <a:p>
            <a:pPr lvl="3">
              <a:lnSpc>
                <a:spcPts val="800"/>
              </a:lnSpc>
              <a:defRPr/>
            </a:pPr>
            <a:r>
              <a:rPr lang="en-US" altLang="ko-KR" sz="1200" dirty="0"/>
              <a:t>05</a:t>
            </a:r>
            <a:r>
              <a:rPr lang="ko-KR" altLang="en-US" sz="1200" dirty="0"/>
              <a:t>행  상관 계수를 </a:t>
            </a:r>
            <a:r>
              <a:rPr lang="en-US" altLang="ko-KR" sz="1200" dirty="0"/>
              <a:t>CSV </a:t>
            </a:r>
            <a:r>
              <a:rPr lang="ko-KR" altLang="en-US" sz="1200" dirty="0"/>
              <a:t>파일로 저장</a:t>
            </a:r>
            <a:r>
              <a:rPr lang="en-US" altLang="ko-KR" sz="1200" dirty="0"/>
              <a:t> </a:t>
            </a:r>
            <a:r>
              <a:rPr lang="en-US" altLang="zh-CN" dirty="0"/>
              <a:t>05</a:t>
            </a:r>
            <a:r>
              <a:rPr lang="zh-CN" altLang="en-US" dirty="0"/>
              <a:t>将线相关系数保存为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1029825" y="1988326"/>
            <a:ext cx="8748712" cy="3600000"/>
            <a:chOff x="1919288" y="1830387"/>
            <a:chExt cx="8748712" cy="3600000"/>
          </a:xfrm>
        </p:grpSpPr>
        <p:sp>
          <p:nvSpPr>
            <p:cNvPr id="10" name="직사각형 9"/>
            <p:cNvSpPr/>
            <p:nvPr/>
          </p:nvSpPr>
          <p:spPr bwMode="auto">
            <a:xfrm>
              <a:off x="2185988" y="1830387"/>
              <a:ext cx="8482012" cy="360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8134" name="내용 개체 틀 2"/>
            <p:cNvSpPr txBox="1"/>
            <p:nvPr/>
          </p:nvSpPr>
          <p:spPr bwMode="auto">
            <a:xfrm>
              <a:off x="1919288" y="1830389"/>
              <a:ext cx="8748712" cy="3228975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200" dirty="0"/>
                <a:t>01     </a:t>
              </a:r>
              <a:r>
                <a:rPr lang="en-US" altLang="ko-KR" sz="1400" dirty="0"/>
                <a:t>&gt;&gt;&gt; titanic2 = </a:t>
              </a:r>
              <a:r>
                <a:rPr lang="en-US" altLang="ko-KR" sz="1400" dirty="0" err="1"/>
                <a:t>titanic.select_dtypes</a:t>
              </a:r>
              <a:r>
                <a:rPr lang="en-US" altLang="ko-KR" sz="1400" dirty="0"/>
                <a:t>(include=[int, </a:t>
              </a:r>
              <a:r>
                <a:rPr lang="en-US" altLang="ko-KR" sz="1400" dirty="0" err="1"/>
                <a:t>float,bool</a:t>
              </a:r>
              <a:r>
                <a:rPr lang="en-US" altLang="ko-KR" sz="1400" dirty="0"/>
                <a:t>])</a:t>
              </a:r>
              <a:r>
                <a:rPr lang="en-US" altLang="ko-KR" sz="1200" dirty="0"/>
                <a:t> </a:t>
              </a:r>
              <a:endParaRPr lang="en-U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200" dirty="0"/>
                <a:t>02     </a:t>
              </a:r>
              <a:r>
                <a:rPr lang="en-US" altLang="ko-KR" sz="1400" dirty="0"/>
                <a:t>&gt;&gt;&gt; titanic2.shape</a:t>
              </a:r>
              <a:endParaRPr lang="en-US" altLang="ko-KR" sz="14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200" dirty="0">
                  <a:solidFill>
                    <a:srgbClr val="258BCD"/>
                  </a:solidFill>
                </a:rPr>
                <a:t>        </a:t>
              </a:r>
              <a:r>
                <a:rPr lang="en-US" altLang="ko-KR" sz="1100" dirty="0">
                  <a:solidFill>
                    <a:srgbClr val="258BCD"/>
                  </a:solidFill>
                </a:rPr>
                <a:t>(891, 8)</a:t>
              </a:r>
              <a:endParaRPr lang="en-US" altLang="ko-KR" sz="12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200" dirty="0"/>
                <a:t>03</a:t>
              </a:r>
              <a:r>
                <a:rPr lang="en-US" altLang="ko-KR" sz="1400" dirty="0"/>
                <a:t>     &gt;&gt;&gt; </a:t>
              </a:r>
              <a:r>
                <a:rPr lang="en-US" altLang="ko-KR" sz="1400" dirty="0" err="1"/>
                <a:t>titanic_corr</a:t>
              </a:r>
              <a:r>
                <a:rPr lang="en-US" altLang="ko-KR" sz="1400" dirty="0"/>
                <a:t> = titanic2</a:t>
              </a:r>
              <a:r>
                <a:rPr lang="en-US" altLang="ko-KR" sz="1400" b="1" dirty="0"/>
                <a:t>.corr</a:t>
              </a:r>
              <a:r>
                <a:rPr lang="en-US" altLang="ko-KR" sz="1400" dirty="0"/>
                <a:t>(method = '</a:t>
              </a:r>
              <a:r>
                <a:rPr lang="en-US" altLang="ko-KR" sz="1400" dirty="0" err="1"/>
                <a:t>pearson</a:t>
              </a:r>
              <a:r>
                <a:rPr lang="en-US" altLang="ko-KR" sz="1400" dirty="0"/>
                <a:t>’)</a:t>
              </a:r>
              <a:endParaRPr lang="en-US" altLang="ko-KR" sz="14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200" dirty="0"/>
                <a:t>04 </a:t>
              </a:r>
              <a:r>
                <a:rPr lang="en-US" altLang="ko-KR" sz="1400" dirty="0"/>
                <a:t>    &gt;&gt;&gt; </a:t>
              </a:r>
              <a:r>
                <a:rPr lang="en-US" altLang="ko-KR" sz="1400" dirty="0" err="1"/>
                <a:t>titanic_corr</a:t>
              </a:r>
              <a:endParaRPr lang="en-US" altLang="ko-KR" sz="1400" dirty="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/>
                <a:t>        </a:t>
              </a:r>
              <a:r>
                <a:rPr lang="en-US" altLang="ko-KR" sz="1100" dirty="0">
                  <a:solidFill>
                    <a:srgbClr val="258BCD"/>
                  </a:solidFill>
                </a:rPr>
                <a:t>              </a:t>
              </a:r>
              <a:r>
                <a:rPr lang="en-US" altLang="ko-KR" sz="1100" dirty="0"/>
                <a:t>   </a:t>
              </a:r>
              <a:r>
                <a:rPr lang="en-US" altLang="ko-KR" sz="1100" dirty="0">
                  <a:solidFill>
                    <a:srgbClr val="258BCD"/>
                  </a:solidFill>
                </a:rPr>
                <a:t>survived     </a:t>
              </a:r>
              <a:r>
                <a:rPr lang="en-US" altLang="ko-KR" sz="1100" dirty="0" err="1">
                  <a:solidFill>
                    <a:srgbClr val="258BCD"/>
                  </a:solidFill>
                </a:rPr>
                <a:t>pclass</a:t>
              </a:r>
              <a:r>
                <a:rPr lang="en-US" altLang="ko-KR" sz="1100" dirty="0">
                  <a:solidFill>
                    <a:srgbClr val="258BCD"/>
                  </a:solidFill>
                </a:rPr>
                <a:t>         age      ...     fare       </a:t>
              </a:r>
              <a:r>
                <a:rPr lang="en-US" altLang="ko-KR" sz="1100" dirty="0" err="1">
                  <a:solidFill>
                    <a:srgbClr val="258BCD"/>
                  </a:solidFill>
                </a:rPr>
                <a:t>adult_male</a:t>
              </a:r>
              <a:r>
                <a:rPr lang="en-US" altLang="ko-KR" sz="1100" dirty="0">
                  <a:solidFill>
                    <a:srgbClr val="258BCD"/>
                  </a:solidFill>
                </a:rPr>
                <a:t>      alone</a:t>
              </a:r>
              <a:endParaRPr lang="en-U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/>
                <a:t>        </a:t>
              </a:r>
              <a:r>
                <a:rPr lang="en-US" altLang="ko-KR" sz="1100" dirty="0">
                  <a:solidFill>
                    <a:srgbClr val="258BCD"/>
                  </a:solidFill>
                </a:rPr>
                <a:t>survived      1.000000   -0.338481  -0.064910  ...   0.257307  -0.557080    -0.203367</a:t>
              </a:r>
              <a:endParaRPr lang="en-U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/>
                <a:t>        </a:t>
              </a:r>
              <a:r>
                <a:rPr lang="en-US" altLang="ko-KR" sz="1100" dirty="0" err="1">
                  <a:solidFill>
                    <a:srgbClr val="258BCD"/>
                  </a:solidFill>
                </a:rPr>
                <a:t>pclass</a:t>
              </a:r>
              <a:r>
                <a:rPr lang="en-US" altLang="ko-KR" sz="1100" dirty="0">
                  <a:solidFill>
                    <a:srgbClr val="258BCD"/>
                  </a:solidFill>
                </a:rPr>
                <a:t>     </a:t>
              </a:r>
              <a:r>
                <a:rPr lang="en-US" altLang="ko-KR" sz="1000" dirty="0">
                  <a:solidFill>
                    <a:srgbClr val="258BCD"/>
                  </a:solidFill>
                </a:rPr>
                <a:t>   </a:t>
              </a:r>
              <a:r>
                <a:rPr lang="en-US" altLang="ko-KR" sz="1100" dirty="0">
                  <a:solidFill>
                    <a:srgbClr val="258BCD"/>
                  </a:solidFill>
                </a:rPr>
                <a:t>-0.338481   </a:t>
              </a:r>
              <a:r>
                <a:rPr lang="en-US" altLang="ko-KR" sz="900" dirty="0">
                  <a:solidFill>
                    <a:srgbClr val="258BCD"/>
                  </a:solidFill>
                </a:rPr>
                <a:t>  </a:t>
              </a:r>
              <a:r>
                <a:rPr lang="en-US" altLang="ko-KR" sz="1100" dirty="0">
                  <a:solidFill>
                    <a:srgbClr val="258BCD"/>
                  </a:solidFill>
                </a:rPr>
                <a:t>1.000000  -0.339898  ...  -0.549500   0.094035     0.135207</a:t>
              </a:r>
              <a:endParaRPr lang="en-U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/>
                <a:t>   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 age         </a:t>
              </a:r>
              <a:r>
                <a:rPr lang="es-ES" altLang="ko-KR" sz="800" dirty="0">
                  <a:solidFill>
                    <a:srgbClr val="258BCD"/>
                  </a:solidFill>
                </a:rPr>
                <a:t> </a:t>
              </a:r>
              <a:r>
                <a:rPr lang="es-ES" altLang="ko-KR" sz="1100" dirty="0">
                  <a:solidFill>
                    <a:srgbClr val="258BCD"/>
                  </a:solidFill>
                </a:rPr>
                <a:t> -0.064910</a:t>
              </a:r>
              <a:r>
                <a:rPr lang="es-ES" altLang="ko-KR" sz="900" dirty="0">
                  <a:solidFill>
                    <a:srgbClr val="258BCD"/>
                  </a:solidFill>
                </a:rPr>
                <a:t>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 -0.339898   1.000000  ...  </a:t>
              </a:r>
              <a:r>
                <a:rPr lang="es-ES" altLang="ko-KR" sz="800" dirty="0">
                  <a:solidFill>
                    <a:srgbClr val="258BCD"/>
                  </a:solidFill>
                </a:rPr>
                <a:t>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0.096688   0.247704</a:t>
              </a:r>
              <a:r>
                <a:rPr lang="en-US" altLang="ko-KR" sz="1100" dirty="0">
                  <a:solidFill>
                    <a:srgbClr val="258BCD"/>
                  </a:solidFill>
                </a:rPr>
                <a:t> 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0.171647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/>
                <a:t>    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sibsp      </a:t>
              </a:r>
              <a:r>
                <a:rPr lang="es-ES" altLang="ko-KR" sz="1050" dirty="0">
                  <a:solidFill>
                    <a:srgbClr val="258BCD"/>
                  </a:solidFill>
                </a:rPr>
                <a:t>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 -0.035322  </a:t>
              </a:r>
              <a:r>
                <a:rPr lang="es-ES" altLang="ko-KR" sz="900" dirty="0">
                  <a:solidFill>
                    <a:srgbClr val="258BCD"/>
                  </a:solidFill>
                </a:rPr>
                <a:t>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0.083081  -0.233296  ...  </a:t>
              </a:r>
              <a:r>
                <a:rPr lang="es-ES" altLang="ko-KR" sz="800" dirty="0">
                  <a:solidFill>
                    <a:srgbClr val="258BCD"/>
                  </a:solidFill>
                </a:rPr>
                <a:t>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0.159651  -0.253586</a:t>
              </a:r>
              <a:r>
                <a:rPr lang="en-US" altLang="ko-KR" sz="1100" dirty="0">
                  <a:solidFill>
                    <a:srgbClr val="258BCD"/>
                  </a:solidFill>
                </a:rPr>
                <a:t>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-0.584471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/>
                <a:t>    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parch     </a:t>
              </a:r>
              <a:r>
                <a:rPr lang="es-ES" altLang="ko-KR" sz="1000" dirty="0">
                  <a:solidFill>
                    <a:srgbClr val="258BCD"/>
                  </a:solidFill>
                </a:rPr>
                <a:t>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  0.081629 </a:t>
              </a:r>
              <a:r>
                <a:rPr lang="es-ES" altLang="ko-KR" sz="900" dirty="0">
                  <a:solidFill>
                    <a:srgbClr val="258BCD"/>
                  </a:solidFill>
                </a:rPr>
                <a:t>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 0.018443  -0.172482  ...   0.216225  -0.349943</a:t>
              </a:r>
              <a:r>
                <a:rPr lang="en-US" altLang="ko-KR" sz="1100" dirty="0">
                  <a:solidFill>
                    <a:srgbClr val="258BCD"/>
                  </a:solidFill>
                </a:rPr>
                <a:t>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-0.583398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/>
                <a:t>    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fare        </a:t>
              </a:r>
              <a:r>
                <a:rPr lang="es-ES" altLang="ko-KR" sz="1050" dirty="0">
                  <a:solidFill>
                    <a:srgbClr val="258BCD"/>
                  </a:solidFill>
                </a:rPr>
                <a:t>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 0.257307</a:t>
              </a:r>
              <a:r>
                <a:rPr lang="es-ES" altLang="ko-KR" sz="800" dirty="0">
                  <a:solidFill>
                    <a:srgbClr val="258BCD"/>
                  </a:solidFill>
                </a:rPr>
                <a:t> 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-0.549500   0.096688  ... </a:t>
              </a:r>
              <a:r>
                <a:rPr lang="es-ES" altLang="ko-KR" sz="900" dirty="0">
                  <a:solidFill>
                    <a:srgbClr val="258BCD"/>
                  </a:solidFill>
                </a:rPr>
                <a:t>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1.000000  -0.182024</a:t>
              </a:r>
              <a:r>
                <a:rPr lang="en-US" altLang="ko-KR" sz="1100" dirty="0">
                  <a:solidFill>
                    <a:srgbClr val="258BCD"/>
                  </a:solidFill>
                </a:rPr>
                <a:t>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-0.271832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/>
                <a:t>    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adult_male  -0.557080 </a:t>
              </a:r>
              <a:r>
                <a:rPr lang="es-ES" altLang="ko-KR" sz="1000" dirty="0">
                  <a:solidFill>
                    <a:srgbClr val="258BCD"/>
                  </a:solidFill>
                </a:rPr>
                <a:t>  </a:t>
              </a:r>
              <a:r>
                <a:rPr lang="es-ES" altLang="ko-KR" sz="900" dirty="0">
                  <a:solidFill>
                    <a:srgbClr val="258BCD"/>
                  </a:solidFill>
                </a:rPr>
                <a:t>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0.094035   0.247704  ...  -0.182024   1.000000</a:t>
              </a:r>
              <a:r>
                <a:rPr lang="en-US" altLang="ko-KR" sz="1100" dirty="0">
                  <a:solidFill>
                    <a:srgbClr val="258BCD"/>
                  </a:solidFill>
                </a:rPr>
                <a:t> 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0.404744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/>
                <a:t>    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alone         -0.203367 </a:t>
              </a:r>
              <a:r>
                <a:rPr lang="es-ES" altLang="ko-KR" sz="1000" dirty="0">
                  <a:solidFill>
                    <a:srgbClr val="258BCD"/>
                  </a:solidFill>
                </a:rPr>
                <a:t>  </a:t>
              </a:r>
              <a:r>
                <a:rPr lang="es-ES" altLang="ko-KR" sz="900" dirty="0">
                  <a:solidFill>
                    <a:srgbClr val="258BCD"/>
                  </a:solidFill>
                </a:rPr>
                <a:t>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0.135207   0.171647  ...  -0.271832   0.404744</a:t>
              </a:r>
              <a:r>
                <a:rPr lang="en-US" altLang="ko-KR" sz="1100" dirty="0">
                  <a:solidFill>
                    <a:srgbClr val="258BCD"/>
                  </a:solidFill>
                </a:rPr>
                <a:t> 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1.000000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n-US" altLang="ko-KR" sz="1100" dirty="0"/>
                <a:t>        </a:t>
              </a:r>
              <a:r>
                <a:rPr lang="es-ES" altLang="ko-KR" sz="1100" dirty="0">
                  <a:solidFill>
                    <a:srgbClr val="258BCD"/>
                  </a:solidFill>
                </a:rPr>
                <a:t>[8 rows x 8 columns]</a:t>
              </a:r>
              <a:endParaRPr lang="es-ES" altLang="ko-KR" sz="1100" dirty="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  <a:defRPr/>
              </a:pPr>
              <a:r>
                <a:rPr lang="es-ES" altLang="ko-KR" sz="1200" dirty="0"/>
                <a:t>05</a:t>
              </a:r>
              <a:r>
                <a:rPr lang="en-US" altLang="ko-KR" sz="1200" dirty="0"/>
                <a:t>  </a:t>
              </a:r>
              <a:r>
                <a:rPr lang="en-US" altLang="ko-KR" sz="1400" dirty="0"/>
                <a:t>   </a:t>
              </a:r>
              <a:r>
                <a:rPr lang="es-ES" altLang="ko-KR" sz="1400" dirty="0"/>
                <a:t>&gt;&gt;&gt; titanic_corr.</a:t>
              </a:r>
              <a:r>
                <a:rPr lang="es-ES" altLang="ko-KR" sz="1400" b="1" dirty="0"/>
                <a:t>to_csv</a:t>
              </a:r>
              <a:r>
                <a:rPr lang="es-ES" altLang="ko-KR" sz="1400" dirty="0"/>
                <a:t>('C:/Users/</a:t>
              </a:r>
              <a:r>
                <a:rPr lang="en-US" altLang="ko-KR" sz="1400" dirty="0"/>
                <a:t>OOOO</a:t>
              </a:r>
              <a:r>
                <a:rPr lang="es-ES" altLang="ko-KR" sz="1400" dirty="0"/>
                <a:t>/My_Python/7</a:t>
              </a:r>
              <a:r>
                <a:rPr lang="ko-KR" altLang="en-US" sz="1400" dirty="0"/>
                <a:t>장</a:t>
              </a:r>
              <a:r>
                <a:rPr lang="en-US" altLang="ko-KR" sz="1400" dirty="0"/>
                <a:t>_</a:t>
              </a:r>
              <a:r>
                <a:rPr lang="es-ES" altLang="ko-KR" sz="1400" dirty="0"/>
                <a:t>data/titanic_corr.csv',</a:t>
              </a:r>
              <a:r>
                <a:rPr lang="en-US" altLang="ko-KR" sz="1400" dirty="0"/>
                <a:t> </a:t>
              </a:r>
              <a:r>
                <a:rPr lang="es-ES" altLang="ko-KR" sz="1400" dirty="0"/>
                <a:t>index = False)</a:t>
              </a:r>
              <a:endParaRPr lang="es-ES" altLang="ko-KR" sz="1400" dirty="0"/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47" y="1029130"/>
            <a:ext cx="8369500" cy="529200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5027" y="93518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47606" y="1159322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6. </a:t>
            </a:r>
            <a:r>
              <a:rPr lang="ko-KR" altLang="en-US" sz="3600" dirty="0"/>
              <a:t>数据建模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모델링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ko-KR" altLang="en-US" dirty="0"/>
              <a:t>상관 계수 확인하기 </a:t>
            </a:r>
            <a:r>
              <a:rPr lang="zh-CN" altLang="en-US" dirty="0"/>
              <a:t>检查相关系数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남자 성인</a:t>
            </a:r>
            <a:r>
              <a:rPr lang="en-US" altLang="ko-KR" dirty="0"/>
              <a:t>(</a:t>
            </a:r>
            <a:r>
              <a:rPr lang="en-US" altLang="ko-KR" dirty="0" err="1"/>
              <a:t>adult_male</a:t>
            </a:r>
            <a:r>
              <a:rPr lang="en-US" altLang="ko-KR" dirty="0"/>
              <a:t>):</a:t>
            </a:r>
            <a:r>
              <a:rPr lang="ko-KR" altLang="en-US" dirty="0"/>
              <a:t> 생존</a:t>
            </a:r>
            <a:r>
              <a:rPr lang="en-US" altLang="ko-KR" dirty="0"/>
              <a:t>(survived)</a:t>
            </a:r>
            <a:r>
              <a:rPr lang="ko-KR" altLang="en-US" dirty="0"/>
              <a:t>과 음의 상관관계 成年男性 （</a:t>
            </a:r>
            <a:r>
              <a:rPr lang="en-US" altLang="ko-KR" dirty="0" err="1"/>
              <a:t>adult_male</a:t>
            </a:r>
            <a:r>
              <a:rPr lang="ko-KR" altLang="en-US" dirty="0"/>
              <a:t>）：与生存率呈负相关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객실 등급</a:t>
            </a:r>
            <a:r>
              <a:rPr lang="en-US" altLang="ko-KR" dirty="0"/>
              <a:t>(</a:t>
            </a:r>
            <a:r>
              <a:rPr lang="en-US" altLang="ko-KR" dirty="0" err="1"/>
              <a:t>pclass</a:t>
            </a:r>
            <a:r>
              <a:rPr lang="en-US" altLang="ko-KR" dirty="0"/>
              <a:t>):</a:t>
            </a:r>
            <a:r>
              <a:rPr lang="ko-KR" altLang="en-US" dirty="0"/>
              <a:t> 음의 상관관계</a:t>
            </a:r>
            <a:r>
              <a:rPr lang="en-US" altLang="ko-KR" dirty="0"/>
              <a:t> </a:t>
            </a:r>
            <a:r>
              <a:rPr lang="zh-CN" altLang="en-US" dirty="0"/>
              <a:t>房间等级 （</a:t>
            </a:r>
            <a:r>
              <a:rPr lang="en-US" altLang="zh-CN" dirty="0" err="1"/>
              <a:t>Pclass</a:t>
            </a:r>
            <a:r>
              <a:rPr lang="zh-CN" altLang="en-US" dirty="0"/>
              <a:t>）：负相关</a:t>
            </a:r>
            <a:endParaRPr lang="ko-KR" altLang="en-US" dirty="0"/>
          </a:p>
          <a:p>
            <a:pPr lvl="3">
              <a:defRPr/>
            </a:pPr>
            <a:r>
              <a:rPr lang="ko-KR" altLang="en-US" dirty="0"/>
              <a:t>관계</a:t>
            </a:r>
            <a:r>
              <a:rPr lang="en-US" altLang="ko-KR" dirty="0"/>
              <a:t>, </a:t>
            </a:r>
            <a:r>
              <a:rPr lang="ko-KR" altLang="en-US" dirty="0"/>
              <a:t>객실 요금</a:t>
            </a:r>
            <a:r>
              <a:rPr lang="en-US" altLang="ko-KR" dirty="0"/>
              <a:t>fare</a:t>
            </a:r>
            <a:r>
              <a:rPr lang="ko-KR" altLang="en-US" dirty="0"/>
              <a:t>은 양의 상관관계 </a:t>
            </a:r>
            <a:r>
              <a:rPr lang="zh-CN" altLang="en-US" dirty="0"/>
              <a:t>关系，客房费用</a:t>
            </a:r>
            <a:r>
              <a:rPr lang="en-US" altLang="zh-CN" dirty="0"/>
              <a:t>fare</a:t>
            </a:r>
            <a:r>
              <a:rPr lang="zh-CN" altLang="en-US" dirty="0"/>
              <a:t>呈正相关关系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동행 없이 혼자 탑승한 경우</a:t>
            </a:r>
            <a:r>
              <a:rPr lang="en-US" altLang="ko-KR" dirty="0"/>
              <a:t>(alone):</a:t>
            </a:r>
            <a:r>
              <a:rPr lang="ko-KR" altLang="en-US" dirty="0"/>
              <a:t> 생존율이 떨어진다는 상관관계가</a:t>
            </a:r>
            <a:r>
              <a:rPr lang="en-US" altLang="ko-KR" dirty="0"/>
              <a:t> </a:t>
            </a:r>
            <a:r>
              <a:rPr lang="ko-KR" altLang="en-US" dirty="0"/>
              <a:t>확인됨</a:t>
            </a:r>
            <a:endParaRPr lang="en-US" altLang="ko-KR" dirty="0"/>
          </a:p>
          <a:p>
            <a:pPr marL="628650" lvl="3" indent="0">
              <a:buNone/>
              <a:defRPr/>
            </a:pPr>
            <a:r>
              <a:rPr lang="en-US" altLang="ko-KR" dirty="0"/>
              <a:t>   </a:t>
            </a:r>
            <a:r>
              <a:rPr lang="zh-CN" altLang="en-US" dirty="0"/>
              <a:t>独自登机（</a:t>
            </a:r>
            <a:r>
              <a:rPr lang="en-US" altLang="zh-CN" dirty="0"/>
              <a:t>alone</a:t>
            </a:r>
            <a:r>
              <a:rPr lang="zh-CN" altLang="en-US" dirty="0"/>
              <a:t>）的情况：已确认其生存率较低的相关性。</a:t>
            </a: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971550" lvl="3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sz="1400" dirty="0"/>
          </a:p>
        </p:txBody>
      </p:sp>
      <p:pic>
        <p:nvPicPr>
          <p:cNvPr id="49160" name="Picture 8"/>
          <p:cNvPicPr>
            <a:picLocks noChangeAspect="1" noChangeArrowheads="1"/>
          </p:cNvPicPr>
          <p:nvPr/>
        </p:nvPicPr>
        <p:blipFill rotWithShape="1">
          <a:blip r:embed="rId1"/>
          <a:srcRect t="9351"/>
          <a:stretch>
            <a:fillRect/>
          </a:stretch>
        </p:blipFill>
        <p:spPr bwMode="auto">
          <a:xfrm>
            <a:off x="6640895" y="4077990"/>
            <a:ext cx="5089525" cy="2519362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95" y="1029130"/>
            <a:ext cx="8369500" cy="5292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91669" y="13204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30992" y="1119027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6. </a:t>
            </a:r>
            <a:r>
              <a:rPr lang="ko-KR" altLang="en-US" sz="3600" dirty="0"/>
              <a:t>数据建模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데이터 모델링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r>
              <a:rPr lang="ko-KR" altLang="en-US" dirty="0"/>
              <a:t>특정 변수 사이의 상관 계수 구하기 </a:t>
            </a:r>
            <a:r>
              <a:rPr lang="zh-CN" altLang="en-US" dirty="0"/>
              <a:t>查找特定变量之间的相关系数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lvl="2">
              <a:defRPr/>
            </a:pPr>
            <a:r>
              <a:rPr lang="en-US" altLang="ko-KR" sz="1400" dirty="0"/>
              <a:t>[01~02</a:t>
            </a:r>
            <a:r>
              <a:rPr lang="ko-KR" altLang="en-US" sz="1400" dirty="0"/>
              <a:t>행</a:t>
            </a:r>
            <a:r>
              <a:rPr lang="en-US" altLang="ko-KR" sz="1400" dirty="0"/>
              <a:t>] </a:t>
            </a:r>
            <a:r>
              <a:rPr lang="ko-KR" altLang="en-US" sz="1400" dirty="0"/>
              <a:t>두 변수 사이의 상관 계수 구하기 </a:t>
            </a:r>
            <a:r>
              <a:rPr lang="en-US" altLang="zh-CN" dirty="0"/>
              <a:t>[</a:t>
            </a:r>
            <a:r>
              <a:rPr lang="zh-CN" altLang="en-US" dirty="0"/>
              <a:t>第 </a:t>
            </a:r>
            <a:r>
              <a:rPr lang="en-US" altLang="zh-CN" dirty="0"/>
              <a:t>01~02 </a:t>
            </a:r>
            <a:r>
              <a:rPr lang="zh-CN" altLang="en-US" dirty="0"/>
              <a:t>行</a:t>
            </a:r>
            <a:r>
              <a:rPr lang="en-US" altLang="zh-CN" dirty="0"/>
              <a:t>] </a:t>
            </a:r>
            <a:r>
              <a:rPr lang="zh-CN" altLang="en-US" dirty="0"/>
              <a:t>求两个变量之间的相关系数</a:t>
            </a:r>
            <a:endParaRPr lang="ko-KR" altLang="en-US" sz="1400" dirty="0"/>
          </a:p>
          <a:p>
            <a:pPr lvl="3">
              <a:defRPr/>
            </a:pPr>
            <a:r>
              <a:rPr lang="en-US" altLang="ko-KR" sz="1200" dirty="0"/>
              <a:t>01</a:t>
            </a:r>
            <a:r>
              <a:rPr lang="ko-KR" altLang="en-US" sz="1200" dirty="0"/>
              <a:t>행 </a:t>
            </a:r>
            <a:r>
              <a:rPr lang="en-US" altLang="ko-KR" sz="1200" dirty="0"/>
              <a:t>survived</a:t>
            </a:r>
            <a:r>
              <a:rPr lang="ko-KR" altLang="en-US" sz="1200" dirty="0"/>
              <a:t>와 </a:t>
            </a:r>
            <a:r>
              <a:rPr lang="en-US" altLang="ko-KR" sz="1200" dirty="0" err="1"/>
              <a:t>adult_male</a:t>
            </a:r>
            <a:r>
              <a:rPr lang="en-US" altLang="ko-KR" sz="1200" dirty="0"/>
              <a:t> </a:t>
            </a:r>
            <a:r>
              <a:rPr lang="ko-KR" altLang="en-US" sz="1200" dirty="0"/>
              <a:t>변수 사이의 상관 계수 구하기 </a:t>
            </a:r>
            <a:r>
              <a:rPr lang="zh-CN" altLang="en-US" dirty="0"/>
              <a:t>第 </a:t>
            </a:r>
            <a:r>
              <a:rPr lang="en-US" altLang="zh-CN" dirty="0"/>
              <a:t>01 </a:t>
            </a:r>
            <a:r>
              <a:rPr lang="zh-CN" altLang="en-US" dirty="0"/>
              <a:t>行 求存活变量和</a:t>
            </a:r>
            <a:r>
              <a:rPr lang="en-US" altLang="zh-CN" dirty="0" err="1"/>
              <a:t>adult_male</a:t>
            </a:r>
            <a:r>
              <a:rPr lang="zh-CN" altLang="en-US" dirty="0"/>
              <a:t>变量之间的相关系数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02</a:t>
            </a:r>
            <a:r>
              <a:rPr lang="ko-KR" altLang="en-US" sz="1200" dirty="0"/>
              <a:t>행 </a:t>
            </a:r>
            <a:r>
              <a:rPr lang="en-US" altLang="ko-KR" sz="1200" dirty="0"/>
              <a:t>survived</a:t>
            </a:r>
            <a:r>
              <a:rPr lang="ko-KR" altLang="en-US" sz="1200" dirty="0"/>
              <a:t>와 </a:t>
            </a:r>
            <a:r>
              <a:rPr lang="en-US" altLang="ko-KR" sz="1200" dirty="0"/>
              <a:t>fare </a:t>
            </a:r>
            <a:r>
              <a:rPr lang="ko-KR" altLang="en-US" sz="1200" dirty="0"/>
              <a:t>변수 사이의 상관 계수 구하기 </a:t>
            </a:r>
            <a:r>
              <a:rPr lang="en-US" altLang="zh-CN" dirty="0"/>
              <a:t>02</a:t>
            </a:r>
            <a:r>
              <a:rPr lang="zh-CN" altLang="en-US" dirty="0"/>
              <a:t>求生存变量与票价变量之间的相关系数</a:t>
            </a: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marL="971550" lvl="3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sz="1400" dirty="0"/>
          </a:p>
        </p:txBody>
      </p:sp>
      <p:grpSp>
        <p:nvGrpSpPr>
          <p:cNvPr id="2" name="그룹 1"/>
          <p:cNvGrpSpPr/>
          <p:nvPr/>
        </p:nvGrpSpPr>
        <p:grpSpPr>
          <a:xfrm>
            <a:off x="1178994" y="2032492"/>
            <a:ext cx="5572126" cy="1008062"/>
            <a:chOff x="1178994" y="2032492"/>
            <a:chExt cx="5572126" cy="1008062"/>
          </a:xfrm>
        </p:grpSpPr>
        <p:sp>
          <p:nvSpPr>
            <p:cNvPr id="13" name="직사각형 12"/>
            <p:cNvSpPr/>
            <p:nvPr/>
          </p:nvSpPr>
          <p:spPr bwMode="auto">
            <a:xfrm>
              <a:off x="1323457" y="2032492"/>
              <a:ext cx="5427663" cy="10080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2400"/>
            </a:p>
          </p:txBody>
        </p:sp>
        <p:sp>
          <p:nvSpPr>
            <p:cNvPr id="90117" name="내용 개체 틀 2"/>
            <p:cNvSpPr txBox="1"/>
            <p:nvPr/>
          </p:nvSpPr>
          <p:spPr bwMode="auto">
            <a:xfrm>
              <a:off x="1178994" y="2032492"/>
              <a:ext cx="5040312" cy="787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/>
                <a:t>01     </a:t>
              </a:r>
              <a:r>
                <a:rPr lang="en-US" altLang="ko-KR" sz="1400"/>
                <a:t>&gt;&gt;&gt; titanic['survived'].corr(titanic['adult_male'])</a:t>
              </a:r>
              <a:endParaRPr lang="en-U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>
                  <a:solidFill>
                    <a:srgbClr val="258BCD"/>
                  </a:solidFill>
                </a:rPr>
                <a:t>        -0.5570800422053259</a:t>
              </a:r>
              <a:endParaRPr lang="en-U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/>
                <a:t>02     </a:t>
              </a:r>
              <a:r>
                <a:rPr lang="en-US" altLang="ko-KR" sz="1400"/>
                <a:t>&gt;&gt;&gt; titanic['survived'].corr(titanic['fare'])</a:t>
              </a:r>
              <a:endParaRPr lang="en-US" altLang="ko-KR" sz="14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>
                  <a:solidFill>
                    <a:srgbClr val="258BCD"/>
                  </a:solidFill>
                </a:rPr>
                <a:t>         0.2573065223849622</a:t>
              </a:r>
              <a:endParaRPr lang="es-ES" altLang="ko-KR" sz="1200">
                <a:solidFill>
                  <a:srgbClr val="258BCD"/>
                </a:solidFill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95" y="1029130"/>
            <a:ext cx="8369500" cy="529200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91669" y="13204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30992" y="1119027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6. </a:t>
            </a:r>
            <a:r>
              <a:rPr lang="ko-KR" altLang="en-US" sz="3600" dirty="0"/>
              <a:t>数据建模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결과 시각화</a:t>
            </a: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r>
              <a:rPr lang="ko-KR" altLang="en-US" dirty="0" err="1"/>
              <a:t>산점도로</a:t>
            </a:r>
            <a:r>
              <a:rPr lang="ko-KR" altLang="en-US" dirty="0"/>
              <a:t> 상관 분석 시각화하기 </a:t>
            </a:r>
            <a:r>
              <a:rPr lang="zh-CN" altLang="en-US" dirty="0"/>
              <a:t>可视化散点图相关性分析</a:t>
            </a: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r>
              <a:rPr lang="en-US" altLang="ko-KR" sz="1400" dirty="0"/>
              <a:t>[01~02</a:t>
            </a:r>
            <a:r>
              <a:rPr lang="ko-KR" altLang="en-US" sz="1400" dirty="0"/>
              <a:t>행</a:t>
            </a:r>
            <a:r>
              <a:rPr lang="en-US" altLang="ko-KR" sz="1400" dirty="0"/>
              <a:t>] </a:t>
            </a:r>
            <a:r>
              <a:rPr lang="ko-KR" altLang="en-US" sz="1400" dirty="0"/>
              <a:t>변수 간의 상관 분석 시각화를 위해 </a:t>
            </a:r>
            <a:r>
              <a:rPr lang="en-US" altLang="ko-KR" sz="1400" dirty="0" err="1"/>
              <a:t>pairplot</a:t>
            </a:r>
            <a:r>
              <a:rPr lang="en-US" altLang="ko-KR" sz="1400" dirty="0"/>
              <a:t>() </a:t>
            </a:r>
            <a:r>
              <a:rPr lang="ko-KR" altLang="en-US" sz="1400" dirty="0"/>
              <a:t>그리기 </a:t>
            </a:r>
            <a:r>
              <a:rPr lang="en-US" altLang="zh-CN" dirty="0"/>
              <a:t>[</a:t>
            </a:r>
            <a:r>
              <a:rPr lang="zh-CN" altLang="en-US" dirty="0"/>
              <a:t>第 </a:t>
            </a:r>
            <a:r>
              <a:rPr lang="en-US" altLang="zh-CN" dirty="0"/>
              <a:t>01~02 </a:t>
            </a:r>
            <a:r>
              <a:rPr lang="zh-CN" altLang="en-US" dirty="0"/>
              <a:t>行</a:t>
            </a:r>
            <a:r>
              <a:rPr lang="en-US" altLang="zh-CN" dirty="0"/>
              <a:t>] </a:t>
            </a:r>
            <a:r>
              <a:rPr lang="zh-CN" altLang="en-US" dirty="0"/>
              <a:t>绘制 </a:t>
            </a:r>
            <a:r>
              <a:rPr lang="en-US" altLang="zh-CN" dirty="0" err="1"/>
              <a:t>pairplot</a:t>
            </a:r>
            <a:r>
              <a:rPr lang="zh-CN" altLang="en-US" dirty="0"/>
              <a:t>（） 用于变量间相关性分析的可视化</a:t>
            </a:r>
            <a:endParaRPr lang="ko-KR" altLang="en-US" sz="1400" dirty="0"/>
          </a:p>
          <a:p>
            <a:pPr lvl="3">
              <a:defRPr/>
            </a:pPr>
            <a:r>
              <a:rPr lang="en-US" altLang="ko-KR" sz="1200" dirty="0"/>
              <a:t>01</a:t>
            </a:r>
            <a:r>
              <a:rPr lang="ko-KR" altLang="en-US" sz="1200" dirty="0"/>
              <a:t>행 </a:t>
            </a:r>
            <a:r>
              <a:rPr lang="en-US" altLang="ko-KR" sz="1200" dirty="0" err="1"/>
              <a:t>pairplot</a:t>
            </a:r>
            <a:r>
              <a:rPr lang="en-US" altLang="ko-KR" sz="1200" dirty="0"/>
              <a:t>() </a:t>
            </a:r>
            <a:r>
              <a:rPr lang="ko-KR" altLang="en-US" sz="1200" dirty="0"/>
              <a:t>함수를 사용하여 타이타닉 데이터의 차트 그리기</a:t>
            </a:r>
            <a:r>
              <a:rPr lang="en-US" altLang="ko-KR" sz="1200" dirty="0"/>
              <a:t>. hue</a:t>
            </a:r>
            <a:r>
              <a:rPr lang="ko-KR" altLang="en-US" sz="1200" dirty="0"/>
              <a:t>는 종속 변수를 지정</a:t>
            </a:r>
            <a:endParaRPr lang="en-US" altLang="ko-KR" sz="1200" dirty="0"/>
          </a:p>
          <a:p>
            <a:pPr marL="628650" lvl="3" indent="0">
              <a:buNone/>
              <a:defRPr/>
            </a:pPr>
            <a:r>
              <a:rPr lang="en-US" altLang="ko-KR" sz="1200" dirty="0"/>
              <a:t>  </a:t>
            </a:r>
            <a:r>
              <a:rPr lang="en-US" altLang="zh-CN" dirty="0"/>
              <a:t>01</a:t>
            </a:r>
            <a:r>
              <a:rPr lang="zh-CN" altLang="en-US" dirty="0"/>
              <a:t>使用</a:t>
            </a:r>
            <a:r>
              <a:rPr lang="en-US" altLang="zh-CN" dirty="0" err="1"/>
              <a:t>pairplot</a:t>
            </a:r>
            <a:r>
              <a:rPr lang="zh-CN" altLang="en-US" dirty="0"/>
              <a:t>（）函数绘制泰坦尼克号数据图表。</a:t>
            </a:r>
            <a:r>
              <a:rPr lang="en-US" altLang="zh-CN" dirty="0"/>
              <a:t>hue </a:t>
            </a:r>
            <a:r>
              <a:rPr lang="zh-CN" altLang="en-US" dirty="0"/>
              <a:t>指定因变量</a:t>
            </a:r>
            <a:endParaRPr lang="en-US" altLang="ko-KR" sz="1200" dirty="0"/>
          </a:p>
          <a:p>
            <a:pPr lvl="1">
              <a:defRPr/>
            </a:pPr>
            <a:endParaRPr lang="en-US" altLang="ko-KR" sz="1400" dirty="0"/>
          </a:p>
        </p:txBody>
      </p:sp>
      <p:sp>
        <p:nvSpPr>
          <p:cNvPr id="12" name="직사각형 11"/>
          <p:cNvSpPr/>
          <p:nvPr/>
        </p:nvSpPr>
        <p:spPr bwMode="auto">
          <a:xfrm>
            <a:off x="1462521" y="2082366"/>
            <a:ext cx="5281613" cy="7921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2165" name="내용 개체 틀 2"/>
          <p:cNvSpPr txBox="1"/>
          <p:nvPr/>
        </p:nvSpPr>
        <p:spPr bwMode="auto">
          <a:xfrm>
            <a:off x="1198996" y="2060141"/>
            <a:ext cx="561657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66700" indent="-266700" latinLnBrk="1">
              <a:spcBef>
                <a:spcPct val="20000"/>
              </a:spcBef>
              <a:buFont typeface="Arial" panose="020B0604020202020204" pitchFamily="34" charset="0"/>
              <a:buBlip>
                <a:blip r:embed="rId1"/>
              </a:buBlip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628650" indent="-180975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9625" indent="-180975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990600" indent="-180975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47800" indent="-1809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05000" indent="-1809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362200" indent="-1809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19400" indent="-1809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n-US" altLang="ko-KR" sz="1200"/>
              <a:t>01    </a:t>
            </a:r>
            <a:r>
              <a:rPr lang="en-US" altLang="ko-KR" sz="1400"/>
              <a:t>&gt;&gt;&gt; sns.</a:t>
            </a:r>
            <a:r>
              <a:rPr lang="en-US" altLang="ko-KR" sz="1400" b="1"/>
              <a:t>pairplot</a:t>
            </a:r>
            <a:r>
              <a:rPr lang="en-US" altLang="ko-KR" sz="1400"/>
              <a:t>(titanic, hue = 'survived')</a:t>
            </a:r>
            <a:endParaRPr lang="en-US" altLang="ko-KR" sz="1400"/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n-US" altLang="ko-KR" sz="1100"/>
              <a:t>       </a:t>
            </a:r>
            <a:r>
              <a:rPr lang="en-US" altLang="ko-KR" sz="1100">
                <a:solidFill>
                  <a:srgbClr val="258BCD"/>
                </a:solidFill>
              </a:rPr>
              <a:t>&lt;seaborn.axisgrid.PairGrid object at 0x000001710D852A58&gt;</a:t>
            </a:r>
            <a:endParaRPr lang="en-US" altLang="ko-KR" sz="1100">
              <a:solidFill>
                <a:srgbClr val="258BCD"/>
              </a:solidFill>
            </a:endParaRPr>
          </a:p>
          <a:p>
            <a:pPr lvl="1">
              <a:spcBef>
                <a:spcPts val="150"/>
              </a:spcBef>
              <a:spcAft>
                <a:spcPts val="100"/>
              </a:spcAft>
              <a:buClr>
                <a:srgbClr val="595959"/>
              </a:buClr>
              <a:buNone/>
            </a:pPr>
            <a:r>
              <a:rPr lang="en-US" altLang="ko-KR" sz="1100"/>
              <a:t>02    </a:t>
            </a:r>
            <a:r>
              <a:rPr lang="en-US" altLang="ko-KR" sz="1400"/>
              <a:t>&gt;&gt;&gt; plt.show()</a:t>
            </a:r>
            <a:endParaRPr lang="es-ES" altLang="ko-KR" sz="1100">
              <a:solidFill>
                <a:srgbClr val="258BCD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70" y="1056663"/>
            <a:ext cx="7398779" cy="5328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91669" y="13204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30992" y="1119027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7. </a:t>
            </a:r>
            <a:r>
              <a:rPr lang="ko-KR" altLang="en-US" sz="3600" dirty="0"/>
              <a:t>可视化结果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결과 시각화</a:t>
            </a:r>
            <a:endParaRPr lang="en-US" altLang="ko-KR" dirty="0"/>
          </a:p>
          <a:p>
            <a:pPr marL="609600" lvl="1" indent="-342900">
              <a:buFont typeface="+mj-lt"/>
              <a:buAutoNum type="arabicPeriod"/>
              <a:defRPr/>
            </a:pPr>
            <a:r>
              <a:rPr lang="ko-KR" altLang="en-US" dirty="0" err="1"/>
              <a:t>산점도로</a:t>
            </a:r>
            <a:r>
              <a:rPr lang="ko-KR" altLang="en-US" dirty="0"/>
              <a:t> 상관 분석 시각화하기 </a:t>
            </a:r>
            <a:r>
              <a:rPr lang="zh-CN" altLang="en-US" dirty="0"/>
              <a:t>可视化散点图相关性分析</a:t>
            </a:r>
            <a:endParaRPr lang="en-US" altLang="ko-KR" dirty="0"/>
          </a:p>
          <a:p>
            <a:pPr lvl="3">
              <a:defRPr/>
            </a:pPr>
            <a:r>
              <a:rPr lang="en-US" altLang="ko-KR" sz="1200" dirty="0"/>
              <a:t>02</a:t>
            </a:r>
            <a:r>
              <a:rPr lang="ko-KR" altLang="en-US" sz="1200" dirty="0"/>
              <a:t>행 </a:t>
            </a:r>
            <a:r>
              <a:rPr lang="en-US" altLang="ko-KR" sz="1200" dirty="0" err="1"/>
              <a:t>pairplot</a:t>
            </a:r>
            <a:r>
              <a:rPr lang="ko-KR" altLang="en-US" sz="1200" dirty="0"/>
              <a:t>을 나타냄</a:t>
            </a:r>
            <a:endParaRPr lang="en-US" altLang="ko-KR" sz="1200" dirty="0"/>
          </a:p>
          <a:p>
            <a:pPr marL="628650" lvl="3" indent="0">
              <a:buNone/>
              <a:defRPr/>
            </a:pPr>
            <a:r>
              <a:rPr lang="en-US" altLang="ko-KR" sz="1200" dirty="0"/>
              <a:t>   </a:t>
            </a:r>
            <a:r>
              <a:rPr lang="en-US" altLang="zh-CN" dirty="0"/>
              <a:t>02 </a:t>
            </a:r>
            <a:r>
              <a:rPr lang="zh-CN" altLang="en-US" dirty="0"/>
              <a:t>线代表成对图</a:t>
            </a:r>
            <a:endParaRPr lang="en-US" altLang="ko-KR" sz="1200" dirty="0"/>
          </a:p>
          <a:p>
            <a:pPr lvl="1">
              <a:defRPr/>
            </a:pPr>
            <a:endParaRPr lang="en-US" altLang="ko-KR" sz="1400" dirty="0"/>
          </a:p>
        </p:txBody>
      </p:sp>
      <p:pic>
        <p:nvPicPr>
          <p:cNvPr id="94212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038" y="1918171"/>
            <a:ext cx="8037577" cy="47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70" y="1056663"/>
            <a:ext cx="7398779" cy="5328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91669" y="13204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30992" y="1119027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7. </a:t>
            </a:r>
            <a:r>
              <a:rPr lang="ko-KR" altLang="en-US" sz="3600" dirty="0"/>
              <a:t>可视化结果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결과 시각화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ko-KR" altLang="en-US" dirty="0"/>
              <a:t>두 변수의 상관관계 시각화하기 </a:t>
            </a:r>
            <a:r>
              <a:rPr lang="zh-CN" altLang="en-US" dirty="0"/>
              <a:t>可视化两个变量之间的相关性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lvl="2">
              <a:defRPr/>
            </a:pPr>
            <a:r>
              <a:rPr lang="en-US" altLang="ko-KR" sz="1400" dirty="0"/>
              <a:t>[01~02</a:t>
            </a:r>
            <a:r>
              <a:rPr lang="ko-KR" altLang="en-US" sz="1400" dirty="0"/>
              <a:t>행</a:t>
            </a:r>
            <a:r>
              <a:rPr lang="en-US" altLang="ko-KR" sz="1400" dirty="0"/>
              <a:t>] </a:t>
            </a:r>
            <a:r>
              <a:rPr lang="ko-KR" altLang="en-US" sz="1400" dirty="0"/>
              <a:t>생존자의 객실 등급과 성별 관계를 </a:t>
            </a:r>
            <a:r>
              <a:rPr lang="en-US" altLang="ko-KR" sz="1400" dirty="0" err="1"/>
              <a:t>catplot</a:t>
            </a:r>
            <a:r>
              <a:rPr lang="en-US" altLang="ko-KR" sz="1400" dirty="0"/>
              <a:t>()</a:t>
            </a:r>
            <a:r>
              <a:rPr lang="ko-KR" altLang="en-US" sz="1400" dirty="0"/>
              <a:t>으로 그리기</a:t>
            </a:r>
            <a:endParaRPr lang="en-US" altLang="ko-KR" sz="1400" dirty="0"/>
          </a:p>
          <a:p>
            <a:pPr marL="447675" lvl="2" indent="0">
              <a:buNone/>
              <a:defRPr/>
            </a:pPr>
            <a:r>
              <a:rPr lang="en-US" altLang="ko-KR" sz="1400" dirty="0"/>
              <a:t>   </a:t>
            </a:r>
            <a:r>
              <a:rPr lang="en-US" altLang="zh-CN" dirty="0"/>
              <a:t>[</a:t>
            </a:r>
            <a:r>
              <a:rPr lang="zh-CN" altLang="en-US" dirty="0"/>
              <a:t>第 </a:t>
            </a:r>
            <a:r>
              <a:rPr lang="en-US" altLang="zh-CN" dirty="0"/>
              <a:t>01~02 </a:t>
            </a:r>
            <a:r>
              <a:rPr lang="zh-CN" altLang="en-US" dirty="0"/>
              <a:t>行</a:t>
            </a:r>
            <a:r>
              <a:rPr lang="en-US" altLang="zh-CN" dirty="0"/>
              <a:t>] </a:t>
            </a:r>
            <a:r>
              <a:rPr lang="zh-CN" altLang="en-US" dirty="0"/>
              <a:t>用 </a:t>
            </a:r>
            <a:r>
              <a:rPr lang="en-US" altLang="zh-CN" dirty="0" err="1"/>
              <a:t>catplot</a:t>
            </a:r>
            <a:r>
              <a:rPr lang="zh-CN" altLang="en-US" dirty="0"/>
              <a:t>（） 绘制幸存者的房间等级和性别关系</a:t>
            </a:r>
            <a:endParaRPr lang="ko-KR" altLang="en-US" sz="1400" dirty="0"/>
          </a:p>
          <a:p>
            <a:pPr lvl="3">
              <a:defRPr/>
            </a:pPr>
            <a:r>
              <a:rPr lang="en-US" altLang="ko-KR" sz="1200" dirty="0"/>
              <a:t>01</a:t>
            </a:r>
            <a:r>
              <a:rPr lang="ko-KR" altLang="en-US" sz="1200" dirty="0"/>
              <a:t>행  </a:t>
            </a:r>
            <a:r>
              <a:rPr lang="en-US" altLang="ko-KR" sz="1200" dirty="0" err="1"/>
              <a:t>catplot</a:t>
            </a:r>
            <a:r>
              <a:rPr lang="en-US" altLang="ko-KR" sz="1200" dirty="0"/>
              <a:t>() </a:t>
            </a:r>
            <a:r>
              <a:rPr lang="ko-KR" altLang="en-US" sz="1200" dirty="0"/>
              <a:t>함수를 사용하여 </a:t>
            </a:r>
            <a:r>
              <a:rPr lang="en-US" altLang="ko-KR" sz="1200" dirty="0" err="1"/>
              <a:t>pclass</a:t>
            </a:r>
            <a:r>
              <a:rPr lang="ko-KR" altLang="en-US" sz="1200" dirty="0"/>
              <a:t>와 </a:t>
            </a:r>
            <a:r>
              <a:rPr lang="en-US" altLang="ko-KR" sz="1200" dirty="0"/>
              <a:t>survived </a:t>
            </a:r>
            <a:r>
              <a:rPr lang="ko-KR" altLang="en-US" sz="1200" dirty="0"/>
              <a:t>변수의 관계를 차트로 그림</a:t>
            </a:r>
            <a:endParaRPr lang="en-US" altLang="ko-KR" sz="1200" dirty="0"/>
          </a:p>
          <a:p>
            <a:pPr marL="628650" lvl="3" indent="0">
              <a:buNone/>
              <a:defRPr/>
            </a:pPr>
            <a:r>
              <a:rPr lang="en-US" altLang="ko-KR" sz="1200" dirty="0"/>
              <a:t>           hue</a:t>
            </a:r>
            <a:r>
              <a:rPr lang="ko-KR" altLang="en-US" sz="1200" dirty="0"/>
              <a:t>인자를 이용하여 종속 변수를 </a:t>
            </a:r>
            <a:r>
              <a:rPr lang="en-US" altLang="ko-KR" sz="1200" dirty="0"/>
              <a:t>sex</a:t>
            </a:r>
            <a:r>
              <a:rPr lang="ko-KR" altLang="en-US" sz="1200" dirty="0"/>
              <a:t>로 지정</a:t>
            </a:r>
            <a:r>
              <a:rPr lang="en-US" altLang="ko-KR" sz="1200" dirty="0"/>
              <a:t> </a:t>
            </a:r>
            <a:endParaRPr lang="en-US" altLang="ko-KR" sz="1200" dirty="0"/>
          </a:p>
          <a:p>
            <a:pPr marL="628650" lvl="3" indent="0">
              <a:buNone/>
              <a:defRPr/>
            </a:pPr>
            <a:r>
              <a:rPr lang="en-US" altLang="ko-KR" sz="1200" dirty="0"/>
              <a:t>   </a:t>
            </a:r>
            <a:r>
              <a:rPr lang="zh-CN" altLang="en-US" dirty="0"/>
              <a:t>第 </a:t>
            </a:r>
            <a:r>
              <a:rPr lang="en-US" altLang="zh-CN" dirty="0"/>
              <a:t>01 </a:t>
            </a:r>
            <a:r>
              <a:rPr lang="zh-CN" altLang="en-US" dirty="0"/>
              <a:t>行 使用 </a:t>
            </a:r>
            <a:r>
              <a:rPr lang="en-US" altLang="zh-CN" dirty="0" err="1"/>
              <a:t>catplot</a:t>
            </a:r>
            <a:r>
              <a:rPr lang="zh-CN" altLang="en-US" dirty="0"/>
              <a:t>（） 函数绘制 </a:t>
            </a:r>
            <a:r>
              <a:rPr lang="en-US" altLang="zh-CN" dirty="0" err="1"/>
              <a:t>pclass</a:t>
            </a:r>
            <a:r>
              <a:rPr lang="en-US" altLang="zh-CN" dirty="0"/>
              <a:t> </a:t>
            </a:r>
            <a:r>
              <a:rPr lang="zh-CN" altLang="en-US" dirty="0"/>
              <a:t>变量和存活变量之间的关系 </a:t>
            </a:r>
            <a:endParaRPr lang="en-US" altLang="zh-CN" dirty="0"/>
          </a:p>
          <a:p>
            <a:pPr marL="628650" lvl="3" indent="0"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使用色相因子将因变量指定为性别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02</a:t>
            </a:r>
            <a:r>
              <a:rPr lang="ko-KR" altLang="en-US" sz="1200" dirty="0"/>
              <a:t>행  </a:t>
            </a:r>
            <a:r>
              <a:rPr lang="en-US" altLang="ko-KR" sz="1200" dirty="0" err="1"/>
              <a:t>catplot</a:t>
            </a:r>
            <a:r>
              <a:rPr lang="ko-KR" altLang="en-US" sz="1200" dirty="0"/>
              <a:t>을 나타냄 </a:t>
            </a:r>
            <a:r>
              <a:rPr lang="en-US" altLang="ko-KR" dirty="0"/>
              <a:t>02 </a:t>
            </a:r>
            <a:r>
              <a:rPr lang="ko-KR" altLang="en-US" dirty="0"/>
              <a:t>行表示 </a:t>
            </a:r>
            <a:r>
              <a:rPr lang="en-US" altLang="ko-KR" dirty="0" err="1"/>
              <a:t>catplot</a:t>
            </a:r>
            <a:endParaRPr lang="en-US" altLang="ko-KR" sz="1200" dirty="0"/>
          </a:p>
        </p:txBody>
      </p:sp>
      <p:grpSp>
        <p:nvGrpSpPr>
          <p:cNvPr id="96260" name="그룹 10"/>
          <p:cNvGrpSpPr/>
          <p:nvPr/>
        </p:nvGrpSpPr>
        <p:grpSpPr bwMode="auto">
          <a:xfrm>
            <a:off x="908050" y="2057430"/>
            <a:ext cx="6911975" cy="752475"/>
            <a:chOff x="757792" y="1857862"/>
            <a:chExt cx="7555109" cy="178121"/>
          </a:xfrm>
        </p:grpSpPr>
        <p:sp>
          <p:nvSpPr>
            <p:cNvPr id="12" name="직사각형 11"/>
            <p:cNvSpPr/>
            <p:nvPr/>
          </p:nvSpPr>
          <p:spPr>
            <a:xfrm>
              <a:off x="1045837" y="1857862"/>
              <a:ext cx="7267064" cy="1781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6264" name="내용 개체 틀 2"/>
            <p:cNvSpPr txBox="1"/>
            <p:nvPr/>
          </p:nvSpPr>
          <p:spPr bwMode="auto">
            <a:xfrm>
              <a:off x="757792" y="1857863"/>
              <a:ext cx="7555109" cy="138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66700" indent="-266700" latinLnBrk="1">
                <a:spcBef>
                  <a:spcPct val="20000"/>
                </a:spcBef>
                <a:buFont typeface="Arial" panose="020B0604020202020204" pitchFamily="34" charset="0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667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628650" indent="-180975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809625" indent="-180975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990600" indent="-180975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14478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19050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23622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2819400" indent="-180975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/>
                <a:t>01 &gt;&gt;&gt; sns.</a:t>
              </a:r>
              <a:r>
                <a:rPr lang="en-US" altLang="ko-KR" sz="1200" b="1"/>
                <a:t>catplot</a:t>
              </a:r>
              <a:r>
                <a:rPr lang="en-US" altLang="ko-KR" sz="1200"/>
                <a:t>(x = 'pclass', y = 'survived', hue = 'sex', data = titanic, kind = 'point’)</a:t>
              </a:r>
              <a:endParaRPr lang="en-US" altLang="ko-KR" sz="1200"/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>
                  <a:solidFill>
                    <a:srgbClr val="258BCD"/>
                  </a:solidFill>
                </a:rPr>
                <a:t>    &lt;seaborn.axisgrid.FacetGrid object at 0x000001DD44EB4B88&gt;</a:t>
              </a:r>
              <a:endParaRPr lang="en-US" altLang="ko-KR" sz="1200">
                <a:solidFill>
                  <a:srgbClr val="258BCD"/>
                </a:solidFill>
              </a:endParaRPr>
            </a:p>
            <a:p>
              <a:pPr lvl="1">
                <a:spcBef>
                  <a:spcPts val="150"/>
                </a:spcBef>
                <a:spcAft>
                  <a:spcPts val="100"/>
                </a:spcAft>
                <a:buClr>
                  <a:srgbClr val="595959"/>
                </a:buClr>
                <a:buNone/>
              </a:pPr>
              <a:r>
                <a:rPr lang="en-US" altLang="ko-KR" sz="1200"/>
                <a:t>02 &gt;&gt;&gt; plt.show()</a:t>
              </a:r>
              <a:endParaRPr lang="es-ES" altLang="ko-KR" sz="1200">
                <a:solidFill>
                  <a:srgbClr val="258BCD"/>
                </a:solidFill>
              </a:endParaRPr>
            </a:p>
          </p:txBody>
        </p:sp>
      </p:grpSp>
      <p:pic>
        <p:nvPicPr>
          <p:cNvPr id="96261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307" y="2988113"/>
            <a:ext cx="3614738" cy="324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70" y="1056663"/>
            <a:ext cx="7398779" cy="5328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91669" y="13204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30992" y="1119027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7. </a:t>
            </a:r>
            <a:r>
              <a:rPr lang="ko-KR" altLang="en-US" sz="3600" dirty="0"/>
              <a:t>可视化结果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>
          <a:xfrm>
            <a:off x="538385" y="1079008"/>
            <a:ext cx="11161945" cy="5765788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ko-KR" altLang="en-US" dirty="0"/>
              <a:t>결과 시각화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r>
              <a:rPr lang="ko-KR" altLang="en-US" dirty="0"/>
              <a:t>변수 사이의 상관 계수를 </a:t>
            </a:r>
            <a:r>
              <a:rPr lang="ko-KR" altLang="en-US" dirty="0" err="1"/>
              <a:t>히트맵으로</a:t>
            </a:r>
            <a:r>
              <a:rPr lang="ko-KR" altLang="en-US" dirty="0"/>
              <a:t> 시각화하기 </a:t>
            </a:r>
            <a:r>
              <a:rPr lang="zh-CN" altLang="en-US" dirty="0"/>
              <a:t>将变量之间的相关因素可视化为热图</a:t>
            </a:r>
            <a:endParaRPr lang="en-US" altLang="ko-KR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sz="9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sz="12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lnSpc>
                <a:spcPts val="900"/>
              </a:lnSpc>
              <a:defRPr/>
            </a:pPr>
            <a:r>
              <a:rPr lang="en-US" altLang="ko-KR" sz="1400" dirty="0"/>
              <a:t>[01~02</a:t>
            </a:r>
            <a:r>
              <a:rPr lang="ko-KR" altLang="en-US" sz="1400" dirty="0"/>
              <a:t>행</a:t>
            </a:r>
            <a:r>
              <a:rPr lang="en-US" altLang="ko-KR" sz="1400" dirty="0"/>
              <a:t>] age</a:t>
            </a:r>
            <a:r>
              <a:rPr lang="ko-KR" altLang="en-US" sz="1400" dirty="0"/>
              <a:t>를 카테고리 값으로 바꾸어 </a:t>
            </a:r>
            <a:r>
              <a:rPr lang="en-US" altLang="ko-KR" sz="1400" dirty="0"/>
              <a:t>age2 </a:t>
            </a:r>
            <a:r>
              <a:rPr lang="ko-KR" altLang="en-US" sz="1400" dirty="0"/>
              <a:t>변수로 추가하기</a:t>
            </a:r>
            <a:endParaRPr lang="en-US" altLang="ko-KR" sz="1400" dirty="0"/>
          </a:p>
          <a:p>
            <a:pPr marL="447675" lvl="2" indent="0">
              <a:lnSpc>
                <a:spcPts val="900"/>
              </a:lnSpc>
              <a:buNone/>
              <a:defRPr/>
            </a:pPr>
            <a:r>
              <a:rPr lang="ko-KR" altLang="en-US" sz="1200" dirty="0"/>
              <a:t>    </a:t>
            </a:r>
            <a:r>
              <a:rPr lang="en-US" altLang="ko-KR" sz="1400" dirty="0"/>
              <a:t>[</a:t>
            </a:r>
            <a:r>
              <a:rPr lang="ko-KR" altLang="en-US" sz="1400" dirty="0"/>
              <a:t>第 </a:t>
            </a:r>
            <a:r>
              <a:rPr lang="en-US" altLang="ko-KR" sz="1400" dirty="0"/>
              <a:t>01~02 </a:t>
            </a:r>
            <a:r>
              <a:rPr lang="ko-KR" altLang="en-US" sz="1400" dirty="0"/>
              <a:t>行</a:t>
            </a:r>
            <a:r>
              <a:rPr lang="en-US" altLang="ko-KR" sz="1400" dirty="0"/>
              <a:t>] </a:t>
            </a:r>
            <a:r>
              <a:rPr lang="ko-KR" altLang="en-US" sz="1400" dirty="0"/>
              <a:t>将 </a:t>
            </a:r>
            <a:r>
              <a:rPr lang="en-US" altLang="ko-KR" sz="1400" dirty="0"/>
              <a:t>age </a:t>
            </a:r>
            <a:r>
              <a:rPr lang="ko-KR" altLang="en-US" sz="1400" dirty="0"/>
              <a:t>替换为 </a:t>
            </a:r>
            <a:r>
              <a:rPr lang="en-US" altLang="ko-KR" sz="1400" dirty="0"/>
              <a:t>category </a:t>
            </a:r>
            <a:r>
              <a:rPr lang="ko-KR" altLang="en-US" sz="1400" dirty="0"/>
              <a:t>值并将其添加为 </a:t>
            </a:r>
            <a:r>
              <a:rPr lang="en-US" altLang="ko-KR" sz="1400" dirty="0"/>
              <a:t>age2 </a:t>
            </a:r>
            <a:r>
              <a:rPr lang="ko-KR" altLang="en-US" sz="1400" dirty="0"/>
              <a:t>变量</a:t>
            </a:r>
            <a:endParaRPr lang="ko-KR" altLang="en-US" sz="1200" dirty="0"/>
          </a:p>
          <a:p>
            <a:pPr lvl="3">
              <a:lnSpc>
                <a:spcPts val="900"/>
              </a:lnSpc>
              <a:defRPr/>
            </a:pPr>
            <a:r>
              <a:rPr lang="en-US" altLang="ko-KR" sz="1200" dirty="0"/>
              <a:t>01</a:t>
            </a:r>
            <a:r>
              <a:rPr lang="ko-KR" altLang="en-US" sz="1200" dirty="0"/>
              <a:t>행 </a:t>
            </a:r>
            <a:r>
              <a:rPr lang="en-US" altLang="ko-KR" sz="1200" dirty="0"/>
              <a:t>10</a:t>
            </a:r>
            <a:r>
              <a:rPr lang="ko-KR" altLang="en-US" sz="1200" dirty="0"/>
              <a:t>살 단위로 등급을 나누어 </a:t>
            </a:r>
            <a:r>
              <a:rPr lang="en-US" altLang="ko-KR" sz="1200" dirty="0"/>
              <a:t>0~7</a:t>
            </a:r>
            <a:r>
              <a:rPr lang="ko-KR" altLang="en-US" sz="1200" dirty="0"/>
              <a:t>의 값으로 바꿔주는 </a:t>
            </a:r>
            <a:r>
              <a:rPr lang="en-US" altLang="ko-KR" sz="1200" dirty="0" err="1"/>
              <a:t>category_age</a:t>
            </a:r>
            <a:r>
              <a:rPr lang="en-US" altLang="ko-KR" sz="1200" dirty="0"/>
              <a:t> </a:t>
            </a:r>
            <a:r>
              <a:rPr lang="ko-KR" altLang="en-US" sz="1200" dirty="0"/>
              <a:t>함수를 작성</a:t>
            </a:r>
            <a:endParaRPr lang="en-US" altLang="ko-KR" sz="1200" dirty="0"/>
          </a:p>
          <a:p>
            <a:pPr marL="628650" lvl="3" indent="0">
              <a:lnSpc>
                <a:spcPts val="900"/>
              </a:lnSpc>
              <a:buNone/>
              <a:defRPr/>
            </a:pPr>
            <a:r>
              <a:rPr lang="ko-KR" altLang="en-US" sz="900" dirty="0"/>
              <a:t>   </a:t>
            </a:r>
            <a:r>
              <a:rPr lang="en-US" altLang="zh-CN" sz="1400" dirty="0"/>
              <a:t>01 </a:t>
            </a:r>
            <a:r>
              <a:rPr lang="zh-CN" altLang="en-US" sz="1400" dirty="0"/>
              <a:t>写一个</a:t>
            </a:r>
            <a:r>
              <a:rPr lang="en-US" altLang="zh-CN" sz="1400" dirty="0" err="1"/>
              <a:t>category_age</a:t>
            </a:r>
            <a:r>
              <a:rPr lang="zh-CN" altLang="en-US" sz="1400" dirty="0"/>
              <a:t>函数，将年级划分为</a:t>
            </a:r>
            <a:r>
              <a:rPr lang="en-US" altLang="zh-CN" sz="1400" dirty="0"/>
              <a:t>10</a:t>
            </a:r>
            <a:r>
              <a:rPr lang="zh-CN" altLang="en-US" sz="1400" dirty="0"/>
              <a:t>年单位，变成</a:t>
            </a:r>
            <a:r>
              <a:rPr lang="en-US" altLang="zh-CN" sz="1400" dirty="0"/>
              <a:t>0~7</a:t>
            </a:r>
            <a:r>
              <a:rPr lang="zh-CN" altLang="en-US" sz="1400" dirty="0"/>
              <a:t>的数值</a:t>
            </a:r>
            <a:endParaRPr lang="en-US" altLang="ko-KR" sz="900" dirty="0"/>
          </a:p>
          <a:p>
            <a:pPr lvl="3">
              <a:lnSpc>
                <a:spcPts val="900"/>
              </a:lnSpc>
              <a:defRPr/>
            </a:pPr>
            <a:r>
              <a:rPr lang="en-US" altLang="ko-KR" sz="1200" dirty="0"/>
              <a:t>02</a:t>
            </a:r>
            <a:r>
              <a:rPr lang="ko-KR" altLang="en-US" sz="1200" dirty="0"/>
              <a:t>행 </a:t>
            </a:r>
            <a:r>
              <a:rPr lang="en-US" altLang="ko-KR" sz="1200" dirty="0" err="1"/>
              <a:t>category_age</a:t>
            </a:r>
            <a:r>
              <a:rPr lang="en-US" altLang="ko-KR" sz="1200" dirty="0"/>
              <a:t> </a:t>
            </a:r>
            <a:r>
              <a:rPr lang="ko-KR" altLang="en-US" sz="1200" dirty="0"/>
              <a:t>함수를 적용하여 새로운 </a:t>
            </a:r>
            <a:r>
              <a:rPr lang="en-US" altLang="ko-KR" sz="1200" dirty="0"/>
              <a:t>age2 </a:t>
            </a:r>
            <a:r>
              <a:rPr lang="ko-KR" altLang="en-US" sz="1200" dirty="0"/>
              <a:t>열을 만들어 추가</a:t>
            </a:r>
            <a:endParaRPr lang="en-US" altLang="ko-KR" sz="1200" dirty="0"/>
          </a:p>
          <a:p>
            <a:pPr marL="628650" lvl="3" indent="0">
              <a:lnSpc>
                <a:spcPts val="900"/>
              </a:lnSpc>
              <a:buNone/>
              <a:defRPr/>
            </a:pPr>
            <a:r>
              <a:rPr lang="en-US" altLang="ko-KR" sz="1300" dirty="0"/>
              <a:t>   02</a:t>
            </a:r>
            <a:r>
              <a:rPr lang="ko-KR" altLang="en-US" sz="1300" dirty="0"/>
              <a:t>行应用</a:t>
            </a:r>
            <a:r>
              <a:rPr lang="en-US" altLang="ko-KR" sz="1300" dirty="0" err="1"/>
              <a:t>category_age</a:t>
            </a:r>
            <a:r>
              <a:rPr lang="ko-KR" altLang="en-US" sz="1300" dirty="0"/>
              <a:t>函数，创建并添加新的</a:t>
            </a:r>
            <a:r>
              <a:rPr lang="en-US" altLang="ko-KR" sz="1300" dirty="0"/>
              <a:t>age2</a:t>
            </a:r>
            <a:r>
              <a:rPr lang="ko-KR" altLang="en-US" sz="1300" dirty="0"/>
              <a:t>列</a:t>
            </a:r>
            <a:endParaRPr lang="en-US" altLang="ko-KR" sz="1900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marL="609600" lvl="1" indent="-342900">
              <a:buFont typeface="+mj-lt"/>
              <a:buAutoNum type="arabicPeriod" startAt="2"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sz="1400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670" y="1056663"/>
            <a:ext cx="7398779" cy="5328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1262" b="33697"/>
          <a:stretch>
            <a:fillRect/>
          </a:stretch>
        </p:blipFill>
        <p:spPr>
          <a:xfrm>
            <a:off x="1083949" y="2296390"/>
            <a:ext cx="5661344" cy="2556163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91669" y="13204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30992" y="1119027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7. </a:t>
            </a:r>
            <a:r>
              <a:rPr lang="ko-KR" altLang="en-US" sz="3600" dirty="0"/>
              <a:t>可视化结果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결과 시각화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r>
              <a:rPr lang="ko-KR" altLang="en-US" dirty="0"/>
              <a:t>변수 사이의 상관 계수를 </a:t>
            </a:r>
            <a:r>
              <a:rPr lang="ko-KR" altLang="en-US" dirty="0" err="1"/>
              <a:t>히트맵으로</a:t>
            </a:r>
            <a:r>
              <a:rPr lang="ko-KR" altLang="en-US" dirty="0"/>
              <a:t> 시각화하기 </a:t>
            </a:r>
            <a:r>
              <a:rPr lang="zh-CN" altLang="en-US" dirty="0"/>
              <a:t>将变量之间的相关系数可视化为热力图</a:t>
            </a:r>
            <a:endParaRPr lang="en-US" altLang="ko-KR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lnSpc>
                <a:spcPct val="100000"/>
              </a:lnSpc>
              <a:defRPr/>
            </a:pPr>
            <a:r>
              <a:rPr lang="en-US" altLang="ko-KR" sz="1400" dirty="0"/>
              <a:t>03</a:t>
            </a:r>
            <a:r>
              <a:rPr lang="ko-KR" altLang="en-US" sz="1400" dirty="0"/>
              <a:t>행  성별을 </a:t>
            </a:r>
            <a:r>
              <a:rPr lang="en-US" altLang="ko-KR" sz="1400" dirty="0"/>
              <a:t>male/female</a:t>
            </a:r>
            <a:r>
              <a:rPr lang="ko-KR" altLang="en-US" sz="1400" dirty="0"/>
              <a:t>에서 </a:t>
            </a:r>
            <a:r>
              <a:rPr lang="en-US" altLang="ko-KR" sz="1400" dirty="0"/>
              <a:t>1/0</a:t>
            </a:r>
            <a:r>
              <a:rPr lang="ko-KR" altLang="en-US" sz="1400" dirty="0"/>
              <a:t>으로 치환</a:t>
            </a:r>
            <a:endParaRPr lang="en-US" altLang="ko-KR" sz="1400" dirty="0"/>
          </a:p>
          <a:p>
            <a:pPr marL="447675" lvl="2" indent="0">
              <a:lnSpc>
                <a:spcPct val="100000"/>
              </a:lnSpc>
              <a:buNone/>
              <a:defRPr/>
            </a:pPr>
            <a:r>
              <a:rPr lang="en-US" altLang="ko-KR" sz="1400" dirty="0"/>
              <a:t>   </a:t>
            </a:r>
            <a:r>
              <a:rPr lang="en-US" altLang="zh-CN" dirty="0"/>
              <a:t>03 </a:t>
            </a:r>
            <a:r>
              <a:rPr lang="zh-CN" altLang="en-US" dirty="0"/>
              <a:t>将性别从男</a:t>
            </a:r>
            <a:r>
              <a:rPr lang="en-US" altLang="zh-CN" dirty="0"/>
              <a:t>/</a:t>
            </a:r>
            <a:r>
              <a:rPr lang="zh-CN" altLang="en-US" dirty="0"/>
              <a:t>女替换为</a:t>
            </a:r>
            <a:r>
              <a:rPr lang="en-US" altLang="zh-CN" dirty="0"/>
              <a:t>1/0</a:t>
            </a:r>
            <a:endParaRPr lang="en-US" altLang="ko-KR" sz="1400" dirty="0"/>
          </a:p>
          <a:p>
            <a:pPr lvl="2">
              <a:lnSpc>
                <a:spcPct val="100000"/>
              </a:lnSpc>
              <a:defRPr/>
            </a:pPr>
            <a:r>
              <a:rPr lang="en-US" altLang="ko-KR" sz="1400" dirty="0"/>
              <a:t>04</a:t>
            </a:r>
            <a:r>
              <a:rPr lang="ko-KR" altLang="en-US" sz="1400" dirty="0"/>
              <a:t>행  가족의 수를 구하여 </a:t>
            </a:r>
            <a:r>
              <a:rPr lang="en-US" altLang="ko-KR" sz="1400" dirty="0"/>
              <a:t>family </a:t>
            </a:r>
            <a:r>
              <a:rPr lang="ko-KR" altLang="en-US" sz="1400" dirty="0"/>
              <a:t>열을 추가</a:t>
            </a:r>
            <a:endParaRPr lang="en-US" altLang="ko-KR" sz="1400" dirty="0"/>
          </a:p>
          <a:p>
            <a:pPr marL="447675" lvl="2" indent="0">
              <a:lnSpc>
                <a:spcPct val="100000"/>
              </a:lnSpc>
              <a:buNone/>
              <a:defRPr/>
            </a:pPr>
            <a:r>
              <a:rPr lang="en-US" altLang="ko-KR" sz="1400" dirty="0"/>
              <a:t>   </a:t>
            </a:r>
            <a:r>
              <a:rPr lang="en-US" altLang="zh-CN" dirty="0"/>
              <a:t>04</a:t>
            </a:r>
            <a:r>
              <a:rPr lang="zh-CN" altLang="en-US" dirty="0"/>
              <a:t>通过查找第 </a:t>
            </a:r>
            <a:r>
              <a:rPr lang="en-US" altLang="zh-CN" dirty="0"/>
              <a:t>04 </a:t>
            </a:r>
            <a:r>
              <a:rPr lang="zh-CN" altLang="en-US" dirty="0"/>
              <a:t>行中的家庭数来添加家庭列</a:t>
            </a:r>
            <a:endParaRPr lang="en-US" altLang="ko-KR" sz="1400" dirty="0"/>
          </a:p>
          <a:p>
            <a:pPr lvl="2">
              <a:lnSpc>
                <a:spcPct val="100000"/>
              </a:lnSpc>
              <a:defRPr/>
            </a:pPr>
            <a:r>
              <a:rPr lang="en-US" altLang="ko-KR" sz="1400" dirty="0"/>
              <a:t>05</a:t>
            </a:r>
            <a:r>
              <a:rPr lang="ko-KR" altLang="en-US" sz="1400" dirty="0"/>
              <a:t>행  수정된 데이터프레임을 </a:t>
            </a:r>
            <a:r>
              <a:rPr lang="en-US" altLang="ko-KR" sz="1400" dirty="0"/>
              <a:t>titanic3.csv</a:t>
            </a:r>
            <a:r>
              <a:rPr lang="ko-KR" altLang="en-US" sz="1400" dirty="0"/>
              <a:t>로 저장</a:t>
            </a:r>
            <a:endParaRPr lang="en-US" altLang="ko-KR" sz="1400" dirty="0"/>
          </a:p>
          <a:p>
            <a:pPr marL="447675" lvl="2" indent="0">
              <a:lnSpc>
                <a:spcPct val="100000"/>
              </a:lnSpc>
              <a:buNone/>
              <a:defRPr/>
            </a:pPr>
            <a:r>
              <a:rPr lang="en-US" altLang="ko-KR" sz="1400" dirty="0"/>
              <a:t>   </a:t>
            </a:r>
            <a:r>
              <a:rPr lang="en-US" altLang="zh-CN" dirty="0"/>
              <a:t>05 </a:t>
            </a:r>
            <a:r>
              <a:rPr lang="zh-CN" altLang="en-US" dirty="0"/>
              <a:t>将修改后的数据帧保存为</a:t>
            </a:r>
            <a:r>
              <a:rPr lang="en-US" altLang="zh-CN" dirty="0"/>
              <a:t>titanic3.csv</a:t>
            </a:r>
            <a:endParaRPr lang="en-US" altLang="ko-KR" sz="1400" dirty="0"/>
          </a:p>
          <a:p>
            <a:pPr marL="609600" lvl="1" indent="-342900">
              <a:lnSpc>
                <a:spcPct val="100000"/>
              </a:lnSpc>
              <a:buFont typeface="+mj-lt"/>
              <a:buAutoNum type="arabicPeriod" startAt="3"/>
              <a:defRPr/>
            </a:pPr>
            <a:endParaRPr lang="en-US" altLang="ko-KR" sz="1600" dirty="0"/>
          </a:p>
          <a:p>
            <a:pPr marL="609600" lvl="1" indent="-342900">
              <a:buFont typeface="+mj-lt"/>
              <a:buAutoNum type="arabicPeriod" startAt="3"/>
              <a:defRPr/>
            </a:pPr>
            <a:endParaRPr lang="en-US" altLang="ko-KR" sz="1600" dirty="0"/>
          </a:p>
          <a:p>
            <a:pPr lvl="2">
              <a:defRPr/>
            </a:pPr>
            <a:endParaRPr lang="en-US" altLang="ko-KR" sz="1400" dirty="0"/>
          </a:p>
        </p:txBody>
      </p:sp>
      <p:pic>
        <p:nvPicPr>
          <p:cNvPr id="100356" name="그림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825" y="2950407"/>
            <a:ext cx="635317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70" y="1056663"/>
            <a:ext cx="7398779" cy="5328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t="66095" b="23285"/>
          <a:stretch>
            <a:fillRect/>
          </a:stretch>
        </p:blipFill>
        <p:spPr>
          <a:xfrm>
            <a:off x="1190490" y="1995055"/>
            <a:ext cx="6390563" cy="723207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91669" y="13204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30992" y="1119027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7. </a:t>
            </a:r>
            <a:r>
              <a:rPr lang="ko-KR" altLang="en-US" sz="3600" dirty="0"/>
              <a:t>可视化结果</a:t>
            </a:r>
            <a:endParaRPr lang="ko-KR" altLang="en-US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5765508" y="5299308"/>
            <a:ext cx="4249882" cy="33848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600" dirty="0"/>
              <a:t>图 </a:t>
            </a:r>
            <a:r>
              <a:rPr lang="en-US" altLang="ko-KR" sz="1600" dirty="0"/>
              <a:t>7-14 titanic.csv </a:t>
            </a:r>
            <a:r>
              <a:rPr lang="ko-KR" altLang="en-US" sz="1600" dirty="0"/>
              <a:t>检查文件以进行替换和添加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결과 시각화</a:t>
            </a:r>
            <a:endParaRPr lang="en-US" altLang="ko-KR" dirty="0"/>
          </a:p>
          <a:p>
            <a:pPr marL="609600" lvl="1" indent="-342900">
              <a:buFont typeface="+mj-lt"/>
              <a:buAutoNum type="arabicPeriod" startAt="3"/>
              <a:defRPr/>
            </a:pPr>
            <a:r>
              <a:rPr lang="ko-KR" altLang="en-US" dirty="0"/>
              <a:t>변수 사이의 상관 계수를 </a:t>
            </a:r>
            <a:r>
              <a:rPr lang="ko-KR" altLang="en-US" dirty="0" err="1"/>
              <a:t>히트맵으로</a:t>
            </a:r>
            <a:r>
              <a:rPr lang="ko-KR" altLang="en-US" dirty="0"/>
              <a:t> 시각화하기 </a:t>
            </a:r>
            <a:r>
              <a:rPr lang="zh-CN" altLang="en-US" dirty="0"/>
              <a:t>将变量之间的相关因素可视化为热图</a:t>
            </a:r>
            <a:endParaRPr lang="en-US" altLang="ko-KR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r>
              <a:rPr lang="en-US" altLang="ko-KR" sz="1400" dirty="0"/>
              <a:t>[06~09</a:t>
            </a:r>
            <a:r>
              <a:rPr lang="ko-KR" altLang="en-US" sz="1400" dirty="0"/>
              <a:t>행</a:t>
            </a:r>
            <a:r>
              <a:rPr lang="en-US" altLang="ko-KR" sz="1400" dirty="0"/>
              <a:t>] </a:t>
            </a:r>
            <a:r>
              <a:rPr lang="ko-KR" altLang="en-US" sz="1400" dirty="0"/>
              <a:t>상관 분석 결과를 </a:t>
            </a:r>
            <a:r>
              <a:rPr lang="ko-KR" altLang="en-US" sz="1400" dirty="0" err="1"/>
              <a:t>히트맵으로</a:t>
            </a:r>
            <a:r>
              <a:rPr lang="ko-KR" altLang="en-US" sz="1400" dirty="0"/>
              <a:t> 나타내기 </a:t>
            </a:r>
            <a:r>
              <a:rPr lang="en-US" altLang="zh-CN" dirty="0"/>
              <a:t>[</a:t>
            </a:r>
            <a:r>
              <a:rPr lang="zh-CN" altLang="en-US" dirty="0"/>
              <a:t>第 </a:t>
            </a:r>
            <a:r>
              <a:rPr lang="en-US" altLang="zh-CN" dirty="0"/>
              <a:t>06~09 </a:t>
            </a:r>
            <a:r>
              <a:rPr lang="zh-CN" altLang="en-US" dirty="0"/>
              <a:t>行</a:t>
            </a:r>
            <a:r>
              <a:rPr lang="en-US" altLang="zh-CN" dirty="0"/>
              <a:t>] </a:t>
            </a:r>
            <a:r>
              <a:rPr lang="zh-CN" altLang="en-US" dirty="0"/>
              <a:t>将相关性分析结果显示为热图</a:t>
            </a:r>
            <a:endParaRPr lang="ko-KR" altLang="en-US" sz="1400" dirty="0"/>
          </a:p>
          <a:p>
            <a:pPr lvl="3">
              <a:defRPr/>
            </a:pPr>
            <a:r>
              <a:rPr lang="en-US" altLang="ko-KR" sz="1200" dirty="0"/>
              <a:t>06</a:t>
            </a:r>
            <a:r>
              <a:rPr lang="ko-KR" altLang="en-US" sz="1200" dirty="0"/>
              <a:t>행  </a:t>
            </a:r>
            <a:r>
              <a:rPr lang="ko-KR" altLang="en-US" sz="1200" dirty="0" err="1"/>
              <a:t>히트맵에</a:t>
            </a:r>
            <a:r>
              <a:rPr lang="ko-KR" altLang="en-US" sz="1200" dirty="0"/>
              <a:t> 사용할 데이터를 추출 </a:t>
            </a:r>
            <a:r>
              <a:rPr lang="zh-CN" altLang="en-US" sz="1800" dirty="0"/>
              <a:t>第</a:t>
            </a:r>
            <a:r>
              <a:rPr lang="en-US" altLang="zh-CN" dirty="0"/>
              <a:t>06</a:t>
            </a:r>
            <a:r>
              <a:rPr lang="zh-CN" altLang="en-US" dirty="0"/>
              <a:t>提取行热图数据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07</a:t>
            </a:r>
            <a:r>
              <a:rPr lang="ko-KR" altLang="en-US" sz="1200" dirty="0"/>
              <a:t>행  </a:t>
            </a:r>
            <a:r>
              <a:rPr lang="ko-KR" altLang="en-US" sz="1200" dirty="0" err="1"/>
              <a:t>히트맵에</a:t>
            </a:r>
            <a:r>
              <a:rPr lang="ko-KR" altLang="en-US" sz="1200" dirty="0"/>
              <a:t> 사용할 </a:t>
            </a:r>
            <a:r>
              <a:rPr lang="ko-KR" altLang="en-US" sz="1200" dirty="0" err="1"/>
              <a:t>색상맵을</a:t>
            </a:r>
            <a:r>
              <a:rPr lang="ko-KR" altLang="en-US" sz="1200" dirty="0"/>
              <a:t> 지정 </a:t>
            </a:r>
            <a:r>
              <a:rPr lang="zh-CN" altLang="en-US" dirty="0"/>
              <a:t>第 </a:t>
            </a:r>
            <a:r>
              <a:rPr lang="en-US" altLang="zh-CN" dirty="0"/>
              <a:t>07 </a:t>
            </a:r>
            <a:r>
              <a:rPr lang="zh-CN" altLang="en-US" dirty="0"/>
              <a:t>行 指定用于热图的颜色图</a:t>
            </a:r>
            <a:endParaRPr lang="en-US" altLang="ko-KR" sz="1200" dirty="0"/>
          </a:p>
          <a:p>
            <a:pPr lvl="3">
              <a:defRPr/>
            </a:pPr>
            <a:r>
              <a:rPr lang="en-US" altLang="ko-KR" sz="1200" dirty="0"/>
              <a:t>08</a:t>
            </a:r>
            <a:r>
              <a:rPr lang="ko-KR" altLang="en-US" sz="1200" dirty="0"/>
              <a:t>행  </a:t>
            </a:r>
            <a:r>
              <a:rPr lang="en-US" altLang="ko-KR" sz="1200" dirty="0" err="1"/>
              <a:t>corr</a:t>
            </a:r>
            <a:r>
              <a:rPr lang="en-US" altLang="ko-KR" sz="1200" dirty="0"/>
              <a:t>() </a:t>
            </a:r>
            <a:r>
              <a:rPr lang="ko-KR" altLang="en-US" sz="1200" dirty="0"/>
              <a:t>함수로 구한 상관 계수로 </a:t>
            </a:r>
            <a:r>
              <a:rPr lang="ko-KR" altLang="en-US" sz="1200" dirty="0" err="1"/>
              <a:t>히트맵을</a:t>
            </a:r>
            <a:r>
              <a:rPr lang="ko-KR" altLang="en-US" sz="1200" dirty="0"/>
              <a:t> 생성</a:t>
            </a:r>
            <a:endParaRPr lang="en-US" altLang="ko-KR" sz="1200" dirty="0"/>
          </a:p>
          <a:p>
            <a:pPr marL="628650" lvl="3" indent="0">
              <a:buNone/>
              <a:defRPr/>
            </a:pPr>
            <a:r>
              <a:rPr lang="zh-CN" altLang="en-US" sz="1400" dirty="0"/>
              <a:t> 第</a:t>
            </a:r>
            <a:r>
              <a:rPr lang="zh-CN" altLang="en-US" sz="1100" dirty="0"/>
              <a:t> </a:t>
            </a:r>
            <a:r>
              <a:rPr lang="en-US" altLang="zh-CN" sz="1400" dirty="0"/>
              <a:t>08 </a:t>
            </a:r>
            <a:r>
              <a:rPr lang="zh-CN" altLang="en-US" sz="1400" dirty="0"/>
              <a:t>使用</a:t>
            </a:r>
            <a:r>
              <a:rPr lang="en-US" altLang="zh-CN" sz="1400" dirty="0" err="1"/>
              <a:t>corr</a:t>
            </a:r>
            <a:r>
              <a:rPr lang="zh-CN" altLang="en-US" sz="1400" dirty="0"/>
              <a:t>（）函数得到的相关系数生成热图</a:t>
            </a:r>
            <a:endParaRPr lang="en-US" altLang="ko-KR" sz="1100" dirty="0"/>
          </a:p>
          <a:p>
            <a:pPr lvl="3">
              <a:defRPr/>
            </a:pPr>
            <a:r>
              <a:rPr lang="en-US" altLang="ko-KR" sz="1200" dirty="0"/>
              <a:t>09</a:t>
            </a:r>
            <a:r>
              <a:rPr lang="ko-KR" altLang="en-US" sz="1200" dirty="0"/>
              <a:t>행  생성한 </a:t>
            </a:r>
            <a:r>
              <a:rPr lang="ko-KR" altLang="en-US" sz="1200" dirty="0" err="1"/>
              <a:t>히트맵을</a:t>
            </a:r>
            <a:r>
              <a:rPr lang="ko-KR" altLang="en-US" sz="1200" dirty="0"/>
              <a:t> 나타냄 </a:t>
            </a:r>
            <a:r>
              <a:rPr lang="zh-CN" altLang="en-US" dirty="0"/>
              <a:t>第 </a:t>
            </a:r>
            <a:r>
              <a:rPr lang="en-US" altLang="zh-CN" dirty="0"/>
              <a:t>09 </a:t>
            </a:r>
            <a:r>
              <a:rPr lang="zh-CN" altLang="en-US" dirty="0"/>
              <a:t>行表示生成的热图</a:t>
            </a:r>
            <a:endParaRPr lang="en-US" altLang="ko-KR" dirty="0"/>
          </a:p>
          <a:p>
            <a:pPr lvl="2">
              <a:defRPr/>
            </a:pPr>
            <a:endParaRPr lang="en-US" altLang="ko-KR" sz="1400" dirty="0"/>
          </a:p>
        </p:txBody>
      </p:sp>
      <p:grpSp>
        <p:nvGrpSpPr>
          <p:cNvPr id="2" name="그룹 1"/>
          <p:cNvGrpSpPr/>
          <p:nvPr/>
        </p:nvGrpSpPr>
        <p:grpSpPr>
          <a:xfrm>
            <a:off x="8489138" y="3919705"/>
            <a:ext cx="3513887" cy="2938295"/>
            <a:chOff x="4048543" y="3031721"/>
            <a:chExt cx="4078287" cy="3650067"/>
          </a:xfrm>
        </p:grpSpPr>
        <p:pic>
          <p:nvPicPr>
            <p:cNvPr id="102404" name="그림 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9876" y="3429000"/>
              <a:ext cx="3529013" cy="3252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1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8543" y="3031721"/>
              <a:ext cx="4078287" cy="3468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70" y="1056663"/>
            <a:ext cx="7398779" cy="5328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rcRect t="75981" b="1803"/>
          <a:stretch>
            <a:fillRect/>
          </a:stretch>
        </p:blipFill>
        <p:spPr>
          <a:xfrm>
            <a:off x="1190490" y="1986742"/>
            <a:ext cx="6390563" cy="1512920"/>
          </a:xfrm>
          <a:prstGeom prst="rect">
            <a:avLst/>
          </a:prstGeo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491669" y="13204"/>
            <a:ext cx="11161946" cy="737096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02. [</a:t>
            </a:r>
            <a:r>
              <a:rPr lang="ko-KR" altLang="en-US" sz="2400" dirty="0"/>
              <a:t>상관 분석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히트맵</a:t>
            </a:r>
            <a:r>
              <a:rPr lang="en-US" altLang="ko-KR" sz="2400" dirty="0"/>
              <a:t>] </a:t>
            </a:r>
            <a:r>
              <a:rPr lang="ko-KR" altLang="en-US" sz="2400" dirty="0" err="1"/>
              <a:t>타이타닉호</a:t>
            </a:r>
            <a:r>
              <a:rPr lang="ko-KR" altLang="en-US" sz="2400" dirty="0"/>
              <a:t> 생존율 분석하기</a:t>
            </a:r>
            <a:br>
              <a:rPr lang="en-US" altLang="ko-KR" sz="2400" dirty="0"/>
            </a:br>
            <a:r>
              <a:rPr lang="en-US" altLang="zh-CN" sz="2400" dirty="0">
                <a:latin typeface="+mj-ea"/>
                <a:ea typeface="+mj-ea"/>
              </a:rPr>
              <a:t>[</a:t>
            </a:r>
            <a:r>
              <a:rPr lang="zh-CN" altLang="en-US" sz="2400" dirty="0">
                <a:latin typeface="+mj-ea"/>
                <a:ea typeface="+mj-ea"/>
              </a:rPr>
              <a:t>相关性分析 </a:t>
            </a:r>
            <a:r>
              <a:rPr lang="en-US" altLang="zh-CN" sz="2400" dirty="0">
                <a:latin typeface="+mj-ea"/>
                <a:ea typeface="+mj-ea"/>
              </a:rPr>
              <a:t>+ </a:t>
            </a:r>
            <a:r>
              <a:rPr lang="zh-CN" altLang="en-US" sz="2400" dirty="0">
                <a:latin typeface="+mj-ea"/>
                <a:ea typeface="+mj-ea"/>
              </a:rPr>
              <a:t>热力图</a:t>
            </a:r>
            <a:r>
              <a:rPr lang="en-US" altLang="zh-CN" sz="2400" dirty="0">
                <a:latin typeface="+mj-ea"/>
                <a:ea typeface="+mj-ea"/>
              </a:rPr>
              <a:t>] </a:t>
            </a:r>
            <a:r>
              <a:rPr lang="zh-CN" altLang="en-US" sz="2400" dirty="0">
                <a:latin typeface="+mj-ea"/>
                <a:ea typeface="+mj-ea"/>
              </a:rPr>
              <a:t>泰坦尼克号生存率分析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30992" y="1119027"/>
            <a:ext cx="2067791" cy="3494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dirty="0"/>
              <a:t>7. </a:t>
            </a:r>
            <a:r>
              <a:rPr lang="ko-KR" altLang="en-US" sz="3600" dirty="0"/>
              <a:t>可视化结果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Thank You !</a:t>
            </a:r>
            <a:endParaRPr lang="ko-KR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DVSHAPEID" val="bBLBiWEQYdFTOe9rzf4UGm"/>
</p:tagLst>
</file>

<file path=ppt/tags/tag2.xml><?xml version="1.0" encoding="utf-8"?>
<p:tagLst xmlns:p="http://schemas.openxmlformats.org/presentationml/2006/main">
  <p:tag name="DVSHAPEID" val="bBLBiWEQYdFTOe9rzf4UGm"/>
</p:tagLst>
</file>

<file path=ppt/tags/tag3.xml><?xml version="1.0" encoding="utf-8"?>
<p:tagLst xmlns:p="http://schemas.openxmlformats.org/presentationml/2006/main">
  <p:tag name="DVSHAPEID" val="bBLBiWEQYdFTOe9rzf4UGm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33125</Words>
  <Application>WPS 演示</Application>
  <PresentationFormat>와이드스크린</PresentationFormat>
  <Paragraphs>1215</Paragraphs>
  <Slides>51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9" baseType="lpstr">
      <vt:lpstr>Arial</vt:lpstr>
      <vt:lpstr>SimSun</vt:lpstr>
      <vt:lpstr>Wingdings</vt:lpstr>
      <vt:lpstr>맑은 고딕</vt:lpstr>
      <vt:lpstr>HY견고딕</vt:lpstr>
      <vt:lpstr>Tahoma</vt:lpstr>
      <vt:lpstr>Verdana</vt:lpstr>
      <vt:lpstr>YDVYGOStd12</vt:lpstr>
      <vt:lpstr>한컴 고딕</vt:lpstr>
      <vt:lpstr>굴림</vt:lpstr>
      <vt:lpstr>ITCGaramondStd-Lt</vt:lpstr>
      <vt:lpstr>Microsoft YaHei</vt:lpstr>
      <vt:lpstr>Arial Unicode MS</vt:lpstr>
      <vt:lpstr>等线</vt:lpstr>
      <vt:lpstr>Calibri</vt:lpstr>
      <vt:lpstr>Garamond</vt:lpstr>
      <vt:lpstr>华康黑体W12</vt:lpstr>
      <vt:lpstr>1_Office 테마</vt:lpstr>
      <vt:lpstr>PowerPoint 演示文稿</vt:lpstr>
      <vt:lpstr>PowerPoint 演示文稿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PowerPoint 演示文稿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01. [기술 통계 분석 + 그래프] 와인 품질 예측하기 [描述性统计分析+图表]预测葡萄酒品质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02. [상관 분석 + 히트맵] 타이타닉호 생존율 분석하기 [相关性分析 + 热力图] 泰坦尼克号生存率分析</vt:lpstr>
      <vt:lpstr>Thank You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7장. 통계분석</dc:title>
  <dc:creator>J.Y.Lee</dc:creator>
  <dc:subject>데이터과학기반 빅데이터분석</dc:subject>
  <cp:lastModifiedBy>技术拯救世界</cp:lastModifiedBy>
  <cp:revision>338</cp:revision>
  <dcterms:created xsi:type="dcterms:W3CDTF">2024-10-13T11:44:00Z</dcterms:created>
  <dcterms:modified xsi:type="dcterms:W3CDTF">2025-11-13T02:52:13Z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2FFB6DF18F224DF2A007161281D0B9A9_12</vt:lpwstr>
  </property>
  <property fmtid="{D5CDD505-2E9C-101B-9397-08002B2CF9AE}" pid="3" name="KSOProductBuildVer">
    <vt:lpwstr>2052-12.1.0.23542</vt:lpwstr>
  </property>
</Properties>
</file>