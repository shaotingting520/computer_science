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0.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311" r:id="rId4"/>
    <p:sldId id="310" r:id="rId5"/>
    <p:sldId id="257" r:id="rId6"/>
    <p:sldId id="267" r:id="rId7"/>
    <p:sldId id="266" r:id="rId8"/>
    <p:sldId id="258" r:id="rId9"/>
    <p:sldId id="268" r:id="rId10"/>
    <p:sldId id="259" r:id="rId11"/>
    <p:sldId id="270" r:id="rId12"/>
    <p:sldId id="269" r:id="rId13"/>
    <p:sldId id="260" r:id="rId14"/>
    <p:sldId id="272" r:id="rId15"/>
    <p:sldId id="271" r:id="rId16"/>
    <p:sldId id="261" r:id="rId17"/>
    <p:sldId id="262" r:id="rId18"/>
    <p:sldId id="273" r:id="rId19"/>
    <p:sldId id="263" r:id="rId20"/>
    <p:sldId id="312" r:id="rId21"/>
    <p:sldId id="264" r:id="rId22"/>
    <p:sldId id="279" r:id="rId23"/>
    <p:sldId id="277" r:id="rId24"/>
    <p:sldId id="280" r:id="rId25"/>
    <p:sldId id="281" r:id="rId26"/>
    <p:sldId id="278" r:id="rId27"/>
    <p:sldId id="313" r:id="rId28"/>
    <p:sldId id="283" r:id="rId29"/>
    <p:sldId id="284" r:id="rId30"/>
    <p:sldId id="285" r:id="rId31"/>
    <p:sldId id="286" r:id="rId32"/>
    <p:sldId id="287" r:id="rId33"/>
    <p:sldId id="288" r:id="rId34"/>
    <p:sldId id="289" r:id="rId35"/>
    <p:sldId id="290" r:id="rId36"/>
    <p:sldId id="291" r:id="rId37"/>
    <p:sldId id="293" r:id="rId38"/>
    <p:sldId id="314" r:id="rId39"/>
    <p:sldId id="295" r:id="rId40"/>
    <p:sldId id="296" r:id="rId41"/>
    <p:sldId id="297" r:id="rId42"/>
    <p:sldId id="298" r:id="rId43"/>
    <p:sldId id="301" r:id="rId44"/>
    <p:sldId id="315" r:id="rId45"/>
    <p:sldId id="317" r:id="rId46"/>
    <p:sldId id="320" r:id="rId47"/>
    <p:sldId id="300" r:id="rId48"/>
    <p:sldId id="303" r:id="rId49"/>
    <p:sldId id="304" r:id="rId50"/>
    <p:sldId id="305" r:id="rId51"/>
    <p:sldId id="299" r:id="rId52"/>
    <p:sldId id="307" r:id="rId53"/>
    <p:sldId id="306" r:id="rId54"/>
    <p:sldId id="308" r:id="rId55"/>
    <p:sldId id="309" r:id="rId56"/>
    <p:sldId id="321" r:id="rId57"/>
    <p:sldId id="318" r:id="rId58"/>
    <p:sldId id="265" r:id="rId59"/>
    <p:sldId id="276"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107" d="100"/>
          <a:sy n="107" d="100"/>
        </p:scale>
        <p:origin x="1734" y="108"/>
      </p:cViewPr>
      <p:guideLst>
        <p:guide orient="horz" pos="220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customXml" Target="../customXml/item1.xml"/><Relationship Id="rId64" Type="http://schemas.openxmlformats.org/officeDocument/2006/relationships/customXmlProps" Target="../customXml/itemProps10.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9.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0.pn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4.pn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ctrTitle"/>
          </p:nvPr>
        </p:nvSpPr>
        <p:spPr/>
        <p:txBody>
          <a:bodyPr>
            <a:normAutofit fontScale="90000"/>
          </a:bodyPr>
          <a:lstStyle/>
          <a:p>
            <a:pPr>
              <a:defRPr sz="2800" b="1">
                <a:solidFill>
                  <a:srgbClr val="0066CC"/>
                </a:solidFill>
              </a:defRPr>
            </a:pPr>
            <a:r>
              <a:rPr lang="ko-KR" altLang="en-US" sz="3200" dirty="0">
                <a:latin typeface="黑体" panose="02010609060101010101" charset="-122"/>
                <a:ea typeface="黑体" panose="02010609060101010101" charset="-122"/>
                <a:cs typeface="黑体" panose="02010609060101010101" charset="-122"/>
              </a:rPr>
              <a:t>서울시</a:t>
            </a:r>
            <a:r>
              <a:rPr lang="en-US" altLang="zh-CN" sz="3200" dirty="0">
                <a:latin typeface="黑体" panose="02010609060101010101" charset="-122"/>
                <a:ea typeface="黑体" panose="02010609060101010101" charset="-122"/>
                <a:cs typeface="黑体" panose="02010609060101010101" charset="-122"/>
              </a:rPr>
              <a:t> </a:t>
            </a:r>
            <a:r>
              <a:rPr lang="ko-KR" altLang="en-US" sz="3200" dirty="0">
                <a:latin typeface="黑体" panose="02010609060101010101" charset="-122"/>
                <a:ea typeface="黑体" panose="02010609060101010101" charset="-122"/>
                <a:cs typeface="黑体" panose="02010609060101010101" charset="-122"/>
              </a:rPr>
              <a:t>음식점업</a:t>
            </a:r>
            <a:r>
              <a:rPr lang="en-US" altLang="zh-CN" sz="3200" dirty="0">
                <a:latin typeface="黑体" panose="02010609060101010101" charset="-122"/>
                <a:ea typeface="黑体" panose="02010609060101010101" charset="-122"/>
                <a:cs typeface="黑体" panose="02010609060101010101" charset="-122"/>
              </a:rPr>
              <a:t> </a:t>
            </a:r>
            <a:r>
              <a:rPr lang="ko-KR" altLang="en-US" sz="3200" dirty="0">
                <a:latin typeface="黑体" panose="02010609060101010101" charset="-122"/>
                <a:ea typeface="黑体" panose="02010609060101010101" charset="-122"/>
                <a:cs typeface="黑体" panose="02010609060101010101" charset="-122"/>
              </a:rPr>
              <a:t>빅데이터</a:t>
            </a:r>
            <a:r>
              <a:rPr lang="en-US" altLang="zh-CN" sz="3200" dirty="0">
                <a:latin typeface="黑体" panose="02010609060101010101" charset="-122"/>
                <a:ea typeface="黑体" panose="02010609060101010101" charset="-122"/>
                <a:cs typeface="黑体" panose="02010609060101010101" charset="-122"/>
              </a:rPr>
              <a:t> </a:t>
            </a:r>
            <a:r>
              <a:rPr lang="ko-KR" altLang="en-US" sz="3200" dirty="0">
                <a:latin typeface="黑体" panose="02010609060101010101" charset="-122"/>
                <a:ea typeface="黑体" panose="02010609060101010101" charset="-122"/>
                <a:cs typeface="黑体" panose="02010609060101010101" charset="-122"/>
              </a:rPr>
              <a:t>분석</a:t>
            </a:r>
            <a:r>
              <a:rPr lang="en-US" altLang="zh-CN" sz="3200" dirty="0">
                <a:latin typeface="黑体" panose="02010609060101010101" charset="-122"/>
                <a:ea typeface="黑体" panose="02010609060101010101" charset="-122"/>
                <a:cs typeface="黑体" panose="02010609060101010101" charset="-122"/>
              </a:rPr>
              <a:t> </a:t>
            </a:r>
            <a:r>
              <a:rPr lang="ko-KR" altLang="en-US" sz="3200" dirty="0">
                <a:latin typeface="黑体" panose="02010609060101010101" charset="-122"/>
                <a:ea typeface="黑体" panose="02010609060101010101" charset="-122"/>
                <a:cs typeface="黑体" panose="02010609060101010101" charset="-122"/>
              </a:rPr>
              <a:t>프로젝트</a:t>
            </a:r>
            <a:r>
              <a:rPr lang="ko-KR" altLang="en-US" sz="3200" dirty="0">
                <a:latin typeface="黑体" panose="02010609060101010101" charset="-122"/>
                <a:ea typeface="黑体" panose="02010609060101010101" charset="-122"/>
                <a:cs typeface="黑体" panose="02010609060101010101" charset="-122"/>
              </a:rPr>
              <a:t> </a:t>
            </a:r>
            <a:br>
              <a:rPr lang="ko-KR" altLang="en-US" sz="3200" dirty="0">
                <a:latin typeface="黑体" panose="02010609060101010101" charset="-122"/>
                <a:ea typeface="黑体" panose="02010609060101010101" charset="-122"/>
                <a:cs typeface="黑体" panose="02010609060101010101" charset="-122"/>
              </a:rPr>
            </a:br>
            <a:r>
              <a:rPr lang="ko-KR" altLang="en-US" sz="3200" dirty="0">
                <a:latin typeface="黑体" panose="02010609060101010101" charset="-122"/>
                <a:ea typeface="黑体" panose="02010609060101010101" charset="-122"/>
                <a:cs typeface="黑体" panose="02010609060101010101" charset="-122"/>
              </a:rPr>
              <a:t> </a:t>
            </a:r>
            <a:r>
              <a:rPr lang="ko-KR" altLang="en-US" sz="3200" dirty="0">
                <a:latin typeface="黑体" panose="02010609060101010101" charset="-122"/>
                <a:ea typeface="黑体" panose="02010609060101010101" charset="-122"/>
                <a:cs typeface="黑体" panose="02010609060101010101" charset="-122"/>
                <a:sym typeface="+mn-ea"/>
              </a:rPr>
              <a:t>首尔市餐饮业</a:t>
            </a:r>
            <a:r>
              <a:rPr lang="ko-KR" altLang="en-US" sz="3200" dirty="0">
                <a:latin typeface="黑体" panose="02010609060101010101" charset="-122"/>
                <a:ea typeface="黑体" panose="02010609060101010101" charset="-122"/>
                <a:cs typeface="黑体" panose="02010609060101010101" charset="-122"/>
              </a:rPr>
              <a:t>大数据分析项目</a:t>
            </a:r>
            <a:br>
              <a:rPr lang="ko-KR" altLang="en-US" sz="3200" dirty="0">
                <a:latin typeface="黑体" panose="02010609060101010101" charset="-122"/>
                <a:ea typeface="黑体" panose="02010609060101010101" charset="-122"/>
                <a:cs typeface="黑体" panose="02010609060101010101" charset="-122"/>
              </a:rPr>
            </a:br>
            <a:endParaRPr lang="ko-KR" altLang="en-US" sz="3200" dirty="0">
              <a:latin typeface="黑体" panose="02010609060101010101" charset="-122"/>
              <a:ea typeface="黑体" panose="02010609060101010101" charset="-122"/>
              <a:cs typeface="黑体" panose="02010609060101010101" charset="-122"/>
            </a:endParaRPr>
          </a:p>
        </p:txBody>
      </p:sp>
      <p:sp>
        <p:nvSpPr>
          <p:cNvPr id="6" name="부제목 5"/>
          <p:cNvSpPr>
            <a:spLocks noGrp="1"/>
          </p:cNvSpPr>
          <p:nvPr>
            <p:ph type="subTitle" idx="1"/>
          </p:nvPr>
        </p:nvSpPr>
        <p:spPr/>
        <p:txBody>
          <a:bodyPr>
            <a:normAutofit/>
          </a:bodyPr>
          <a:lstStyle/>
          <a:p>
            <a:r>
              <a:rPr lang="ko-KR" altLang="en-US" sz="2400" dirty="0"/>
              <a:t>이름</a:t>
            </a:r>
            <a:r>
              <a:rPr lang="en-US" altLang="ko-KR" sz="2400" dirty="0"/>
              <a:t>:</a:t>
            </a:r>
            <a:r>
              <a:rPr lang="ko-KR" altLang="en-US" sz="2400" dirty="0"/>
              <a:t> </a:t>
            </a:r>
            <a:r>
              <a:rPr lang="ko-KR" altLang="en-US" sz="2400" dirty="0" err="1"/>
              <a:t>리우신리앙</a:t>
            </a:r>
            <a:r>
              <a:rPr lang="ko-KR" altLang="en-US" sz="2400" dirty="0"/>
              <a:t> </a:t>
            </a:r>
            <a:r>
              <a:rPr lang="en-US" altLang="ko-KR" sz="2400" dirty="0"/>
              <a:t>/ </a:t>
            </a:r>
            <a:r>
              <a:rPr lang="ko-KR" altLang="en-US" sz="2400" dirty="0" err="1"/>
              <a:t>리우시아오준</a:t>
            </a:r>
            <a:r>
              <a:rPr lang="ko-KR" altLang="en-US" sz="2400" dirty="0"/>
              <a:t> </a:t>
            </a:r>
            <a:r>
              <a:rPr lang="en-US" altLang="ko-KR" sz="2400" dirty="0"/>
              <a:t>/ </a:t>
            </a:r>
            <a:r>
              <a:rPr lang="ko-KR" altLang="en-US" sz="2400" dirty="0" err="1"/>
              <a:t>샤오팅팅</a:t>
            </a:r>
            <a:endParaRPr lang="en-US" altLang="ko-KR" sz="2400" dirty="0"/>
          </a:p>
          <a:p>
            <a:r>
              <a:rPr lang="ko-KR" altLang="en-US" sz="2400" dirty="0"/>
              <a:t>발표일</a:t>
            </a:r>
            <a:r>
              <a:rPr lang="en-US" altLang="ko-KR" sz="2400" dirty="0"/>
              <a:t>: 2025. 12. 11</a:t>
            </a:r>
            <a:endParaRPr lang="en-US" altLang="ko-KR" sz="2400" dirty="0"/>
          </a:p>
        </p:txBody>
      </p:sp>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
        <p:nvSpPr>
          <p:cNvPr id="12" name="Title 1"/>
          <p:cNvSpPr>
            <a:spLocks noGrp="1"/>
          </p:cNvSpPr>
          <p:nvPr>
            <p:ph type="title"/>
          </p:nvPr>
        </p:nvSpPr>
        <p:spPr>
          <a:xfrm>
            <a:off x="200660" y="881698"/>
            <a:ext cx="8229600" cy="1143000"/>
          </a:xfrm>
        </p:spPr>
        <p:txBody>
          <a:bodyPr>
            <a:normAutofit/>
          </a:bodyPr>
          <a:lstStyle/>
          <a:p>
            <a:r>
              <a:rPr lang="ko-KR" altLang="en-US" dirty="0"/>
              <a:t>목차 </a:t>
            </a:r>
            <a:r>
              <a:rPr lang="zh-CN" altLang="ko-KR" dirty="0"/>
              <a:t>目录</a:t>
            </a:r>
            <a:endParaRPr lang="zh-CN" altLang="ko-KR" dirty="0"/>
          </a:p>
        </p:txBody>
      </p:sp>
      <p:pic>
        <p:nvPicPr>
          <p:cNvPr id="2" name="ECB019B1-382A-4266-B25C-5B523AA43C14-1"/>
          <p:cNvPicPr>
            <a:picLocks noChangeAspect="1"/>
          </p:cNvPicPr>
          <p:nvPr/>
        </p:nvPicPr>
        <p:blipFill>
          <a:blip r:embed="rId2"/>
          <a:stretch>
            <a:fillRect/>
          </a:stretch>
        </p:blipFill>
        <p:spPr>
          <a:xfrm>
            <a:off x="99695" y="2276475"/>
            <a:ext cx="8776970" cy="37420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
        <p:nvSpPr>
          <p:cNvPr id="12" name="Title 1"/>
          <p:cNvSpPr>
            <a:spLocks noGrp="1"/>
          </p:cNvSpPr>
          <p:nvPr>
            <p:ph type="title"/>
          </p:nvPr>
        </p:nvSpPr>
        <p:spPr>
          <a:xfrm>
            <a:off x="457200" y="2608898"/>
            <a:ext cx="8229600" cy="1143000"/>
          </a:xfrm>
        </p:spPr>
        <p:txBody>
          <a:bodyPr>
            <a:normAutofit fontScale="90000"/>
          </a:bodyPr>
          <a:lstStyle/>
          <a:p>
            <a:r>
              <a:rPr lang="ko-KR" altLang="en-US" dirty="0"/>
              <a:t>프로젝트 개요 </a:t>
            </a:r>
            <a:br>
              <a:rPr lang="ko-KR" altLang="en-US" dirty="0"/>
            </a:br>
            <a:br>
              <a:rPr lang="en-US" altLang="ko-KR" dirty="0"/>
            </a:br>
            <a:r>
              <a:rPr lang="ko-KR" altLang="en-US" dirty="0"/>
              <a:t>项目概述</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2031365"/>
            <a:ext cx="6933565" cy="2799715"/>
          </a:xfrm>
          <a:prstGeom prst="rect">
            <a:avLst/>
          </a:prstGeom>
          <a:noFill/>
        </p:spPr>
        <p:txBody>
          <a:bodyPr wrap="square">
            <a:spAutoFit/>
          </a:bodyPr>
          <a:lstStyle/>
          <a:p>
            <a:pPr>
              <a:defRPr sz="2000">
                <a:solidFill>
                  <a:srgbClr val="3C3C3C"/>
                </a:solidFill>
              </a:defRPr>
            </a:pPr>
            <a:r>
              <a:rPr dirty="0"/>
              <a:t>- </a:t>
            </a:r>
            <a:r>
              <a:rPr dirty="0" err="1"/>
              <a:t>프로젝트</a:t>
            </a:r>
            <a:r>
              <a:rPr dirty="0"/>
              <a:t> </a:t>
            </a:r>
            <a:r>
              <a:rPr dirty="0" err="1"/>
              <a:t>주제</a:t>
            </a:r>
            <a:r>
              <a:rPr dirty="0"/>
              <a:t> / </a:t>
            </a:r>
            <a:r>
              <a:rPr dirty="0" err="1"/>
              <a:t>项目主题</a:t>
            </a:r>
            <a:endParaRPr dirty="0" err="1"/>
          </a:p>
          <a:p>
            <a:pPr>
              <a:defRPr sz="2000">
                <a:solidFill>
                  <a:srgbClr val="3C3C3C"/>
                </a:solidFill>
              </a:defRPr>
            </a:pPr>
            <a:endParaRPr dirty="0" err="1"/>
          </a:p>
          <a:p>
            <a:pPr>
              <a:defRPr sz="2000">
                <a:solidFill>
                  <a:srgbClr val="3C3C3C"/>
                </a:solidFill>
              </a:defRPr>
            </a:pPr>
            <a:r>
              <a:rPr lang="zh-CN" altLang="en-US" dirty="0"/>
              <a:t>首尔市餐饮业行政处罚类型与经营风险防控机制研究</a:t>
            </a:r>
            <a:endParaRPr lang="zh-CN" altLang="en-US" dirty="0"/>
          </a:p>
          <a:p>
            <a:pPr>
              <a:defRPr sz="2000">
                <a:solidFill>
                  <a:srgbClr val="3C3C3C"/>
                </a:solidFill>
              </a:defRPr>
            </a:pPr>
            <a:endParaRPr lang="zh-CN" altLang="en-US" dirty="0"/>
          </a:p>
          <a:p>
            <a:pPr>
              <a:defRPr sz="2000">
                <a:solidFill>
                  <a:srgbClr val="3C3C3C"/>
                </a:solidFill>
              </a:defRPr>
            </a:pPr>
            <a:r>
              <a:rPr lang="ko-KR" altLang="en-US" dirty="0"/>
              <a:t>서울시</a:t>
            </a:r>
            <a:r>
              <a:rPr lang="en-US" altLang="zh-CN" dirty="0"/>
              <a:t> </a:t>
            </a:r>
            <a:r>
              <a:rPr lang="ko-KR" altLang="en-US" dirty="0"/>
              <a:t>음식점업</a:t>
            </a:r>
            <a:r>
              <a:rPr lang="en-US" altLang="zh-CN" dirty="0"/>
              <a:t> </a:t>
            </a:r>
            <a:r>
              <a:rPr lang="ko-KR" altLang="en-US" dirty="0"/>
              <a:t>행정처벌</a:t>
            </a:r>
            <a:r>
              <a:rPr lang="en-US" altLang="zh-CN" dirty="0"/>
              <a:t> </a:t>
            </a:r>
            <a:r>
              <a:rPr lang="ko-KR" altLang="en-US" dirty="0"/>
              <a:t>유형과</a:t>
            </a:r>
            <a:r>
              <a:rPr lang="en-US" altLang="zh-CN" dirty="0"/>
              <a:t> </a:t>
            </a:r>
            <a:r>
              <a:rPr lang="ko-KR" altLang="en-US" dirty="0"/>
              <a:t>경영</a:t>
            </a:r>
            <a:r>
              <a:rPr lang="en-US" altLang="zh-CN" dirty="0"/>
              <a:t> </a:t>
            </a:r>
            <a:r>
              <a:rPr lang="ko-KR" altLang="en-US" dirty="0"/>
              <a:t>리스크</a:t>
            </a:r>
            <a:r>
              <a:rPr lang="en-US" altLang="zh-CN" dirty="0"/>
              <a:t> </a:t>
            </a:r>
            <a:r>
              <a:rPr lang="ko-KR" altLang="en-US" dirty="0"/>
              <a:t>방어</a:t>
            </a:r>
            <a:r>
              <a:rPr lang="en-US" altLang="zh-CN" dirty="0"/>
              <a:t> </a:t>
            </a:r>
            <a:r>
              <a:rPr lang="ko-KR" altLang="en-US" dirty="0"/>
              <a:t>메커니즘</a:t>
            </a:r>
            <a:r>
              <a:rPr lang="en-US" altLang="zh-CN" dirty="0"/>
              <a:t> </a:t>
            </a:r>
            <a:r>
              <a:rPr lang="ko-KR" altLang="en-US" dirty="0"/>
              <a:t>연구</a:t>
            </a:r>
            <a:endParaRPr lang="ko-KR" altLang="en-US" dirty="0"/>
          </a:p>
          <a:p>
            <a:pPr>
              <a:defRPr sz="2000">
                <a:solidFill>
                  <a:srgbClr val="3C3C3C"/>
                </a:solidFill>
              </a:defRPr>
            </a:pPr>
            <a:endParaRPr lang="ko-KR" altLang="en-US" dirty="0"/>
          </a:p>
          <a:p>
            <a:endParaRPr dirty="0"/>
          </a:p>
          <a:p>
            <a:endParaRPr lang="en-US" altLang="zh-CN" dirty="0"/>
          </a:p>
        </p:txBody>
      </p:sp>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14705" y="928370"/>
            <a:ext cx="7473950" cy="5354320"/>
          </a:xfrm>
          <a:prstGeom prst="rect">
            <a:avLst/>
          </a:prstGeom>
          <a:noFill/>
        </p:spPr>
        <p:txBody>
          <a:bodyPr wrap="square" rtlCol="0">
            <a:spAutoFit/>
          </a:bodyPr>
          <a:p>
            <a:r>
              <a:rPr dirty="0">
                <a:sym typeface="+mn-ea"/>
              </a:rPr>
              <a:t>- </a:t>
            </a:r>
            <a:r>
              <a:rPr dirty="0" err="1">
                <a:sym typeface="+mn-ea"/>
              </a:rPr>
              <a:t>선정</a:t>
            </a:r>
            <a:r>
              <a:rPr dirty="0">
                <a:sym typeface="+mn-ea"/>
              </a:rPr>
              <a:t> </a:t>
            </a:r>
            <a:r>
              <a:rPr dirty="0" err="1">
                <a:sym typeface="+mn-ea"/>
              </a:rPr>
              <a:t>배경</a:t>
            </a:r>
            <a:r>
              <a:rPr dirty="0">
                <a:sym typeface="+mn-ea"/>
              </a:rPr>
              <a:t> 및 </a:t>
            </a:r>
            <a:r>
              <a:rPr dirty="0" err="1">
                <a:sym typeface="+mn-ea"/>
              </a:rPr>
              <a:t>필요성</a:t>
            </a:r>
            <a:r>
              <a:rPr dirty="0">
                <a:sym typeface="+mn-ea"/>
              </a:rPr>
              <a:t> / </a:t>
            </a:r>
            <a:r>
              <a:rPr dirty="0" err="1">
                <a:sym typeface="+mn-ea"/>
              </a:rPr>
              <a:t>选题背景与必要性</a:t>
            </a:r>
            <a:endParaRPr dirty="0" err="1">
              <a:sym typeface="+mn-ea"/>
            </a:endParaRPr>
          </a:p>
          <a:p>
            <a:endParaRPr dirty="0" err="1"/>
          </a:p>
          <a:p>
            <a:r>
              <a:rPr lang="zh-CN" altLang="en-US"/>
              <a:t>首尔市每年对数千家卫生业所实施行政处罚，</a:t>
            </a:r>
            <a:endParaRPr lang="zh-CN" altLang="en-US"/>
          </a:p>
          <a:p>
            <a:r>
              <a:rPr lang="zh-CN" altLang="en-US"/>
              <a:t>其原因包括违反《食品卫生法》、烹饪环境不洁、未履行从业人员卫生教育等。</a:t>
            </a:r>
            <a:endParaRPr lang="zh-CN" altLang="en-US"/>
          </a:p>
          <a:p>
            <a:r>
              <a:rPr lang="zh-CN" altLang="en-US"/>
              <a:t>这些行政处罚记录不仅反映执法结果，更揭示行业在经营管理与风险控制方面的结构性问题。</a:t>
            </a:r>
            <a:endParaRPr lang="zh-CN" altLang="en-US"/>
          </a:p>
          <a:p>
            <a:r>
              <a:rPr lang="zh-CN" altLang="en-US"/>
              <a:t>本研究旨在以处罚类型为核心，分析首尔市卫生业所的经营风险因素，</a:t>
            </a:r>
            <a:endParaRPr lang="zh-CN" altLang="en-US"/>
          </a:p>
          <a:p>
            <a:r>
              <a:rPr lang="zh-CN" altLang="en-US"/>
              <a:t>并提出在卫生、人员与设施管理方面的风险防控机制。</a:t>
            </a:r>
            <a:endParaRPr lang="zh-CN" altLang="en-US"/>
          </a:p>
          <a:p>
            <a:endParaRPr lang="zh-CN" altLang="en-US"/>
          </a:p>
          <a:p>
            <a:r>
              <a:rPr lang="ko-KR" altLang="en-US"/>
              <a:t>서울특별시는</a:t>
            </a:r>
            <a:r>
              <a:rPr lang="en-US" altLang="zh-CN"/>
              <a:t> </a:t>
            </a:r>
            <a:r>
              <a:rPr lang="ko-KR" altLang="en-US"/>
              <a:t>매년</a:t>
            </a:r>
            <a:r>
              <a:rPr lang="en-US" altLang="zh-CN"/>
              <a:t> </a:t>
            </a:r>
            <a:r>
              <a:rPr lang="ko-KR" altLang="en-US"/>
              <a:t>수천</a:t>
            </a:r>
            <a:r>
              <a:rPr lang="en-US" altLang="zh-CN"/>
              <a:t> </a:t>
            </a:r>
            <a:r>
              <a:rPr lang="ko-KR" altLang="en-US"/>
              <a:t>건의</a:t>
            </a:r>
            <a:r>
              <a:rPr lang="en-US" altLang="zh-CN"/>
              <a:t> </a:t>
            </a:r>
            <a:r>
              <a:rPr lang="ko-KR" altLang="en-US"/>
              <a:t>위생업소</a:t>
            </a:r>
            <a:r>
              <a:rPr lang="en-US" altLang="zh-CN"/>
              <a:t> </a:t>
            </a:r>
            <a:r>
              <a:rPr lang="ko-KR" altLang="en-US"/>
              <a:t>행정처분을</a:t>
            </a:r>
            <a:r>
              <a:rPr lang="en-US" altLang="zh-CN"/>
              <a:t> </a:t>
            </a:r>
            <a:r>
              <a:rPr lang="ko-KR" altLang="en-US"/>
              <a:t>실시하고</a:t>
            </a:r>
            <a:r>
              <a:rPr lang="en-US" altLang="zh-CN"/>
              <a:t> </a:t>
            </a:r>
            <a:r>
              <a:rPr lang="ko-KR" altLang="en-US"/>
              <a:t>있으며</a:t>
            </a:r>
            <a:r>
              <a:rPr lang="en-US" altLang="zh-CN"/>
              <a:t>,</a:t>
            </a:r>
            <a:endParaRPr lang="en-US" altLang="zh-CN"/>
          </a:p>
          <a:p>
            <a:r>
              <a:rPr lang="ko-KR" altLang="en-US"/>
              <a:t>이는</a:t>
            </a:r>
            <a:r>
              <a:rPr lang="en-US" altLang="zh-CN"/>
              <a:t> </a:t>
            </a:r>
            <a:r>
              <a:rPr lang="ko-KR" altLang="en-US"/>
              <a:t>식품위생법</a:t>
            </a:r>
            <a:r>
              <a:rPr lang="en-US" altLang="zh-CN"/>
              <a:t> </a:t>
            </a:r>
            <a:r>
              <a:rPr lang="ko-KR" altLang="en-US"/>
              <a:t>위반</a:t>
            </a:r>
            <a:r>
              <a:rPr lang="en-US" altLang="zh-CN"/>
              <a:t>, </a:t>
            </a:r>
            <a:r>
              <a:rPr lang="ko-KR" altLang="en-US"/>
              <a:t>불결한</a:t>
            </a:r>
            <a:r>
              <a:rPr lang="en-US" altLang="zh-CN"/>
              <a:t> </a:t>
            </a:r>
            <a:r>
              <a:rPr lang="ko-KR" altLang="en-US"/>
              <a:t>조리환경</a:t>
            </a:r>
            <a:r>
              <a:rPr lang="en-US" altLang="zh-CN"/>
              <a:t>, </a:t>
            </a:r>
            <a:r>
              <a:rPr lang="ko-KR" altLang="en-US"/>
              <a:t>종업원</a:t>
            </a:r>
            <a:r>
              <a:rPr lang="en-US" altLang="zh-CN"/>
              <a:t> </a:t>
            </a:r>
            <a:r>
              <a:rPr lang="ko-KR" altLang="en-US"/>
              <a:t>위생교육</a:t>
            </a:r>
            <a:r>
              <a:rPr lang="en-US" altLang="zh-CN"/>
              <a:t> </a:t>
            </a:r>
            <a:r>
              <a:rPr lang="ko-KR" altLang="en-US"/>
              <a:t>미이행</a:t>
            </a:r>
            <a:r>
              <a:rPr lang="en-US" altLang="zh-CN"/>
              <a:t> </a:t>
            </a:r>
            <a:r>
              <a:rPr lang="ko-KR" altLang="en-US"/>
              <a:t>등</a:t>
            </a:r>
            <a:r>
              <a:rPr lang="en-US" altLang="zh-CN"/>
              <a:t> </a:t>
            </a:r>
            <a:r>
              <a:rPr lang="ko-KR" altLang="en-US"/>
              <a:t>다양한</a:t>
            </a:r>
            <a:r>
              <a:rPr lang="en-US" altLang="zh-CN"/>
              <a:t> </a:t>
            </a:r>
            <a:r>
              <a:rPr lang="ko-KR" altLang="en-US"/>
              <a:t>원인에</a:t>
            </a:r>
            <a:r>
              <a:rPr lang="en-US" altLang="zh-CN"/>
              <a:t> </a:t>
            </a:r>
            <a:r>
              <a:rPr lang="ko-KR" altLang="en-US"/>
              <a:t>의해</a:t>
            </a:r>
            <a:r>
              <a:rPr lang="en-US" altLang="zh-CN"/>
              <a:t> </a:t>
            </a:r>
            <a:r>
              <a:rPr lang="ko-KR" altLang="en-US"/>
              <a:t>발생한다</a:t>
            </a:r>
            <a:r>
              <a:rPr lang="en-US" altLang="zh-CN"/>
              <a:t>.</a:t>
            </a:r>
            <a:endParaRPr lang="en-US" altLang="zh-CN"/>
          </a:p>
          <a:p>
            <a:r>
              <a:rPr lang="ko-KR" altLang="en-US"/>
              <a:t>이러한</a:t>
            </a:r>
            <a:r>
              <a:rPr lang="en-US" altLang="zh-CN"/>
              <a:t> </a:t>
            </a:r>
            <a:r>
              <a:rPr lang="ko-KR" altLang="en-US"/>
              <a:t>행정처분</a:t>
            </a:r>
            <a:r>
              <a:rPr lang="en-US" altLang="zh-CN"/>
              <a:t> </a:t>
            </a:r>
            <a:r>
              <a:rPr lang="ko-KR" altLang="en-US"/>
              <a:t>데이터는</a:t>
            </a:r>
            <a:r>
              <a:rPr lang="en-US" altLang="zh-CN"/>
              <a:t> </a:t>
            </a:r>
            <a:r>
              <a:rPr lang="ko-KR" altLang="en-US"/>
              <a:t>단순한</a:t>
            </a:r>
            <a:r>
              <a:rPr lang="en-US" altLang="zh-CN"/>
              <a:t> </a:t>
            </a:r>
            <a:r>
              <a:rPr lang="ko-KR" altLang="en-US"/>
              <a:t>행정</a:t>
            </a:r>
            <a:r>
              <a:rPr lang="en-US" altLang="zh-CN"/>
              <a:t> </a:t>
            </a:r>
            <a:r>
              <a:rPr lang="ko-KR" altLang="en-US"/>
              <a:t>결과를</a:t>
            </a:r>
            <a:r>
              <a:rPr lang="en-US" altLang="zh-CN"/>
              <a:t> </a:t>
            </a:r>
            <a:r>
              <a:rPr lang="ko-KR" altLang="en-US"/>
              <a:t>넘어</a:t>
            </a:r>
            <a:r>
              <a:rPr lang="en-US" altLang="zh-CN"/>
              <a:t>,</a:t>
            </a:r>
            <a:endParaRPr lang="en-US" altLang="zh-CN"/>
          </a:p>
          <a:p>
            <a:r>
              <a:rPr lang="ko-KR" altLang="en-US"/>
              <a:t>업종별</a:t>
            </a:r>
            <a:r>
              <a:rPr lang="en-US" altLang="zh-CN"/>
              <a:t> </a:t>
            </a:r>
            <a:r>
              <a:rPr lang="ko-KR" altLang="en-US"/>
              <a:t>경영관리상의</a:t>
            </a:r>
            <a:r>
              <a:rPr lang="en-US" altLang="zh-CN"/>
              <a:t> </a:t>
            </a:r>
            <a:r>
              <a:rPr lang="ko-KR" altLang="en-US"/>
              <a:t>취약점과</a:t>
            </a:r>
            <a:r>
              <a:rPr lang="en-US" altLang="zh-CN"/>
              <a:t> </a:t>
            </a:r>
            <a:r>
              <a:rPr lang="ko-KR" altLang="en-US"/>
              <a:t>리스크</a:t>
            </a:r>
            <a:r>
              <a:rPr lang="en-US" altLang="zh-CN"/>
              <a:t> </a:t>
            </a:r>
            <a:r>
              <a:rPr lang="ko-KR" altLang="en-US"/>
              <a:t>요인을</a:t>
            </a:r>
            <a:r>
              <a:rPr lang="en-US" altLang="zh-CN"/>
              <a:t> </a:t>
            </a:r>
            <a:r>
              <a:rPr lang="ko-KR" altLang="en-US"/>
              <a:t>파악할</a:t>
            </a:r>
            <a:r>
              <a:rPr lang="en-US" altLang="zh-CN"/>
              <a:t> </a:t>
            </a:r>
            <a:r>
              <a:rPr lang="ko-KR" altLang="en-US"/>
              <a:t>수</a:t>
            </a:r>
            <a:r>
              <a:rPr lang="en-US" altLang="zh-CN"/>
              <a:t> </a:t>
            </a:r>
            <a:r>
              <a:rPr lang="ko-KR" altLang="en-US"/>
              <a:t>있는</a:t>
            </a:r>
            <a:r>
              <a:rPr lang="en-US" altLang="zh-CN"/>
              <a:t> </a:t>
            </a:r>
            <a:r>
              <a:rPr lang="ko-KR" altLang="en-US"/>
              <a:t>중요한</a:t>
            </a:r>
            <a:r>
              <a:rPr lang="en-US" altLang="zh-CN"/>
              <a:t> </a:t>
            </a:r>
            <a:r>
              <a:rPr lang="ko-KR" altLang="en-US"/>
              <a:t>자료이다</a:t>
            </a:r>
            <a:r>
              <a:rPr lang="en-US" altLang="zh-CN"/>
              <a:t>.</a:t>
            </a:r>
            <a:endParaRPr lang="en-US" altLang="zh-CN"/>
          </a:p>
          <a:p>
            <a:r>
              <a:rPr lang="ko-KR" altLang="en-US"/>
              <a:t>본</a:t>
            </a:r>
            <a:r>
              <a:rPr lang="en-US" altLang="zh-CN"/>
              <a:t> </a:t>
            </a:r>
            <a:r>
              <a:rPr lang="ko-KR" altLang="en-US"/>
              <a:t>연구는</a:t>
            </a:r>
            <a:r>
              <a:rPr lang="en-US" altLang="zh-CN"/>
              <a:t> </a:t>
            </a:r>
            <a:r>
              <a:rPr lang="ko-KR" altLang="en-US"/>
              <a:t>행정처분</a:t>
            </a:r>
            <a:r>
              <a:rPr lang="en-US" altLang="zh-CN"/>
              <a:t> </a:t>
            </a:r>
            <a:r>
              <a:rPr lang="ko-KR" altLang="en-US"/>
              <a:t>유형을</a:t>
            </a:r>
            <a:r>
              <a:rPr lang="en-US" altLang="zh-CN"/>
              <a:t> </a:t>
            </a:r>
            <a:r>
              <a:rPr lang="ko-KR" altLang="en-US"/>
              <a:t>중심으로</a:t>
            </a:r>
            <a:r>
              <a:rPr lang="en-US" altLang="zh-CN"/>
              <a:t> </a:t>
            </a:r>
            <a:r>
              <a:rPr lang="ko-KR" altLang="en-US"/>
              <a:t>위생업소의</a:t>
            </a:r>
            <a:r>
              <a:rPr lang="en-US" altLang="zh-CN"/>
              <a:t> </a:t>
            </a:r>
            <a:r>
              <a:rPr lang="ko-KR" altLang="en-US"/>
              <a:t>경영리스크</a:t>
            </a:r>
            <a:r>
              <a:rPr lang="en-US" altLang="zh-CN"/>
              <a:t> </a:t>
            </a:r>
            <a:r>
              <a:rPr lang="ko-KR" altLang="en-US"/>
              <a:t>요인을</a:t>
            </a:r>
            <a:r>
              <a:rPr lang="en-US" altLang="zh-CN"/>
              <a:t> </a:t>
            </a:r>
            <a:r>
              <a:rPr lang="ko-KR" altLang="en-US"/>
              <a:t>분석하고</a:t>
            </a:r>
            <a:r>
              <a:rPr lang="en-US" altLang="zh-CN"/>
              <a:t>,</a:t>
            </a:r>
            <a:endParaRPr lang="en-US" altLang="zh-CN"/>
          </a:p>
          <a:p>
            <a:r>
              <a:rPr lang="ko-KR" altLang="en-US"/>
              <a:t>위생</a:t>
            </a:r>
            <a:r>
              <a:rPr lang="en-US" altLang="zh-CN"/>
              <a:t>·</a:t>
            </a:r>
            <a:r>
              <a:rPr lang="ko-KR" altLang="en-US"/>
              <a:t>인력</a:t>
            </a:r>
            <a:r>
              <a:rPr lang="en-US" altLang="zh-CN"/>
              <a:t>·</a:t>
            </a:r>
            <a:r>
              <a:rPr lang="ko-KR" altLang="en-US"/>
              <a:t>시설관리</a:t>
            </a:r>
            <a:r>
              <a:rPr lang="en-US" altLang="zh-CN"/>
              <a:t> </a:t>
            </a:r>
            <a:r>
              <a:rPr lang="ko-KR" altLang="en-US"/>
              <a:t>측면에서의</a:t>
            </a:r>
            <a:r>
              <a:rPr lang="en-US" altLang="zh-CN"/>
              <a:t> </a:t>
            </a:r>
            <a:r>
              <a:rPr lang="ko-KR" altLang="en-US"/>
              <a:t>리스크</a:t>
            </a:r>
            <a:r>
              <a:rPr lang="en-US" altLang="zh-CN"/>
              <a:t> </a:t>
            </a:r>
            <a:r>
              <a:rPr lang="ko-KR" altLang="en-US"/>
              <a:t>방지</a:t>
            </a:r>
            <a:r>
              <a:rPr lang="en-US" altLang="zh-CN"/>
              <a:t> </a:t>
            </a:r>
            <a:r>
              <a:rPr lang="ko-KR" altLang="en-US"/>
              <a:t>메커니즘을</a:t>
            </a:r>
            <a:r>
              <a:rPr lang="en-US" altLang="zh-CN"/>
              <a:t> </a:t>
            </a:r>
            <a:r>
              <a:rPr lang="ko-KR" altLang="en-US"/>
              <a:t>제시하고자</a:t>
            </a:r>
            <a:r>
              <a:rPr lang="en-US" altLang="zh-CN"/>
              <a:t> </a:t>
            </a:r>
            <a:r>
              <a:rPr lang="ko-KR" altLang="en-US"/>
              <a:t>한다</a:t>
            </a:r>
            <a:r>
              <a:rPr lang="en-US" altLang="zh-CN"/>
              <a:t>.</a:t>
            </a:r>
            <a:endParaRPr lang="en-US" altLang="zh-CN"/>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43940" y="1056005"/>
            <a:ext cx="6915785" cy="3692525"/>
          </a:xfrm>
          <a:prstGeom prst="rect">
            <a:avLst/>
          </a:prstGeom>
          <a:noFill/>
        </p:spPr>
        <p:txBody>
          <a:bodyPr wrap="square" rtlCol="0">
            <a:spAutoFit/>
          </a:bodyPr>
          <a:p>
            <a:r>
              <a:rPr dirty="0">
                <a:sym typeface="+mn-ea"/>
              </a:rPr>
              <a:t>- </a:t>
            </a:r>
            <a:r>
              <a:rPr dirty="0" err="1">
                <a:sym typeface="+mn-ea"/>
              </a:rPr>
              <a:t>기대</a:t>
            </a:r>
            <a:r>
              <a:rPr dirty="0">
                <a:sym typeface="+mn-ea"/>
              </a:rPr>
              <a:t> </a:t>
            </a:r>
            <a:r>
              <a:rPr dirty="0" err="1">
                <a:sym typeface="+mn-ea"/>
              </a:rPr>
              <a:t>효과</a:t>
            </a:r>
            <a:r>
              <a:rPr dirty="0">
                <a:sym typeface="+mn-ea"/>
              </a:rPr>
              <a:t> / </a:t>
            </a:r>
            <a:r>
              <a:rPr dirty="0" err="1">
                <a:sym typeface="+mn-ea"/>
              </a:rPr>
              <a:t>预期效果</a:t>
            </a:r>
            <a:endParaRPr dirty="0" err="1">
              <a:sym typeface="+mn-ea"/>
            </a:endParaRPr>
          </a:p>
          <a:p>
            <a:endParaRPr dirty="0" err="1">
              <a:sym typeface="+mn-ea"/>
            </a:endParaRPr>
          </a:p>
          <a:p>
            <a:endParaRPr dirty="0" err="1">
              <a:sym typeface="+mn-ea"/>
            </a:endParaRPr>
          </a:p>
          <a:p>
            <a:endParaRPr dirty="0" err="1">
              <a:sym typeface="+mn-ea"/>
            </a:endParaRPr>
          </a:p>
          <a:p>
            <a:endParaRPr dirty="0" err="1"/>
          </a:p>
          <a:p>
            <a:endParaRPr lang="en-US" altLang="ko-KR" dirty="0"/>
          </a:p>
          <a:p>
            <a:r>
              <a:rPr lang="en-US" altLang="zh-CN" dirty="0"/>
              <a:t> </a:t>
            </a:r>
            <a:r>
              <a:rPr lang="zh-CN" altLang="en-US" dirty="0"/>
              <a:t>通过识别行业主要违规类型，为企业提供自我改进方向；</a:t>
            </a:r>
            <a:endParaRPr lang="zh-CN" altLang="en-US" dirty="0"/>
          </a:p>
          <a:p>
            <a:r>
              <a:rPr lang="en-US" altLang="zh-CN" dirty="0"/>
              <a:t> </a:t>
            </a:r>
            <a:r>
              <a:rPr lang="zh-CN" altLang="en-US" dirty="0"/>
              <a:t>明确各行政区高风险集中区域，提升政策管理效率；</a:t>
            </a:r>
            <a:endParaRPr lang="zh-CN" altLang="en-US" dirty="0"/>
          </a:p>
          <a:p>
            <a:r>
              <a:rPr lang="en-US" altLang="zh-CN" dirty="0"/>
              <a:t> </a:t>
            </a:r>
            <a:r>
              <a:rPr lang="zh-CN" altLang="en-US" dirty="0"/>
              <a:t>为后续开发基于数据的处罚预测与风险评估模型提供可能。</a:t>
            </a:r>
            <a:endParaRPr lang="zh-CN" altLang="en-US" dirty="0"/>
          </a:p>
          <a:p>
            <a:endParaRPr lang="zh-CN" altLang="en-US" dirty="0"/>
          </a:p>
          <a:p>
            <a:r>
              <a:rPr lang="ko-KR" altLang="en-US"/>
              <a:t>업종별</a:t>
            </a:r>
            <a:r>
              <a:rPr lang="en-US" altLang="zh-CN"/>
              <a:t> </a:t>
            </a:r>
            <a:r>
              <a:rPr lang="ko-KR" altLang="en-US"/>
              <a:t>주요</a:t>
            </a:r>
            <a:r>
              <a:rPr lang="en-US" altLang="zh-CN"/>
              <a:t> </a:t>
            </a:r>
            <a:r>
              <a:rPr lang="ko-KR" altLang="en-US"/>
              <a:t>위반유형</a:t>
            </a:r>
            <a:r>
              <a:rPr lang="en-US" altLang="zh-CN"/>
              <a:t> </a:t>
            </a:r>
            <a:r>
              <a:rPr lang="ko-KR" altLang="en-US"/>
              <a:t>파악을</a:t>
            </a:r>
            <a:r>
              <a:rPr lang="en-US" altLang="zh-CN"/>
              <a:t> </a:t>
            </a:r>
            <a:r>
              <a:rPr lang="ko-KR" altLang="en-US"/>
              <a:t>통해</a:t>
            </a:r>
            <a:r>
              <a:rPr lang="en-US" altLang="zh-CN"/>
              <a:t> </a:t>
            </a:r>
            <a:r>
              <a:rPr lang="ko-KR" altLang="en-US"/>
              <a:t>자율적</a:t>
            </a:r>
            <a:r>
              <a:rPr lang="en-US" altLang="zh-CN"/>
              <a:t> </a:t>
            </a:r>
            <a:r>
              <a:rPr lang="ko-KR" altLang="en-US"/>
              <a:t>경영개선</a:t>
            </a:r>
            <a:r>
              <a:rPr lang="en-US" altLang="zh-CN"/>
              <a:t> </a:t>
            </a:r>
            <a:r>
              <a:rPr lang="ko-KR" altLang="en-US"/>
              <a:t>방향</a:t>
            </a:r>
            <a:r>
              <a:rPr lang="en-US" altLang="zh-CN"/>
              <a:t> </a:t>
            </a:r>
            <a:r>
              <a:rPr lang="ko-KR" altLang="en-US"/>
              <a:t>제시</a:t>
            </a:r>
            <a:endParaRPr lang="ko-KR" altLang="en-US"/>
          </a:p>
          <a:p>
            <a:r>
              <a:rPr lang="en-US" altLang="zh-CN"/>
              <a:t> </a:t>
            </a:r>
            <a:r>
              <a:rPr lang="ko-KR" altLang="en-US"/>
              <a:t>자치구별</a:t>
            </a:r>
            <a:r>
              <a:rPr lang="en-US" altLang="zh-CN"/>
              <a:t> </a:t>
            </a:r>
            <a:r>
              <a:rPr lang="ko-KR" altLang="en-US"/>
              <a:t>리스크</a:t>
            </a:r>
            <a:r>
              <a:rPr lang="en-US" altLang="zh-CN"/>
              <a:t> </a:t>
            </a:r>
            <a:r>
              <a:rPr lang="ko-KR" altLang="en-US"/>
              <a:t>밀집</a:t>
            </a:r>
            <a:r>
              <a:rPr lang="en-US" altLang="zh-CN"/>
              <a:t> </a:t>
            </a:r>
            <a:r>
              <a:rPr lang="ko-KR" altLang="en-US"/>
              <a:t>지역</a:t>
            </a:r>
            <a:r>
              <a:rPr lang="en-US" altLang="zh-CN"/>
              <a:t> </a:t>
            </a:r>
            <a:r>
              <a:rPr lang="ko-KR" altLang="en-US"/>
              <a:t>도출</a:t>
            </a:r>
            <a:r>
              <a:rPr lang="en-US" altLang="zh-CN"/>
              <a:t> </a:t>
            </a:r>
            <a:r>
              <a:rPr lang="ko-KR" altLang="en-US"/>
              <a:t>및</a:t>
            </a:r>
            <a:r>
              <a:rPr lang="en-US" altLang="zh-CN"/>
              <a:t> </a:t>
            </a:r>
            <a:r>
              <a:rPr lang="ko-KR" altLang="en-US"/>
              <a:t>정책적</a:t>
            </a:r>
            <a:r>
              <a:rPr lang="en-US" altLang="zh-CN"/>
              <a:t> </a:t>
            </a:r>
            <a:r>
              <a:rPr lang="ko-KR" altLang="en-US"/>
              <a:t>관리효율</a:t>
            </a:r>
            <a:r>
              <a:rPr lang="en-US" altLang="zh-CN"/>
              <a:t> </a:t>
            </a:r>
            <a:r>
              <a:rPr lang="ko-KR" altLang="en-US"/>
              <a:t>향상</a:t>
            </a:r>
            <a:endParaRPr lang="ko-KR" altLang="en-US"/>
          </a:p>
          <a:p>
            <a:r>
              <a:rPr lang="en-US" altLang="zh-CN"/>
              <a:t> </a:t>
            </a:r>
            <a:r>
              <a:rPr lang="ko-KR" altLang="en-US"/>
              <a:t>데이터</a:t>
            </a:r>
            <a:r>
              <a:rPr lang="en-US" altLang="zh-CN"/>
              <a:t> </a:t>
            </a:r>
            <a:r>
              <a:rPr lang="ko-KR" altLang="en-US"/>
              <a:t>기반의</a:t>
            </a:r>
            <a:r>
              <a:rPr lang="en-US" altLang="zh-CN"/>
              <a:t> </a:t>
            </a:r>
            <a:r>
              <a:rPr lang="ko-KR" altLang="en-US"/>
              <a:t>행정처분</a:t>
            </a:r>
            <a:r>
              <a:rPr lang="en-US" altLang="zh-CN"/>
              <a:t> </a:t>
            </a:r>
            <a:r>
              <a:rPr lang="ko-KR" altLang="en-US"/>
              <a:t>예측</a:t>
            </a:r>
            <a:r>
              <a:rPr lang="en-US" altLang="zh-CN"/>
              <a:t> </a:t>
            </a:r>
            <a:r>
              <a:rPr lang="ko-KR" altLang="en-US"/>
              <a:t>및</a:t>
            </a:r>
            <a:r>
              <a:rPr lang="en-US" altLang="zh-CN"/>
              <a:t> </a:t>
            </a:r>
            <a:r>
              <a:rPr lang="ko-KR" altLang="en-US"/>
              <a:t>리스크</a:t>
            </a:r>
            <a:r>
              <a:rPr lang="en-US" altLang="zh-CN"/>
              <a:t> </a:t>
            </a:r>
            <a:r>
              <a:rPr lang="ko-KR" altLang="en-US"/>
              <a:t>평가모델</a:t>
            </a:r>
            <a:r>
              <a:rPr lang="en-US" altLang="zh-CN"/>
              <a:t> </a:t>
            </a:r>
            <a:r>
              <a:rPr lang="ko-KR" altLang="en-US"/>
              <a:t>개발</a:t>
            </a:r>
            <a:r>
              <a:rPr lang="en-US" altLang="zh-CN"/>
              <a:t> </a:t>
            </a:r>
            <a:r>
              <a:rPr lang="ko-KR" altLang="en-US"/>
              <a:t>가능성</a:t>
            </a:r>
            <a:r>
              <a:rPr lang="en-US" altLang="zh-CN"/>
              <a:t> </a:t>
            </a:r>
            <a:r>
              <a:rPr lang="ko-KR" altLang="en-US"/>
              <a:t>제시</a:t>
            </a:r>
            <a:endParaRPr lang="ko-KR" altLang="en-US"/>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데이터 수집 계획 / 数据收集计划</a:t>
            </a:r>
          </a:p>
        </p:txBody>
      </p:sp>
      <p:sp>
        <p:nvSpPr>
          <p:cNvPr id="4" name="TextBox 3"/>
          <p:cNvSpPr txBox="1"/>
          <p:nvPr/>
        </p:nvSpPr>
        <p:spPr>
          <a:xfrm>
            <a:off x="914400" y="1748155"/>
            <a:ext cx="7055485" cy="4097020"/>
          </a:xfrm>
          <a:prstGeom prst="rect">
            <a:avLst/>
          </a:prstGeom>
          <a:noFill/>
        </p:spPr>
        <p:txBody>
          <a:bodyPr wrap="square">
            <a:noAutofit/>
          </a:bodyPr>
          <a:lstStyle/>
          <a:p>
            <a:pPr>
              <a:defRPr sz="2000">
                <a:solidFill>
                  <a:srgbClr val="3C3C3C"/>
                </a:solidFill>
              </a:defRPr>
            </a:pPr>
            <a:r>
              <a:t>- 데이터 출처 / 数据来源</a:t>
            </a:r>
          </a:p>
          <a:p>
            <a:pPr>
              <a:defRPr sz="2000">
                <a:solidFill>
                  <a:srgbClr val="3C3C3C"/>
                </a:solidFill>
              </a:defRPr>
            </a:pPr>
          </a:p>
          <a:p>
            <a:pPr>
              <a:defRPr sz="2000">
                <a:solidFill>
                  <a:srgbClr val="3C3C3C"/>
                </a:solidFill>
              </a:defRPr>
            </a:pPr>
            <a:r>
              <a:rPr lang="zh-CN" altLang="en-US"/>
              <a:t>《首尔市卫生业所全部行政处分记录现况》</a:t>
            </a:r>
            <a:endParaRPr lang="zh-CN" altLang="en-US"/>
          </a:p>
          <a:p>
            <a:pPr>
              <a:defRPr sz="2000">
                <a:solidFill>
                  <a:srgbClr val="3C3C3C"/>
                </a:solidFill>
              </a:defRPr>
            </a:pPr>
            <a:endParaRPr lang="zh-CN" altLang="en-US"/>
          </a:p>
          <a:p>
            <a:pPr>
              <a:defRPr sz="2000">
                <a:solidFill>
                  <a:srgbClr val="3C3C3C"/>
                </a:solidFill>
              </a:defRPr>
            </a:pPr>
            <a:r>
              <a:rPr lang="ko-KR" altLang="en-US"/>
              <a:t>서울시</a:t>
            </a:r>
            <a:r>
              <a:rPr lang="en-US" altLang="zh-CN"/>
              <a:t> </a:t>
            </a:r>
            <a:r>
              <a:rPr lang="ko-KR" altLang="en-US"/>
              <a:t>위생업소</a:t>
            </a:r>
            <a:r>
              <a:rPr lang="en-US" altLang="zh-CN"/>
              <a:t> </a:t>
            </a:r>
            <a:r>
              <a:rPr lang="ko-KR" altLang="en-US"/>
              <a:t>전체</a:t>
            </a:r>
            <a:r>
              <a:rPr lang="en-US" altLang="zh-CN"/>
              <a:t> </a:t>
            </a:r>
            <a:r>
              <a:rPr lang="ko-KR" altLang="en-US"/>
              <a:t>행정처분내역</a:t>
            </a:r>
            <a:r>
              <a:rPr lang="en-US" altLang="zh-CN"/>
              <a:t> </a:t>
            </a:r>
            <a:r>
              <a:rPr lang="ko-KR" altLang="en-US"/>
              <a:t>현황</a:t>
            </a:r>
            <a:endParaRPr lang="ko-KR" altLang="en-US"/>
          </a:p>
          <a:p>
            <a:pPr>
              <a:defRPr sz="2000">
                <a:solidFill>
                  <a:srgbClr val="3C3C3C"/>
                </a:solidFill>
              </a:defRPr>
            </a:pPr>
            <a:r>
              <a:rPr lang="en-US" altLang="zh-CN"/>
              <a:t>https://data.seoul.go.kr/dataList/OA-13635/S/1/datasetView.do?tab=A#AXexec</a:t>
            </a:r>
            <a:endParaRPr lang="en-US" altLang="zh-CN"/>
          </a:p>
          <a:p>
            <a:pPr>
              <a:defRPr sz="2000">
                <a:solidFill>
                  <a:srgbClr val="3C3C3C"/>
                </a:solidFill>
              </a:defRPr>
            </a:pPr>
            <a:endParaRPr lang="en-US" altLang="zh-CN"/>
          </a:p>
          <a:p>
            <a:r>
              <a:t>- 수집 방식 및 도구 / 收集方式与工具</a:t>
            </a:r>
          </a:p>
          <a:p/>
          <a:p/>
          <a:p>
            <a:endParaRPr lang="en-US" altLang="zh-CN"/>
          </a:p>
        </p:txBody>
      </p:sp>
      <p:graphicFrame>
        <p:nvGraphicFramePr>
          <p:cNvPr id="2" name="表格 1"/>
          <p:cNvGraphicFramePr/>
          <p:nvPr>
            <p:custDataLst>
              <p:tags r:id="rId1"/>
            </p:custDataLst>
          </p:nvPr>
        </p:nvGraphicFramePr>
        <p:xfrm>
          <a:off x="989965" y="4592320"/>
          <a:ext cx="6482080" cy="1987550"/>
        </p:xfrm>
        <a:graphic>
          <a:graphicData uri="http://schemas.openxmlformats.org/drawingml/2006/table">
            <a:tbl>
              <a:tblPr firstRow="1" bandRow="1">
                <a:tableStyleId>{5C22544A-7EE6-4342-B048-85BDC9FD1C3A}</a:tableStyleId>
              </a:tblPr>
              <a:tblGrid>
                <a:gridCol w="3241040"/>
                <a:gridCol w="3241040"/>
              </a:tblGrid>
              <a:tr h="397510">
                <a:tc>
                  <a:txBody>
                    <a:bodyPr/>
                    <a:p>
                      <a:pPr algn="ctr">
                        <a:lnSpc>
                          <a:spcPct val="100000"/>
                        </a:lnSpc>
                        <a:buNone/>
                      </a:pPr>
                      <a:r>
                        <a:rPr lang="ko-KR" altLang="en-US" sz="900"/>
                        <a:t>항목</a:t>
                      </a:r>
                      <a:r>
                        <a:rPr lang="en-US" altLang="ko-KR" sz="900"/>
                        <a:t>/</a:t>
                      </a:r>
                      <a:r>
                        <a:rPr lang="zh-CN" altLang="ko-KR" sz="900">
                          <a:sym typeface="+mn-ea"/>
                        </a:rPr>
                        <a:t>项目</a:t>
                      </a:r>
                      <a:endParaRPr lang="en-US" altLang="ko-KR" sz="900"/>
                    </a:p>
                  </a:txBody>
                  <a:tcPr anchor="ctr" anchorCtr="0"/>
                </a:tc>
                <a:tc>
                  <a:txBody>
                    <a:bodyPr/>
                    <a:p>
                      <a:pPr algn="ctr">
                        <a:lnSpc>
                          <a:spcPct val="100000"/>
                        </a:lnSpc>
                        <a:buNone/>
                      </a:pPr>
                      <a:r>
                        <a:rPr lang="ko-KR" altLang="en-US" sz="900"/>
                        <a:t>내용</a:t>
                      </a:r>
                      <a:r>
                        <a:rPr lang="en-US" altLang="ko-KR" sz="900"/>
                        <a:t>/</a:t>
                      </a:r>
                      <a:r>
                        <a:rPr lang="zh-CN" altLang="ko-KR" sz="900">
                          <a:sym typeface="+mn-ea"/>
                        </a:rPr>
                        <a:t>内容</a:t>
                      </a:r>
                      <a:endParaRPr lang="en-US" altLang="ko-KR" sz="900"/>
                    </a:p>
                  </a:txBody>
                  <a:tcPr anchor="ctr" anchorCtr="0"/>
                </a:tc>
              </a:tr>
              <a:tr h="397510">
                <a:tc>
                  <a:txBody>
                    <a:bodyPr/>
                    <a:p>
                      <a:pPr algn="ctr">
                        <a:lnSpc>
                          <a:spcPct val="100000"/>
                        </a:lnSpc>
                        <a:buNone/>
                      </a:pPr>
                      <a:r>
                        <a:rPr lang="ko-KR" altLang="en-US" sz="900"/>
                        <a:t>수집경로</a:t>
                      </a:r>
                      <a:r>
                        <a:rPr lang="en-US" altLang="zh-CN" sz="900"/>
                        <a:t> / </a:t>
                      </a:r>
                      <a:r>
                        <a:rPr lang="zh-CN" altLang="en-US" sz="900"/>
                        <a:t>收集路径</a:t>
                      </a:r>
                      <a:endParaRPr lang="en-US" altLang="zh-CN" sz="900"/>
                    </a:p>
                  </a:txBody>
                  <a:tcPr anchor="ctr" anchorCtr="0"/>
                </a:tc>
                <a:tc>
                  <a:txBody>
                    <a:bodyPr/>
                    <a:p>
                      <a:pPr algn="ctr">
                        <a:lnSpc>
                          <a:spcPct val="100000"/>
                        </a:lnSpc>
                        <a:buNone/>
                      </a:pPr>
                      <a:r>
                        <a:rPr lang="ko-KR" altLang="en-US" sz="900">
                          <a:sym typeface="+mn-ea"/>
                        </a:rPr>
                        <a:t>서울열린데이터광장</a:t>
                      </a:r>
                      <a:r>
                        <a:rPr lang="en-US" altLang="zh-CN" sz="900">
                          <a:sym typeface="+mn-ea"/>
                        </a:rPr>
                        <a:t> CSV </a:t>
                      </a:r>
                      <a:r>
                        <a:rPr lang="ko-KR" altLang="en-US" sz="900">
                          <a:sym typeface="+mn-ea"/>
                        </a:rPr>
                        <a:t>다운로드</a:t>
                      </a:r>
                      <a:endParaRPr lang="ko-KR" altLang="en-US" sz="900"/>
                    </a:p>
                    <a:p>
                      <a:pPr algn="ctr">
                        <a:lnSpc>
                          <a:spcPct val="100000"/>
                        </a:lnSpc>
                        <a:buNone/>
                      </a:pPr>
                      <a:r>
                        <a:rPr lang="zh-CN" altLang="en-US" sz="900"/>
                        <a:t>首尔开放数据广场</a:t>
                      </a:r>
                      <a:r>
                        <a:rPr lang="en-US" altLang="zh-CN" sz="900"/>
                        <a:t> CSV</a:t>
                      </a:r>
                      <a:r>
                        <a:rPr lang="zh-CN" altLang="en-US" sz="900"/>
                        <a:t>下载</a:t>
                      </a:r>
                      <a:endParaRPr lang="zh-CN" altLang="en-US" sz="900"/>
                    </a:p>
                  </a:txBody>
                  <a:tcPr anchor="ctr" anchorCtr="0"/>
                </a:tc>
              </a:tr>
              <a:tr h="397510">
                <a:tc>
                  <a:txBody>
                    <a:bodyPr/>
                    <a:p>
                      <a:pPr algn="ctr">
                        <a:lnSpc>
                          <a:spcPct val="100000"/>
                        </a:lnSpc>
                        <a:buNone/>
                      </a:pPr>
                      <a:r>
                        <a:rPr lang="ko-KR" altLang="en-US" sz="900"/>
                        <a:t>데이터형태</a:t>
                      </a:r>
                      <a:r>
                        <a:rPr lang="en-US" altLang="zh-CN" sz="900"/>
                        <a:t> / </a:t>
                      </a:r>
                      <a:r>
                        <a:rPr lang="zh-CN" altLang="en-US" sz="900"/>
                        <a:t>数据格式</a:t>
                      </a:r>
                      <a:endParaRPr lang="zh-CN" altLang="en-US" sz="900"/>
                    </a:p>
                  </a:txBody>
                  <a:tcPr anchor="ctr" anchorCtr="0"/>
                </a:tc>
                <a:tc>
                  <a:txBody>
                    <a:bodyPr/>
                    <a:p>
                      <a:pPr algn="ctr">
                        <a:buNone/>
                      </a:pPr>
                      <a:r>
                        <a:rPr lang="en-US" altLang="zh-CN" sz="900">
                          <a:sym typeface="+mn-ea"/>
                        </a:rPr>
                        <a:t>CSV (EUC-KR </a:t>
                      </a:r>
                      <a:r>
                        <a:rPr lang="ko-KR" altLang="en-US" sz="900">
                          <a:sym typeface="+mn-ea"/>
                        </a:rPr>
                        <a:t>인코딩</a:t>
                      </a:r>
                      <a:r>
                        <a:rPr lang="en-US" altLang="zh-CN" sz="900">
                          <a:sym typeface="+mn-ea"/>
                        </a:rPr>
                        <a:t>, 16</a:t>
                      </a:r>
                      <a:r>
                        <a:rPr lang="ko-KR" altLang="en-US" sz="900">
                          <a:sym typeface="+mn-ea"/>
                        </a:rPr>
                        <a:t>개</a:t>
                      </a:r>
                      <a:r>
                        <a:rPr lang="en-US" altLang="zh-CN" sz="900">
                          <a:sym typeface="+mn-ea"/>
                        </a:rPr>
                        <a:t> </a:t>
                      </a:r>
                      <a:r>
                        <a:rPr lang="ko-KR" altLang="en-US" sz="900">
                          <a:sym typeface="+mn-ea"/>
                        </a:rPr>
                        <a:t>컬럼</a:t>
                      </a:r>
                      <a:r>
                        <a:rPr lang="en-US" altLang="zh-CN" sz="900">
                          <a:sym typeface="+mn-ea"/>
                        </a:rPr>
                        <a:t>)</a:t>
                      </a:r>
                      <a:endParaRPr lang="zh-CN" altLang="en-US" sz="900"/>
                    </a:p>
                    <a:p>
                      <a:pPr algn="ctr">
                        <a:buNone/>
                      </a:pPr>
                      <a:r>
                        <a:rPr lang="en-US" altLang="zh-CN" sz="900"/>
                        <a:t>CSV</a:t>
                      </a:r>
                      <a:r>
                        <a:rPr lang="zh-CN" altLang="en-US" sz="900"/>
                        <a:t>（</a:t>
                      </a:r>
                      <a:r>
                        <a:rPr lang="en-US" altLang="zh-CN" sz="900"/>
                        <a:t>EUC-KR</a:t>
                      </a:r>
                      <a:r>
                        <a:rPr lang="zh-CN" altLang="en-US" sz="900"/>
                        <a:t>编码，</a:t>
                      </a:r>
                      <a:r>
                        <a:rPr lang="en-US" altLang="zh-CN" sz="900"/>
                        <a:t>16</a:t>
                      </a:r>
                      <a:r>
                        <a:rPr lang="zh-CN" altLang="en-US" sz="900"/>
                        <a:t>列）</a:t>
                      </a:r>
                      <a:endParaRPr lang="zh-CN" altLang="en-US" sz="900"/>
                    </a:p>
                  </a:txBody>
                  <a:tcPr anchor="ctr" anchorCtr="0"/>
                </a:tc>
              </a:tr>
              <a:tr h="397510">
                <a:tc>
                  <a:txBody>
                    <a:bodyPr/>
                    <a:p>
                      <a:pPr algn="ctr">
                        <a:lnSpc>
                          <a:spcPct val="100000"/>
                        </a:lnSpc>
                        <a:buNone/>
                      </a:pPr>
                      <a:r>
                        <a:rPr lang="ko-KR" altLang="en-US" sz="900"/>
                        <a:t>수집도구</a:t>
                      </a:r>
                      <a:r>
                        <a:rPr lang="en-US" altLang="zh-CN" sz="900"/>
                        <a:t> / </a:t>
                      </a:r>
                      <a:r>
                        <a:rPr lang="zh-CN" altLang="en-US" sz="900"/>
                        <a:t>收集工具</a:t>
                      </a:r>
                      <a:endParaRPr lang="zh-CN" altLang="en-US" sz="900"/>
                    </a:p>
                  </a:txBody>
                  <a:tcPr anchor="ctr" anchorCtr="0"/>
                </a:tc>
                <a:tc>
                  <a:txBody>
                    <a:bodyPr/>
                    <a:p>
                      <a:pPr algn="ctr">
                        <a:lnSpc>
                          <a:spcPct val="100000"/>
                        </a:lnSpc>
                        <a:buNone/>
                      </a:pPr>
                      <a:r>
                        <a:rPr lang="en-US" altLang="zh-CN" sz="900"/>
                        <a:t>Python (pandas, requests), Excel</a:t>
                      </a:r>
                      <a:endParaRPr lang="en-US" altLang="zh-CN" sz="900"/>
                    </a:p>
                  </a:txBody>
                  <a:tcPr anchor="ctr" anchorCtr="0"/>
                </a:tc>
              </a:tr>
              <a:tr h="397510">
                <a:tc>
                  <a:txBody>
                    <a:bodyPr/>
                    <a:p>
                      <a:pPr algn="ctr">
                        <a:lnSpc>
                          <a:spcPct val="100000"/>
                        </a:lnSpc>
                        <a:buNone/>
                      </a:pPr>
                      <a:r>
                        <a:rPr lang="ko-KR" altLang="en-US" sz="900"/>
                        <a:t>저장위치</a:t>
                      </a:r>
                      <a:r>
                        <a:rPr lang="en-US" altLang="zh-CN" sz="900"/>
                        <a:t> / </a:t>
                      </a:r>
                      <a:r>
                        <a:rPr lang="zh-CN" altLang="en-US" sz="900"/>
                        <a:t>存储路径</a:t>
                      </a:r>
                      <a:endParaRPr lang="zh-CN" altLang="en-US" sz="900"/>
                    </a:p>
                  </a:txBody>
                  <a:tcPr anchor="ctr" anchorCtr="0"/>
                </a:tc>
                <a:tc>
                  <a:txBody>
                    <a:bodyPr/>
                    <a:p>
                      <a:pPr algn="ctr">
                        <a:lnSpc>
                          <a:spcPct val="100000"/>
                        </a:lnSpc>
                        <a:buNone/>
                      </a:pPr>
                      <a:r>
                        <a:rPr lang="en-US" altLang="zh-CN" sz="900"/>
                        <a:t>/mnt/data/</a:t>
                      </a:r>
                      <a:r>
                        <a:rPr lang="ko-KR" altLang="en-US" sz="900"/>
                        <a:t>서울시</a:t>
                      </a:r>
                      <a:r>
                        <a:rPr lang="en-US" altLang="zh-CN" sz="900"/>
                        <a:t> </a:t>
                      </a:r>
                      <a:r>
                        <a:rPr lang="ko-KR" altLang="en-US" sz="900"/>
                        <a:t>위생업소</a:t>
                      </a:r>
                      <a:r>
                        <a:rPr lang="en-US" altLang="zh-CN" sz="900"/>
                        <a:t> </a:t>
                      </a:r>
                      <a:r>
                        <a:rPr lang="ko-KR" altLang="en-US" sz="900"/>
                        <a:t>전체</a:t>
                      </a:r>
                      <a:r>
                        <a:rPr lang="en-US" altLang="zh-CN" sz="900"/>
                        <a:t> </a:t>
                      </a:r>
                      <a:r>
                        <a:rPr lang="ko-KR" altLang="en-US" sz="900"/>
                        <a:t>행정처분내역</a:t>
                      </a:r>
                      <a:r>
                        <a:rPr lang="en-US" altLang="zh-CN" sz="900"/>
                        <a:t> </a:t>
                      </a:r>
                      <a:r>
                        <a:rPr lang="ko-KR" altLang="en-US" sz="900"/>
                        <a:t>현황</a:t>
                      </a:r>
                      <a:r>
                        <a:rPr lang="en-US" altLang="zh-CN" sz="900"/>
                        <a:t>.csv</a:t>
                      </a:r>
                      <a:endParaRPr lang="en-US" altLang="zh-CN" sz="900"/>
                    </a:p>
                    <a:p>
                      <a:pPr algn="ctr">
                        <a:lnSpc>
                          <a:spcPct val="100000"/>
                        </a:lnSpc>
                        <a:buNone/>
                      </a:pPr>
                      <a:r>
                        <a:rPr lang="en-US" altLang="zh-CN" sz="900"/>
                        <a:t>/mnt/data/</a:t>
                      </a:r>
                      <a:r>
                        <a:rPr lang="zh-CN" altLang="en-US" sz="900"/>
                        <a:t>首尔市卫生场所全部行政处分记录现状</a:t>
                      </a:r>
                      <a:r>
                        <a:rPr lang="en-US" altLang="zh-CN" sz="900"/>
                        <a:t>.csv</a:t>
                      </a:r>
                      <a:endParaRPr lang="en-US" altLang="zh-CN" sz="900"/>
                    </a:p>
                  </a:txBody>
                  <a:tcPr anchor="ctr" anchorCtr="0"/>
                </a:tc>
              </a:tr>
            </a:tbl>
          </a:graphicData>
        </a:graphic>
      </p:graphicFrame>
      <p:pic>
        <p:nvPicPr>
          <p:cNvPr id="5" name="图片 4"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911860" y="1222375"/>
            <a:ext cx="7115175" cy="3692525"/>
          </a:xfrm>
          <a:prstGeom prst="rect">
            <a:avLst/>
          </a:prstGeom>
          <a:noFill/>
        </p:spPr>
        <p:txBody>
          <a:bodyPr wrap="square" rtlCol="0">
            <a:spAutoFit/>
          </a:bodyPr>
          <a:p>
            <a:r>
              <a:rPr>
                <a:sym typeface="+mn-ea"/>
              </a:rPr>
              <a:t>- 데이터 규모 / 数据规模</a:t>
            </a:r>
            <a:endParaRPr>
              <a:sym typeface="+mn-ea"/>
            </a:endParaRPr>
          </a:p>
          <a:p>
            <a:endParaRPr lang="zh-CN">
              <a:sym typeface="+mn-ea"/>
            </a:endParaRPr>
          </a:p>
          <a:p>
            <a:endParaRPr lang="zh-CN">
              <a:sym typeface="+mn-ea"/>
            </a:endParaRPr>
          </a:p>
          <a:p>
            <a:endParaRPr lang="zh-CN">
              <a:sym typeface="+mn-ea"/>
            </a:endParaRPr>
          </a:p>
          <a:p>
            <a:endParaRPr lang="zh-CN">
              <a:sym typeface="+mn-ea"/>
            </a:endParaRPr>
          </a:p>
          <a:p>
            <a:r>
              <a:rPr lang="zh-CN">
                <a:sym typeface="+mn-ea"/>
              </a:rPr>
              <a:t>数据大约</a:t>
            </a:r>
            <a:r>
              <a:rPr lang="en-US" altLang="zh-CN">
                <a:sym typeface="+mn-ea"/>
              </a:rPr>
              <a:t>2,167 </a:t>
            </a:r>
            <a:r>
              <a:rPr lang="zh-CN" altLang="en-US">
                <a:sym typeface="+mn-ea"/>
              </a:rPr>
              <a:t>条记录。</a:t>
            </a:r>
            <a:endParaRPr lang="zh-CN" altLang="en-US"/>
          </a:p>
          <a:p>
            <a:r>
              <a:rPr lang="en-US" altLang="zh-CN">
                <a:sym typeface="+mn-ea"/>
              </a:rPr>
              <a:t> </a:t>
            </a:r>
            <a:r>
              <a:rPr lang="zh-CN" altLang="en-US">
                <a:sym typeface="+mn-ea"/>
              </a:rPr>
              <a:t>主要字段：</a:t>
            </a:r>
            <a:endParaRPr lang="zh-CN" altLang="en-US"/>
          </a:p>
          <a:p>
            <a:r>
              <a:rPr lang="en-US" altLang="zh-CN">
                <a:sym typeface="+mn-ea"/>
              </a:rPr>
              <a:t>    </a:t>
            </a:r>
            <a:r>
              <a:rPr lang="zh-CN" altLang="en-US">
                <a:sym typeface="+mn-ea"/>
              </a:rPr>
              <a:t>处罚日期、行业、业态、地址、处罚状态、处罚类型、法律依据、违规内容、处罚天数、经营面积等。</a:t>
            </a:r>
            <a:endParaRPr lang="zh-CN" altLang="en-US">
              <a:sym typeface="+mn-ea"/>
            </a:endParaRPr>
          </a:p>
          <a:p>
            <a:endParaRPr lang="zh-CN" altLang="en-US"/>
          </a:p>
          <a:p>
            <a:r>
              <a:rPr lang="ko-KR" altLang="en-US">
                <a:sym typeface="+mn-ea"/>
              </a:rPr>
              <a:t>데이터는</a:t>
            </a:r>
            <a:r>
              <a:rPr lang="en-US" altLang="zh-CN">
                <a:sym typeface="+mn-ea"/>
              </a:rPr>
              <a:t> </a:t>
            </a:r>
            <a:r>
              <a:rPr lang="ko-KR" altLang="en-US">
                <a:sym typeface="+mn-ea"/>
              </a:rPr>
              <a:t>약</a:t>
            </a:r>
            <a:r>
              <a:rPr lang="en-US" altLang="zh-CN">
                <a:sym typeface="+mn-ea"/>
              </a:rPr>
              <a:t> 2,167</a:t>
            </a:r>
            <a:r>
              <a:rPr lang="ko-KR" altLang="en-US">
                <a:sym typeface="+mn-ea"/>
              </a:rPr>
              <a:t>건의</a:t>
            </a:r>
            <a:r>
              <a:rPr lang="en-US" altLang="zh-CN">
                <a:sym typeface="+mn-ea"/>
              </a:rPr>
              <a:t> </a:t>
            </a:r>
            <a:r>
              <a:rPr lang="ko-KR" altLang="en-US">
                <a:sym typeface="+mn-ea"/>
              </a:rPr>
              <a:t>기록입니다</a:t>
            </a:r>
            <a:r>
              <a:rPr lang="en-US" altLang="zh-CN">
                <a:sym typeface="+mn-ea"/>
              </a:rPr>
              <a:t>. </a:t>
            </a:r>
            <a:r>
              <a:rPr lang="ko-KR" altLang="en-US">
                <a:sym typeface="+mn-ea"/>
              </a:rPr>
              <a:t>주요</a:t>
            </a:r>
            <a:r>
              <a:rPr lang="en-US" altLang="zh-CN">
                <a:sym typeface="+mn-ea"/>
              </a:rPr>
              <a:t> </a:t>
            </a:r>
            <a:r>
              <a:rPr lang="ko-KR" altLang="en-US">
                <a:sym typeface="+mn-ea"/>
              </a:rPr>
              <a:t>필드</a:t>
            </a:r>
            <a:r>
              <a:rPr lang="en-US" altLang="zh-CN">
                <a:sym typeface="+mn-ea"/>
              </a:rPr>
              <a:t>: </a:t>
            </a:r>
            <a:r>
              <a:rPr lang="ko-KR" altLang="en-US">
                <a:sym typeface="+mn-ea"/>
              </a:rPr>
              <a:t>처벌일자</a:t>
            </a:r>
            <a:r>
              <a:rPr lang="en-US" altLang="zh-CN">
                <a:sym typeface="+mn-ea"/>
              </a:rPr>
              <a:t>, </a:t>
            </a:r>
            <a:r>
              <a:rPr lang="ko-KR" altLang="en-US">
                <a:sym typeface="+mn-ea"/>
              </a:rPr>
              <a:t>업종</a:t>
            </a:r>
            <a:r>
              <a:rPr lang="en-US" altLang="zh-CN">
                <a:sym typeface="+mn-ea"/>
              </a:rPr>
              <a:t>, </a:t>
            </a:r>
            <a:r>
              <a:rPr lang="ko-KR" altLang="en-US">
                <a:sym typeface="+mn-ea"/>
              </a:rPr>
              <a:t>업태</a:t>
            </a:r>
            <a:r>
              <a:rPr lang="en-US" altLang="zh-CN">
                <a:sym typeface="+mn-ea"/>
              </a:rPr>
              <a:t>, </a:t>
            </a:r>
            <a:r>
              <a:rPr lang="ko-KR" altLang="en-US">
                <a:sym typeface="+mn-ea"/>
              </a:rPr>
              <a:t>주소</a:t>
            </a:r>
            <a:r>
              <a:rPr lang="en-US" altLang="zh-CN">
                <a:sym typeface="+mn-ea"/>
              </a:rPr>
              <a:t>, </a:t>
            </a:r>
            <a:r>
              <a:rPr lang="ko-KR" altLang="en-US">
                <a:sym typeface="+mn-ea"/>
              </a:rPr>
              <a:t>처벌상태</a:t>
            </a:r>
            <a:r>
              <a:rPr lang="en-US" altLang="zh-CN">
                <a:sym typeface="+mn-ea"/>
              </a:rPr>
              <a:t>, </a:t>
            </a:r>
            <a:r>
              <a:rPr lang="ko-KR" altLang="en-US">
                <a:sym typeface="+mn-ea"/>
              </a:rPr>
              <a:t>처벌유형</a:t>
            </a:r>
            <a:r>
              <a:rPr lang="en-US" altLang="zh-CN">
                <a:sym typeface="+mn-ea"/>
              </a:rPr>
              <a:t>, </a:t>
            </a:r>
            <a:r>
              <a:rPr lang="ko-KR" altLang="en-US">
                <a:sym typeface="+mn-ea"/>
              </a:rPr>
              <a:t>법적근거</a:t>
            </a:r>
            <a:r>
              <a:rPr lang="en-US" altLang="zh-CN">
                <a:sym typeface="+mn-ea"/>
              </a:rPr>
              <a:t>, </a:t>
            </a:r>
            <a:r>
              <a:rPr lang="ko-KR" altLang="en-US">
                <a:sym typeface="+mn-ea"/>
              </a:rPr>
              <a:t>위반내용</a:t>
            </a:r>
            <a:r>
              <a:rPr lang="en-US" altLang="zh-CN">
                <a:sym typeface="+mn-ea"/>
              </a:rPr>
              <a:t>, </a:t>
            </a:r>
            <a:r>
              <a:rPr lang="ko-KR" altLang="en-US">
                <a:sym typeface="+mn-ea"/>
              </a:rPr>
              <a:t>처벌일수</a:t>
            </a:r>
            <a:r>
              <a:rPr lang="en-US" altLang="zh-CN">
                <a:sym typeface="+mn-ea"/>
              </a:rPr>
              <a:t>, </a:t>
            </a:r>
            <a:r>
              <a:rPr lang="ko-KR" altLang="en-US">
                <a:sym typeface="+mn-ea"/>
              </a:rPr>
              <a:t>영업면적</a:t>
            </a:r>
            <a:r>
              <a:rPr lang="en-US" altLang="zh-CN">
                <a:sym typeface="+mn-ea"/>
              </a:rPr>
              <a:t> </a:t>
            </a:r>
            <a:r>
              <a:rPr lang="ko-KR" altLang="en-US">
                <a:sym typeface="+mn-ea"/>
              </a:rPr>
              <a:t>등</a:t>
            </a:r>
            <a:r>
              <a:rPr lang="en-US" altLang="zh-CN">
                <a:sym typeface="+mn-ea"/>
              </a:rPr>
              <a:t>.</a:t>
            </a:r>
            <a:endParaRPr lang="en-US" altLang="zh-CN"/>
          </a:p>
          <a:p>
            <a:endParaRPr lang="zh-CN" altLang="en-US"/>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데이터 전처리 계획 / 数据预处理计划</a:t>
            </a:r>
          </a:p>
        </p:txBody>
      </p:sp>
      <p:sp>
        <p:nvSpPr>
          <p:cNvPr id="4" name="TextBox 3"/>
          <p:cNvSpPr txBox="1"/>
          <p:nvPr/>
        </p:nvSpPr>
        <p:spPr>
          <a:xfrm>
            <a:off x="914400" y="1367790"/>
            <a:ext cx="6972935" cy="5908040"/>
          </a:xfrm>
          <a:prstGeom prst="rect">
            <a:avLst/>
          </a:prstGeom>
          <a:noFill/>
        </p:spPr>
        <p:txBody>
          <a:bodyPr wrap="square">
            <a:spAutoFit/>
          </a:bodyPr>
          <a:lstStyle/>
          <a:p>
            <a:pPr>
              <a:defRPr sz="2000">
                <a:solidFill>
                  <a:srgbClr val="3C3C3C"/>
                </a:solidFill>
              </a:defRPr>
            </a:pPr>
            <a:r>
              <a:t>- 결측치·이상치 처리 / 缺失值与异常值处理</a:t>
            </a:r>
          </a:p>
          <a:p>
            <a:pPr>
              <a:defRPr sz="2000">
                <a:solidFill>
                  <a:srgbClr val="3C3C3C"/>
                </a:solidFill>
              </a:defRPr>
            </a:pPr>
          </a:p>
          <a:p>
            <a:pPr>
              <a:defRPr sz="2000">
                <a:solidFill>
                  <a:srgbClr val="3C3C3C"/>
                </a:solidFill>
              </a:defRPr>
            </a:pPr>
            <a:r>
              <a:rPr lang="zh-CN" altLang="en-US"/>
              <a:t>本项目将采用多种策略处理数据中的缺失值与异常值。缺失值将根据缺失比例采取不同策略：缺失率低于</a:t>
            </a:r>
            <a:r>
              <a:rPr lang="en-US" altLang="zh-CN"/>
              <a:t>10%</a:t>
            </a:r>
            <a:r>
              <a:rPr lang="zh-CN" altLang="en-US"/>
              <a:t>的变量使用中位数填充，缺失率超过</a:t>
            </a:r>
            <a:r>
              <a:rPr lang="en-US" altLang="zh-CN"/>
              <a:t>30%</a:t>
            </a:r>
            <a:r>
              <a:rPr lang="zh-CN" altLang="en-US"/>
              <a:t>的变量将考虑剔除。异常值的检测将基于</a:t>
            </a:r>
            <a:r>
              <a:rPr lang="en-US" altLang="zh-CN"/>
              <a:t>IQR</a:t>
            </a:r>
            <a:r>
              <a:rPr lang="zh-CN" altLang="en-US"/>
              <a:t>方法，对于严重异常值将予以删除，或在后续建模中加入权重修正。所有处理过程将记录日志，以确保数据溯源。</a:t>
            </a:r>
            <a:endParaRPr lang="zh-CN" altLang="en-US"/>
          </a:p>
          <a:p>
            <a:pPr>
              <a:defRPr sz="2000">
                <a:solidFill>
                  <a:srgbClr val="3C3C3C"/>
                </a:solidFill>
              </a:defRPr>
            </a:pPr>
            <a:r>
              <a:rPr lang="ko-KR" altLang="en-US"/>
              <a:t>본</a:t>
            </a:r>
            <a:r>
              <a:rPr lang="en-US" altLang="zh-CN"/>
              <a:t> </a:t>
            </a:r>
            <a:r>
              <a:rPr lang="ko-KR" altLang="en-US"/>
              <a:t>프로젝트는</a:t>
            </a:r>
            <a:r>
              <a:rPr lang="en-US" altLang="zh-CN"/>
              <a:t> </a:t>
            </a:r>
            <a:r>
              <a:rPr lang="ko-KR" altLang="en-US"/>
              <a:t>데이터</a:t>
            </a:r>
            <a:r>
              <a:rPr lang="en-US" altLang="zh-CN"/>
              <a:t> </a:t>
            </a:r>
            <a:r>
              <a:rPr lang="ko-KR" altLang="en-US"/>
              <a:t>내</a:t>
            </a:r>
            <a:r>
              <a:rPr lang="en-US" altLang="zh-CN"/>
              <a:t> </a:t>
            </a:r>
            <a:r>
              <a:rPr lang="ko-KR" altLang="en-US"/>
              <a:t>누락값과</a:t>
            </a:r>
            <a:r>
              <a:rPr lang="en-US" altLang="zh-CN"/>
              <a:t> </a:t>
            </a:r>
            <a:r>
              <a:rPr lang="ko-KR" altLang="en-US"/>
              <a:t>이상값</a:t>
            </a:r>
            <a:r>
              <a:rPr lang="en-US" altLang="zh-CN"/>
              <a:t> </a:t>
            </a:r>
            <a:r>
              <a:rPr lang="ko-KR" altLang="en-US"/>
              <a:t>처리를</a:t>
            </a:r>
            <a:r>
              <a:rPr lang="en-US" altLang="zh-CN"/>
              <a:t> </a:t>
            </a:r>
            <a:r>
              <a:rPr lang="ko-KR" altLang="en-US"/>
              <a:t>위해</a:t>
            </a:r>
            <a:r>
              <a:rPr lang="en-US" altLang="zh-CN"/>
              <a:t> </a:t>
            </a:r>
            <a:r>
              <a:rPr lang="ko-KR" altLang="en-US"/>
              <a:t>다양한</a:t>
            </a:r>
            <a:r>
              <a:rPr lang="en-US" altLang="zh-CN"/>
              <a:t> </a:t>
            </a:r>
            <a:r>
              <a:rPr lang="ko-KR" altLang="en-US"/>
              <a:t>전략을</a:t>
            </a:r>
            <a:r>
              <a:rPr lang="en-US" altLang="zh-CN"/>
              <a:t> </a:t>
            </a:r>
            <a:r>
              <a:rPr lang="ko-KR" altLang="en-US"/>
              <a:t>적용할</a:t>
            </a:r>
            <a:r>
              <a:rPr lang="en-US" altLang="zh-CN"/>
              <a:t> </a:t>
            </a:r>
            <a:r>
              <a:rPr lang="ko-KR" altLang="en-US"/>
              <a:t>예정입니다</a:t>
            </a:r>
            <a:r>
              <a:rPr lang="en-US" altLang="zh-CN"/>
              <a:t>. </a:t>
            </a:r>
            <a:r>
              <a:rPr lang="ko-KR" altLang="en-US"/>
              <a:t>누락값은</a:t>
            </a:r>
            <a:r>
              <a:rPr lang="en-US" altLang="zh-CN"/>
              <a:t> </a:t>
            </a:r>
            <a:r>
              <a:rPr lang="ko-KR" altLang="en-US"/>
              <a:t>누락</a:t>
            </a:r>
            <a:r>
              <a:rPr lang="en-US" altLang="zh-CN"/>
              <a:t> </a:t>
            </a:r>
            <a:r>
              <a:rPr lang="ko-KR" altLang="en-US"/>
              <a:t>비율에</a:t>
            </a:r>
            <a:r>
              <a:rPr lang="en-US" altLang="zh-CN"/>
              <a:t> </a:t>
            </a:r>
            <a:r>
              <a:rPr lang="ko-KR" altLang="en-US"/>
              <a:t>따라</a:t>
            </a:r>
            <a:r>
              <a:rPr lang="en-US" altLang="zh-CN"/>
              <a:t> </a:t>
            </a:r>
            <a:r>
              <a:rPr lang="ko-KR" altLang="en-US"/>
              <a:t>차등적으로</a:t>
            </a:r>
            <a:r>
              <a:rPr lang="en-US" altLang="zh-CN"/>
              <a:t> </a:t>
            </a:r>
            <a:r>
              <a:rPr lang="ko-KR" altLang="en-US"/>
              <a:t>처리됩니다</a:t>
            </a:r>
            <a:r>
              <a:rPr lang="en-US" altLang="zh-CN"/>
              <a:t>: </a:t>
            </a:r>
            <a:r>
              <a:rPr lang="ko-KR" altLang="en-US"/>
              <a:t>누락률이</a:t>
            </a:r>
            <a:r>
              <a:rPr lang="en-US" altLang="zh-CN"/>
              <a:t> 10% </a:t>
            </a:r>
            <a:r>
              <a:rPr lang="ko-KR" altLang="en-US"/>
              <a:t>미만인</a:t>
            </a:r>
            <a:r>
              <a:rPr lang="en-US" altLang="zh-CN"/>
              <a:t> </a:t>
            </a:r>
            <a:r>
              <a:rPr lang="ko-KR" altLang="en-US"/>
              <a:t>변수는</a:t>
            </a:r>
            <a:r>
              <a:rPr lang="en-US" altLang="zh-CN"/>
              <a:t> </a:t>
            </a:r>
            <a:r>
              <a:rPr lang="ko-KR" altLang="en-US"/>
              <a:t>중앙값</a:t>
            </a:r>
            <a:r>
              <a:rPr lang="en-US" altLang="zh-CN"/>
              <a:t> </a:t>
            </a:r>
            <a:r>
              <a:rPr lang="ko-KR" altLang="en-US"/>
              <a:t>보완을</a:t>
            </a:r>
            <a:r>
              <a:rPr lang="en-US" altLang="zh-CN"/>
              <a:t> </a:t>
            </a:r>
            <a:r>
              <a:rPr lang="ko-KR" altLang="en-US"/>
              <a:t>적용하며</a:t>
            </a:r>
            <a:r>
              <a:rPr lang="en-US" altLang="zh-CN"/>
              <a:t>, </a:t>
            </a:r>
            <a:r>
              <a:rPr lang="ko-KR" altLang="en-US"/>
              <a:t>누락률이</a:t>
            </a:r>
            <a:r>
              <a:rPr lang="en-US" altLang="zh-CN"/>
              <a:t> 30%</a:t>
            </a:r>
            <a:r>
              <a:rPr lang="ko-KR" altLang="en-US"/>
              <a:t>를</a:t>
            </a:r>
            <a:r>
              <a:rPr lang="en-US" altLang="zh-CN"/>
              <a:t> </a:t>
            </a:r>
            <a:r>
              <a:rPr lang="ko-KR" altLang="en-US"/>
              <a:t>초과하는</a:t>
            </a:r>
            <a:r>
              <a:rPr lang="en-US" altLang="zh-CN"/>
              <a:t> </a:t>
            </a:r>
            <a:r>
              <a:rPr lang="ko-KR" altLang="en-US"/>
              <a:t>변수는</a:t>
            </a:r>
            <a:r>
              <a:rPr lang="en-US" altLang="zh-CN"/>
              <a:t> </a:t>
            </a:r>
            <a:r>
              <a:rPr lang="ko-KR" altLang="en-US"/>
              <a:t>제외를</a:t>
            </a:r>
            <a:r>
              <a:rPr lang="en-US" altLang="zh-CN"/>
              <a:t> </a:t>
            </a:r>
            <a:r>
              <a:rPr lang="ko-KR" altLang="en-US"/>
              <a:t>검토합니다</a:t>
            </a:r>
            <a:r>
              <a:rPr lang="en-US" altLang="zh-CN"/>
              <a:t>. </a:t>
            </a:r>
            <a:r>
              <a:rPr lang="ko-KR" altLang="en-US"/>
              <a:t>이상값</a:t>
            </a:r>
            <a:r>
              <a:rPr lang="en-US" altLang="zh-CN"/>
              <a:t> </a:t>
            </a:r>
            <a:r>
              <a:rPr lang="ko-KR" altLang="en-US"/>
              <a:t>검출은</a:t>
            </a:r>
            <a:r>
              <a:rPr lang="en-US" altLang="zh-CN"/>
              <a:t> IQR(</a:t>
            </a:r>
            <a:r>
              <a:rPr lang="ko-KR" altLang="en-US"/>
              <a:t>사분위수</a:t>
            </a:r>
            <a:r>
              <a:rPr lang="en-US" altLang="zh-CN"/>
              <a:t> </a:t>
            </a:r>
            <a:r>
              <a:rPr lang="ko-KR" altLang="en-US"/>
              <a:t>범위</a:t>
            </a:r>
            <a:r>
              <a:rPr lang="en-US" altLang="zh-CN"/>
              <a:t>) </a:t>
            </a:r>
            <a:r>
              <a:rPr lang="ko-KR" altLang="en-US"/>
              <a:t>방법을</a:t>
            </a:r>
            <a:r>
              <a:rPr lang="en-US" altLang="zh-CN"/>
              <a:t> </a:t>
            </a:r>
            <a:r>
              <a:rPr lang="ko-KR" altLang="en-US"/>
              <a:t>기반으로</a:t>
            </a:r>
            <a:r>
              <a:rPr lang="en-US" altLang="zh-CN"/>
              <a:t> </a:t>
            </a:r>
            <a:r>
              <a:rPr lang="ko-KR" altLang="en-US"/>
              <a:t>수행되며</a:t>
            </a:r>
            <a:r>
              <a:rPr lang="en-US" altLang="zh-CN"/>
              <a:t>, </a:t>
            </a:r>
            <a:r>
              <a:rPr lang="ko-KR" altLang="en-US"/>
              <a:t>심각한</a:t>
            </a:r>
            <a:r>
              <a:rPr lang="en-US" altLang="zh-CN"/>
              <a:t> </a:t>
            </a:r>
            <a:r>
              <a:rPr lang="ko-KR" altLang="en-US"/>
              <a:t>이상값은</a:t>
            </a:r>
            <a:r>
              <a:rPr lang="en-US" altLang="zh-CN"/>
              <a:t> </a:t>
            </a:r>
            <a:r>
              <a:rPr lang="ko-KR" altLang="en-US"/>
              <a:t>삭제하거나</a:t>
            </a:r>
            <a:r>
              <a:rPr lang="en-US" altLang="zh-CN"/>
              <a:t> </a:t>
            </a:r>
            <a:r>
              <a:rPr lang="ko-KR" altLang="en-US"/>
              <a:t>후속</a:t>
            </a:r>
            <a:r>
              <a:rPr lang="en-US" altLang="zh-CN"/>
              <a:t> </a:t>
            </a:r>
            <a:r>
              <a:rPr lang="ko-KR" altLang="en-US"/>
              <a:t>모델링</a:t>
            </a:r>
            <a:r>
              <a:rPr lang="en-US" altLang="zh-CN"/>
              <a:t> </a:t>
            </a:r>
            <a:r>
              <a:rPr lang="ko-KR" altLang="en-US"/>
              <a:t>과정에서</a:t>
            </a:r>
            <a:r>
              <a:rPr lang="en-US" altLang="zh-CN"/>
              <a:t> </a:t>
            </a:r>
            <a:r>
              <a:rPr lang="ko-KR" altLang="en-US"/>
              <a:t>가중치</a:t>
            </a:r>
            <a:r>
              <a:rPr lang="en-US" altLang="zh-CN"/>
              <a:t> </a:t>
            </a:r>
            <a:r>
              <a:rPr lang="ko-KR" altLang="en-US"/>
              <a:t>보정을</a:t>
            </a:r>
            <a:r>
              <a:rPr lang="en-US" altLang="zh-CN"/>
              <a:t> </a:t>
            </a:r>
            <a:r>
              <a:rPr lang="ko-KR" altLang="en-US"/>
              <a:t>적용합니다</a:t>
            </a:r>
            <a:r>
              <a:rPr lang="en-US" altLang="zh-CN"/>
              <a:t>. </a:t>
            </a:r>
            <a:r>
              <a:rPr lang="ko-KR" altLang="en-US"/>
              <a:t>모든</a:t>
            </a:r>
            <a:r>
              <a:rPr lang="en-US" altLang="zh-CN"/>
              <a:t> </a:t>
            </a:r>
            <a:r>
              <a:rPr lang="ko-KR" altLang="en-US"/>
              <a:t>처리</a:t>
            </a:r>
            <a:r>
              <a:rPr lang="en-US" altLang="zh-CN"/>
              <a:t> </a:t>
            </a:r>
            <a:r>
              <a:rPr lang="ko-KR" altLang="en-US"/>
              <a:t>과정은</a:t>
            </a:r>
            <a:r>
              <a:rPr lang="en-US" altLang="zh-CN"/>
              <a:t> </a:t>
            </a:r>
            <a:r>
              <a:rPr lang="ko-KR" altLang="en-US"/>
              <a:t>데이터</a:t>
            </a:r>
            <a:r>
              <a:rPr lang="en-US" altLang="zh-CN"/>
              <a:t> </a:t>
            </a:r>
            <a:r>
              <a:rPr lang="ko-KR" altLang="en-US"/>
              <a:t>추적성을</a:t>
            </a:r>
            <a:r>
              <a:rPr lang="en-US" altLang="zh-CN"/>
              <a:t> </a:t>
            </a:r>
            <a:r>
              <a:rPr lang="ko-KR" altLang="en-US"/>
              <a:t>보장하기</a:t>
            </a:r>
            <a:r>
              <a:rPr lang="en-US" altLang="zh-CN"/>
              <a:t> </a:t>
            </a:r>
            <a:r>
              <a:rPr lang="ko-KR" altLang="en-US"/>
              <a:t>위해</a:t>
            </a:r>
            <a:r>
              <a:rPr lang="en-US" altLang="zh-CN"/>
              <a:t> </a:t>
            </a:r>
            <a:r>
              <a:rPr lang="ko-KR" altLang="en-US"/>
              <a:t>로그를</a:t>
            </a:r>
            <a:r>
              <a:rPr lang="en-US" altLang="zh-CN"/>
              <a:t> </a:t>
            </a:r>
            <a:r>
              <a:rPr lang="ko-KR" altLang="en-US"/>
              <a:t>기록합니다</a:t>
            </a:r>
            <a:r>
              <a:rPr lang="en-US" altLang="zh-CN"/>
              <a:t>.</a:t>
            </a:r>
            <a:endParaRPr lang="en-US" altLang="zh-CN"/>
          </a:p>
          <a:p>
            <a:pPr>
              <a:defRPr sz="2000">
                <a:solidFill>
                  <a:srgbClr val="3C3C3C"/>
                </a:solidFill>
              </a:defRPr>
            </a:pPr>
          </a:p>
          <a:p>
            <a:pPr>
              <a:defRPr sz="2000">
                <a:solidFill>
                  <a:srgbClr val="3C3C3C"/>
                </a:solidFill>
              </a:defRPr>
            </a:pPr>
          </a:p>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198245" y="1162685"/>
            <a:ext cx="6657975" cy="3692525"/>
          </a:xfrm>
          <a:prstGeom prst="rect">
            <a:avLst/>
          </a:prstGeom>
          <a:noFill/>
        </p:spPr>
        <p:txBody>
          <a:bodyPr wrap="square" rtlCol="0">
            <a:spAutoFit/>
          </a:bodyPr>
          <a:p>
            <a:r>
              <a:rPr>
                <a:sym typeface="+mn-ea"/>
              </a:rPr>
              <a:t>- 정규화 및 인코딩 / 规范化与编码</a:t>
            </a:r>
            <a:endParaRPr>
              <a:sym typeface="+mn-ea"/>
            </a:endParaRPr>
          </a:p>
          <a:p>
            <a:endParaRPr>
              <a:sym typeface="+mn-ea"/>
            </a:endParaRPr>
          </a:p>
          <a:p>
            <a:r>
              <a:rPr lang="zh-CN" altLang="en-US">
                <a:sym typeface="+mn-ea"/>
              </a:rPr>
              <a:t>为保证各特征具有统一的尺度，并提升模型效率与效果，我们将对数据进行规范化与编码处理。数值型变量将采用</a:t>
            </a:r>
            <a:r>
              <a:rPr lang="en-US" altLang="zh-CN">
                <a:sym typeface="+mn-ea"/>
              </a:rPr>
              <a:t>Z-score</a:t>
            </a:r>
            <a:r>
              <a:rPr lang="zh-CN" altLang="en-US">
                <a:sym typeface="+mn-ea"/>
              </a:rPr>
              <a:t>标准化，消除量纲差异；类别型变量将使用</a:t>
            </a:r>
            <a:r>
              <a:rPr lang="en-US" altLang="zh-CN">
                <a:sym typeface="+mn-ea"/>
              </a:rPr>
              <a:t>One-Hot</a:t>
            </a:r>
            <a:r>
              <a:rPr lang="zh-CN" altLang="en-US">
                <a:sym typeface="+mn-ea"/>
              </a:rPr>
              <a:t>编码，以避免模型对类别顺序产生误解。相关处理将通过</a:t>
            </a:r>
            <a:r>
              <a:rPr lang="en-US" altLang="zh-CN">
                <a:sym typeface="+mn-ea"/>
              </a:rPr>
              <a:t>Python</a:t>
            </a:r>
            <a:r>
              <a:rPr lang="zh-CN" altLang="en-US">
                <a:sym typeface="+mn-ea"/>
              </a:rPr>
              <a:t>的</a:t>
            </a:r>
            <a:r>
              <a:rPr lang="en-US" altLang="zh-CN">
                <a:sym typeface="+mn-ea"/>
              </a:rPr>
              <a:t>scikit-learn</a:t>
            </a:r>
            <a:r>
              <a:rPr lang="zh-CN" altLang="en-US">
                <a:sym typeface="+mn-ea"/>
              </a:rPr>
              <a:t>库完成。</a:t>
            </a:r>
            <a:endParaRPr lang="zh-CN" altLang="en-US"/>
          </a:p>
          <a:p>
            <a:endParaRPr lang="zh-CN" altLang="en-US"/>
          </a:p>
          <a:p>
            <a:r>
              <a:rPr lang="ko-KR" altLang="en-US"/>
              <a:t>각</a:t>
            </a:r>
            <a:r>
              <a:rPr lang="en-US" altLang="zh-CN"/>
              <a:t> </a:t>
            </a:r>
            <a:r>
              <a:rPr lang="ko-KR" altLang="en-US"/>
              <a:t>특징이</a:t>
            </a:r>
            <a:r>
              <a:rPr lang="en-US" altLang="zh-CN"/>
              <a:t> </a:t>
            </a:r>
            <a:r>
              <a:rPr lang="ko-KR" altLang="en-US"/>
              <a:t>통일된</a:t>
            </a:r>
            <a:r>
              <a:rPr lang="en-US" altLang="zh-CN"/>
              <a:t> </a:t>
            </a:r>
            <a:r>
              <a:rPr lang="ko-KR" altLang="en-US"/>
              <a:t>척도를</a:t>
            </a:r>
            <a:r>
              <a:rPr lang="en-US" altLang="zh-CN"/>
              <a:t> </a:t>
            </a:r>
            <a:r>
              <a:rPr lang="ko-KR" altLang="en-US"/>
              <a:t>가지도록</a:t>
            </a:r>
            <a:r>
              <a:rPr lang="en-US" altLang="zh-CN"/>
              <a:t> </a:t>
            </a:r>
            <a:r>
              <a:rPr lang="ko-KR" altLang="en-US"/>
              <a:t>보장하고</a:t>
            </a:r>
            <a:r>
              <a:rPr lang="en-US" altLang="zh-CN"/>
              <a:t> </a:t>
            </a:r>
            <a:r>
              <a:rPr lang="ko-KR" altLang="en-US"/>
              <a:t>모델</a:t>
            </a:r>
            <a:r>
              <a:rPr lang="en-US" altLang="zh-CN"/>
              <a:t> </a:t>
            </a:r>
            <a:r>
              <a:rPr lang="ko-KR" altLang="en-US"/>
              <a:t>효율성과</a:t>
            </a:r>
            <a:r>
              <a:rPr lang="en-US" altLang="zh-CN"/>
              <a:t> </a:t>
            </a:r>
            <a:r>
              <a:rPr lang="ko-KR" altLang="en-US"/>
              <a:t>효과를</a:t>
            </a:r>
            <a:r>
              <a:rPr lang="en-US" altLang="zh-CN"/>
              <a:t> </a:t>
            </a:r>
            <a:r>
              <a:rPr lang="ko-KR" altLang="en-US"/>
              <a:t>향상시키기</a:t>
            </a:r>
            <a:r>
              <a:rPr lang="en-US" altLang="zh-CN"/>
              <a:t> </a:t>
            </a:r>
            <a:r>
              <a:rPr lang="ko-KR" altLang="en-US"/>
              <a:t>위해</a:t>
            </a:r>
            <a:r>
              <a:rPr lang="en-US" altLang="zh-CN"/>
              <a:t> </a:t>
            </a:r>
            <a:r>
              <a:rPr lang="ko-KR" altLang="en-US"/>
              <a:t>데이터를</a:t>
            </a:r>
            <a:r>
              <a:rPr lang="en-US" altLang="zh-CN"/>
              <a:t> </a:t>
            </a:r>
            <a:r>
              <a:rPr lang="ko-KR" altLang="en-US"/>
              <a:t>정규화</a:t>
            </a:r>
            <a:r>
              <a:rPr lang="en-US" altLang="zh-CN"/>
              <a:t> </a:t>
            </a:r>
            <a:r>
              <a:rPr lang="ko-KR" altLang="en-US"/>
              <a:t>및</a:t>
            </a:r>
            <a:r>
              <a:rPr lang="en-US" altLang="zh-CN"/>
              <a:t> </a:t>
            </a:r>
            <a:r>
              <a:rPr lang="ko-KR" altLang="en-US"/>
              <a:t>인코딩</a:t>
            </a:r>
            <a:r>
              <a:rPr lang="en-US" altLang="zh-CN"/>
              <a:t> </a:t>
            </a:r>
            <a:r>
              <a:rPr lang="ko-KR" altLang="en-US"/>
              <a:t>처리할</a:t>
            </a:r>
            <a:r>
              <a:rPr lang="en-US" altLang="zh-CN"/>
              <a:t> </a:t>
            </a:r>
            <a:r>
              <a:rPr lang="ko-KR" altLang="en-US"/>
              <a:t>것입니다</a:t>
            </a:r>
            <a:r>
              <a:rPr lang="en-US" altLang="zh-CN"/>
              <a:t>. </a:t>
            </a:r>
            <a:r>
              <a:rPr lang="ko-KR" altLang="en-US"/>
              <a:t>수치형</a:t>
            </a:r>
            <a:r>
              <a:rPr lang="en-US" altLang="zh-CN"/>
              <a:t> </a:t>
            </a:r>
            <a:r>
              <a:rPr lang="ko-KR" altLang="en-US"/>
              <a:t>변수는</a:t>
            </a:r>
            <a:r>
              <a:rPr lang="en-US" altLang="zh-CN"/>
              <a:t> Z-</a:t>
            </a:r>
            <a:r>
              <a:rPr lang="ko-KR" altLang="en-US"/>
              <a:t>점수</a:t>
            </a:r>
            <a:r>
              <a:rPr lang="en-US" altLang="zh-CN"/>
              <a:t> </a:t>
            </a:r>
            <a:r>
              <a:rPr lang="ko-KR" altLang="en-US"/>
              <a:t>표준화를</a:t>
            </a:r>
            <a:r>
              <a:rPr lang="en-US" altLang="zh-CN"/>
              <a:t> </a:t>
            </a:r>
            <a:r>
              <a:rPr lang="ko-KR" altLang="en-US"/>
              <a:t>통해</a:t>
            </a:r>
            <a:r>
              <a:rPr lang="en-US" altLang="zh-CN"/>
              <a:t> </a:t>
            </a:r>
            <a:r>
              <a:rPr lang="ko-KR" altLang="en-US"/>
              <a:t>단위</a:t>
            </a:r>
            <a:r>
              <a:rPr lang="en-US" altLang="zh-CN"/>
              <a:t> </a:t>
            </a:r>
            <a:r>
              <a:rPr lang="ko-KR" altLang="en-US"/>
              <a:t>차이를</a:t>
            </a:r>
            <a:r>
              <a:rPr lang="en-US" altLang="zh-CN"/>
              <a:t> </a:t>
            </a:r>
            <a:r>
              <a:rPr lang="ko-KR" altLang="en-US"/>
              <a:t>제거하고</a:t>
            </a:r>
            <a:r>
              <a:rPr lang="en-US" altLang="zh-CN"/>
              <a:t>, </a:t>
            </a:r>
            <a:r>
              <a:rPr lang="ko-KR" altLang="en-US"/>
              <a:t>범주형</a:t>
            </a:r>
            <a:r>
              <a:rPr lang="en-US" altLang="zh-CN"/>
              <a:t> </a:t>
            </a:r>
            <a:r>
              <a:rPr lang="ko-KR" altLang="en-US"/>
              <a:t>변수는</a:t>
            </a:r>
            <a:r>
              <a:rPr lang="en-US" altLang="zh-CN"/>
              <a:t> One-Hot </a:t>
            </a:r>
            <a:r>
              <a:rPr lang="ko-KR" altLang="en-US"/>
              <a:t>인코딩을</a:t>
            </a:r>
            <a:r>
              <a:rPr lang="en-US" altLang="zh-CN"/>
              <a:t> </a:t>
            </a:r>
            <a:r>
              <a:rPr lang="ko-KR" altLang="en-US"/>
              <a:t>사용하여</a:t>
            </a:r>
            <a:r>
              <a:rPr lang="en-US" altLang="zh-CN"/>
              <a:t> </a:t>
            </a:r>
            <a:r>
              <a:rPr lang="ko-KR" altLang="en-US"/>
              <a:t>모델이</a:t>
            </a:r>
            <a:r>
              <a:rPr lang="en-US" altLang="zh-CN"/>
              <a:t> </a:t>
            </a:r>
            <a:r>
              <a:rPr lang="ko-KR" altLang="en-US"/>
              <a:t>범주</a:t>
            </a:r>
            <a:r>
              <a:rPr lang="en-US" altLang="zh-CN"/>
              <a:t> </a:t>
            </a:r>
            <a:r>
              <a:rPr lang="ko-KR" altLang="en-US"/>
              <a:t>순서를</a:t>
            </a:r>
            <a:r>
              <a:rPr lang="en-US" altLang="zh-CN"/>
              <a:t> </a:t>
            </a:r>
            <a:r>
              <a:rPr lang="ko-KR" altLang="en-US"/>
              <a:t>오해하지</a:t>
            </a:r>
            <a:r>
              <a:rPr lang="en-US" altLang="zh-CN"/>
              <a:t> </a:t>
            </a:r>
            <a:r>
              <a:rPr lang="ko-KR" altLang="en-US"/>
              <a:t>않도록</a:t>
            </a:r>
            <a:r>
              <a:rPr lang="en-US" altLang="zh-CN"/>
              <a:t> </a:t>
            </a:r>
            <a:r>
              <a:rPr lang="ko-KR" altLang="en-US"/>
              <a:t>합니다</a:t>
            </a:r>
            <a:r>
              <a:rPr lang="en-US" altLang="zh-CN"/>
              <a:t>. </a:t>
            </a:r>
            <a:r>
              <a:rPr lang="ko-KR" altLang="en-US"/>
              <a:t>관련</a:t>
            </a:r>
            <a:r>
              <a:rPr lang="en-US" altLang="zh-CN"/>
              <a:t> </a:t>
            </a:r>
            <a:r>
              <a:rPr lang="ko-KR" altLang="en-US"/>
              <a:t>처리는</a:t>
            </a:r>
            <a:r>
              <a:rPr lang="en-US" altLang="zh-CN"/>
              <a:t> Python</a:t>
            </a:r>
            <a:r>
              <a:rPr lang="ko-KR" altLang="en-US"/>
              <a:t>의</a:t>
            </a:r>
            <a:r>
              <a:rPr lang="en-US" altLang="zh-CN"/>
              <a:t> scikit-learn </a:t>
            </a:r>
            <a:r>
              <a:rPr lang="ko-KR" altLang="en-US"/>
              <a:t>라이브러리를</a:t>
            </a:r>
            <a:r>
              <a:rPr lang="en-US" altLang="zh-CN"/>
              <a:t> </a:t>
            </a:r>
            <a:r>
              <a:rPr lang="ko-KR" altLang="en-US"/>
              <a:t>통해</a:t>
            </a:r>
            <a:r>
              <a:rPr lang="en-US" altLang="zh-CN"/>
              <a:t> </a:t>
            </a:r>
            <a:r>
              <a:rPr lang="ko-KR" altLang="en-US"/>
              <a:t>수행됩니다</a:t>
            </a:r>
            <a:r>
              <a:rPr lang="en-US" altLang="zh-CN"/>
              <a:t>.</a:t>
            </a:r>
            <a:endParaRPr lang="en-US" altLang="zh-CN"/>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131570" y="1219200"/>
            <a:ext cx="6881495" cy="1476375"/>
          </a:xfrm>
          <a:prstGeom prst="rect">
            <a:avLst/>
          </a:prstGeom>
          <a:noFill/>
        </p:spPr>
        <p:txBody>
          <a:bodyPr wrap="square" rtlCol="0">
            <a:spAutoFit/>
          </a:bodyPr>
          <a:p>
            <a:r>
              <a:rPr>
                <a:sym typeface="+mn-ea"/>
              </a:rPr>
              <a:t>- 사용할 라이브러리 / 使用的库</a:t>
            </a:r>
            <a:endParaRPr>
              <a:sym typeface="+mn-ea"/>
            </a:endParaRPr>
          </a:p>
          <a:p>
            <a:endParaRPr>
              <a:sym typeface="+mn-ea"/>
            </a:endParaRPr>
          </a:p>
          <a:p>
            <a:r>
              <a:rPr lang="en-US" altLang="zh-CN">
                <a:sym typeface="+mn-ea"/>
              </a:rPr>
              <a:t>pandas, numpy, matplotlib, seaborn, konlpy, wordcloud, scikit-learn, folium</a:t>
            </a:r>
            <a:endParaRPr lang="en-US" altLang="zh-CN"/>
          </a:p>
          <a:p>
            <a:endParaRPr lang="zh-CN" altLang="en-US"/>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데이터 분석 방법 / 数据分析方法</a:t>
            </a:r>
          </a:p>
        </p:txBody>
      </p:sp>
      <p:sp>
        <p:nvSpPr>
          <p:cNvPr id="4" name="TextBox 3"/>
          <p:cNvSpPr txBox="1"/>
          <p:nvPr/>
        </p:nvSpPr>
        <p:spPr>
          <a:xfrm>
            <a:off x="914400" y="1491615"/>
            <a:ext cx="7098030" cy="417195"/>
          </a:xfrm>
          <a:prstGeom prst="rect">
            <a:avLst/>
          </a:prstGeom>
          <a:noFill/>
        </p:spPr>
        <p:txBody>
          <a:bodyPr wrap="square">
            <a:noAutofit/>
          </a:bodyPr>
          <a:lstStyle/>
          <a:p>
            <a:pPr>
              <a:defRPr sz="2000">
                <a:solidFill>
                  <a:srgbClr val="3C3C3C"/>
                </a:solidFill>
              </a:defRPr>
            </a:pPr>
            <a:r>
              <a:rPr dirty="0"/>
              <a:t>- </a:t>
            </a:r>
            <a:r>
              <a:rPr dirty="0" err="1"/>
              <a:t>분석</a:t>
            </a:r>
            <a:r>
              <a:rPr dirty="0"/>
              <a:t> </a:t>
            </a:r>
            <a:r>
              <a:rPr dirty="0" err="1"/>
              <a:t>목적</a:t>
            </a:r>
            <a:r>
              <a:rPr dirty="0"/>
              <a:t> / </a:t>
            </a:r>
            <a:r>
              <a:rPr dirty="0" err="1"/>
              <a:t>分析目的</a:t>
            </a:r>
            <a:endParaRPr dirty="0" err="1"/>
          </a:p>
          <a:p>
            <a:pPr>
              <a:defRPr sz="2000">
                <a:solidFill>
                  <a:srgbClr val="3C3C3C"/>
                </a:solidFill>
              </a:defRPr>
            </a:pPr>
            <a:endParaRPr dirty="0" err="1"/>
          </a:p>
          <a:p>
            <a:pPr>
              <a:defRPr sz="2000">
                <a:solidFill>
                  <a:srgbClr val="3C3C3C"/>
                </a:solidFill>
              </a:defRPr>
            </a:pPr>
            <a:endParaRPr dirty="0" err="1"/>
          </a:p>
          <a:p>
            <a:pPr>
              <a:defRPr sz="2000">
                <a:solidFill>
                  <a:srgbClr val="3C3C3C"/>
                </a:solidFill>
              </a:defRPr>
            </a:pPr>
            <a:endParaRPr dirty="0" err="1"/>
          </a:p>
          <a:p>
            <a:pPr>
              <a:defRPr sz="2000">
                <a:solidFill>
                  <a:srgbClr val="3C3C3C"/>
                </a:solidFill>
              </a:defRPr>
            </a:pPr>
            <a:endParaRPr dirty="0" err="1"/>
          </a:p>
          <a:p>
            <a:pPr>
              <a:defRPr sz="2000">
                <a:solidFill>
                  <a:srgbClr val="3C3C3C"/>
                </a:solidFill>
              </a:defRPr>
            </a:pPr>
            <a:endParaRPr dirty="0"/>
          </a:p>
          <a:p>
            <a:endParaRPr lang="en-US" dirty="0"/>
          </a:p>
        </p:txBody>
      </p:sp>
      <p:graphicFrame>
        <p:nvGraphicFramePr>
          <p:cNvPr id="2" name="表格 1"/>
          <p:cNvGraphicFramePr/>
          <p:nvPr>
            <p:custDataLst>
              <p:tags r:id="rId1"/>
            </p:custDataLst>
          </p:nvPr>
        </p:nvGraphicFramePr>
        <p:xfrm>
          <a:off x="1045845" y="2248535"/>
          <a:ext cx="7170420" cy="3167380"/>
        </p:xfrm>
        <a:graphic>
          <a:graphicData uri="http://schemas.openxmlformats.org/drawingml/2006/table">
            <a:tbl>
              <a:tblPr firstRow="1" bandRow="1">
                <a:tableStyleId>{5C22544A-7EE6-4342-B048-85BDC9FD1C3A}</a:tableStyleId>
              </a:tblPr>
              <a:tblGrid>
                <a:gridCol w="3585210"/>
                <a:gridCol w="3585210"/>
              </a:tblGrid>
              <a:tr h="406400">
                <a:tc>
                  <a:txBody>
                    <a:bodyPr/>
                    <a:p>
                      <a:pPr algn="ctr">
                        <a:buNone/>
                      </a:pPr>
                      <a:r>
                        <a:rPr sz="1800" dirty="0">
                          <a:sym typeface="+mn-ea"/>
                        </a:rPr>
                        <a:t> </a:t>
                      </a:r>
                      <a:r>
                        <a:rPr sz="1800" dirty="0" err="1">
                          <a:sym typeface="+mn-ea"/>
                        </a:rPr>
                        <a:t>分析目的</a:t>
                      </a:r>
                      <a:endParaRPr lang="zh-CN" altLang="en-US"/>
                    </a:p>
                  </a:txBody>
                  <a:tcPr anchor="ctr" anchorCtr="0"/>
                </a:tc>
                <a:tc>
                  <a:txBody>
                    <a:bodyPr/>
                    <a:p>
                      <a:pPr algn="ctr">
                        <a:buNone/>
                      </a:pPr>
                      <a:r>
                        <a:rPr sz="1800" dirty="0" err="1">
                          <a:sym typeface="+mn-ea"/>
                        </a:rPr>
                        <a:t>분석</a:t>
                      </a:r>
                      <a:r>
                        <a:rPr sz="1800" dirty="0">
                          <a:sym typeface="+mn-ea"/>
                        </a:rPr>
                        <a:t> </a:t>
                      </a:r>
                      <a:r>
                        <a:rPr sz="1800" dirty="0" err="1">
                          <a:sym typeface="+mn-ea"/>
                        </a:rPr>
                        <a:t>목적</a:t>
                      </a:r>
                      <a:endParaRPr lang="zh-CN" altLang="en-US"/>
                    </a:p>
                  </a:txBody>
                  <a:tcPr anchor="ctr" anchorCtr="0"/>
                </a:tc>
              </a:tr>
              <a:tr h="551815">
                <a:tc>
                  <a:txBody>
                    <a:bodyPr/>
                    <a:p>
                      <a:pPr algn="ctr">
                        <a:buNone/>
                      </a:pPr>
                      <a:r>
                        <a:rPr sz="1400" dirty="0" err="1">
                          <a:sym typeface="+mn-ea"/>
                        </a:rPr>
                        <a:t>揭示首尔市餐饮及卫生业处罚的时间与区域分布规律</a:t>
                      </a:r>
                      <a:endParaRPr lang="zh-CN" altLang="en-US" sz="1400" dirty="0" err="1">
                        <a:sym typeface="+mn-ea"/>
                      </a:endParaRPr>
                    </a:p>
                  </a:txBody>
                  <a:tcPr anchor="ctr" anchorCtr="0"/>
                </a:tc>
                <a:tc>
                  <a:txBody>
                    <a:bodyPr/>
                    <a:p>
                      <a:pPr algn="ctr">
                        <a:buNone/>
                      </a:pPr>
                      <a:r>
                        <a:rPr lang="ko-KR" altLang="en-US" sz="1400"/>
                        <a:t>서울시</a:t>
                      </a:r>
                      <a:r>
                        <a:rPr lang="en-US" altLang="zh-CN" sz="1400"/>
                        <a:t> </a:t>
                      </a:r>
                      <a:r>
                        <a:rPr lang="ko-KR" altLang="en-US" sz="1400"/>
                        <a:t>음식점</a:t>
                      </a:r>
                      <a:r>
                        <a:rPr lang="en-US" altLang="zh-CN" sz="1400"/>
                        <a:t> </a:t>
                      </a:r>
                      <a:r>
                        <a:rPr lang="ko-KR" altLang="en-US" sz="1400"/>
                        <a:t>및</a:t>
                      </a:r>
                      <a:r>
                        <a:rPr lang="en-US" altLang="zh-CN" sz="1400"/>
                        <a:t> </a:t>
                      </a:r>
                      <a:r>
                        <a:rPr lang="ko-KR" altLang="en-US" sz="1400"/>
                        <a:t>위생업소</a:t>
                      </a:r>
                      <a:r>
                        <a:rPr lang="en-US" altLang="zh-CN" sz="1400"/>
                        <a:t> </a:t>
                      </a:r>
                      <a:r>
                        <a:rPr lang="ko-KR" altLang="en-US" sz="1400"/>
                        <a:t>처벌의</a:t>
                      </a:r>
                      <a:r>
                        <a:rPr lang="en-US" altLang="zh-CN" sz="1400"/>
                        <a:t> </a:t>
                      </a:r>
                      <a:r>
                        <a:rPr lang="ko-KR" altLang="en-US" sz="1400"/>
                        <a:t>시간</a:t>
                      </a:r>
                      <a:r>
                        <a:rPr lang="en-US" altLang="zh-CN" sz="1400"/>
                        <a:t> </a:t>
                      </a:r>
                      <a:r>
                        <a:rPr lang="ko-KR" altLang="en-US" sz="1400"/>
                        <a:t>및</a:t>
                      </a:r>
                      <a:r>
                        <a:rPr lang="en-US" altLang="zh-CN" sz="1400"/>
                        <a:t> </a:t>
                      </a:r>
                      <a:r>
                        <a:rPr lang="ko-KR" altLang="en-US" sz="1400"/>
                        <a:t>지역별</a:t>
                      </a:r>
                      <a:r>
                        <a:rPr lang="en-US" altLang="zh-CN" sz="1400"/>
                        <a:t> </a:t>
                      </a:r>
                      <a:r>
                        <a:rPr lang="ko-KR" altLang="en-US" sz="1400"/>
                        <a:t>분포</a:t>
                      </a:r>
                      <a:r>
                        <a:rPr lang="en-US" altLang="zh-CN" sz="1400"/>
                        <a:t> </a:t>
                      </a:r>
                      <a:r>
                        <a:rPr lang="ko-KR" altLang="en-US" sz="1400"/>
                        <a:t>패턴</a:t>
                      </a:r>
                      <a:r>
                        <a:rPr lang="en-US" altLang="zh-CN" sz="1400"/>
                        <a:t> </a:t>
                      </a:r>
                      <a:r>
                        <a:rPr lang="ko-KR" altLang="en-US" sz="1400"/>
                        <a:t>분석</a:t>
                      </a:r>
                      <a:endParaRPr lang="ko-KR" altLang="en-US" sz="1400"/>
                    </a:p>
                  </a:txBody>
                  <a:tcPr anchor="ctr" anchorCtr="0"/>
                </a:tc>
              </a:tr>
              <a:tr h="552450">
                <a:tc>
                  <a:txBody>
                    <a:bodyPr/>
                    <a:p>
                      <a:pPr algn="ctr">
                        <a:buNone/>
                      </a:pPr>
                      <a:r>
                        <a:rPr lang="zh-CN" altLang="en-US" sz="1400"/>
                        <a:t>明确高风险业态（如娱乐场所、韩式普通餐馆等）</a:t>
                      </a:r>
                      <a:endParaRPr lang="zh-CN" altLang="en-US" sz="1400"/>
                    </a:p>
                  </a:txBody>
                  <a:tcPr anchor="ctr" anchorCtr="0"/>
                </a:tc>
                <a:tc>
                  <a:txBody>
                    <a:bodyPr/>
                    <a:p>
                      <a:pPr algn="ctr">
                        <a:buNone/>
                      </a:pPr>
                      <a:r>
                        <a:rPr lang="ko-KR" altLang="en-US" sz="1400"/>
                        <a:t>고위험</a:t>
                      </a:r>
                      <a:r>
                        <a:rPr lang="en-US" altLang="zh-CN" sz="1400"/>
                        <a:t> </a:t>
                      </a:r>
                      <a:r>
                        <a:rPr lang="ko-KR" altLang="en-US" sz="1400"/>
                        <a:t>업종</a:t>
                      </a:r>
                      <a:r>
                        <a:rPr lang="en-US" altLang="zh-CN" sz="1400"/>
                        <a:t>(</a:t>
                      </a:r>
                      <a:r>
                        <a:rPr lang="ko-KR" altLang="en-US" sz="1400"/>
                        <a:t>예</a:t>
                      </a:r>
                      <a:r>
                        <a:rPr lang="en-US" altLang="zh-CN" sz="1400"/>
                        <a:t>: </a:t>
                      </a:r>
                      <a:r>
                        <a:rPr lang="ko-KR" altLang="en-US" sz="1400"/>
                        <a:t>유흥시설</a:t>
                      </a:r>
                      <a:r>
                        <a:rPr lang="en-US" altLang="zh-CN" sz="1400"/>
                        <a:t>, </a:t>
                      </a:r>
                      <a:r>
                        <a:rPr lang="ko-KR" altLang="en-US" sz="1400"/>
                        <a:t>일반</a:t>
                      </a:r>
                      <a:r>
                        <a:rPr lang="en-US" altLang="zh-CN" sz="1400"/>
                        <a:t> </a:t>
                      </a:r>
                      <a:r>
                        <a:rPr lang="ko-KR" altLang="en-US" sz="1400"/>
                        <a:t>한식당</a:t>
                      </a:r>
                      <a:r>
                        <a:rPr lang="en-US" altLang="zh-CN" sz="1400"/>
                        <a:t> </a:t>
                      </a:r>
                      <a:r>
                        <a:rPr lang="ko-KR" altLang="en-US" sz="1400"/>
                        <a:t>등</a:t>
                      </a:r>
                      <a:r>
                        <a:rPr lang="en-US" altLang="zh-CN" sz="1400"/>
                        <a:t>)</a:t>
                      </a:r>
                      <a:r>
                        <a:rPr lang="ko-KR" altLang="en-US" sz="1400"/>
                        <a:t>을</a:t>
                      </a:r>
                      <a:r>
                        <a:rPr lang="en-US" altLang="zh-CN" sz="1400"/>
                        <a:t> </a:t>
                      </a:r>
                      <a:r>
                        <a:rPr lang="ko-KR" altLang="en-US" sz="1400"/>
                        <a:t>명확히</a:t>
                      </a:r>
                      <a:r>
                        <a:rPr lang="en-US" altLang="zh-CN" sz="1400"/>
                        <a:t> </a:t>
                      </a:r>
                      <a:r>
                        <a:rPr lang="ko-KR" altLang="en-US" sz="1400"/>
                        <a:t>규정한다</a:t>
                      </a:r>
                      <a:endParaRPr lang="en-US" altLang="zh-CN" sz="1400"/>
                    </a:p>
                  </a:txBody>
                  <a:tcPr anchor="ctr" anchorCtr="0"/>
                </a:tc>
              </a:tr>
              <a:tr h="552450">
                <a:tc>
                  <a:txBody>
                    <a:bodyPr/>
                    <a:p>
                      <a:pPr algn="ctr">
                        <a:buNone/>
                      </a:pPr>
                      <a:r>
                        <a:rPr sz="1400" dirty="0" err="1">
                          <a:sym typeface="+mn-ea"/>
                        </a:rPr>
                        <a:t>识别主要违规类型与经营管理漏洞（如卫生管理、食品保存、人员管理）</a:t>
                      </a:r>
                      <a:endParaRPr lang="zh-CN" altLang="en-US" sz="1400"/>
                    </a:p>
                  </a:txBody>
                  <a:tcPr anchor="ctr" anchorCtr="0"/>
                </a:tc>
                <a:tc>
                  <a:txBody>
                    <a:bodyPr/>
                    <a:p>
                      <a:pPr algn="ctr">
                        <a:buNone/>
                      </a:pPr>
                      <a:r>
                        <a:rPr lang="ko-KR" altLang="en-US" sz="1400"/>
                        <a:t>주요</a:t>
                      </a:r>
                      <a:r>
                        <a:rPr lang="en-US" altLang="zh-CN" sz="1400"/>
                        <a:t> </a:t>
                      </a:r>
                      <a:r>
                        <a:rPr lang="ko-KR" altLang="en-US" sz="1400"/>
                        <a:t>위반</a:t>
                      </a:r>
                      <a:r>
                        <a:rPr lang="en-US" altLang="zh-CN" sz="1400"/>
                        <a:t> </a:t>
                      </a:r>
                      <a:r>
                        <a:rPr lang="ko-KR" altLang="en-US" sz="1400"/>
                        <a:t>유형</a:t>
                      </a:r>
                      <a:r>
                        <a:rPr lang="en-US" altLang="zh-CN" sz="1400"/>
                        <a:t> </a:t>
                      </a:r>
                      <a:r>
                        <a:rPr lang="ko-KR" altLang="en-US" sz="1400"/>
                        <a:t>및</a:t>
                      </a:r>
                      <a:r>
                        <a:rPr lang="en-US" altLang="zh-CN" sz="1400"/>
                        <a:t> </a:t>
                      </a:r>
                      <a:r>
                        <a:rPr lang="ko-KR" altLang="en-US" sz="1400"/>
                        <a:t>경영</a:t>
                      </a:r>
                      <a:r>
                        <a:rPr lang="en-US" altLang="zh-CN" sz="1400"/>
                        <a:t> </a:t>
                      </a:r>
                      <a:r>
                        <a:rPr lang="ko-KR" altLang="en-US" sz="1400"/>
                        <a:t>관리</a:t>
                      </a:r>
                      <a:r>
                        <a:rPr lang="en-US" altLang="zh-CN" sz="1400"/>
                        <a:t> </a:t>
                      </a:r>
                      <a:r>
                        <a:rPr lang="ko-KR" altLang="en-US" sz="1400"/>
                        <a:t>취약점</a:t>
                      </a:r>
                      <a:r>
                        <a:rPr lang="en-US" altLang="zh-CN" sz="1400"/>
                        <a:t>(</a:t>
                      </a:r>
                      <a:r>
                        <a:rPr lang="ko-KR" altLang="en-US" sz="1400"/>
                        <a:t>위생</a:t>
                      </a:r>
                      <a:r>
                        <a:rPr lang="en-US" altLang="zh-CN" sz="1400"/>
                        <a:t> </a:t>
                      </a:r>
                      <a:r>
                        <a:rPr lang="ko-KR" altLang="en-US" sz="1400"/>
                        <a:t>관리</a:t>
                      </a:r>
                      <a:r>
                        <a:rPr lang="en-US" altLang="zh-CN" sz="1400"/>
                        <a:t>, </a:t>
                      </a:r>
                      <a:r>
                        <a:rPr lang="ko-KR" altLang="en-US" sz="1400"/>
                        <a:t>식품</a:t>
                      </a:r>
                      <a:r>
                        <a:rPr lang="en-US" altLang="zh-CN" sz="1400"/>
                        <a:t> </a:t>
                      </a:r>
                      <a:r>
                        <a:rPr lang="ko-KR" altLang="en-US" sz="1400"/>
                        <a:t>보관</a:t>
                      </a:r>
                      <a:r>
                        <a:rPr lang="en-US" altLang="zh-CN" sz="1400"/>
                        <a:t>, </a:t>
                      </a:r>
                      <a:r>
                        <a:rPr lang="ko-KR" altLang="en-US" sz="1400"/>
                        <a:t>인력</a:t>
                      </a:r>
                      <a:r>
                        <a:rPr lang="en-US" altLang="zh-CN" sz="1400"/>
                        <a:t> </a:t>
                      </a:r>
                      <a:r>
                        <a:rPr lang="ko-KR" altLang="en-US" sz="1400"/>
                        <a:t>관리</a:t>
                      </a:r>
                      <a:r>
                        <a:rPr lang="en-US" altLang="zh-CN" sz="1400"/>
                        <a:t> </a:t>
                      </a:r>
                      <a:r>
                        <a:rPr lang="ko-KR" altLang="en-US" sz="1400"/>
                        <a:t>등</a:t>
                      </a:r>
                      <a:r>
                        <a:rPr lang="en-US" altLang="zh-CN" sz="1400"/>
                        <a:t>) </a:t>
                      </a:r>
                      <a:r>
                        <a:rPr lang="ko-KR" altLang="en-US" sz="1400"/>
                        <a:t>식별</a:t>
                      </a:r>
                      <a:endParaRPr lang="ko-KR" altLang="en-US" sz="1400"/>
                    </a:p>
                  </a:txBody>
                  <a:tcPr anchor="ctr" anchorCtr="0"/>
                </a:tc>
              </a:tr>
              <a:tr h="551815">
                <a:tc>
                  <a:txBody>
                    <a:bodyPr/>
                    <a:p>
                      <a:pPr algn="ctr">
                        <a:buNone/>
                      </a:pPr>
                      <a:r>
                        <a:rPr sz="1400" dirty="0" err="1">
                          <a:sym typeface="+mn-ea"/>
                        </a:rPr>
                        <a:t>构建“经营风险预警框架”，帮助企业提前防范处罚风险</a:t>
                      </a:r>
                      <a:endParaRPr lang="zh-CN" altLang="en-US" sz="1400"/>
                    </a:p>
                  </a:txBody>
                  <a:tcPr anchor="ctr" anchorCtr="0"/>
                </a:tc>
                <a:tc>
                  <a:txBody>
                    <a:bodyPr/>
                    <a:p>
                      <a:pPr algn="ctr">
                        <a:buNone/>
                      </a:pPr>
                      <a:r>
                        <a:rPr lang="en-US" altLang="zh-CN" sz="1400"/>
                        <a:t>“</a:t>
                      </a:r>
                      <a:r>
                        <a:rPr lang="ko-KR" altLang="en-US" sz="1400"/>
                        <a:t>경영</a:t>
                      </a:r>
                      <a:r>
                        <a:rPr lang="en-US" altLang="zh-CN" sz="1400"/>
                        <a:t> </a:t>
                      </a:r>
                      <a:r>
                        <a:rPr lang="ko-KR" altLang="en-US" sz="1400"/>
                        <a:t>리스크</a:t>
                      </a:r>
                      <a:r>
                        <a:rPr lang="en-US" altLang="zh-CN" sz="1400"/>
                        <a:t> </a:t>
                      </a:r>
                      <a:r>
                        <a:rPr lang="ko-KR" altLang="en-US" sz="1400"/>
                        <a:t>조기경보</a:t>
                      </a:r>
                      <a:r>
                        <a:rPr lang="en-US" altLang="zh-CN" sz="1400"/>
                        <a:t> </a:t>
                      </a:r>
                      <a:r>
                        <a:rPr lang="ko-KR" altLang="en-US" sz="1400"/>
                        <a:t>체계</a:t>
                      </a:r>
                      <a:r>
                        <a:rPr lang="en-US" altLang="zh-CN" sz="1400"/>
                        <a:t>” </a:t>
                      </a:r>
                      <a:r>
                        <a:rPr lang="ko-KR" altLang="en-US" sz="1400"/>
                        <a:t>구축을</a:t>
                      </a:r>
                      <a:r>
                        <a:rPr lang="en-US" altLang="zh-CN" sz="1400"/>
                        <a:t> </a:t>
                      </a:r>
                      <a:r>
                        <a:rPr lang="ko-KR" altLang="en-US" sz="1400"/>
                        <a:t>통해</a:t>
                      </a:r>
                      <a:r>
                        <a:rPr lang="en-US" altLang="zh-CN" sz="1400"/>
                        <a:t> </a:t>
                      </a:r>
                      <a:r>
                        <a:rPr lang="ko-KR" altLang="en-US" sz="1400"/>
                        <a:t>기업이</a:t>
                      </a:r>
                      <a:r>
                        <a:rPr lang="en-US" altLang="zh-CN" sz="1400"/>
                        <a:t> </a:t>
                      </a:r>
                      <a:r>
                        <a:rPr lang="ko-KR" altLang="en-US" sz="1400"/>
                        <a:t>처벌</a:t>
                      </a:r>
                      <a:r>
                        <a:rPr lang="en-US" altLang="zh-CN" sz="1400"/>
                        <a:t> </a:t>
                      </a:r>
                      <a:r>
                        <a:rPr lang="ko-KR" altLang="en-US" sz="1400"/>
                        <a:t>리스크를</a:t>
                      </a:r>
                      <a:r>
                        <a:rPr lang="en-US" altLang="zh-CN" sz="1400"/>
                        <a:t> </a:t>
                      </a:r>
                      <a:r>
                        <a:rPr lang="ko-KR" altLang="en-US" sz="1400"/>
                        <a:t>사전에</a:t>
                      </a:r>
                      <a:r>
                        <a:rPr lang="en-US" altLang="zh-CN" sz="1400"/>
                        <a:t> </a:t>
                      </a:r>
                      <a:r>
                        <a:rPr lang="ko-KR" altLang="en-US" sz="1400"/>
                        <a:t>예방할</a:t>
                      </a:r>
                      <a:r>
                        <a:rPr lang="en-US" altLang="zh-CN" sz="1400"/>
                        <a:t> </a:t>
                      </a:r>
                      <a:r>
                        <a:rPr lang="ko-KR" altLang="en-US" sz="1400"/>
                        <a:t>수</a:t>
                      </a:r>
                      <a:r>
                        <a:rPr lang="en-US" altLang="zh-CN" sz="1400"/>
                        <a:t> </a:t>
                      </a:r>
                      <a:r>
                        <a:rPr lang="ko-KR" altLang="en-US" sz="1400"/>
                        <a:t>있도록</a:t>
                      </a:r>
                      <a:r>
                        <a:rPr lang="en-US" altLang="zh-CN" sz="1400"/>
                        <a:t> </a:t>
                      </a:r>
                      <a:r>
                        <a:rPr lang="ko-KR" altLang="en-US" sz="1400"/>
                        <a:t>지원합니다</a:t>
                      </a:r>
                      <a:r>
                        <a:rPr lang="en-US" altLang="zh-CN" sz="1400"/>
                        <a:t>.</a:t>
                      </a:r>
                      <a:endParaRPr lang="en-US" altLang="zh-CN" sz="1400"/>
                    </a:p>
                  </a:txBody>
                  <a:tcPr anchor="ctr" anchorCtr="0"/>
                </a:tc>
              </a:tr>
              <a:tr h="552450">
                <a:tc>
                  <a:txBody>
                    <a:bodyPr/>
                    <a:p>
                      <a:pPr algn="ctr">
                        <a:buNone/>
                      </a:pPr>
                      <a:r>
                        <a:rPr sz="1400" dirty="0" err="1">
                          <a:sym typeface="+mn-ea"/>
                        </a:rPr>
                        <a:t>为政府监管提出基于数据的政策优化建议</a:t>
                      </a:r>
                      <a:endParaRPr lang="zh-CN" altLang="en-US" sz="1400"/>
                    </a:p>
                  </a:txBody>
                  <a:tcPr anchor="ctr" anchorCtr="0"/>
                </a:tc>
                <a:tc>
                  <a:txBody>
                    <a:bodyPr/>
                    <a:p>
                      <a:pPr algn="ctr">
                        <a:buNone/>
                      </a:pPr>
                      <a:r>
                        <a:rPr lang="ko-KR" altLang="en-US" sz="1400"/>
                        <a:t>정부</a:t>
                      </a:r>
                      <a:r>
                        <a:rPr lang="en-US" altLang="zh-CN" sz="1400"/>
                        <a:t> </a:t>
                      </a:r>
                      <a:r>
                        <a:rPr lang="ko-KR" altLang="en-US" sz="1400"/>
                        <a:t>규제에</a:t>
                      </a:r>
                      <a:r>
                        <a:rPr lang="en-US" altLang="zh-CN" sz="1400"/>
                        <a:t> </a:t>
                      </a:r>
                      <a:r>
                        <a:rPr lang="ko-KR" altLang="en-US" sz="1400"/>
                        <a:t>데이터</a:t>
                      </a:r>
                      <a:r>
                        <a:rPr lang="en-US" altLang="zh-CN" sz="1400"/>
                        <a:t> </a:t>
                      </a:r>
                      <a:r>
                        <a:rPr lang="ko-KR" altLang="en-US" sz="1400"/>
                        <a:t>기반</a:t>
                      </a:r>
                      <a:r>
                        <a:rPr lang="en-US" altLang="zh-CN" sz="1400"/>
                        <a:t> </a:t>
                      </a:r>
                      <a:r>
                        <a:rPr lang="ko-KR" altLang="en-US" sz="1400"/>
                        <a:t>정책</a:t>
                      </a:r>
                      <a:r>
                        <a:rPr lang="en-US" altLang="zh-CN" sz="1400"/>
                        <a:t> </a:t>
                      </a:r>
                      <a:r>
                        <a:rPr lang="ko-KR" altLang="en-US" sz="1400"/>
                        <a:t>최적화</a:t>
                      </a:r>
                      <a:r>
                        <a:rPr lang="en-US" altLang="zh-CN" sz="1400"/>
                        <a:t> </a:t>
                      </a:r>
                      <a:r>
                        <a:rPr lang="ko-KR" altLang="en-US" sz="1400"/>
                        <a:t>제안을</a:t>
                      </a:r>
                      <a:r>
                        <a:rPr lang="en-US" altLang="zh-CN" sz="1400"/>
                        <a:t> </a:t>
                      </a:r>
                      <a:r>
                        <a:rPr lang="ko-KR" altLang="en-US" sz="1400"/>
                        <a:t>제시한다</a:t>
                      </a:r>
                      <a:endParaRPr lang="ko-KR" altLang="en-US" sz="1400"/>
                    </a:p>
                  </a:txBody>
                  <a:tcPr anchor="ctr" anchorCtr="0"/>
                </a:tc>
              </a:tr>
            </a:tbl>
          </a:graphicData>
        </a:graphic>
      </p:graphicFrame>
      <p:pic>
        <p:nvPicPr>
          <p:cNvPr id="5" name="图片 4"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986790" y="648970"/>
            <a:ext cx="7169785" cy="922020"/>
          </a:xfrm>
          <a:prstGeom prst="rect">
            <a:avLst/>
          </a:prstGeom>
          <a:noFill/>
        </p:spPr>
        <p:txBody>
          <a:bodyPr wrap="square" rtlCol="0">
            <a:spAutoFit/>
          </a:bodyPr>
          <a:p>
            <a:r>
              <a:rPr lang="zh-CN" altLang="en-US"/>
              <a:t>以统计与可视化分析为主，不采用复杂机器学习模型，重点发现实际风险点。</a:t>
            </a:r>
            <a:r>
              <a:rPr lang="ko-KR" altLang="en-US"/>
              <a:t>복잡한</a:t>
            </a:r>
            <a:r>
              <a:rPr lang="en-US" altLang="zh-CN"/>
              <a:t> </a:t>
            </a:r>
            <a:r>
              <a:rPr lang="ko-KR" altLang="en-US"/>
              <a:t>머신러닝보다는</a:t>
            </a:r>
            <a:r>
              <a:rPr lang="en-US" altLang="zh-CN"/>
              <a:t> </a:t>
            </a:r>
            <a:r>
              <a:rPr lang="ko-KR" altLang="en-US"/>
              <a:t>통계적</a:t>
            </a:r>
            <a:r>
              <a:rPr lang="en-US" altLang="zh-CN"/>
              <a:t> </a:t>
            </a:r>
            <a:r>
              <a:rPr lang="ko-KR" altLang="en-US"/>
              <a:t>분석과</a:t>
            </a:r>
            <a:r>
              <a:rPr lang="en-US" altLang="zh-CN"/>
              <a:t> </a:t>
            </a:r>
            <a:r>
              <a:rPr lang="ko-KR" altLang="en-US"/>
              <a:t>시각화를</a:t>
            </a:r>
            <a:r>
              <a:rPr lang="en-US" altLang="zh-CN"/>
              <a:t> </a:t>
            </a:r>
            <a:r>
              <a:rPr lang="ko-KR" altLang="en-US"/>
              <a:t>중심으로</a:t>
            </a:r>
            <a:r>
              <a:rPr lang="en-US" altLang="zh-CN"/>
              <a:t> </a:t>
            </a:r>
            <a:r>
              <a:rPr lang="ko-KR" altLang="en-US"/>
              <a:t>실질적인</a:t>
            </a:r>
            <a:r>
              <a:rPr lang="en-US" altLang="zh-CN"/>
              <a:t> </a:t>
            </a:r>
            <a:r>
              <a:rPr lang="ko-KR" altLang="en-US"/>
              <a:t>리스크</a:t>
            </a:r>
            <a:r>
              <a:rPr lang="en-US" altLang="zh-CN"/>
              <a:t> </a:t>
            </a:r>
            <a:r>
              <a:rPr lang="ko-KR" altLang="en-US"/>
              <a:t>요인을</a:t>
            </a:r>
            <a:r>
              <a:rPr lang="en-US" altLang="zh-CN"/>
              <a:t> </a:t>
            </a:r>
            <a:r>
              <a:rPr lang="ko-KR" altLang="en-US"/>
              <a:t>파악한다</a:t>
            </a:r>
            <a:r>
              <a:rPr lang="en-US" altLang="zh-CN"/>
              <a:t>.</a:t>
            </a:r>
            <a:endParaRPr lang="en-US" altLang="zh-CN"/>
          </a:p>
        </p:txBody>
      </p:sp>
      <p:graphicFrame>
        <p:nvGraphicFramePr>
          <p:cNvPr id="4" name="表格 3"/>
          <p:cNvGraphicFramePr/>
          <p:nvPr>
            <p:custDataLst>
              <p:tags r:id="rId1"/>
            </p:custDataLst>
          </p:nvPr>
        </p:nvGraphicFramePr>
        <p:xfrm>
          <a:off x="607695" y="1563370"/>
          <a:ext cx="7854950" cy="5113655"/>
        </p:xfrm>
        <a:graphic>
          <a:graphicData uri="http://schemas.openxmlformats.org/drawingml/2006/table">
            <a:tbl>
              <a:tblPr firstRow="1" bandRow="1">
                <a:tableStyleId>{5C22544A-7EE6-4342-B048-85BDC9FD1C3A}</a:tableStyleId>
              </a:tblPr>
              <a:tblGrid>
                <a:gridCol w="1570990"/>
                <a:gridCol w="1570990"/>
                <a:gridCol w="1570990"/>
                <a:gridCol w="1570990"/>
                <a:gridCol w="1570990"/>
              </a:tblGrid>
              <a:tr h="640080">
                <a:tc>
                  <a:txBody>
                    <a:bodyPr/>
                    <a:p>
                      <a:pPr algn="ctr">
                        <a:buNone/>
                      </a:pPr>
                      <a:r>
                        <a:rPr lang="ko-KR" altLang="en-US" sz="1800">
                          <a:sym typeface="+mn-ea"/>
                        </a:rPr>
                        <a:t>분석단계</a:t>
                      </a:r>
                      <a:endParaRPr lang="ko-KR" altLang="en-US" sz="1800"/>
                    </a:p>
                    <a:p>
                      <a:pPr algn="ctr">
                        <a:buNone/>
                      </a:pPr>
                      <a:r>
                        <a:rPr lang="en-US" altLang="zh-CN"/>
                        <a:t>/</a:t>
                      </a:r>
                      <a:r>
                        <a:rPr lang="zh-CN" altLang="en-US"/>
                        <a:t>分析阶段</a:t>
                      </a:r>
                      <a:endParaRPr lang="ko-KR" altLang="en-US"/>
                    </a:p>
                  </a:txBody>
                  <a:tcPr anchor="ctr" anchorCtr="0"/>
                </a:tc>
                <a:tc>
                  <a:txBody>
                    <a:bodyPr/>
                    <a:p>
                      <a:pPr algn="ctr">
                        <a:buNone/>
                      </a:pPr>
                      <a:r>
                        <a:rPr lang="ko-KR" altLang="en-US"/>
                        <a:t>분석목적</a:t>
                      </a:r>
                      <a:r>
                        <a:rPr lang="en-US" altLang="zh-CN" sz="1800">
                          <a:sym typeface="+mn-ea"/>
                        </a:rPr>
                        <a:t>/</a:t>
                      </a:r>
                      <a:r>
                        <a:rPr lang="zh-CN" altLang="en-US" sz="1800">
                          <a:sym typeface="+mn-ea"/>
                        </a:rPr>
                        <a:t>研究目标</a:t>
                      </a:r>
                      <a:endParaRPr lang="en-US" altLang="zh-CN" sz="1800">
                        <a:sym typeface="+mn-ea"/>
                      </a:endParaRPr>
                    </a:p>
                  </a:txBody>
                  <a:tcPr anchor="ctr" anchorCtr="0"/>
                </a:tc>
                <a:tc>
                  <a:txBody>
                    <a:bodyPr/>
                    <a:p>
                      <a:pPr algn="ctr">
                        <a:buNone/>
                      </a:pPr>
                      <a:r>
                        <a:rPr lang="ko-KR" altLang="en-US"/>
                        <a:t>적용방법</a:t>
                      </a:r>
                      <a:r>
                        <a:rPr lang="en-US" altLang="zh-CN"/>
                        <a:t>/</a:t>
                      </a:r>
                      <a:r>
                        <a:rPr lang="zh-CN" altLang="en-US"/>
                        <a:t>方法</a:t>
                      </a:r>
                      <a:endParaRPr lang="en-US" altLang="zh-CN"/>
                    </a:p>
                  </a:txBody>
                  <a:tcPr anchor="ctr" anchorCtr="0"/>
                </a:tc>
                <a:tc>
                  <a:txBody>
                    <a:bodyPr/>
                    <a:p>
                      <a:pPr algn="ctr">
                        <a:buNone/>
                      </a:pPr>
                      <a:r>
                        <a:rPr lang="ko-KR" altLang="en-US"/>
                        <a:t>사용도구</a:t>
                      </a:r>
                      <a:r>
                        <a:rPr lang="en-US" altLang="zh-CN"/>
                        <a:t>/</a:t>
                      </a:r>
                      <a:r>
                        <a:rPr lang="zh-CN" altLang="en-US"/>
                        <a:t>工具</a:t>
                      </a:r>
                      <a:endParaRPr lang="zh-CN" altLang="en-US"/>
                    </a:p>
                  </a:txBody>
                  <a:tcPr anchor="ctr" anchorCtr="0"/>
                </a:tc>
                <a:tc>
                  <a:txBody>
                    <a:bodyPr/>
                    <a:p>
                      <a:pPr algn="ctr">
                        <a:buNone/>
                      </a:pPr>
                      <a:r>
                        <a:rPr lang="ko-KR" altLang="en-US"/>
                        <a:t>알고리즘</a:t>
                      </a:r>
                      <a:r>
                        <a:rPr lang="en-US" altLang="zh-CN"/>
                        <a:t> </a:t>
                      </a:r>
                      <a:r>
                        <a:rPr lang="ko-KR" altLang="en-US"/>
                        <a:t>사용</a:t>
                      </a:r>
                      <a:r>
                        <a:rPr lang="en-US" altLang="zh-CN"/>
                        <a:t>/</a:t>
                      </a:r>
                      <a:r>
                        <a:rPr lang="zh-CN" altLang="en-US"/>
                        <a:t>使用算法</a:t>
                      </a:r>
                      <a:endParaRPr lang="zh-CN" altLang="en-US"/>
                    </a:p>
                  </a:txBody>
                  <a:tcPr anchor="ctr" anchorCtr="0"/>
                </a:tc>
              </a:tr>
              <a:tr h="1425575">
                <a:tc>
                  <a:txBody>
                    <a:bodyPr/>
                    <a:p>
                      <a:pPr algn="ctr">
                        <a:buNone/>
                      </a:pPr>
                      <a:r>
                        <a:rPr lang="en-US" altLang="zh-CN" sz="1400"/>
                        <a:t>1.</a:t>
                      </a:r>
                      <a:r>
                        <a:rPr lang="zh-CN" altLang="en-US" sz="1400"/>
                        <a:t>按处罚类型分析频度</a:t>
                      </a:r>
                      <a:endParaRPr lang="zh-CN" altLang="en-US" sz="1400"/>
                    </a:p>
                    <a:p>
                      <a:pPr algn="ctr">
                        <a:buNone/>
                      </a:pPr>
                      <a:r>
                        <a:rPr lang="ko-KR" altLang="en-US" sz="1400"/>
                        <a:t>행정처분</a:t>
                      </a:r>
                      <a:r>
                        <a:rPr lang="en-US" altLang="zh-CN" sz="1400"/>
                        <a:t> </a:t>
                      </a:r>
                      <a:r>
                        <a:rPr lang="ko-KR" altLang="en-US" sz="1400"/>
                        <a:t>유형별</a:t>
                      </a:r>
                      <a:r>
                        <a:rPr lang="en-US" altLang="zh-CN" sz="1400"/>
                        <a:t> </a:t>
                      </a:r>
                      <a:r>
                        <a:rPr lang="ko-KR" altLang="en-US" sz="1400"/>
                        <a:t>빈도분석</a:t>
                      </a:r>
                      <a:endParaRPr lang="ko-KR" altLang="en-US" sz="1400"/>
                    </a:p>
                  </a:txBody>
                  <a:tcPr anchor="ctr" anchorCtr="0"/>
                </a:tc>
                <a:tc>
                  <a:txBody>
                    <a:bodyPr/>
                    <a:p>
                      <a:pPr algn="ctr">
                        <a:buNone/>
                      </a:pPr>
                      <a:r>
                        <a:rPr lang="zh-CN" altLang="en-US" sz="1400"/>
                        <a:t>统计各类处罚（停业、罚金、警告）的比例</a:t>
                      </a:r>
                      <a:endParaRPr lang="zh-CN" altLang="en-US" sz="1400"/>
                    </a:p>
                    <a:p>
                      <a:pPr algn="ctr">
                        <a:buNone/>
                      </a:pPr>
                      <a:r>
                        <a:rPr lang="ko-KR" altLang="en-US" sz="1400"/>
                        <a:t>각</a:t>
                      </a:r>
                      <a:r>
                        <a:rPr lang="en-US" altLang="zh-CN" sz="1400"/>
                        <a:t> </a:t>
                      </a:r>
                      <a:r>
                        <a:rPr lang="ko-KR" altLang="en-US" sz="1400"/>
                        <a:t>처분유형</a:t>
                      </a:r>
                      <a:r>
                        <a:rPr lang="en-US" altLang="zh-CN" sz="1400"/>
                        <a:t>(</a:t>
                      </a:r>
                      <a:r>
                        <a:rPr lang="ko-KR" altLang="en-US" sz="1400"/>
                        <a:t>영업정지</a:t>
                      </a:r>
                      <a:r>
                        <a:rPr lang="en-US" altLang="zh-CN" sz="1400"/>
                        <a:t>, </a:t>
                      </a:r>
                      <a:r>
                        <a:rPr lang="ko-KR" altLang="en-US" sz="1400"/>
                        <a:t>과징금</a:t>
                      </a:r>
                      <a:r>
                        <a:rPr lang="en-US" altLang="zh-CN" sz="1400"/>
                        <a:t> </a:t>
                      </a:r>
                      <a:r>
                        <a:rPr lang="ko-KR" altLang="en-US" sz="1400"/>
                        <a:t>등</a:t>
                      </a:r>
                      <a:r>
                        <a:rPr lang="en-US" altLang="zh-CN" sz="1400"/>
                        <a:t>)</a:t>
                      </a:r>
                      <a:r>
                        <a:rPr lang="ko-KR" altLang="en-US" sz="1400"/>
                        <a:t>의</a:t>
                      </a:r>
                      <a:r>
                        <a:rPr lang="en-US" altLang="zh-CN" sz="1400"/>
                        <a:t> </a:t>
                      </a:r>
                      <a:r>
                        <a:rPr lang="ko-KR" altLang="en-US" sz="1400"/>
                        <a:t>발생비율</a:t>
                      </a:r>
                      <a:r>
                        <a:rPr lang="en-US" altLang="zh-CN" sz="1400"/>
                        <a:t> </a:t>
                      </a:r>
                      <a:r>
                        <a:rPr lang="ko-KR" altLang="en-US" sz="1400"/>
                        <a:t>파악</a:t>
                      </a:r>
                      <a:endParaRPr lang="ko-KR" altLang="en-US" sz="1400"/>
                    </a:p>
                  </a:txBody>
                  <a:tcPr anchor="ctr" anchorCtr="0"/>
                </a:tc>
                <a:tc>
                  <a:txBody>
                    <a:bodyPr/>
                    <a:p>
                      <a:pPr algn="ctr">
                        <a:buNone/>
                      </a:pPr>
                      <a:r>
                        <a:rPr lang="zh-CN" altLang="en-US" sz="1400"/>
                        <a:t>频数统计与交叉分析</a:t>
                      </a:r>
                      <a:endParaRPr lang="zh-CN" altLang="en-US" sz="1400"/>
                    </a:p>
                    <a:p>
                      <a:pPr algn="ctr">
                        <a:buNone/>
                      </a:pPr>
                      <a:r>
                        <a:rPr lang="ko-KR" altLang="en-US" sz="1400"/>
                        <a:t>빈도분석</a:t>
                      </a:r>
                      <a:r>
                        <a:rPr lang="en-US" altLang="zh-CN" sz="1400"/>
                        <a:t> </a:t>
                      </a:r>
                      <a:r>
                        <a:rPr lang="ko-KR" altLang="en-US" sz="1400"/>
                        <a:t>및</a:t>
                      </a:r>
                      <a:r>
                        <a:rPr lang="en-US" altLang="zh-CN" sz="1400"/>
                        <a:t> </a:t>
                      </a:r>
                      <a:r>
                        <a:rPr lang="ko-KR" altLang="en-US" sz="1400"/>
                        <a:t>교차분석</a:t>
                      </a:r>
                      <a:endParaRPr lang="ko-KR" altLang="en-US" sz="1400"/>
                    </a:p>
                  </a:txBody>
                  <a:tcPr anchor="ctr" anchorCtr="0"/>
                </a:tc>
                <a:tc>
                  <a:txBody>
                    <a:bodyPr/>
                    <a:p>
                      <a:pPr algn="ctr">
                        <a:buNone/>
                      </a:pPr>
                      <a:r>
                        <a:rPr lang="en-US" altLang="zh-CN" sz="1400"/>
                        <a:t>pandas, seaborn</a:t>
                      </a:r>
                      <a:endParaRPr lang="en-US" altLang="zh-CN" sz="1400"/>
                    </a:p>
                  </a:txBody>
                  <a:tcPr anchor="ctr" anchorCtr="0"/>
                </a:tc>
                <a:tc>
                  <a:txBody>
                    <a:bodyPr/>
                    <a:p>
                      <a:pPr algn="ctr">
                        <a:buNone/>
                      </a:pPr>
                      <a:r>
                        <a:rPr lang="en-US" altLang="zh-CN" sz="1400"/>
                        <a:t>Value Counts, Crosstab, Bar Plot</a:t>
                      </a:r>
                      <a:endParaRPr lang="en-US" altLang="zh-CN" sz="1400"/>
                    </a:p>
                  </a:txBody>
                  <a:tcPr anchor="ctr" anchorCtr="0"/>
                </a:tc>
              </a:tr>
              <a:tr h="1158240">
                <a:tc>
                  <a:txBody>
                    <a:bodyPr/>
                    <a:p>
                      <a:pPr algn="ctr">
                        <a:buNone/>
                      </a:pPr>
                      <a:r>
                        <a:rPr lang="en-US" altLang="zh-CN" sz="1400"/>
                        <a:t>2.</a:t>
                      </a:r>
                      <a:r>
                        <a:rPr lang="zh-CN" altLang="en-US" sz="1400"/>
                        <a:t>行业违规类型分析</a:t>
                      </a:r>
                      <a:endParaRPr lang="zh-CN" altLang="en-US" sz="1400"/>
                    </a:p>
                    <a:p>
                      <a:pPr algn="ctr">
                        <a:buNone/>
                      </a:pPr>
                      <a:r>
                        <a:rPr lang="ko-KR" altLang="en-US" sz="1400"/>
                        <a:t>업종별</a:t>
                      </a:r>
                      <a:r>
                        <a:rPr lang="en-US" altLang="zh-CN" sz="1400"/>
                        <a:t> </a:t>
                      </a:r>
                      <a:r>
                        <a:rPr lang="ko-KR" altLang="en-US" sz="1400"/>
                        <a:t>위반유형</a:t>
                      </a:r>
                      <a:r>
                        <a:rPr lang="en-US" altLang="zh-CN" sz="1400"/>
                        <a:t> </a:t>
                      </a:r>
                      <a:r>
                        <a:rPr lang="ko-KR" altLang="en-US" sz="1400"/>
                        <a:t>분석</a:t>
                      </a:r>
                      <a:endParaRPr lang="ko-KR" altLang="en-US" sz="1400"/>
                    </a:p>
                  </a:txBody>
                  <a:tcPr anchor="ctr" anchorCtr="0"/>
                </a:tc>
                <a:tc>
                  <a:txBody>
                    <a:bodyPr/>
                    <a:p>
                      <a:pPr algn="ctr">
                        <a:buNone/>
                      </a:pPr>
                      <a:r>
                        <a:rPr lang="zh-CN" altLang="en-US" sz="1400"/>
                        <a:t>对比不同行业的主要违规原因</a:t>
                      </a:r>
                      <a:endParaRPr lang="zh-CN" altLang="en-US" sz="1400"/>
                    </a:p>
                    <a:p>
                      <a:pPr algn="ctr">
                        <a:buNone/>
                      </a:pPr>
                      <a:r>
                        <a:rPr lang="ko-KR" altLang="en-US" sz="1400"/>
                        <a:t>업종</a:t>
                      </a:r>
                      <a:r>
                        <a:rPr lang="en-US" altLang="zh-CN" sz="1400"/>
                        <a:t>(</a:t>
                      </a:r>
                      <a:r>
                        <a:rPr lang="ko-KR" altLang="en-US" sz="1400"/>
                        <a:t>한식</a:t>
                      </a:r>
                      <a:r>
                        <a:rPr lang="en-US" altLang="zh-CN" sz="1400"/>
                        <a:t>, </a:t>
                      </a:r>
                      <a:r>
                        <a:rPr lang="ko-KR" altLang="en-US" sz="1400"/>
                        <a:t>분식</a:t>
                      </a:r>
                      <a:r>
                        <a:rPr lang="en-US" altLang="zh-CN" sz="1400"/>
                        <a:t> </a:t>
                      </a:r>
                      <a:r>
                        <a:rPr lang="ko-KR" altLang="en-US" sz="1400"/>
                        <a:t>등</a:t>
                      </a:r>
                      <a:r>
                        <a:rPr lang="en-US" altLang="zh-CN" sz="1400"/>
                        <a:t>)</a:t>
                      </a:r>
                      <a:r>
                        <a:rPr lang="ko-KR" altLang="en-US" sz="1400"/>
                        <a:t>별</a:t>
                      </a:r>
                      <a:r>
                        <a:rPr lang="en-US" altLang="zh-CN" sz="1400"/>
                        <a:t> </a:t>
                      </a:r>
                      <a:r>
                        <a:rPr lang="ko-KR" altLang="en-US" sz="1400"/>
                        <a:t>주요</a:t>
                      </a:r>
                      <a:r>
                        <a:rPr lang="en-US" altLang="zh-CN" sz="1400"/>
                        <a:t> </a:t>
                      </a:r>
                      <a:r>
                        <a:rPr lang="ko-KR" altLang="en-US" sz="1400"/>
                        <a:t>위반내용</a:t>
                      </a:r>
                      <a:r>
                        <a:rPr lang="en-US" altLang="zh-CN" sz="1400"/>
                        <a:t> </a:t>
                      </a:r>
                      <a:r>
                        <a:rPr lang="ko-KR" altLang="en-US" sz="1400"/>
                        <a:t>비교</a:t>
                      </a:r>
                      <a:endParaRPr lang="ko-KR" altLang="en-US" sz="1400"/>
                    </a:p>
                  </a:txBody>
                  <a:tcPr anchor="ctr" anchorCtr="0"/>
                </a:tc>
                <a:tc>
                  <a:txBody>
                    <a:bodyPr/>
                    <a:p>
                      <a:pPr algn="ctr">
                        <a:buNone/>
                      </a:pPr>
                      <a:r>
                        <a:rPr lang="en-US" altLang="zh-CN" sz="1400"/>
                        <a:t>groupby </a:t>
                      </a:r>
                      <a:r>
                        <a:rPr lang="zh-CN" altLang="en-US" sz="1400"/>
                        <a:t>汇总与比例分析</a:t>
                      </a:r>
                      <a:endParaRPr lang="zh-CN" altLang="en-US" sz="1400"/>
                    </a:p>
                    <a:p>
                      <a:pPr algn="ctr">
                        <a:buNone/>
                      </a:pPr>
                      <a:r>
                        <a:rPr lang="en-US" altLang="zh-CN" sz="1400"/>
                        <a:t>groupby </a:t>
                      </a:r>
                      <a:r>
                        <a:rPr lang="ko-KR" altLang="en-US" sz="1400"/>
                        <a:t>요약</a:t>
                      </a:r>
                      <a:r>
                        <a:rPr lang="en-US" altLang="zh-CN" sz="1400"/>
                        <a:t> </a:t>
                      </a:r>
                      <a:r>
                        <a:rPr lang="ko-KR" altLang="en-US" sz="1400"/>
                        <a:t>및</a:t>
                      </a:r>
                      <a:r>
                        <a:rPr lang="en-US" altLang="zh-CN" sz="1400"/>
                        <a:t> </a:t>
                      </a:r>
                      <a:r>
                        <a:rPr lang="ko-KR" altLang="en-US" sz="1400"/>
                        <a:t>비율계산</a:t>
                      </a:r>
                      <a:endParaRPr lang="ko-KR" altLang="en-US" sz="1400"/>
                    </a:p>
                  </a:txBody>
                  <a:tcPr anchor="ctr" anchorCtr="0"/>
                </a:tc>
                <a:tc>
                  <a:txBody>
                    <a:bodyPr/>
                    <a:p>
                      <a:pPr algn="ctr">
                        <a:buNone/>
                      </a:pPr>
                      <a:r>
                        <a:rPr lang="en-US" altLang="zh-CN" sz="1400"/>
                        <a:t>pandas</a:t>
                      </a:r>
                      <a:endParaRPr lang="en-US" altLang="zh-CN" sz="1400"/>
                    </a:p>
                  </a:txBody>
                  <a:tcPr anchor="ctr" anchorCtr="0"/>
                </a:tc>
                <a:tc>
                  <a:txBody>
                    <a:bodyPr/>
                    <a:p>
                      <a:pPr algn="ctr">
                        <a:buNone/>
                      </a:pPr>
                      <a:r>
                        <a:rPr lang="en-US" altLang="zh-CN" sz="1400"/>
                        <a:t>GroupBy Aggregation, Percentage Calculation</a:t>
                      </a:r>
                      <a:endParaRPr lang="en-US" altLang="zh-CN" sz="1400"/>
                    </a:p>
                  </a:txBody>
                  <a:tcPr anchor="ctr" anchorCtr="0"/>
                </a:tc>
              </a:tr>
              <a:tr h="944880">
                <a:tc>
                  <a:txBody>
                    <a:bodyPr/>
                    <a:p>
                      <a:pPr algn="ctr">
                        <a:buNone/>
                      </a:pPr>
                      <a:r>
                        <a:rPr lang="en-US" altLang="zh-CN" sz="1400"/>
                        <a:t>3.</a:t>
                      </a:r>
                      <a:r>
                        <a:rPr lang="zh-CN" altLang="en-US" sz="1400"/>
                        <a:t>区域风险分布</a:t>
                      </a:r>
                      <a:endParaRPr lang="zh-CN" altLang="en-US" sz="1400"/>
                    </a:p>
                    <a:p>
                      <a:pPr algn="ctr">
                        <a:buNone/>
                      </a:pPr>
                      <a:r>
                        <a:rPr lang="ko-KR" altLang="en-US" sz="1400"/>
                        <a:t>자치구별</a:t>
                      </a:r>
                      <a:r>
                        <a:rPr lang="en-US" altLang="zh-CN" sz="1400"/>
                        <a:t> </a:t>
                      </a:r>
                      <a:r>
                        <a:rPr lang="ko-KR" altLang="en-US" sz="1400"/>
                        <a:t>리스크</a:t>
                      </a:r>
                      <a:r>
                        <a:rPr lang="en-US" altLang="zh-CN" sz="1400"/>
                        <a:t> </a:t>
                      </a:r>
                      <a:r>
                        <a:rPr lang="ko-KR" altLang="en-US" sz="1400"/>
                        <a:t>시각화</a:t>
                      </a:r>
                      <a:endParaRPr lang="ko-KR" altLang="en-US" sz="1400"/>
                    </a:p>
                  </a:txBody>
                  <a:tcPr anchor="ctr" anchorCtr="0"/>
                </a:tc>
                <a:tc>
                  <a:txBody>
                    <a:bodyPr/>
                    <a:p>
                      <a:pPr algn="ctr">
                        <a:buNone/>
                      </a:pPr>
                      <a:r>
                        <a:rPr lang="zh-CN" altLang="en-US" sz="1400"/>
                        <a:t>分析首尔各行政区处罚集中度</a:t>
                      </a:r>
                      <a:endParaRPr lang="zh-CN" altLang="en-US" sz="1400"/>
                    </a:p>
                    <a:p>
                      <a:pPr algn="ctr">
                        <a:buNone/>
                      </a:pPr>
                      <a:r>
                        <a:rPr lang="ko-KR" altLang="en-US" sz="1400"/>
                        <a:t>지역별</a:t>
                      </a:r>
                      <a:r>
                        <a:rPr lang="en-US" altLang="zh-CN" sz="1400"/>
                        <a:t> </a:t>
                      </a:r>
                      <a:r>
                        <a:rPr lang="ko-KR" altLang="en-US" sz="1400"/>
                        <a:t>행정처분</a:t>
                      </a:r>
                      <a:r>
                        <a:rPr lang="en-US" altLang="zh-CN" sz="1400"/>
                        <a:t> </a:t>
                      </a:r>
                      <a:r>
                        <a:rPr lang="ko-KR" altLang="en-US" sz="1400"/>
                        <a:t>집중도</a:t>
                      </a:r>
                      <a:r>
                        <a:rPr lang="en-US" altLang="zh-CN" sz="1400"/>
                        <a:t> </a:t>
                      </a:r>
                      <a:r>
                        <a:rPr lang="ko-KR" altLang="en-US" sz="1400"/>
                        <a:t>파악</a:t>
                      </a:r>
                      <a:endParaRPr lang="ko-KR" altLang="en-US" sz="1400"/>
                    </a:p>
                  </a:txBody>
                  <a:tcPr anchor="ctr" anchorCtr="0"/>
                </a:tc>
                <a:tc>
                  <a:txBody>
                    <a:bodyPr/>
                    <a:p>
                      <a:pPr algn="ctr">
                        <a:buNone/>
                      </a:pPr>
                      <a:r>
                        <a:rPr lang="zh-CN" altLang="en-US" sz="1400"/>
                        <a:t>地理热力图可视化</a:t>
                      </a:r>
                      <a:endParaRPr lang="zh-CN" altLang="en-US" sz="1400"/>
                    </a:p>
                    <a:p>
                      <a:pPr algn="ctr">
                        <a:buNone/>
                      </a:pPr>
                      <a:r>
                        <a:rPr lang="ko-KR" altLang="en-US" sz="1400"/>
                        <a:t>지도</a:t>
                      </a:r>
                      <a:r>
                        <a:rPr lang="en-US" altLang="zh-CN" sz="1400"/>
                        <a:t> </a:t>
                      </a:r>
                      <a:r>
                        <a:rPr lang="ko-KR" altLang="en-US" sz="1400"/>
                        <a:t>기반</a:t>
                      </a:r>
                      <a:r>
                        <a:rPr lang="en-US" altLang="zh-CN" sz="1400"/>
                        <a:t> </a:t>
                      </a:r>
                      <a:r>
                        <a:rPr lang="ko-KR" altLang="en-US" sz="1400"/>
                        <a:t>히트맵</a:t>
                      </a:r>
                      <a:endParaRPr lang="ko-KR" altLang="en-US" sz="1400"/>
                    </a:p>
                  </a:txBody>
                  <a:tcPr anchor="ctr" anchorCtr="0"/>
                </a:tc>
                <a:tc>
                  <a:txBody>
                    <a:bodyPr/>
                    <a:p>
                      <a:pPr algn="ctr">
                        <a:buNone/>
                      </a:pPr>
                      <a:r>
                        <a:rPr lang="en-US" altLang="zh-CN" sz="1400"/>
                        <a:t>folium</a:t>
                      </a:r>
                      <a:endParaRPr lang="en-US" altLang="zh-CN" sz="1400"/>
                    </a:p>
                  </a:txBody>
                  <a:tcPr anchor="ctr" anchorCtr="0"/>
                </a:tc>
                <a:tc>
                  <a:txBody>
                    <a:bodyPr/>
                    <a:p>
                      <a:pPr algn="ctr">
                        <a:buNone/>
                      </a:pPr>
                      <a:r>
                        <a:rPr lang="en-US" altLang="zh-CN" sz="1400"/>
                        <a:t>Heatmap Visualization, Choropleth Mapping</a:t>
                      </a:r>
                      <a:endParaRPr lang="en-US" altLang="zh-CN" sz="1400"/>
                    </a:p>
                  </a:txBody>
                  <a:tcPr anchor="ctr" anchorCtr="0"/>
                </a:tc>
              </a:tr>
              <a:tr h="944880">
                <a:tc>
                  <a:txBody>
                    <a:bodyPr/>
                    <a:p>
                      <a:pPr algn="ctr">
                        <a:buNone/>
                      </a:pPr>
                      <a:r>
                        <a:rPr lang="en-US" altLang="zh-CN" sz="1400"/>
                        <a:t>4.</a:t>
                      </a:r>
                      <a:r>
                        <a:rPr lang="zh-CN" altLang="en-US" sz="1400"/>
                        <a:t>违规文本关键词提取</a:t>
                      </a:r>
                      <a:endParaRPr lang="zh-CN" altLang="en-US" sz="1400"/>
                    </a:p>
                    <a:p>
                      <a:pPr algn="ctr">
                        <a:buNone/>
                      </a:pPr>
                      <a:r>
                        <a:rPr lang="ko-KR" altLang="en-US" sz="1400"/>
                        <a:t>위반내용</a:t>
                      </a:r>
                      <a:r>
                        <a:rPr lang="en-US" altLang="zh-CN" sz="1400"/>
                        <a:t> </a:t>
                      </a:r>
                      <a:r>
                        <a:rPr lang="ko-KR" altLang="en-US" sz="1400"/>
                        <a:t>텍스트</a:t>
                      </a:r>
                      <a:r>
                        <a:rPr lang="en-US" altLang="zh-CN" sz="1400"/>
                        <a:t> </a:t>
                      </a:r>
                      <a:r>
                        <a:rPr lang="ko-KR" altLang="en-US" sz="1400"/>
                        <a:t>분석</a:t>
                      </a:r>
                      <a:endParaRPr lang="ko-KR" altLang="en-US" sz="1400"/>
                    </a:p>
                  </a:txBody>
                  <a:tcPr anchor="ctr" anchorCtr="0"/>
                </a:tc>
                <a:tc>
                  <a:txBody>
                    <a:bodyPr/>
                    <a:p>
                      <a:pPr algn="ctr">
                        <a:buNone/>
                      </a:pPr>
                      <a:r>
                        <a:rPr lang="zh-CN" altLang="en-US" sz="1400"/>
                        <a:t>提取高频违规内容与主题</a:t>
                      </a:r>
                      <a:endParaRPr lang="zh-CN" altLang="en-US" sz="1400"/>
                    </a:p>
                    <a:p>
                      <a:pPr algn="ctr">
                        <a:buNone/>
                      </a:pPr>
                      <a:r>
                        <a:rPr lang="ko-KR" altLang="en-US" sz="1400"/>
                        <a:t>자주</a:t>
                      </a:r>
                      <a:r>
                        <a:rPr lang="en-US" altLang="zh-CN" sz="1400"/>
                        <a:t> </a:t>
                      </a:r>
                      <a:r>
                        <a:rPr lang="ko-KR" altLang="en-US" sz="1400"/>
                        <a:t>등장하는</a:t>
                      </a:r>
                      <a:r>
                        <a:rPr lang="en-US" altLang="zh-CN" sz="1400"/>
                        <a:t> </a:t>
                      </a:r>
                      <a:r>
                        <a:rPr lang="ko-KR" altLang="en-US" sz="1400"/>
                        <a:t>키워드</a:t>
                      </a:r>
                      <a:r>
                        <a:rPr lang="en-US" altLang="zh-CN" sz="1400"/>
                        <a:t> </a:t>
                      </a:r>
                      <a:r>
                        <a:rPr lang="ko-KR" altLang="en-US" sz="1400"/>
                        <a:t>도출</a:t>
                      </a:r>
                      <a:endParaRPr lang="ko-KR" altLang="en-US" sz="1400"/>
                    </a:p>
                  </a:txBody>
                  <a:tcPr anchor="ctr" anchorCtr="0"/>
                </a:tc>
                <a:tc>
                  <a:txBody>
                    <a:bodyPr/>
                    <a:p>
                      <a:pPr algn="ctr">
                        <a:buNone/>
                      </a:pPr>
                      <a:r>
                        <a:rPr lang="zh-CN" altLang="en-US" sz="1400"/>
                        <a:t>形态素分析</a:t>
                      </a:r>
                      <a:r>
                        <a:rPr lang="en-US" altLang="zh-CN" sz="1400"/>
                        <a:t> + </a:t>
                      </a:r>
                      <a:r>
                        <a:rPr lang="zh-CN" altLang="en-US" sz="1400"/>
                        <a:t>词云图</a:t>
                      </a:r>
                      <a:endParaRPr lang="zh-CN" altLang="en-US" sz="1400"/>
                    </a:p>
                    <a:p>
                      <a:pPr algn="ctr">
                        <a:buNone/>
                      </a:pPr>
                      <a:r>
                        <a:rPr lang="ko-KR" altLang="en-US" sz="1400"/>
                        <a:t>형태소</a:t>
                      </a:r>
                      <a:r>
                        <a:rPr lang="en-US" altLang="zh-CN" sz="1400"/>
                        <a:t> </a:t>
                      </a:r>
                      <a:r>
                        <a:rPr lang="ko-KR" altLang="en-US" sz="1400"/>
                        <a:t>분석</a:t>
                      </a:r>
                      <a:r>
                        <a:rPr lang="en-US" altLang="zh-CN" sz="1400"/>
                        <a:t> + </a:t>
                      </a:r>
                      <a:r>
                        <a:rPr lang="ko-KR" altLang="en-US" sz="1400"/>
                        <a:t>워드클라우드</a:t>
                      </a:r>
                      <a:endParaRPr lang="ko-KR" altLang="en-US" sz="1400"/>
                    </a:p>
                  </a:txBody>
                  <a:tcPr anchor="ctr" anchorCtr="0"/>
                </a:tc>
                <a:tc>
                  <a:txBody>
                    <a:bodyPr/>
                    <a:p>
                      <a:pPr algn="ctr">
                        <a:buNone/>
                      </a:pPr>
                      <a:r>
                        <a:rPr lang="en-US" altLang="zh-CN" sz="1400"/>
                        <a:t>konlpy, wordcloud</a:t>
                      </a:r>
                      <a:endParaRPr lang="en-US" altLang="zh-CN" sz="1400"/>
                    </a:p>
                  </a:txBody>
                  <a:tcPr anchor="ctr" anchorCtr="0"/>
                </a:tc>
                <a:tc>
                  <a:txBody>
                    <a:bodyPr/>
                    <a:p>
                      <a:pPr algn="ctr">
                        <a:buNone/>
                      </a:pPr>
                      <a:r>
                        <a:rPr lang="en-US" altLang="zh-CN" sz="1400"/>
                        <a:t>TF-IDF (</a:t>
                      </a:r>
                      <a:r>
                        <a:rPr lang="zh-CN" altLang="en-US" sz="1400"/>
                        <a:t>简化版可选</a:t>
                      </a:r>
                      <a:r>
                        <a:rPr lang="en-US" altLang="zh-CN" sz="1400"/>
                        <a:t>)</a:t>
                      </a:r>
                      <a:r>
                        <a:rPr lang="zh-CN" altLang="en-US" sz="1400"/>
                        <a:t>、</a:t>
                      </a:r>
                      <a:r>
                        <a:rPr lang="en-US" altLang="zh-CN" sz="1400"/>
                        <a:t>Word Frequency Analysis</a:t>
                      </a:r>
                      <a:endParaRPr lang="en-US" altLang="zh-CN" sz="1400"/>
                    </a:p>
                  </a:txBody>
                  <a:tcPr anchor="ctr" anchorCtr="0"/>
                </a:tc>
              </a:tr>
            </a:tbl>
          </a:graphicData>
        </a:graphic>
      </p:graphicFrame>
      <p:pic>
        <p:nvPicPr>
          <p:cNvPr id="2" name="图片 1"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82065" y="1292860"/>
            <a:ext cx="6435090" cy="406400"/>
          </a:xfrm>
          <a:prstGeom prst="rect">
            <a:avLst/>
          </a:prstGeom>
          <a:noFill/>
        </p:spPr>
        <p:txBody>
          <a:bodyPr wrap="square" rtlCol="0">
            <a:noAutofit/>
          </a:bodyPr>
          <a:p>
            <a:r>
              <a:rPr dirty="0">
                <a:sym typeface="+mn-ea"/>
              </a:rPr>
              <a:t>- </a:t>
            </a:r>
            <a:r>
              <a:rPr dirty="0" err="1">
                <a:sym typeface="+mn-ea"/>
              </a:rPr>
              <a:t>분석</a:t>
            </a:r>
            <a:r>
              <a:rPr dirty="0">
                <a:sym typeface="+mn-ea"/>
              </a:rPr>
              <a:t> </a:t>
            </a:r>
            <a:r>
              <a:rPr dirty="0" err="1">
                <a:sym typeface="+mn-ea"/>
              </a:rPr>
              <a:t>도구</a:t>
            </a:r>
            <a:r>
              <a:rPr dirty="0">
                <a:sym typeface="+mn-ea"/>
              </a:rPr>
              <a:t> / </a:t>
            </a:r>
            <a:r>
              <a:rPr dirty="0" err="1">
                <a:sym typeface="+mn-ea"/>
              </a:rPr>
              <a:t>分析工具</a:t>
            </a:r>
            <a:endParaRPr dirty="0" err="1"/>
          </a:p>
          <a:p>
            <a:endParaRPr lang="zh-CN" altLang="en-US"/>
          </a:p>
        </p:txBody>
      </p:sp>
      <p:graphicFrame>
        <p:nvGraphicFramePr>
          <p:cNvPr id="4" name="表格 3"/>
          <p:cNvGraphicFramePr/>
          <p:nvPr>
            <p:custDataLst>
              <p:tags r:id="rId1"/>
            </p:custDataLst>
          </p:nvPr>
        </p:nvGraphicFramePr>
        <p:xfrm>
          <a:off x="1139825" y="2289175"/>
          <a:ext cx="6816090" cy="3171825"/>
        </p:xfrm>
        <a:graphic>
          <a:graphicData uri="http://schemas.openxmlformats.org/drawingml/2006/table">
            <a:tbl>
              <a:tblPr firstRow="1" bandRow="1">
                <a:tableStyleId>{5C22544A-7EE6-4342-B048-85BDC9FD1C3A}</a:tableStyleId>
              </a:tblPr>
              <a:tblGrid>
                <a:gridCol w="1483360"/>
                <a:gridCol w="3060700"/>
                <a:gridCol w="2272030"/>
              </a:tblGrid>
              <a:tr h="644525">
                <a:tc>
                  <a:txBody>
                    <a:bodyPr/>
                    <a:p>
                      <a:pPr algn="ctr">
                        <a:buNone/>
                      </a:pPr>
                      <a:r>
                        <a:rPr lang="ko-KR" altLang="en-US"/>
                        <a:t>분석유형</a:t>
                      </a:r>
                      <a:r>
                        <a:rPr lang="en-US" altLang="zh-CN"/>
                        <a:t> / </a:t>
                      </a:r>
                      <a:r>
                        <a:rPr lang="zh-CN" altLang="en-US"/>
                        <a:t>分析类型</a:t>
                      </a:r>
                      <a:endParaRPr lang="zh-CN" altLang="en-US"/>
                    </a:p>
                  </a:txBody>
                  <a:tcPr anchor="ctr" anchorCtr="0"/>
                </a:tc>
                <a:tc>
                  <a:txBody>
                    <a:bodyPr/>
                    <a:p>
                      <a:pPr algn="ctr">
                        <a:buNone/>
                      </a:pPr>
                      <a:r>
                        <a:rPr lang="ko-KR" altLang="en-US"/>
                        <a:t>분석내용</a:t>
                      </a:r>
                      <a:r>
                        <a:rPr lang="en-US" altLang="zh-CN"/>
                        <a:t> / </a:t>
                      </a:r>
                      <a:r>
                        <a:rPr lang="zh-CN" altLang="en-US"/>
                        <a:t>分析内容</a:t>
                      </a:r>
                      <a:endParaRPr lang="zh-CN" altLang="en-US"/>
                    </a:p>
                  </a:txBody>
                  <a:tcPr anchor="ctr" anchorCtr="0"/>
                </a:tc>
                <a:tc>
                  <a:txBody>
                    <a:bodyPr/>
                    <a:p>
                      <a:pPr algn="ctr">
                        <a:buNone/>
                      </a:pPr>
                      <a:r>
                        <a:rPr lang="ko-KR" altLang="en-US"/>
                        <a:t>분석도구</a:t>
                      </a:r>
                      <a:r>
                        <a:rPr lang="en-US" altLang="ko-KR"/>
                        <a:t>/</a:t>
                      </a:r>
                      <a:r>
                        <a:rPr lang="zh-CN" altLang="en-US"/>
                        <a:t>分析工具</a:t>
                      </a:r>
                      <a:endParaRPr lang="zh-CN" altLang="en-US"/>
                    </a:p>
                  </a:txBody>
                  <a:tcPr anchor="ctr" anchorCtr="0"/>
                </a:tc>
              </a:tr>
              <a:tr h="379095">
                <a:tc>
                  <a:txBody>
                    <a:bodyPr/>
                    <a:p>
                      <a:pPr algn="ctr">
                        <a:buNone/>
                      </a:pPr>
                      <a:r>
                        <a:rPr lang="ko-KR" altLang="en-US" sz="1400"/>
                        <a:t>기술통계</a:t>
                      </a:r>
                      <a:r>
                        <a:rPr lang="en-US" altLang="ko-KR" sz="1400"/>
                        <a:t>/</a:t>
                      </a:r>
                      <a:r>
                        <a:rPr lang="zh-CN" altLang="en-US" sz="1400"/>
                        <a:t>技术统计</a:t>
                      </a:r>
                      <a:endParaRPr lang="zh-CN" altLang="en-US" sz="1400"/>
                    </a:p>
                  </a:txBody>
                  <a:tcPr anchor="ctr" anchorCtr="0"/>
                </a:tc>
                <a:tc>
                  <a:txBody>
                    <a:bodyPr/>
                    <a:p>
                      <a:pPr algn="ctr">
                        <a:buNone/>
                      </a:pPr>
                      <a:r>
                        <a:rPr lang="ko-KR" altLang="en-US" sz="1400"/>
                        <a:t>연도</a:t>
                      </a:r>
                      <a:r>
                        <a:rPr lang="en-US" altLang="zh-CN" sz="1400"/>
                        <a:t>, </a:t>
                      </a:r>
                      <a:r>
                        <a:rPr lang="ko-KR" altLang="en-US" sz="1400"/>
                        <a:t>월</a:t>
                      </a:r>
                      <a:r>
                        <a:rPr lang="en-US" altLang="zh-CN" sz="1400"/>
                        <a:t>, </a:t>
                      </a:r>
                      <a:r>
                        <a:rPr lang="ko-KR" altLang="en-US" sz="1400"/>
                        <a:t>지역</a:t>
                      </a:r>
                      <a:r>
                        <a:rPr lang="en-US" altLang="zh-CN" sz="1400"/>
                        <a:t>, </a:t>
                      </a:r>
                      <a:r>
                        <a:rPr lang="ko-KR" altLang="en-US" sz="1400"/>
                        <a:t>처벌</a:t>
                      </a:r>
                      <a:r>
                        <a:rPr lang="en-US" altLang="zh-CN" sz="1400"/>
                        <a:t>/</a:t>
                      </a:r>
                      <a:r>
                        <a:rPr lang="zh-CN" altLang="en-US" sz="1400"/>
                        <a:t>年度、月份、地区、处罚</a:t>
                      </a:r>
                      <a:endParaRPr lang="ko-KR" altLang="en-US" sz="1400"/>
                    </a:p>
                  </a:txBody>
                  <a:tcPr anchor="ctr" anchorCtr="0"/>
                </a:tc>
                <a:tc>
                  <a:txBody>
                    <a:bodyPr/>
                    <a:p>
                      <a:pPr algn="ctr">
                        <a:buNone/>
                      </a:pPr>
                      <a:r>
                        <a:rPr lang="en-US" altLang="zh-CN" sz="1400"/>
                        <a:t>pandas, matplotlib</a:t>
                      </a:r>
                      <a:endParaRPr lang="en-US" altLang="zh-CN" sz="1400"/>
                    </a:p>
                  </a:txBody>
                  <a:tcPr anchor="ctr" anchorCtr="0"/>
                </a:tc>
              </a:tr>
              <a:tr h="379730">
                <a:tc>
                  <a:txBody>
                    <a:bodyPr/>
                    <a:p>
                      <a:pPr algn="ctr">
                        <a:buNone/>
                      </a:pPr>
                      <a:r>
                        <a:rPr lang="ko-KR" altLang="en-US" sz="1400"/>
                        <a:t>상관분석</a:t>
                      </a:r>
                      <a:r>
                        <a:rPr lang="en-US" altLang="ko-KR" sz="1400"/>
                        <a:t>/</a:t>
                      </a:r>
                      <a:r>
                        <a:rPr lang="zh-CN" altLang="en-US" sz="1400"/>
                        <a:t>相关分析</a:t>
                      </a:r>
                      <a:endParaRPr lang="zh-CN" altLang="en-US" sz="1400"/>
                    </a:p>
                  </a:txBody>
                  <a:tcPr anchor="ctr" anchorCtr="0"/>
                </a:tc>
                <a:tc>
                  <a:txBody>
                    <a:bodyPr/>
                    <a:p>
                      <a:pPr algn="ctr">
                        <a:buNone/>
                      </a:pPr>
                      <a:r>
                        <a:rPr lang="ko-KR" altLang="en-US" sz="1400"/>
                        <a:t>업종명</a:t>
                      </a:r>
                      <a:r>
                        <a:rPr lang="en-US" altLang="zh-CN" sz="1400"/>
                        <a:t> </a:t>
                      </a:r>
                      <a:r>
                        <a:rPr lang="en-US" altLang="en-US" sz="1400"/>
                        <a:t>×</a:t>
                      </a:r>
                      <a:r>
                        <a:rPr lang="en-US" altLang="zh-CN" sz="1400"/>
                        <a:t> </a:t>
                      </a:r>
                      <a:r>
                        <a:rPr lang="ko-KR" altLang="en-US" sz="1400"/>
                        <a:t>처분명</a:t>
                      </a:r>
                      <a:r>
                        <a:rPr lang="en-US" altLang="zh-CN" sz="1400"/>
                        <a:t> </a:t>
                      </a:r>
                      <a:r>
                        <a:rPr lang="ko-KR" altLang="en-US" sz="1400"/>
                        <a:t>교차분석</a:t>
                      </a:r>
                      <a:r>
                        <a:rPr lang="en-US" altLang="ko-KR" sz="1400"/>
                        <a:t>/</a:t>
                      </a:r>
                      <a:r>
                        <a:rPr lang="zh-CN" altLang="en-US" sz="1400"/>
                        <a:t>行业名称</a:t>
                      </a:r>
                      <a:r>
                        <a:rPr lang="en-US" altLang="zh-CN" sz="1400"/>
                        <a:t> </a:t>
                      </a:r>
                      <a:r>
                        <a:rPr lang="en-US" altLang="en-US" sz="1400"/>
                        <a:t>×</a:t>
                      </a:r>
                      <a:r>
                        <a:rPr lang="en-US" altLang="zh-CN" sz="1400"/>
                        <a:t> </a:t>
                      </a:r>
                      <a:r>
                        <a:rPr lang="zh-CN" altLang="en-US" sz="1400"/>
                        <a:t>处置名称</a:t>
                      </a:r>
                      <a:r>
                        <a:rPr lang="en-US" altLang="zh-CN" sz="1400"/>
                        <a:t> </a:t>
                      </a:r>
                      <a:r>
                        <a:rPr lang="zh-CN" altLang="en-US" sz="1400"/>
                        <a:t>交叉分析</a:t>
                      </a:r>
                      <a:endParaRPr lang="zh-CN" altLang="en-US" sz="1400"/>
                    </a:p>
                  </a:txBody>
                  <a:tcPr anchor="ctr" anchorCtr="0"/>
                </a:tc>
                <a:tc>
                  <a:txBody>
                    <a:bodyPr/>
                    <a:p>
                      <a:pPr algn="ctr">
                        <a:buNone/>
                      </a:pPr>
                      <a:r>
                        <a:rPr lang="en-US" altLang="zh-CN" sz="1400"/>
                        <a:t>seaborn heatmap</a:t>
                      </a:r>
                      <a:endParaRPr lang="en-US" altLang="zh-CN" sz="1400"/>
                    </a:p>
                  </a:txBody>
                  <a:tcPr anchor="ctr" anchorCtr="0"/>
                </a:tc>
              </a:tr>
              <a:tr h="379730">
                <a:tc>
                  <a:txBody>
                    <a:bodyPr/>
                    <a:p>
                      <a:pPr algn="ctr">
                        <a:buNone/>
                      </a:pPr>
                      <a:r>
                        <a:rPr lang="ko-KR" altLang="en-US" sz="1400"/>
                        <a:t>텍스트분석</a:t>
                      </a:r>
                      <a:r>
                        <a:rPr lang="en-US" altLang="ko-KR" sz="1400"/>
                        <a:t>/</a:t>
                      </a:r>
                      <a:r>
                        <a:rPr lang="zh-CN" altLang="en-US" sz="1400"/>
                        <a:t>文本分析</a:t>
                      </a:r>
                      <a:endParaRPr lang="zh-CN" altLang="en-US" sz="1400"/>
                    </a:p>
                  </a:txBody>
                  <a:tcPr anchor="ctr" anchorCtr="0"/>
                </a:tc>
                <a:tc>
                  <a:txBody>
                    <a:bodyPr/>
                    <a:p>
                      <a:pPr algn="ctr">
                        <a:buNone/>
                      </a:pPr>
                      <a:r>
                        <a:rPr lang="ko-KR" altLang="en-US" sz="1400"/>
                        <a:t>위반내용</a:t>
                      </a:r>
                      <a:r>
                        <a:rPr lang="en-US" altLang="zh-CN" sz="1400"/>
                        <a:t> </a:t>
                      </a:r>
                      <a:r>
                        <a:rPr lang="ko-KR" altLang="en-US" sz="1400"/>
                        <a:t>키워드</a:t>
                      </a:r>
                      <a:r>
                        <a:rPr lang="en-US" altLang="zh-CN" sz="1400"/>
                        <a:t> </a:t>
                      </a:r>
                      <a:r>
                        <a:rPr lang="ko-KR" altLang="en-US" sz="1400"/>
                        <a:t>추출</a:t>
                      </a:r>
                      <a:r>
                        <a:rPr lang="en-US" altLang="zh-CN" sz="1400"/>
                        <a:t> </a:t>
                      </a:r>
                      <a:r>
                        <a:rPr lang="ko-KR" altLang="en-US" sz="1400"/>
                        <a:t>및</a:t>
                      </a:r>
                      <a:r>
                        <a:rPr lang="en-US" altLang="zh-CN" sz="1400"/>
                        <a:t> </a:t>
                      </a:r>
                      <a:r>
                        <a:rPr lang="ko-KR" altLang="en-US" sz="1400"/>
                        <a:t>워드클라우드</a:t>
                      </a:r>
                      <a:r>
                        <a:rPr lang="en-US" altLang="ko-KR" sz="1400"/>
                        <a:t>/</a:t>
                      </a:r>
                      <a:r>
                        <a:rPr lang="zh-CN" altLang="en-US" sz="1400"/>
                        <a:t>违规内容关键词提取及词云图</a:t>
                      </a:r>
                      <a:endParaRPr lang="zh-CN" altLang="en-US" sz="1400"/>
                    </a:p>
                  </a:txBody>
                  <a:tcPr anchor="ctr" anchorCtr="0"/>
                </a:tc>
                <a:tc>
                  <a:txBody>
                    <a:bodyPr/>
                    <a:p>
                      <a:pPr algn="ctr">
                        <a:buNone/>
                      </a:pPr>
                      <a:r>
                        <a:rPr lang="en-US" altLang="zh-CN" sz="1400"/>
                        <a:t>konlpy, wordcloud</a:t>
                      </a:r>
                      <a:endParaRPr lang="en-US" altLang="zh-CN" sz="1400"/>
                    </a:p>
                  </a:txBody>
                  <a:tcPr anchor="ctr" anchorCtr="0"/>
                </a:tc>
              </a:tr>
              <a:tr h="379730">
                <a:tc>
                  <a:txBody>
                    <a:bodyPr/>
                    <a:p>
                      <a:pPr algn="ctr">
                        <a:buNone/>
                      </a:pPr>
                      <a:r>
                        <a:rPr lang="ko-KR" altLang="en-US" sz="1400"/>
                        <a:t>리스크지수</a:t>
                      </a:r>
                      <a:r>
                        <a:rPr lang="en-US" altLang="zh-CN" sz="1400"/>
                        <a:t> </a:t>
                      </a:r>
                      <a:r>
                        <a:rPr lang="ko-KR" altLang="en-US" sz="1400"/>
                        <a:t>산출</a:t>
                      </a:r>
                      <a:r>
                        <a:rPr lang="en-US" altLang="ko-KR" sz="1400"/>
                        <a:t>/</a:t>
                      </a:r>
                      <a:r>
                        <a:rPr lang="zh-CN" altLang="en-US" sz="1400"/>
                        <a:t>风险指数计算</a:t>
                      </a:r>
                      <a:endParaRPr lang="zh-CN" altLang="en-US" sz="1400"/>
                    </a:p>
                  </a:txBody>
                  <a:tcPr anchor="ctr" anchorCtr="0"/>
                </a:tc>
                <a:tc>
                  <a:txBody>
                    <a:bodyPr/>
                    <a:p>
                      <a:pPr algn="ctr">
                        <a:buNone/>
                      </a:pPr>
                      <a:r>
                        <a:rPr lang="en-US" altLang="zh-CN" sz="1400"/>
                        <a:t>(</a:t>
                      </a:r>
                      <a:r>
                        <a:rPr lang="ko-KR" altLang="en-US" sz="1400"/>
                        <a:t>처분빈도</a:t>
                      </a:r>
                      <a:r>
                        <a:rPr lang="en-US" altLang="zh-CN" sz="1400"/>
                        <a:t> </a:t>
                      </a:r>
                      <a:r>
                        <a:rPr lang="en-US" altLang="en-US" sz="1400"/>
                        <a:t>×</a:t>
                      </a:r>
                      <a:r>
                        <a:rPr lang="en-US" altLang="zh-CN" sz="1400"/>
                        <a:t> </a:t>
                      </a:r>
                      <a:r>
                        <a:rPr lang="ko-KR" altLang="en-US" sz="1400"/>
                        <a:t>처분기간</a:t>
                      </a:r>
                      <a:r>
                        <a:rPr lang="en-US" altLang="zh-CN" sz="1400"/>
                        <a:t>) </a:t>
                      </a:r>
                      <a:r>
                        <a:rPr lang="ko-KR" altLang="en-US" sz="1400"/>
                        <a:t>기반</a:t>
                      </a:r>
                      <a:r>
                        <a:rPr lang="en-US" altLang="zh-CN" sz="1400"/>
                        <a:t> </a:t>
                      </a:r>
                      <a:r>
                        <a:rPr lang="ko-KR" altLang="en-US" sz="1400"/>
                        <a:t>위험도</a:t>
                      </a:r>
                      <a:r>
                        <a:rPr lang="en-US" altLang="zh-CN" sz="1400"/>
                        <a:t> </a:t>
                      </a:r>
                      <a:r>
                        <a:rPr lang="ko-KR" altLang="en-US" sz="1400"/>
                        <a:t>계산</a:t>
                      </a:r>
                      <a:endParaRPr lang="ko-KR" altLang="en-US" sz="1400"/>
                    </a:p>
                    <a:p>
                      <a:pPr algn="ctr">
                        <a:buNone/>
                      </a:pPr>
                      <a:r>
                        <a:rPr lang="en-US" altLang="zh-CN" sz="1400"/>
                        <a:t>/(</a:t>
                      </a:r>
                      <a:r>
                        <a:rPr lang="zh-CN" altLang="en-US" sz="1400"/>
                        <a:t>处置频率</a:t>
                      </a:r>
                      <a:r>
                        <a:rPr lang="en-US" altLang="zh-CN" sz="1400"/>
                        <a:t> </a:t>
                      </a:r>
                      <a:r>
                        <a:rPr lang="en-US" altLang="en-US" sz="1400"/>
                        <a:t>×</a:t>
                      </a:r>
                      <a:r>
                        <a:rPr lang="en-US" altLang="zh-CN" sz="1400"/>
                        <a:t> </a:t>
                      </a:r>
                      <a:r>
                        <a:rPr lang="zh-CN" altLang="en-US" sz="1400"/>
                        <a:t>处置周期</a:t>
                      </a:r>
                      <a:r>
                        <a:rPr lang="en-US" altLang="zh-CN" sz="1400"/>
                        <a:t>) </a:t>
                      </a:r>
                      <a:r>
                        <a:rPr lang="zh-CN" altLang="en-US" sz="1400"/>
                        <a:t>基准风险度计算</a:t>
                      </a:r>
                      <a:endParaRPr lang="zh-CN" altLang="en-US" sz="1400"/>
                    </a:p>
                  </a:txBody>
                  <a:tcPr anchor="ctr" anchorCtr="0"/>
                </a:tc>
                <a:tc>
                  <a:txBody>
                    <a:bodyPr/>
                    <a:p>
                      <a:pPr algn="ctr">
                        <a:buNone/>
                      </a:pPr>
                      <a:r>
                        <a:rPr lang="en-US" altLang="zh-CN" sz="1400">
                          <a:sym typeface="+mn-ea"/>
                        </a:rPr>
                        <a:t>pandas</a:t>
                      </a:r>
                      <a:endParaRPr lang="zh-CN" altLang="en-US" sz="1400"/>
                    </a:p>
                  </a:txBody>
                  <a:tcPr anchor="ctr" anchorCtr="0"/>
                </a:tc>
              </a:tr>
              <a:tr h="379095">
                <a:tc>
                  <a:txBody>
                    <a:bodyPr/>
                    <a:p>
                      <a:pPr algn="ctr">
                        <a:buNone/>
                      </a:pPr>
                      <a:r>
                        <a:rPr lang="ko-KR" altLang="en-US" sz="1400"/>
                        <a:t>예측모델</a:t>
                      </a:r>
                      <a:r>
                        <a:rPr lang="en-US" altLang="zh-CN" sz="1400"/>
                        <a:t> (</a:t>
                      </a:r>
                      <a:r>
                        <a:rPr lang="ko-KR" altLang="en-US" sz="1400"/>
                        <a:t>선택</a:t>
                      </a:r>
                      <a:r>
                        <a:rPr lang="en-US" altLang="zh-CN" sz="1400"/>
                        <a:t>)/</a:t>
                      </a:r>
                      <a:r>
                        <a:rPr lang="zh-CN" altLang="en-US" sz="1400"/>
                        <a:t>预测模型（可选）</a:t>
                      </a:r>
                      <a:endParaRPr lang="zh-CN" altLang="en-US" sz="1400"/>
                    </a:p>
                  </a:txBody>
                  <a:tcPr anchor="ctr" anchorCtr="0"/>
                </a:tc>
                <a:tc>
                  <a:txBody>
                    <a:bodyPr/>
                    <a:p>
                      <a:pPr algn="ctr">
                        <a:buNone/>
                      </a:pPr>
                      <a:r>
                        <a:rPr lang="en-US" altLang="zh-CN" sz="1400"/>
                        <a:t>Logistic Regression </a:t>
                      </a:r>
                      <a:r>
                        <a:rPr lang="ko-KR" altLang="en-US" sz="1400"/>
                        <a:t>기반</a:t>
                      </a:r>
                      <a:r>
                        <a:rPr lang="en-US" altLang="zh-CN" sz="1400"/>
                        <a:t> </a:t>
                      </a:r>
                      <a:r>
                        <a:rPr lang="ko-KR" altLang="en-US" sz="1400"/>
                        <a:t>리스크예측</a:t>
                      </a:r>
                      <a:r>
                        <a:rPr lang="en-US" altLang="ko-KR" sz="1400"/>
                        <a:t>/</a:t>
                      </a:r>
                      <a:r>
                        <a:rPr lang="zh-CN" altLang="en-US" sz="1400"/>
                        <a:t>基于逻辑回归的风险预测</a:t>
                      </a:r>
                      <a:endParaRPr lang="ko-KR" altLang="en-US" sz="1400"/>
                    </a:p>
                  </a:txBody>
                  <a:tcPr anchor="ctr" anchorCtr="0"/>
                </a:tc>
                <a:tc>
                  <a:txBody>
                    <a:bodyPr/>
                    <a:p>
                      <a:pPr algn="ctr">
                        <a:buNone/>
                      </a:pPr>
                      <a:r>
                        <a:rPr lang="en-US" altLang="zh-CN" sz="1400"/>
                        <a:t>scikit-learn</a:t>
                      </a:r>
                      <a:endParaRPr lang="en-US" altLang="zh-CN" sz="1400"/>
                    </a:p>
                  </a:txBody>
                  <a:tcPr anchor="ctr" anchorCtr="0"/>
                </a:tc>
              </a:tr>
            </a:tbl>
          </a:graphicData>
        </a:graphic>
      </p:graphicFrame>
      <p:pic>
        <p:nvPicPr>
          <p:cNvPr id="2" name="图片 1"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데이터 시각화 계획 / 数据可视化计划</a:t>
            </a:r>
          </a:p>
        </p:txBody>
      </p:sp>
      <p:graphicFrame>
        <p:nvGraphicFramePr>
          <p:cNvPr id="2" name="表格 1"/>
          <p:cNvGraphicFramePr/>
          <p:nvPr/>
        </p:nvGraphicFramePr>
        <p:xfrm>
          <a:off x="1170940" y="1998980"/>
          <a:ext cx="6398895" cy="2286000"/>
        </p:xfrm>
        <a:graphic>
          <a:graphicData uri="http://schemas.openxmlformats.org/drawingml/2006/table">
            <a:tbl>
              <a:tblPr firstRow="1" bandRow="1">
                <a:tableStyleId>{5C22544A-7EE6-4342-B048-85BDC9FD1C3A}</a:tableStyleId>
              </a:tblPr>
              <a:tblGrid>
                <a:gridCol w="2132965"/>
                <a:gridCol w="2642870"/>
                <a:gridCol w="1623060"/>
              </a:tblGrid>
              <a:tr h="381000">
                <a:tc>
                  <a:txBody>
                    <a:bodyPr/>
                    <a:p>
                      <a:pPr algn="ctr">
                        <a:buNone/>
                      </a:pPr>
                      <a:r>
                        <a:rPr lang="ko-KR" altLang="en-US"/>
                        <a:t>목적</a:t>
                      </a:r>
                      <a:r>
                        <a:rPr lang="en-US" altLang="zh-CN"/>
                        <a:t> / </a:t>
                      </a:r>
                      <a:r>
                        <a:rPr lang="zh-CN" altLang="en-US"/>
                        <a:t>目的</a:t>
                      </a:r>
                      <a:endParaRPr lang="zh-CN" altLang="en-US"/>
                    </a:p>
                  </a:txBody>
                  <a:tcPr anchor="ctr" anchorCtr="0"/>
                </a:tc>
                <a:tc>
                  <a:txBody>
                    <a:bodyPr/>
                    <a:p>
                      <a:pPr algn="ctr">
                        <a:buNone/>
                      </a:pPr>
                      <a:r>
                        <a:rPr lang="ko-KR" altLang="en-US"/>
                        <a:t>그래프</a:t>
                      </a:r>
                      <a:r>
                        <a:rPr lang="en-US" altLang="zh-CN"/>
                        <a:t> </a:t>
                      </a:r>
                      <a:r>
                        <a:rPr lang="ko-KR" altLang="en-US"/>
                        <a:t>형태</a:t>
                      </a:r>
                      <a:r>
                        <a:rPr lang="en-US" altLang="zh-CN"/>
                        <a:t> / </a:t>
                      </a:r>
                      <a:r>
                        <a:rPr lang="zh-CN" altLang="en-US"/>
                        <a:t>图形类型</a:t>
                      </a:r>
                      <a:endParaRPr lang="zh-CN" altLang="en-US"/>
                    </a:p>
                  </a:txBody>
                  <a:tcPr anchor="ctr" anchorCtr="0"/>
                </a:tc>
                <a:tc>
                  <a:txBody>
                    <a:bodyPr/>
                    <a:p>
                      <a:pPr algn="ctr">
                        <a:buNone/>
                      </a:pPr>
                      <a:r>
                        <a:rPr lang="ko-KR" altLang="en-US"/>
                        <a:t>도구</a:t>
                      </a:r>
                      <a:r>
                        <a:rPr lang="en-US" altLang="zh-CN"/>
                        <a:t> / </a:t>
                      </a:r>
                      <a:r>
                        <a:rPr lang="zh-CN" altLang="en-US"/>
                        <a:t>工具</a:t>
                      </a:r>
                      <a:endParaRPr lang="zh-CN" altLang="en-US"/>
                    </a:p>
                  </a:txBody>
                  <a:tcPr anchor="ctr" anchorCtr="0"/>
                </a:tc>
              </a:tr>
              <a:tr h="381000">
                <a:tc>
                  <a:txBody>
                    <a:bodyPr/>
                    <a:p>
                      <a:pPr algn="ctr">
                        <a:buNone/>
                      </a:pPr>
                      <a:r>
                        <a:rPr lang="ko-KR" altLang="en-US" sz="1400"/>
                        <a:t>연도별</a:t>
                      </a:r>
                      <a:r>
                        <a:rPr lang="en-US" altLang="zh-CN" sz="1400"/>
                        <a:t> </a:t>
                      </a:r>
                      <a:r>
                        <a:rPr lang="ko-KR" altLang="en-US" sz="1400"/>
                        <a:t>처분추이</a:t>
                      </a:r>
                      <a:r>
                        <a:rPr lang="en-US" altLang="zh-CN" sz="1400"/>
                        <a:t> / </a:t>
                      </a:r>
                      <a:r>
                        <a:rPr lang="zh-CN" altLang="en-US" sz="1400"/>
                        <a:t>年度处罚趋势</a:t>
                      </a:r>
                      <a:endParaRPr lang="zh-CN" altLang="en-US" sz="1400"/>
                    </a:p>
                  </a:txBody>
                  <a:tcPr anchor="ctr" anchorCtr="0"/>
                </a:tc>
                <a:tc>
                  <a:txBody>
                    <a:bodyPr/>
                    <a:p>
                      <a:pPr algn="ctr">
                        <a:buNone/>
                      </a:pPr>
                      <a:r>
                        <a:rPr lang="ko-KR" altLang="en-US" sz="1400"/>
                        <a:t>선그래프</a:t>
                      </a:r>
                      <a:r>
                        <a:rPr lang="en-US" altLang="zh-CN" sz="1400"/>
                        <a:t> / </a:t>
                      </a:r>
                      <a:r>
                        <a:rPr lang="zh-CN" altLang="en-US" sz="1400"/>
                        <a:t>折线图</a:t>
                      </a:r>
                      <a:endParaRPr lang="zh-CN" altLang="en-US" sz="1400"/>
                    </a:p>
                  </a:txBody>
                  <a:tcPr anchor="ctr" anchorCtr="0"/>
                </a:tc>
                <a:tc>
                  <a:txBody>
                    <a:bodyPr/>
                    <a:p>
                      <a:pPr algn="ctr">
                        <a:buNone/>
                      </a:pPr>
                      <a:r>
                        <a:rPr lang="en-US" altLang="zh-CN" sz="1400"/>
                        <a:t>matplotlib</a:t>
                      </a:r>
                      <a:endParaRPr lang="en-US" altLang="zh-CN" sz="1400"/>
                    </a:p>
                  </a:txBody>
                  <a:tcPr anchor="ctr" anchorCtr="0"/>
                </a:tc>
              </a:tr>
              <a:tr h="381000">
                <a:tc>
                  <a:txBody>
                    <a:bodyPr/>
                    <a:p>
                      <a:pPr algn="ctr">
                        <a:buNone/>
                      </a:pPr>
                      <a:r>
                        <a:rPr lang="ko-KR" altLang="en-US" sz="1400"/>
                        <a:t>업종별</a:t>
                      </a:r>
                      <a:r>
                        <a:rPr lang="en-US" altLang="zh-CN" sz="1400"/>
                        <a:t> </a:t>
                      </a:r>
                      <a:r>
                        <a:rPr lang="ko-KR" altLang="en-US" sz="1400"/>
                        <a:t>처분비율</a:t>
                      </a:r>
                      <a:r>
                        <a:rPr lang="en-US" altLang="zh-CN" sz="1400"/>
                        <a:t> / </a:t>
                      </a:r>
                      <a:r>
                        <a:rPr lang="zh-CN" altLang="en-US" sz="1400"/>
                        <a:t>行业处罚比例</a:t>
                      </a:r>
                      <a:endParaRPr lang="zh-CN" altLang="en-US" sz="1400"/>
                    </a:p>
                  </a:txBody>
                  <a:tcPr anchor="ctr" anchorCtr="0"/>
                </a:tc>
                <a:tc>
                  <a:txBody>
                    <a:bodyPr/>
                    <a:p>
                      <a:pPr algn="ctr">
                        <a:buNone/>
                      </a:pPr>
                      <a:r>
                        <a:rPr lang="ko-KR" altLang="en-US" sz="1400"/>
                        <a:t>막대그래프</a:t>
                      </a:r>
                      <a:r>
                        <a:rPr lang="en-US" altLang="zh-CN" sz="1400"/>
                        <a:t> / </a:t>
                      </a:r>
                      <a:r>
                        <a:rPr lang="zh-CN" altLang="en-US" sz="1400"/>
                        <a:t>条形图</a:t>
                      </a:r>
                      <a:endParaRPr lang="zh-CN" altLang="en-US" sz="1400"/>
                    </a:p>
                  </a:txBody>
                  <a:tcPr anchor="ctr" anchorCtr="0"/>
                </a:tc>
                <a:tc>
                  <a:txBody>
                    <a:bodyPr/>
                    <a:p>
                      <a:pPr algn="ctr">
                        <a:buNone/>
                      </a:pPr>
                      <a:r>
                        <a:rPr lang="en-US" altLang="zh-CN" sz="1400"/>
                        <a:t>seaborn</a:t>
                      </a:r>
                      <a:endParaRPr lang="en-US" altLang="zh-CN" sz="1400"/>
                    </a:p>
                  </a:txBody>
                  <a:tcPr anchor="ctr" anchorCtr="0"/>
                </a:tc>
              </a:tr>
              <a:tr h="381000">
                <a:tc>
                  <a:txBody>
                    <a:bodyPr/>
                    <a:p>
                      <a:pPr algn="ctr">
                        <a:buNone/>
                      </a:pPr>
                      <a:r>
                        <a:rPr lang="ko-KR" altLang="en-US" sz="1400"/>
                        <a:t>자치구별</a:t>
                      </a:r>
                      <a:r>
                        <a:rPr lang="en-US" altLang="zh-CN" sz="1400"/>
                        <a:t> </a:t>
                      </a:r>
                      <a:r>
                        <a:rPr lang="ko-KR" altLang="en-US" sz="1400"/>
                        <a:t>리스크밀도</a:t>
                      </a:r>
                      <a:r>
                        <a:rPr lang="en-US" altLang="zh-CN" sz="1400"/>
                        <a:t> / </a:t>
                      </a:r>
                      <a:r>
                        <a:rPr lang="zh-CN" altLang="en-US" sz="1400"/>
                        <a:t>区域风险密度</a:t>
                      </a:r>
                      <a:endParaRPr lang="zh-CN" altLang="en-US" sz="1400"/>
                    </a:p>
                  </a:txBody>
                  <a:tcPr anchor="ctr" anchorCtr="0"/>
                </a:tc>
                <a:tc>
                  <a:txBody>
                    <a:bodyPr/>
                    <a:p>
                      <a:pPr algn="ctr">
                        <a:buNone/>
                      </a:pPr>
                      <a:r>
                        <a:rPr lang="ko-KR" altLang="en-US" sz="1400"/>
                        <a:t>히트맵</a:t>
                      </a:r>
                      <a:r>
                        <a:rPr lang="en-US" altLang="zh-CN" sz="1400"/>
                        <a:t> / </a:t>
                      </a:r>
                      <a:r>
                        <a:rPr lang="zh-CN" altLang="en-US" sz="1400"/>
                        <a:t>热力图</a:t>
                      </a:r>
                      <a:endParaRPr lang="zh-CN" altLang="en-US" sz="1400"/>
                    </a:p>
                  </a:txBody>
                  <a:tcPr anchor="ctr" anchorCtr="0"/>
                </a:tc>
                <a:tc>
                  <a:txBody>
                    <a:bodyPr/>
                    <a:p>
                      <a:pPr algn="ctr">
                        <a:buNone/>
                      </a:pPr>
                      <a:r>
                        <a:rPr lang="en-US" altLang="zh-CN" sz="1400"/>
                        <a:t>folium</a:t>
                      </a:r>
                      <a:endParaRPr lang="en-US" altLang="zh-CN" sz="1400"/>
                    </a:p>
                  </a:txBody>
                  <a:tcPr anchor="ctr" anchorCtr="0"/>
                </a:tc>
              </a:tr>
              <a:tr h="381000">
                <a:tc>
                  <a:txBody>
                    <a:bodyPr/>
                    <a:p>
                      <a:pPr algn="ctr">
                        <a:buNone/>
                      </a:pPr>
                      <a:r>
                        <a:rPr lang="ko-KR" altLang="en-US" sz="1400"/>
                        <a:t>위반내용</a:t>
                      </a:r>
                      <a:r>
                        <a:rPr lang="en-US" altLang="zh-CN" sz="1400"/>
                        <a:t> </a:t>
                      </a:r>
                      <a:r>
                        <a:rPr lang="ko-KR" altLang="en-US" sz="1400"/>
                        <a:t>키워드</a:t>
                      </a:r>
                      <a:r>
                        <a:rPr lang="en-US" altLang="zh-CN" sz="1400"/>
                        <a:t> / </a:t>
                      </a:r>
                      <a:r>
                        <a:rPr lang="zh-CN" altLang="en-US" sz="1400"/>
                        <a:t>违规关键词</a:t>
                      </a:r>
                      <a:endParaRPr lang="zh-CN" altLang="en-US" sz="1400"/>
                    </a:p>
                  </a:txBody>
                  <a:tcPr anchor="ctr" anchorCtr="0"/>
                </a:tc>
                <a:tc>
                  <a:txBody>
                    <a:bodyPr/>
                    <a:p>
                      <a:pPr algn="ctr">
                        <a:buNone/>
                      </a:pPr>
                      <a:r>
                        <a:rPr lang="ko-KR" altLang="en-US" sz="1400"/>
                        <a:t>워드클라우드</a:t>
                      </a:r>
                      <a:r>
                        <a:rPr lang="en-US" altLang="zh-CN" sz="1400"/>
                        <a:t> / </a:t>
                      </a:r>
                      <a:r>
                        <a:rPr lang="zh-CN" altLang="en-US" sz="1400"/>
                        <a:t>词云图</a:t>
                      </a:r>
                      <a:endParaRPr lang="zh-CN" altLang="en-US" sz="1400"/>
                    </a:p>
                  </a:txBody>
                  <a:tcPr anchor="ctr" anchorCtr="0"/>
                </a:tc>
                <a:tc>
                  <a:txBody>
                    <a:bodyPr/>
                    <a:p>
                      <a:pPr algn="ctr">
                        <a:buNone/>
                      </a:pPr>
                      <a:r>
                        <a:rPr lang="en-US" altLang="zh-CN" sz="1400"/>
                        <a:t>wordcloud</a:t>
                      </a:r>
                      <a:endParaRPr lang="en-US" altLang="zh-CN" sz="1400"/>
                    </a:p>
                  </a:txBody>
                  <a:tcPr anchor="ctr" anchorCtr="0"/>
                </a:tc>
              </a:tr>
              <a:tr h="381000">
                <a:tc>
                  <a:txBody>
                    <a:bodyPr/>
                    <a:p>
                      <a:pPr algn="ctr">
                        <a:buNone/>
                      </a:pPr>
                      <a:r>
                        <a:rPr lang="ko-KR" altLang="en-US" sz="1400"/>
                        <a:t>업종</a:t>
                      </a:r>
                      <a:r>
                        <a:rPr lang="en-US" altLang="zh-CN" sz="1400"/>
                        <a:t> </a:t>
                      </a:r>
                      <a:r>
                        <a:rPr lang="ko-KR" altLang="en-US" sz="1400"/>
                        <a:t>리스크지수비교</a:t>
                      </a:r>
                      <a:r>
                        <a:rPr lang="en-US" altLang="zh-CN" sz="1400"/>
                        <a:t> / </a:t>
                      </a:r>
                      <a:r>
                        <a:rPr lang="zh-CN" altLang="en-US" sz="1400"/>
                        <a:t>行业风险指数对比</a:t>
                      </a:r>
                      <a:endParaRPr lang="zh-CN" altLang="en-US" sz="1400"/>
                    </a:p>
                  </a:txBody>
                  <a:tcPr anchor="ctr" anchorCtr="0"/>
                </a:tc>
                <a:tc>
                  <a:txBody>
                    <a:bodyPr/>
                    <a:p>
                      <a:pPr algn="ctr">
                        <a:buNone/>
                      </a:pPr>
                      <a:r>
                        <a:rPr lang="ko-KR" altLang="en-US" sz="1400"/>
                        <a:t>레이더차트</a:t>
                      </a:r>
                      <a:r>
                        <a:rPr lang="en-US" altLang="zh-CN" sz="1400"/>
                        <a:t> / </a:t>
                      </a:r>
                      <a:r>
                        <a:rPr lang="zh-CN" altLang="en-US" sz="1400"/>
                        <a:t>雷达图</a:t>
                      </a:r>
                      <a:endParaRPr lang="zh-CN" altLang="en-US" sz="1400"/>
                    </a:p>
                  </a:txBody>
                  <a:tcPr anchor="ctr" anchorCtr="0"/>
                </a:tc>
                <a:tc>
                  <a:txBody>
                    <a:bodyPr/>
                    <a:p>
                      <a:pPr algn="ctr">
                        <a:buNone/>
                      </a:pPr>
                      <a:r>
                        <a:rPr lang="en-US" altLang="zh-CN" sz="1400"/>
                        <a:t>matplotlib</a:t>
                      </a:r>
                      <a:endParaRPr lang="en-US" altLang="zh-CN" sz="1400"/>
                    </a:p>
                  </a:txBody>
                  <a:tcPr anchor="ctr" anchorCtr="0"/>
                </a:tc>
              </a:tr>
            </a:tbl>
          </a:graphicData>
        </a:graphic>
      </p:graphicFrame>
      <p:pic>
        <p:nvPicPr>
          <p:cNvPr id="4" name="图片 3"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예상 결과 및 기대효과 / 预期结果与应用价值</a:t>
            </a:r>
          </a:p>
        </p:txBody>
      </p:sp>
      <p:graphicFrame>
        <p:nvGraphicFramePr>
          <p:cNvPr id="2" name="表格 1"/>
          <p:cNvGraphicFramePr/>
          <p:nvPr>
            <p:custDataLst>
              <p:tags r:id="rId1"/>
            </p:custDataLst>
          </p:nvPr>
        </p:nvGraphicFramePr>
        <p:xfrm>
          <a:off x="1122045" y="2065020"/>
          <a:ext cx="6689090" cy="3188970"/>
        </p:xfrm>
        <a:graphic>
          <a:graphicData uri="http://schemas.openxmlformats.org/drawingml/2006/table">
            <a:tbl>
              <a:tblPr firstRow="1" bandRow="1">
                <a:tableStyleId>{5C22544A-7EE6-4342-B048-85BDC9FD1C3A}</a:tableStyleId>
              </a:tblPr>
              <a:tblGrid>
                <a:gridCol w="3344545"/>
                <a:gridCol w="3344545"/>
              </a:tblGrid>
              <a:tr h="783590">
                <a:tc>
                  <a:txBody>
                    <a:bodyPr/>
                    <a:p>
                      <a:pPr algn="ctr">
                        <a:buNone/>
                      </a:pPr>
                      <a:r>
                        <a:rPr sz="1800">
                          <a:sym typeface="+mn-ea"/>
                        </a:rPr>
                        <a:t>预期结果</a:t>
                      </a:r>
                      <a:endParaRPr lang="zh-CN" altLang="en-US"/>
                    </a:p>
                  </a:txBody>
                  <a:tcPr anchor="ctr" anchorCtr="0"/>
                </a:tc>
                <a:tc>
                  <a:txBody>
                    <a:bodyPr/>
                    <a:p>
                      <a:pPr algn="ctr">
                        <a:buNone/>
                      </a:pPr>
                      <a:r>
                        <a:rPr lang="ko-KR" altLang="en-US" b="0"/>
                        <a:t>예상</a:t>
                      </a:r>
                      <a:r>
                        <a:rPr lang="en-US" altLang="zh-CN" b="0"/>
                        <a:t> </a:t>
                      </a:r>
                      <a:r>
                        <a:rPr lang="ko-KR" altLang="en-US" b="0"/>
                        <a:t>결과</a:t>
                      </a:r>
                      <a:endParaRPr lang="ko-KR" altLang="en-US" b="0"/>
                    </a:p>
                  </a:txBody>
                  <a:tcPr anchor="ctr" anchorCtr="0"/>
                </a:tc>
              </a:tr>
              <a:tr h="466725">
                <a:tc>
                  <a:txBody>
                    <a:bodyPr/>
                    <a:p>
                      <a:pPr algn="ctr">
                        <a:buNone/>
                      </a:pPr>
                      <a:r>
                        <a:rPr lang="zh-CN" altLang="en-US" sz="1400">
                          <a:sym typeface="+mn-ea"/>
                        </a:rPr>
                        <a:t>分析各行业主要违规类型与处罚模式</a:t>
                      </a:r>
                      <a:endParaRPr lang="zh-CN" altLang="en-US" sz="1400">
                        <a:sym typeface="+mn-ea"/>
                      </a:endParaRPr>
                    </a:p>
                  </a:txBody>
                  <a:tcPr anchor="ctr" anchorCtr="0"/>
                </a:tc>
                <a:tc>
                  <a:txBody>
                    <a:bodyPr/>
                    <a:p>
                      <a:pPr algn="ctr">
                        <a:buNone/>
                      </a:pPr>
                      <a:r>
                        <a:rPr lang="ko-KR" altLang="en-US" sz="1400"/>
                        <a:t>업종별</a:t>
                      </a:r>
                      <a:r>
                        <a:rPr lang="en-US" altLang="zh-CN" sz="1400"/>
                        <a:t> </a:t>
                      </a:r>
                      <a:r>
                        <a:rPr lang="ko-KR" altLang="en-US" sz="1400"/>
                        <a:t>주요</a:t>
                      </a:r>
                      <a:r>
                        <a:rPr lang="en-US" altLang="zh-CN" sz="1400"/>
                        <a:t> </a:t>
                      </a:r>
                      <a:r>
                        <a:rPr lang="ko-KR" altLang="en-US" sz="1400"/>
                        <a:t>위반유형</a:t>
                      </a:r>
                      <a:r>
                        <a:rPr lang="en-US" altLang="zh-CN" sz="1400"/>
                        <a:t> </a:t>
                      </a:r>
                      <a:r>
                        <a:rPr lang="ko-KR" altLang="en-US" sz="1400"/>
                        <a:t>및</a:t>
                      </a:r>
                      <a:r>
                        <a:rPr lang="en-US" altLang="zh-CN" sz="1400"/>
                        <a:t> </a:t>
                      </a:r>
                      <a:r>
                        <a:rPr lang="ko-KR" altLang="en-US" sz="1400"/>
                        <a:t>처분패턴</a:t>
                      </a:r>
                      <a:r>
                        <a:rPr lang="en-US" altLang="zh-CN" sz="1400"/>
                        <a:t> </a:t>
                      </a:r>
                      <a:r>
                        <a:rPr lang="ko-KR" altLang="en-US" sz="1400"/>
                        <a:t>분석</a:t>
                      </a:r>
                      <a:endParaRPr lang="ko-KR" altLang="en-US" sz="1400"/>
                    </a:p>
                  </a:txBody>
                  <a:tcPr anchor="ctr" anchorCtr="0"/>
                </a:tc>
              </a:tr>
              <a:tr h="466090">
                <a:tc>
                  <a:txBody>
                    <a:bodyPr/>
                    <a:p>
                      <a:pPr algn="ctr">
                        <a:buNone/>
                      </a:pPr>
                      <a:r>
                        <a:rPr lang="zh-CN" altLang="en-US" sz="1400">
                          <a:sym typeface="+mn-ea"/>
                        </a:rPr>
                        <a:t>可视化首尔市各区风险集中分布</a:t>
                      </a:r>
                      <a:endParaRPr lang="zh-CN" altLang="en-US" sz="1400">
                        <a:sym typeface="+mn-ea"/>
                      </a:endParaRPr>
                    </a:p>
                  </a:txBody>
                  <a:tcPr anchor="ctr" anchorCtr="0"/>
                </a:tc>
                <a:tc>
                  <a:txBody>
                    <a:bodyPr/>
                    <a:p>
                      <a:pPr algn="ctr">
                        <a:buNone/>
                      </a:pPr>
                      <a:r>
                        <a:rPr lang="ko-KR" altLang="en-US" sz="1400"/>
                        <a:t>자치구별</a:t>
                      </a:r>
                      <a:r>
                        <a:rPr lang="en-US" altLang="zh-CN" sz="1400"/>
                        <a:t> </a:t>
                      </a:r>
                      <a:r>
                        <a:rPr lang="ko-KR" altLang="en-US" sz="1400"/>
                        <a:t>위생리스크</a:t>
                      </a:r>
                      <a:r>
                        <a:rPr lang="en-US" altLang="zh-CN" sz="1400"/>
                        <a:t> </a:t>
                      </a:r>
                      <a:r>
                        <a:rPr lang="ko-KR" altLang="en-US" sz="1400"/>
                        <a:t>집중지역</a:t>
                      </a:r>
                      <a:r>
                        <a:rPr lang="en-US" altLang="zh-CN" sz="1400"/>
                        <a:t> </a:t>
                      </a:r>
                      <a:r>
                        <a:rPr lang="ko-KR" altLang="en-US" sz="1400"/>
                        <a:t>시각화</a:t>
                      </a:r>
                      <a:endParaRPr lang="ko-KR" altLang="en-US" sz="1400"/>
                    </a:p>
                  </a:txBody>
                  <a:tcPr anchor="ctr" anchorCtr="0"/>
                </a:tc>
              </a:tr>
              <a:tr h="466725">
                <a:tc>
                  <a:txBody>
                    <a:bodyPr/>
                    <a:p>
                      <a:pPr algn="ctr">
                        <a:buNone/>
                      </a:pPr>
                      <a:r>
                        <a:rPr lang="zh-CN" altLang="en-US" sz="1400">
                          <a:sym typeface="+mn-ea"/>
                        </a:rPr>
                        <a:t>比较不同法律依据对应的处罚类型</a:t>
                      </a:r>
                      <a:endParaRPr lang="zh-CN" altLang="en-US" sz="1400">
                        <a:sym typeface="+mn-ea"/>
                      </a:endParaRPr>
                    </a:p>
                  </a:txBody>
                  <a:tcPr anchor="ctr" anchorCtr="0"/>
                </a:tc>
                <a:tc>
                  <a:txBody>
                    <a:bodyPr/>
                    <a:p>
                      <a:pPr algn="ctr">
                        <a:buNone/>
                      </a:pPr>
                      <a:r>
                        <a:rPr lang="ko-KR" altLang="en-US" sz="1400"/>
                        <a:t>법적근거별</a:t>
                      </a:r>
                      <a:r>
                        <a:rPr lang="en-US" altLang="zh-CN" sz="1400"/>
                        <a:t> </a:t>
                      </a:r>
                      <a:r>
                        <a:rPr lang="ko-KR" altLang="en-US" sz="1400"/>
                        <a:t>처분유형</a:t>
                      </a:r>
                      <a:r>
                        <a:rPr lang="en-US" altLang="zh-CN" sz="1400"/>
                        <a:t> </a:t>
                      </a:r>
                      <a:r>
                        <a:rPr lang="ko-KR" altLang="en-US" sz="1400"/>
                        <a:t>비교</a:t>
                      </a:r>
                      <a:endParaRPr lang="ko-KR" altLang="en-US" sz="1400"/>
                    </a:p>
                  </a:txBody>
                  <a:tcPr anchor="ctr" anchorCtr="0"/>
                </a:tc>
              </a:tr>
              <a:tr h="466090">
                <a:tc>
                  <a:txBody>
                    <a:bodyPr/>
                    <a:p>
                      <a:pPr algn="ctr">
                        <a:buNone/>
                      </a:pPr>
                      <a:r>
                        <a:rPr lang="zh-CN" altLang="en-US" sz="1400">
                          <a:sym typeface="+mn-ea"/>
                        </a:rPr>
                        <a:t>从违规文本中提取经营风险关键词</a:t>
                      </a:r>
                      <a:endParaRPr lang="zh-CN" altLang="en-US" sz="1400">
                        <a:sym typeface="+mn-ea"/>
                      </a:endParaRPr>
                    </a:p>
                  </a:txBody>
                  <a:tcPr anchor="ctr" anchorCtr="0"/>
                </a:tc>
                <a:tc>
                  <a:txBody>
                    <a:bodyPr/>
                    <a:p>
                      <a:pPr algn="ctr">
                        <a:buNone/>
                      </a:pPr>
                      <a:r>
                        <a:rPr lang="ko-KR" altLang="en-US" sz="1400"/>
                        <a:t>위반내용</a:t>
                      </a:r>
                      <a:r>
                        <a:rPr lang="en-US" altLang="zh-CN" sz="1400"/>
                        <a:t> </a:t>
                      </a:r>
                      <a:r>
                        <a:rPr lang="ko-KR" altLang="en-US" sz="1400"/>
                        <a:t>기반</a:t>
                      </a:r>
                      <a:r>
                        <a:rPr lang="en-US" altLang="zh-CN" sz="1400"/>
                        <a:t> </a:t>
                      </a:r>
                      <a:r>
                        <a:rPr lang="ko-KR" altLang="en-US" sz="1400"/>
                        <a:t>경영리스크</a:t>
                      </a:r>
                      <a:r>
                        <a:rPr lang="en-US" altLang="zh-CN" sz="1400"/>
                        <a:t> </a:t>
                      </a:r>
                      <a:r>
                        <a:rPr lang="ko-KR" altLang="en-US" sz="1400"/>
                        <a:t>키워드</a:t>
                      </a:r>
                      <a:r>
                        <a:rPr lang="en-US" altLang="zh-CN" sz="1400"/>
                        <a:t> </a:t>
                      </a:r>
                      <a:r>
                        <a:rPr lang="ko-KR" altLang="en-US" sz="1400"/>
                        <a:t>도출</a:t>
                      </a:r>
                      <a:endParaRPr lang="ko-KR" altLang="en-US" sz="1400"/>
                    </a:p>
                  </a:txBody>
                  <a:tcPr anchor="ctr" anchorCtr="0"/>
                </a:tc>
              </a:tr>
              <a:tr h="539750">
                <a:tc>
                  <a:txBody>
                    <a:bodyPr/>
                    <a:p>
                      <a:pPr algn="ctr">
                        <a:buNone/>
                      </a:pPr>
                      <a:r>
                        <a:rPr lang="zh-CN" altLang="en-US" sz="1400">
                          <a:sym typeface="+mn-ea"/>
                        </a:rPr>
                        <a:t>提出针对企业与政府的风险防控策略与政策建议</a:t>
                      </a:r>
                      <a:endParaRPr lang="zh-CN" altLang="en-US" sz="1400">
                        <a:sym typeface="+mn-ea"/>
                      </a:endParaRPr>
                    </a:p>
                  </a:txBody>
                  <a:tcPr anchor="ctr" anchorCtr="0"/>
                </a:tc>
                <a:tc>
                  <a:txBody>
                    <a:bodyPr/>
                    <a:p>
                      <a:pPr algn="ctr">
                        <a:buNone/>
                      </a:pPr>
                      <a:r>
                        <a:rPr lang="ko-KR" altLang="en-US" sz="1400"/>
                        <a:t>경영리스크</a:t>
                      </a:r>
                      <a:r>
                        <a:rPr lang="en-US" altLang="zh-CN" sz="1400"/>
                        <a:t> </a:t>
                      </a:r>
                      <a:r>
                        <a:rPr lang="ko-KR" altLang="en-US" sz="1400"/>
                        <a:t>방지</a:t>
                      </a:r>
                      <a:r>
                        <a:rPr lang="en-US" altLang="zh-CN" sz="1400"/>
                        <a:t> </a:t>
                      </a:r>
                      <a:r>
                        <a:rPr lang="ko-KR" altLang="en-US" sz="1400"/>
                        <a:t>전략</a:t>
                      </a:r>
                      <a:r>
                        <a:rPr lang="en-US" altLang="zh-CN" sz="1400"/>
                        <a:t> </a:t>
                      </a:r>
                      <a:r>
                        <a:rPr lang="ko-KR" altLang="en-US" sz="1400"/>
                        <a:t>및</a:t>
                      </a:r>
                      <a:r>
                        <a:rPr lang="en-US" altLang="zh-CN" sz="1400"/>
                        <a:t> </a:t>
                      </a:r>
                      <a:r>
                        <a:rPr lang="ko-KR" altLang="en-US" sz="1400"/>
                        <a:t>정책</a:t>
                      </a:r>
                      <a:r>
                        <a:rPr lang="en-US" altLang="zh-CN" sz="1400"/>
                        <a:t> </a:t>
                      </a:r>
                      <a:r>
                        <a:rPr lang="ko-KR" altLang="en-US" sz="1400"/>
                        <a:t>제언</a:t>
                      </a:r>
                      <a:endParaRPr lang="ko-KR" altLang="en-US" sz="1400"/>
                    </a:p>
                  </a:txBody>
                  <a:tcPr anchor="ctr" anchorCtr="0"/>
                </a:tc>
              </a:tr>
            </a:tbl>
          </a:graphicData>
        </a:graphic>
      </p:graphicFrame>
      <p:pic>
        <p:nvPicPr>
          <p:cNvPr id="4" name="图片 3"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1154430" y="2077720"/>
          <a:ext cx="6780530" cy="2877185"/>
        </p:xfrm>
        <a:graphic>
          <a:graphicData uri="http://schemas.openxmlformats.org/drawingml/2006/table">
            <a:tbl>
              <a:tblPr firstRow="1" bandRow="1">
                <a:tableStyleId>{5C22544A-7EE6-4342-B048-85BDC9FD1C3A}</a:tableStyleId>
              </a:tblPr>
              <a:tblGrid>
                <a:gridCol w="2792730"/>
                <a:gridCol w="3987800"/>
              </a:tblGrid>
              <a:tr h="379730">
                <a:tc>
                  <a:txBody>
                    <a:bodyPr/>
                    <a:p>
                      <a:pPr algn="ctr">
                        <a:buNone/>
                      </a:pPr>
                      <a:r>
                        <a:rPr lang="ko-KR" altLang="en-US"/>
                        <a:t>응용분야</a:t>
                      </a:r>
                      <a:r>
                        <a:rPr lang="en-US" altLang="zh-CN"/>
                        <a:t> / </a:t>
                      </a:r>
                      <a:r>
                        <a:rPr lang="zh-CN" altLang="en-US"/>
                        <a:t>应用领域</a:t>
                      </a:r>
                      <a:endParaRPr lang="zh-CN" altLang="en-US"/>
                    </a:p>
                  </a:txBody>
                  <a:tcPr anchor="ctr" anchorCtr="0"/>
                </a:tc>
                <a:tc>
                  <a:txBody>
                    <a:bodyPr/>
                    <a:p>
                      <a:pPr algn="ctr">
                        <a:buNone/>
                      </a:pPr>
                      <a:r>
                        <a:rPr lang="ko-KR" altLang="en-US"/>
                        <a:t>적용방안</a:t>
                      </a:r>
                      <a:r>
                        <a:rPr lang="en-US" altLang="zh-CN"/>
                        <a:t> / </a:t>
                      </a:r>
                      <a:r>
                        <a:rPr lang="zh-CN" altLang="en-US"/>
                        <a:t>实施方案</a:t>
                      </a:r>
                      <a:endParaRPr lang="zh-CN" altLang="en-US"/>
                    </a:p>
                  </a:txBody>
                  <a:tcPr anchor="ctr" anchorCtr="0"/>
                </a:tc>
              </a:tr>
              <a:tr h="731520">
                <a:tc>
                  <a:txBody>
                    <a:bodyPr/>
                    <a:p>
                      <a:pPr algn="ctr">
                        <a:buNone/>
                      </a:pPr>
                      <a:r>
                        <a:rPr lang="ko-KR" altLang="en-US" sz="1400"/>
                        <a:t>정책적</a:t>
                      </a:r>
                      <a:r>
                        <a:rPr lang="en-US" altLang="zh-CN" sz="1400"/>
                        <a:t> </a:t>
                      </a:r>
                      <a:r>
                        <a:rPr lang="ko-KR" altLang="en-US" sz="1400"/>
                        <a:t>활용</a:t>
                      </a:r>
                      <a:r>
                        <a:rPr lang="en-US" altLang="zh-CN" sz="1400"/>
                        <a:t> / </a:t>
                      </a:r>
                      <a:r>
                        <a:rPr lang="zh-CN" altLang="en-US" sz="1400"/>
                        <a:t>政策应用</a:t>
                      </a:r>
                      <a:endParaRPr lang="zh-CN" altLang="en-US" sz="1400"/>
                    </a:p>
                  </a:txBody>
                  <a:tcPr anchor="ctr" anchorCtr="0"/>
                </a:tc>
                <a:tc>
                  <a:txBody>
                    <a:bodyPr/>
                    <a:p>
                      <a:pPr algn="ctr">
                        <a:buNone/>
                      </a:pPr>
                      <a:r>
                        <a:rPr lang="ko-KR" altLang="en-US" sz="1400"/>
                        <a:t>자치구별</a:t>
                      </a:r>
                      <a:r>
                        <a:rPr lang="en-US" altLang="zh-CN" sz="1400"/>
                        <a:t> </a:t>
                      </a:r>
                      <a:r>
                        <a:rPr lang="ko-KR" altLang="en-US" sz="1400"/>
                        <a:t>리스크</a:t>
                      </a:r>
                      <a:r>
                        <a:rPr lang="en-US" altLang="zh-CN" sz="1400"/>
                        <a:t> </a:t>
                      </a:r>
                      <a:r>
                        <a:rPr lang="ko-KR" altLang="en-US" sz="1400"/>
                        <a:t>지역을</a:t>
                      </a:r>
                      <a:r>
                        <a:rPr lang="en-US" altLang="zh-CN" sz="1400"/>
                        <a:t> </a:t>
                      </a:r>
                      <a:r>
                        <a:rPr lang="ko-KR" altLang="en-US" sz="1400"/>
                        <a:t>지도화하여</a:t>
                      </a:r>
                      <a:r>
                        <a:rPr lang="en-US" altLang="zh-CN" sz="1400"/>
                        <a:t> </a:t>
                      </a:r>
                      <a:r>
                        <a:rPr lang="ko-KR" altLang="en-US" sz="1400"/>
                        <a:t>집중</a:t>
                      </a:r>
                      <a:r>
                        <a:rPr lang="en-US" altLang="zh-CN" sz="1400"/>
                        <a:t> </a:t>
                      </a:r>
                      <a:r>
                        <a:rPr lang="ko-KR" altLang="en-US" sz="1400"/>
                        <a:t>관리</a:t>
                      </a:r>
                      <a:r>
                        <a:rPr lang="en-US" altLang="zh-CN" sz="1400"/>
                        <a:t> </a:t>
                      </a:r>
                      <a:r>
                        <a:rPr lang="ko-KR" altLang="en-US" sz="1400"/>
                        <a:t>가능</a:t>
                      </a:r>
                      <a:r>
                        <a:rPr lang="en-US" altLang="zh-CN" sz="1400"/>
                        <a:t> / </a:t>
                      </a:r>
                      <a:r>
                        <a:rPr lang="zh-CN" altLang="en-US" sz="1400"/>
                        <a:t>通过地图识别高风险区，提高监管效率</a:t>
                      </a:r>
                      <a:endParaRPr lang="zh-CN" altLang="en-US" sz="1400"/>
                    </a:p>
                  </a:txBody>
                  <a:tcPr anchor="ctr" anchorCtr="0"/>
                </a:tc>
              </a:tr>
              <a:tr h="518160">
                <a:tc>
                  <a:txBody>
                    <a:bodyPr/>
                    <a:p>
                      <a:pPr algn="ctr">
                        <a:buNone/>
                      </a:pPr>
                      <a:r>
                        <a:rPr lang="ko-KR" altLang="en-US" sz="1400"/>
                        <a:t>경영자</a:t>
                      </a:r>
                      <a:r>
                        <a:rPr lang="en-US" altLang="zh-CN" sz="1400"/>
                        <a:t> </a:t>
                      </a:r>
                      <a:r>
                        <a:rPr lang="ko-KR" altLang="en-US" sz="1400"/>
                        <a:t>활용</a:t>
                      </a:r>
                      <a:r>
                        <a:rPr lang="en-US" altLang="zh-CN" sz="1400"/>
                        <a:t> / </a:t>
                      </a:r>
                      <a:r>
                        <a:rPr lang="zh-CN" altLang="en-US" sz="1400"/>
                        <a:t>经营者使用</a:t>
                      </a:r>
                      <a:endParaRPr lang="zh-CN" altLang="en-US" sz="1400"/>
                    </a:p>
                  </a:txBody>
                  <a:tcPr anchor="ctr" anchorCtr="0"/>
                </a:tc>
                <a:tc>
                  <a:txBody>
                    <a:bodyPr/>
                    <a:p>
                      <a:pPr algn="ctr">
                        <a:buNone/>
                      </a:pPr>
                      <a:r>
                        <a:rPr lang="ko-KR" altLang="en-US" sz="1400"/>
                        <a:t>업종별</a:t>
                      </a:r>
                      <a:r>
                        <a:rPr lang="en-US" altLang="zh-CN" sz="1400"/>
                        <a:t> </a:t>
                      </a:r>
                      <a:r>
                        <a:rPr lang="ko-KR" altLang="en-US" sz="1400"/>
                        <a:t>주요</a:t>
                      </a:r>
                      <a:r>
                        <a:rPr lang="en-US" altLang="zh-CN" sz="1400"/>
                        <a:t> </a:t>
                      </a:r>
                      <a:r>
                        <a:rPr lang="ko-KR" altLang="en-US" sz="1400"/>
                        <a:t>위반항목을</a:t>
                      </a:r>
                      <a:r>
                        <a:rPr lang="en-US" altLang="zh-CN" sz="1400"/>
                        <a:t> </a:t>
                      </a:r>
                      <a:r>
                        <a:rPr lang="ko-KR" altLang="en-US" sz="1400"/>
                        <a:t>기반으로</a:t>
                      </a:r>
                      <a:r>
                        <a:rPr lang="en-US" altLang="zh-CN" sz="1400"/>
                        <a:t> </a:t>
                      </a:r>
                      <a:r>
                        <a:rPr lang="ko-KR" altLang="en-US" sz="1400"/>
                        <a:t>자율점검표</a:t>
                      </a:r>
                      <a:r>
                        <a:rPr lang="en-US" altLang="zh-CN" sz="1400"/>
                        <a:t> </a:t>
                      </a:r>
                      <a:r>
                        <a:rPr lang="ko-KR" altLang="en-US" sz="1400"/>
                        <a:t>제작</a:t>
                      </a:r>
                      <a:r>
                        <a:rPr lang="en-US" altLang="zh-CN" sz="1400"/>
                        <a:t> / </a:t>
                      </a:r>
                      <a:r>
                        <a:rPr lang="zh-CN" altLang="en-US" sz="1400"/>
                        <a:t>制定行业自查清单</a:t>
                      </a:r>
                      <a:endParaRPr lang="zh-CN" altLang="en-US" sz="1400"/>
                    </a:p>
                  </a:txBody>
                  <a:tcPr anchor="ctr" anchorCtr="0"/>
                </a:tc>
              </a:tr>
              <a:tr h="518160">
                <a:tc>
                  <a:txBody>
                    <a:bodyPr/>
                    <a:p>
                      <a:pPr algn="ctr">
                        <a:buNone/>
                      </a:pPr>
                      <a:r>
                        <a:rPr lang="ko-KR" altLang="en-US" sz="1400"/>
                        <a:t>교육</a:t>
                      </a:r>
                      <a:r>
                        <a:rPr lang="en-US" altLang="zh-CN" sz="1400"/>
                        <a:t> </a:t>
                      </a:r>
                      <a:r>
                        <a:rPr lang="ko-KR" altLang="en-US" sz="1400"/>
                        <a:t>자료화</a:t>
                      </a:r>
                      <a:r>
                        <a:rPr lang="en-US" altLang="zh-CN" sz="1400"/>
                        <a:t> / </a:t>
                      </a:r>
                      <a:r>
                        <a:rPr lang="zh-CN" altLang="en-US" sz="1400"/>
                        <a:t>教育资料化</a:t>
                      </a:r>
                      <a:endParaRPr lang="zh-CN" altLang="en-US" sz="1400"/>
                    </a:p>
                  </a:txBody>
                  <a:tcPr anchor="ctr" anchorCtr="0"/>
                </a:tc>
                <a:tc>
                  <a:txBody>
                    <a:bodyPr/>
                    <a:p>
                      <a:pPr algn="ctr">
                        <a:buNone/>
                      </a:pPr>
                      <a:r>
                        <a:rPr lang="ko-KR" altLang="en-US" sz="1400"/>
                        <a:t>빈발</a:t>
                      </a:r>
                      <a:r>
                        <a:rPr lang="en-US" altLang="zh-CN" sz="1400"/>
                        <a:t> </a:t>
                      </a:r>
                      <a:r>
                        <a:rPr lang="ko-KR" altLang="en-US" sz="1400"/>
                        <a:t>위반사례를</a:t>
                      </a:r>
                      <a:r>
                        <a:rPr lang="en-US" altLang="zh-CN" sz="1400"/>
                        <a:t> </a:t>
                      </a:r>
                      <a:r>
                        <a:rPr lang="ko-KR" altLang="en-US" sz="1400"/>
                        <a:t>정리하여</a:t>
                      </a:r>
                      <a:r>
                        <a:rPr lang="en-US" altLang="zh-CN" sz="1400"/>
                        <a:t> </a:t>
                      </a:r>
                      <a:r>
                        <a:rPr lang="ko-KR" altLang="en-US" sz="1400"/>
                        <a:t>직원</a:t>
                      </a:r>
                      <a:r>
                        <a:rPr lang="en-US" altLang="zh-CN" sz="1400"/>
                        <a:t> </a:t>
                      </a:r>
                      <a:r>
                        <a:rPr lang="ko-KR" altLang="en-US" sz="1400"/>
                        <a:t>교육자료로</a:t>
                      </a:r>
                      <a:r>
                        <a:rPr lang="en-US" altLang="zh-CN" sz="1400"/>
                        <a:t> </a:t>
                      </a:r>
                      <a:r>
                        <a:rPr lang="ko-KR" altLang="en-US" sz="1400"/>
                        <a:t>활용</a:t>
                      </a:r>
                      <a:r>
                        <a:rPr lang="en-US" altLang="zh-CN" sz="1400"/>
                        <a:t> / </a:t>
                      </a:r>
                      <a:r>
                        <a:rPr lang="zh-CN" altLang="en-US" sz="1400"/>
                        <a:t>整理违规案例供员工培训</a:t>
                      </a:r>
                      <a:endParaRPr lang="zh-CN" altLang="en-US" sz="1400"/>
                    </a:p>
                  </a:txBody>
                  <a:tcPr anchor="ctr" anchorCtr="0"/>
                </a:tc>
              </a:tr>
              <a:tr h="729615">
                <a:tc>
                  <a:txBody>
                    <a:bodyPr/>
                    <a:p>
                      <a:pPr algn="ctr">
                        <a:buNone/>
                      </a:pPr>
                      <a:r>
                        <a:rPr lang="ko-KR" altLang="en-US" sz="1400"/>
                        <a:t>시각화</a:t>
                      </a:r>
                      <a:r>
                        <a:rPr lang="en-US" altLang="zh-CN" sz="1400"/>
                        <a:t> </a:t>
                      </a:r>
                      <a:r>
                        <a:rPr lang="ko-KR" altLang="en-US" sz="1400"/>
                        <a:t>도구</a:t>
                      </a:r>
                      <a:r>
                        <a:rPr lang="en-US" altLang="zh-CN" sz="1400"/>
                        <a:t> / </a:t>
                      </a:r>
                      <a:r>
                        <a:rPr lang="zh-CN" altLang="en-US" sz="1400"/>
                        <a:t>可视化工具</a:t>
                      </a:r>
                      <a:endParaRPr lang="zh-CN" altLang="en-US" sz="1400"/>
                    </a:p>
                  </a:txBody>
                  <a:tcPr anchor="ctr" anchorCtr="0"/>
                </a:tc>
                <a:tc>
                  <a:txBody>
                    <a:bodyPr/>
                    <a:p>
                      <a:pPr algn="ctr">
                        <a:buNone/>
                      </a:pPr>
                      <a:r>
                        <a:rPr lang="ko-KR" altLang="en-US" sz="1400"/>
                        <a:t>연도별</a:t>
                      </a:r>
                      <a:r>
                        <a:rPr lang="en-US" altLang="zh-CN" sz="1400"/>
                        <a:t> </a:t>
                      </a:r>
                      <a:r>
                        <a:rPr lang="ko-KR" altLang="en-US" sz="1400"/>
                        <a:t>추이</a:t>
                      </a:r>
                      <a:r>
                        <a:rPr lang="en-US" altLang="zh-CN" sz="1400"/>
                        <a:t> </a:t>
                      </a:r>
                      <a:r>
                        <a:rPr lang="ko-KR" altLang="en-US" sz="1400"/>
                        <a:t>및</a:t>
                      </a:r>
                      <a:r>
                        <a:rPr lang="en-US" altLang="zh-CN" sz="1400"/>
                        <a:t> </a:t>
                      </a:r>
                      <a:r>
                        <a:rPr lang="ko-KR" altLang="en-US" sz="1400"/>
                        <a:t>구별</a:t>
                      </a:r>
                      <a:r>
                        <a:rPr lang="en-US" altLang="zh-CN" sz="1400"/>
                        <a:t> </a:t>
                      </a:r>
                      <a:r>
                        <a:rPr lang="ko-KR" altLang="en-US" sz="1400"/>
                        <a:t>리스크</a:t>
                      </a:r>
                      <a:r>
                        <a:rPr lang="en-US" altLang="zh-CN" sz="1400"/>
                        <a:t> </a:t>
                      </a:r>
                      <a:r>
                        <a:rPr lang="ko-KR" altLang="en-US" sz="1400"/>
                        <a:t>대시보드</a:t>
                      </a:r>
                      <a:r>
                        <a:rPr lang="en-US" altLang="zh-CN" sz="1400"/>
                        <a:t> </a:t>
                      </a:r>
                      <a:r>
                        <a:rPr lang="ko-KR" altLang="en-US" sz="1400"/>
                        <a:t>구현</a:t>
                      </a:r>
                      <a:r>
                        <a:rPr lang="en-US" altLang="zh-CN" sz="1400"/>
                        <a:t> / </a:t>
                      </a:r>
                      <a:r>
                        <a:rPr lang="zh-CN" altLang="en-US" sz="1400"/>
                        <a:t>构建展示趋势与风险的可视化面板</a:t>
                      </a:r>
                      <a:endParaRPr lang="zh-CN" altLang="en-US" sz="1400"/>
                    </a:p>
                  </a:txBody>
                  <a:tcPr anchor="ctr" anchorCtr="0"/>
                </a:tc>
              </a:tr>
            </a:tbl>
          </a:graphicData>
        </a:graphic>
      </p:graphicFrame>
      <p:sp>
        <p:nvSpPr>
          <p:cNvPr id="5"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예상 결과 및 기대효과 / 预期结果与应用价值</a:t>
            </a:r>
          </a:p>
        </p:txBody>
      </p:sp>
      <p:pic>
        <p:nvPicPr>
          <p:cNvPr id="3" name="图片 2"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팀 구성 및 역할 / 团队构成与分工</a:t>
            </a:r>
          </a:p>
        </p:txBody>
      </p:sp>
      <p:sp>
        <p:nvSpPr>
          <p:cNvPr id="4" name="TextBox 3"/>
          <p:cNvSpPr txBox="1"/>
          <p:nvPr/>
        </p:nvSpPr>
        <p:spPr>
          <a:xfrm>
            <a:off x="914400" y="1828800"/>
            <a:ext cx="7315200" cy="3657600"/>
          </a:xfrm>
          <a:prstGeom prst="rect">
            <a:avLst/>
          </a:prstGeom>
          <a:noFill/>
        </p:spPr>
        <p:txBody>
          <a:bodyPr wrap="none">
            <a:spAutoFit/>
          </a:bodyPr>
          <a:lstStyle/>
          <a:p>
            <a:pPr>
              <a:defRPr sz="2000">
                <a:solidFill>
                  <a:srgbClr val="3C3C3C"/>
                </a:solidFill>
              </a:defRPr>
            </a:pPr>
            <a:r>
              <a:t>- 팀원별 역할 / 团队成员分工</a:t>
            </a:r>
          </a:p>
          <a:p>
            <a:r>
              <a:t>- 담당 영역 / 负责领域</a:t>
            </a:r>
          </a:p>
        </p:txBody>
      </p:sp>
      <p:graphicFrame>
        <p:nvGraphicFramePr>
          <p:cNvPr id="2" name="表格 1"/>
          <p:cNvGraphicFramePr/>
          <p:nvPr>
            <p:custDataLst>
              <p:tags r:id="rId1"/>
            </p:custDataLst>
          </p:nvPr>
        </p:nvGraphicFramePr>
        <p:xfrm>
          <a:off x="959485" y="2686685"/>
          <a:ext cx="7226300" cy="2613660"/>
        </p:xfrm>
        <a:graphic>
          <a:graphicData uri="http://schemas.openxmlformats.org/drawingml/2006/table">
            <a:tbl>
              <a:tblPr firstRow="1" bandRow="1">
                <a:tableStyleId>{5C22544A-7EE6-4342-B048-85BDC9FD1C3A}</a:tableStyleId>
              </a:tblPr>
              <a:tblGrid>
                <a:gridCol w="2205355"/>
                <a:gridCol w="2650490"/>
                <a:gridCol w="2370455"/>
              </a:tblGrid>
              <a:tr h="632460">
                <a:tc>
                  <a:txBody>
                    <a:bodyPr/>
                    <a:p>
                      <a:pPr algn="ctr">
                        <a:buNone/>
                      </a:pPr>
                      <a:r>
                        <a:rPr lang="ko-KR" altLang="en-US"/>
                        <a:t>이름</a:t>
                      </a:r>
                      <a:r>
                        <a:rPr lang="en-US" altLang="zh-CN"/>
                        <a:t> / </a:t>
                      </a:r>
                      <a:r>
                        <a:rPr lang="zh-CN" altLang="en-US"/>
                        <a:t>姓名</a:t>
                      </a:r>
                      <a:endParaRPr lang="zh-CN" altLang="en-US"/>
                    </a:p>
                  </a:txBody>
                  <a:tcPr anchor="ctr" anchorCtr="0"/>
                </a:tc>
                <a:tc>
                  <a:txBody>
                    <a:bodyPr/>
                    <a:p>
                      <a:pPr algn="ctr">
                        <a:buNone/>
                      </a:pPr>
                      <a:r>
                        <a:rPr lang="ko-KR" altLang="en-US"/>
                        <a:t>역할</a:t>
                      </a:r>
                      <a:r>
                        <a:rPr lang="en-US" altLang="zh-CN"/>
                        <a:t> / </a:t>
                      </a:r>
                      <a:r>
                        <a:rPr lang="zh-CN" altLang="en-US"/>
                        <a:t>角色</a:t>
                      </a:r>
                      <a:endParaRPr lang="zh-CN" altLang="en-US"/>
                    </a:p>
                  </a:txBody>
                  <a:tcPr anchor="ctr" anchorCtr="0"/>
                </a:tc>
                <a:tc>
                  <a:txBody>
                    <a:bodyPr/>
                    <a:p>
                      <a:pPr algn="ctr">
                        <a:buNone/>
                      </a:pPr>
                      <a:r>
                        <a:rPr lang="ko-KR" altLang="en-US"/>
                        <a:t>담당영역</a:t>
                      </a:r>
                      <a:r>
                        <a:rPr lang="en-US" altLang="zh-CN"/>
                        <a:t> / </a:t>
                      </a:r>
                      <a:r>
                        <a:rPr lang="zh-CN" altLang="en-US"/>
                        <a:t>负责领域</a:t>
                      </a:r>
                      <a:endParaRPr lang="zh-CN" altLang="en-US"/>
                    </a:p>
                  </a:txBody>
                  <a:tcPr anchor="ctr" anchorCtr="0"/>
                </a:tc>
              </a:tr>
              <a:tr h="518160">
                <a:tc>
                  <a:txBody>
                    <a:bodyPr/>
                    <a:p>
                      <a:pPr algn="ctr">
                        <a:buNone/>
                      </a:pPr>
                      <a:r>
                        <a:rPr lang="ko-KR" altLang="en-US" sz="1400"/>
                        <a:t>리우신리앙</a:t>
                      </a:r>
                      <a:r>
                        <a:rPr lang="zh-CN" altLang="ko-KR" sz="1400"/>
                        <a:t>刘鑫亮</a:t>
                      </a:r>
                      <a:endParaRPr lang="zh-CN" altLang="ko-KR" sz="1400"/>
                    </a:p>
                  </a:txBody>
                  <a:tcPr anchor="ctr" anchorCtr="0"/>
                </a:tc>
                <a:tc>
                  <a:txBody>
                    <a:bodyPr/>
                    <a:p>
                      <a:pPr algn="ctr">
                        <a:buNone/>
                      </a:pPr>
                      <a:r>
                        <a:rPr lang="ko-KR" altLang="en-US" sz="1400"/>
                        <a:t>프로젝트</a:t>
                      </a:r>
                      <a:r>
                        <a:rPr lang="en-US" altLang="zh-CN" sz="1400"/>
                        <a:t> </a:t>
                      </a:r>
                      <a:r>
                        <a:rPr lang="ko-KR" altLang="en-US" sz="1400"/>
                        <a:t>총괄</a:t>
                      </a:r>
                      <a:r>
                        <a:rPr lang="en-US" altLang="zh-CN" sz="1400"/>
                        <a:t> / </a:t>
                      </a:r>
                      <a:r>
                        <a:rPr lang="zh-CN" altLang="en-US" sz="1400"/>
                        <a:t>项目负责人</a:t>
                      </a:r>
                      <a:endParaRPr lang="zh-CN" altLang="en-US" sz="1400"/>
                    </a:p>
                  </a:txBody>
                  <a:tcPr anchor="ctr" anchorCtr="0"/>
                </a:tc>
                <a:tc>
                  <a:txBody>
                    <a:bodyPr/>
                    <a:p>
                      <a:pPr algn="ctr">
                        <a:buNone/>
                      </a:pPr>
                      <a:r>
                        <a:rPr lang="zh-CN" altLang="en-US" sz="1400"/>
                        <a:t>研究设计、数据处理</a:t>
                      </a:r>
                      <a:endParaRPr lang="zh-CN" altLang="en-US" sz="1400"/>
                    </a:p>
                    <a:p>
                      <a:pPr algn="ctr">
                        <a:buNone/>
                      </a:pPr>
                      <a:r>
                        <a:rPr lang="ko-KR" altLang="en-US" sz="1400"/>
                        <a:t>연구</a:t>
                      </a:r>
                      <a:r>
                        <a:rPr lang="en-US" altLang="zh-CN" sz="1400"/>
                        <a:t> </a:t>
                      </a:r>
                      <a:r>
                        <a:rPr lang="ko-KR" altLang="en-US" sz="1400"/>
                        <a:t>설계</a:t>
                      </a:r>
                      <a:r>
                        <a:rPr lang="en-US" altLang="zh-CN" sz="1400"/>
                        <a:t>, </a:t>
                      </a:r>
                      <a:r>
                        <a:rPr lang="ko-KR" altLang="en-US" sz="1400"/>
                        <a:t>데이터</a:t>
                      </a:r>
                      <a:r>
                        <a:rPr lang="en-US" altLang="zh-CN" sz="1400"/>
                        <a:t> </a:t>
                      </a:r>
                      <a:r>
                        <a:rPr lang="ko-KR" altLang="en-US" sz="1400"/>
                        <a:t>처리</a:t>
                      </a:r>
                      <a:endParaRPr lang="ko-KR" altLang="en-US" sz="1400"/>
                    </a:p>
                  </a:txBody>
                  <a:tcPr anchor="ctr" anchorCtr="0"/>
                </a:tc>
              </a:tr>
              <a:tr h="518160">
                <a:tc>
                  <a:txBody>
                    <a:bodyPr/>
                    <a:p>
                      <a:pPr algn="ctr">
                        <a:buNone/>
                      </a:pPr>
                      <a:r>
                        <a:rPr lang="ko-KR" altLang="en-US" sz="1400"/>
                        <a:t>리우시아오준</a:t>
                      </a:r>
                      <a:r>
                        <a:rPr lang="zh-CN" altLang="ko-KR" sz="1400"/>
                        <a:t>刘骁峻</a:t>
                      </a:r>
                      <a:endParaRPr lang="zh-CN" altLang="ko-KR" sz="1400"/>
                    </a:p>
                  </a:txBody>
                  <a:tcPr anchor="ctr" anchorCtr="0"/>
                </a:tc>
                <a:tc>
                  <a:txBody>
                    <a:bodyPr/>
                    <a:p>
                      <a:pPr algn="ctr">
                        <a:buNone/>
                      </a:pPr>
                      <a:r>
                        <a:rPr lang="ko-KR" altLang="en-US" sz="1400"/>
                        <a:t>데이터</a:t>
                      </a:r>
                      <a:r>
                        <a:rPr lang="ko-KR" altLang="en-US" sz="1400"/>
                        <a:t> 시각화</a:t>
                      </a:r>
                      <a:r>
                        <a:rPr lang="en-US" altLang="zh-CN" sz="1400"/>
                        <a:t>/ </a:t>
                      </a:r>
                      <a:r>
                        <a:rPr lang="zh-CN" altLang="en-US" sz="1400"/>
                        <a:t>数据可视化</a:t>
                      </a:r>
                      <a:endParaRPr lang="zh-CN" altLang="en-US" sz="1400"/>
                    </a:p>
                  </a:txBody>
                  <a:tcPr anchor="ctr" anchorCtr="0"/>
                </a:tc>
                <a:tc>
                  <a:txBody>
                    <a:bodyPr/>
                    <a:p>
                      <a:pPr algn="ctr">
                        <a:buNone/>
                      </a:pPr>
                      <a:r>
                        <a:rPr lang="zh-CN" altLang="en-US" sz="1400"/>
                        <a:t>可视化</a:t>
                      </a:r>
                      <a:endParaRPr lang="zh-CN" altLang="en-US" sz="1400"/>
                    </a:p>
                    <a:p>
                      <a:pPr algn="ctr">
                        <a:buNone/>
                      </a:pPr>
                      <a:r>
                        <a:rPr lang="ko-KR" altLang="en-US" sz="1400"/>
                        <a:t>시각화</a:t>
                      </a:r>
                      <a:endParaRPr lang="ko-KR" altLang="en-US" sz="1400"/>
                    </a:p>
                  </a:txBody>
                  <a:tcPr anchor="ctr" anchorCtr="0"/>
                </a:tc>
              </a:tr>
              <a:tr h="944880">
                <a:tc>
                  <a:txBody>
                    <a:bodyPr/>
                    <a:p>
                      <a:pPr algn="ctr">
                        <a:buNone/>
                      </a:pPr>
                      <a:r>
                        <a:rPr lang="ko-KR" altLang="en-US" sz="1400"/>
                        <a:t>샤오팅팅</a:t>
                      </a:r>
                      <a:r>
                        <a:rPr lang="zh-CN" altLang="ko-KR" sz="1400"/>
                        <a:t>邵婷婷</a:t>
                      </a:r>
                      <a:endParaRPr lang="zh-CN" altLang="ko-KR" sz="1400"/>
                    </a:p>
                  </a:txBody>
                  <a:tcPr anchor="ctr" anchorCtr="0"/>
                </a:tc>
                <a:tc>
                  <a:txBody>
                    <a:bodyPr/>
                    <a:p>
                      <a:pPr algn="ctr">
                        <a:buNone/>
                      </a:pPr>
                      <a:r>
                        <a:rPr lang="ko-KR" altLang="en-US" sz="1400"/>
                        <a:t>데이터</a:t>
                      </a:r>
                      <a:r>
                        <a:rPr lang="en-US" altLang="zh-CN" sz="1400"/>
                        <a:t> </a:t>
                      </a:r>
                      <a:r>
                        <a:rPr lang="ko-KR" altLang="en-US" sz="1400"/>
                        <a:t>분석</a:t>
                      </a:r>
                      <a:r>
                        <a:rPr lang="en-US" altLang="zh-CN" sz="1400"/>
                        <a:t> </a:t>
                      </a:r>
                      <a:r>
                        <a:rPr lang="ko-KR" altLang="en-US" sz="1400"/>
                        <a:t>작성</a:t>
                      </a:r>
                      <a:r>
                        <a:rPr lang="en-US" altLang="zh-CN" sz="1400"/>
                        <a:t> / </a:t>
                      </a:r>
                      <a:r>
                        <a:rPr lang="zh-CN" altLang="en-US" sz="1400"/>
                        <a:t>数据</a:t>
                      </a:r>
                      <a:r>
                        <a:rPr lang="zh-CN" altLang="en-US" sz="1400"/>
                        <a:t>分析</a:t>
                      </a:r>
                      <a:endParaRPr lang="zh-CN" altLang="en-US" sz="1400"/>
                    </a:p>
                  </a:txBody>
                  <a:tcPr anchor="ctr" anchorCtr="0"/>
                </a:tc>
                <a:tc>
                  <a:txBody>
                    <a:bodyPr/>
                    <a:p>
                      <a:pPr algn="ctr">
                        <a:buNone/>
                      </a:pPr>
                      <a:r>
                        <a:rPr lang="zh-CN" altLang="en-US" sz="1400"/>
                        <a:t>结果分析、制作</a:t>
                      </a:r>
                      <a:r>
                        <a:rPr lang="en-US" altLang="zh-CN" sz="1400"/>
                        <a:t>PPT</a:t>
                      </a:r>
                      <a:endParaRPr lang="zh-CN" altLang="en-US" sz="1400"/>
                    </a:p>
                    <a:p>
                      <a:pPr algn="ctr">
                        <a:buNone/>
                      </a:pPr>
                      <a:r>
                        <a:rPr lang="ko-KR" altLang="en-US" sz="1400"/>
                        <a:t>결과</a:t>
                      </a:r>
                      <a:r>
                        <a:rPr lang="en-US" altLang="zh-CN" sz="1400"/>
                        <a:t> </a:t>
                      </a:r>
                      <a:r>
                        <a:rPr lang="ko-KR" altLang="en-US" sz="1400"/>
                        <a:t>분석</a:t>
                      </a:r>
                      <a:r>
                        <a:rPr lang="en-US" altLang="zh-CN" sz="1400"/>
                        <a:t>, PPT </a:t>
                      </a:r>
                      <a:r>
                        <a:rPr lang="ko-KR" altLang="en-US" sz="1400"/>
                        <a:t>제작</a:t>
                      </a:r>
                      <a:endParaRPr lang="ko-KR" altLang="en-US" sz="1400"/>
                    </a:p>
                  </a:txBody>
                  <a:tcPr anchor="ctr" anchorCtr="0"/>
                </a:tc>
              </a:tr>
            </a:tbl>
          </a:graphicData>
        </a:graphic>
      </p:graphicFrame>
      <p:pic>
        <p:nvPicPr>
          <p:cNvPr id="5" name="图片 4" descr="logo(1)"/>
          <p:cNvPicPr>
            <a:picLocks noChangeAspect="1"/>
          </p:cNvPicPr>
          <p:nvPr/>
        </p:nvPicPr>
        <p:blipFill>
          <a:blip r:embed="rId2"/>
          <a:stretch>
            <a:fillRect/>
          </a:stretch>
        </p:blipFill>
        <p:spPr>
          <a:xfrm>
            <a:off x="6212205" y="0"/>
            <a:ext cx="2931795" cy="6311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
        <p:nvSpPr>
          <p:cNvPr id="12" name="Title 1"/>
          <p:cNvSpPr>
            <a:spLocks noGrp="1"/>
          </p:cNvSpPr>
          <p:nvPr>
            <p:ph type="title"/>
          </p:nvPr>
        </p:nvSpPr>
        <p:spPr>
          <a:xfrm>
            <a:off x="457200" y="2608898"/>
            <a:ext cx="8229600" cy="1143000"/>
          </a:xfrm>
        </p:spPr>
        <p:txBody>
          <a:bodyPr>
            <a:normAutofit fontScale="90000"/>
          </a:bodyPr>
          <a:lstStyle/>
          <a:p>
            <a:r>
              <a:rPr lang="ko-KR" altLang="en-US" dirty="0"/>
              <a:t>성과</a:t>
            </a:r>
            <a:r>
              <a:rPr lang="en-US" altLang="zh-CN" dirty="0"/>
              <a:t> </a:t>
            </a:r>
            <a:r>
              <a:rPr lang="ko-KR" altLang="en-US" dirty="0"/>
              <a:t>전시</a:t>
            </a:r>
            <a:r>
              <a:rPr lang="ko-KR" altLang="en-US" dirty="0"/>
              <a:t> </a:t>
            </a:r>
            <a:br>
              <a:rPr lang="ko-KR" altLang="en-US" dirty="0"/>
            </a:br>
            <a:br>
              <a:rPr lang="en-US" altLang="ko-KR" dirty="0"/>
            </a:br>
            <a:r>
              <a:rPr lang="zh-CN" altLang="ko-KR" dirty="0"/>
              <a:t>成果展示</a:t>
            </a:r>
            <a:endParaRPr lang="zh-CN" altLang="ko-K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graphicFrame>
        <p:nvGraphicFramePr>
          <p:cNvPr id="7" name="表格 6"/>
          <p:cNvGraphicFramePr/>
          <p:nvPr>
            <p:custDataLst>
              <p:tags r:id="rId2"/>
            </p:custDataLst>
          </p:nvPr>
        </p:nvGraphicFramePr>
        <p:xfrm>
          <a:off x="914400" y="2346960"/>
          <a:ext cx="7335520" cy="4692015"/>
        </p:xfrm>
        <a:graphic>
          <a:graphicData uri="http://schemas.openxmlformats.org/drawingml/2006/table">
            <a:tbl>
              <a:tblPr firstRow="1" bandRow="1">
                <a:tableStyleId>{5C22544A-7EE6-4342-B048-85BDC9FD1C3A}</a:tableStyleId>
              </a:tblPr>
              <a:tblGrid>
                <a:gridCol w="1833880"/>
                <a:gridCol w="1833880"/>
                <a:gridCol w="1833880"/>
                <a:gridCol w="1833880"/>
              </a:tblGrid>
              <a:tr h="504825">
                <a:tc>
                  <a:txBody>
                    <a:bodyPr/>
                    <a:p>
                      <a:pPr algn="ctr">
                        <a:buNone/>
                      </a:pPr>
                      <a:r>
                        <a:rPr lang="ko-KR" altLang="en-US" sz="1000"/>
                        <a:t>모듈</a:t>
                      </a:r>
                      <a:r>
                        <a:rPr lang="zh-CN" altLang="en-US" sz="1000"/>
                        <a:t>模块</a:t>
                      </a:r>
                      <a:endParaRPr lang="zh-CN" altLang="en-US" sz="1000"/>
                    </a:p>
                  </a:txBody>
                  <a:tcPr anchor="ctr" anchorCtr="0"/>
                </a:tc>
                <a:tc>
                  <a:txBody>
                    <a:bodyPr/>
                    <a:p>
                      <a:pPr algn="ctr">
                        <a:buNone/>
                      </a:pPr>
                      <a:r>
                        <a:rPr lang="ko-KR" altLang="en-US" sz="1000"/>
                        <a:t>알고리즘</a:t>
                      </a:r>
                      <a:r>
                        <a:rPr lang="en-US" altLang="zh-CN" sz="1000"/>
                        <a:t> </a:t>
                      </a:r>
                      <a:r>
                        <a:rPr lang="ko-KR" altLang="en-US" sz="1000"/>
                        <a:t>방법</a:t>
                      </a:r>
                      <a:r>
                        <a:rPr lang="zh-CN" altLang="en-US" sz="1000"/>
                        <a:t>算法方法</a:t>
                      </a:r>
                      <a:endParaRPr lang="zh-CN" altLang="en-US" sz="1000"/>
                    </a:p>
                  </a:txBody>
                  <a:tcPr anchor="ctr" anchorCtr="0"/>
                </a:tc>
                <a:tc>
                  <a:txBody>
                    <a:bodyPr/>
                    <a:p>
                      <a:pPr algn="ctr">
                        <a:buNone/>
                      </a:pPr>
                      <a:r>
                        <a:rPr lang="ko-KR" altLang="en-US" sz="1000"/>
                        <a:t>기능</a:t>
                      </a:r>
                      <a:r>
                        <a:rPr lang="en-US" altLang="zh-CN" sz="1000"/>
                        <a:t> </a:t>
                      </a:r>
                      <a:r>
                        <a:rPr lang="ko-KR" altLang="en-US" sz="1000"/>
                        <a:t>설명</a:t>
                      </a:r>
                      <a:r>
                        <a:rPr lang="zh-CN" altLang="en-US" sz="1000"/>
                        <a:t>功能说明</a:t>
                      </a:r>
                      <a:endParaRPr lang="zh-CN" altLang="en-US" sz="1000"/>
                    </a:p>
                  </a:txBody>
                  <a:tcPr anchor="ctr" anchorCtr="0"/>
                </a:tc>
                <a:tc>
                  <a:txBody>
                    <a:bodyPr/>
                    <a:p>
                      <a:pPr algn="ctr">
                        <a:buNone/>
                      </a:pPr>
                      <a:r>
                        <a:rPr lang="ko-KR" altLang="en-US" sz="1000"/>
                        <a:t>분석</a:t>
                      </a:r>
                      <a:r>
                        <a:rPr lang="zh-CN" altLang="en-US" sz="1000"/>
                        <a:t>分析</a:t>
                      </a:r>
                      <a:endParaRPr lang="zh-CN" altLang="en-US" sz="1000"/>
                    </a:p>
                  </a:txBody>
                  <a:tcPr anchor="ctr" anchorCtr="0"/>
                </a:tc>
              </a:tr>
              <a:tr h="504825">
                <a:tc>
                  <a:txBody>
                    <a:bodyPr/>
                    <a:p>
                      <a:pPr algn="ctr">
                        <a:buNone/>
                      </a:pPr>
                      <a:r>
                        <a:rPr lang="ko-KR" altLang="en-US" sz="1000"/>
                        <a:t>날짜</a:t>
                      </a:r>
                      <a:r>
                        <a:rPr lang="en-US" altLang="zh-CN" sz="1000"/>
                        <a:t> </a:t>
                      </a:r>
                      <a:r>
                        <a:rPr lang="ko-KR" altLang="en-US" sz="1000"/>
                        <a:t>형식</a:t>
                      </a:r>
                      <a:r>
                        <a:rPr lang="en-US" altLang="zh-CN" sz="1000"/>
                        <a:t> </a:t>
                      </a:r>
                      <a:r>
                        <a:rPr lang="ko-KR" altLang="en-US" sz="1000"/>
                        <a:t>변환</a:t>
                      </a:r>
                      <a:r>
                        <a:rPr lang="zh-CN" altLang="en-US" sz="1000"/>
                        <a:t>日期格式转换</a:t>
                      </a:r>
                      <a:endParaRPr lang="zh-CN" altLang="en-US" sz="1000"/>
                    </a:p>
                  </a:txBody>
                  <a:tcPr anchor="ctr" anchorCtr="0"/>
                </a:tc>
                <a:tc>
                  <a:txBody>
                    <a:bodyPr/>
                    <a:p>
                      <a:pPr algn="ctr">
                        <a:buNone/>
                      </a:pPr>
                      <a:r>
                        <a:rPr lang="en-US" altLang="zh-CN" sz="1000"/>
                        <a:t>pd.to_datetime()</a:t>
                      </a:r>
                      <a:endParaRPr lang="en-US" altLang="zh-CN" sz="1000"/>
                    </a:p>
                  </a:txBody>
                  <a:tcPr anchor="ctr" anchorCtr="0"/>
                </a:tc>
                <a:tc>
                  <a:txBody>
                    <a:bodyPr/>
                    <a:p>
                      <a:pPr algn="ctr">
                        <a:buNone/>
                      </a:pPr>
                      <a:r>
                        <a:rPr lang="en-US" altLang="zh-CN" sz="1000"/>
                        <a:t>“</a:t>
                      </a:r>
                      <a:r>
                        <a:rPr lang="ko-KR" altLang="en-US" sz="1000"/>
                        <a:t>처벌</a:t>
                      </a:r>
                      <a:r>
                        <a:rPr lang="en-US" altLang="zh-CN" sz="1000"/>
                        <a:t> </a:t>
                      </a:r>
                      <a:r>
                        <a:rPr lang="ko-KR" altLang="en-US" sz="1000"/>
                        <a:t>날짜</a:t>
                      </a:r>
                      <a:r>
                        <a:rPr lang="en-US" altLang="zh-CN" sz="1000"/>
                        <a:t>”</a:t>
                      </a:r>
                      <a:r>
                        <a:rPr lang="ko-KR" altLang="en-US" sz="1000"/>
                        <a:t>와</a:t>
                      </a:r>
                      <a:r>
                        <a:rPr lang="en-US" altLang="zh-CN" sz="1000"/>
                        <a:t> “</a:t>
                      </a:r>
                      <a:r>
                        <a:rPr lang="ko-KR" altLang="en-US" sz="1000"/>
                        <a:t>허가증</a:t>
                      </a:r>
                      <a:r>
                        <a:rPr lang="en-US" altLang="zh-CN" sz="1000"/>
                        <a:t> </a:t>
                      </a:r>
                      <a:r>
                        <a:rPr lang="ko-KR" altLang="en-US" sz="1000"/>
                        <a:t>날짜</a:t>
                      </a:r>
                      <a:r>
                        <a:rPr lang="en-US" altLang="zh-CN" sz="1000"/>
                        <a:t>”</a:t>
                      </a:r>
                      <a:r>
                        <a:rPr lang="ko-KR" altLang="en-US" sz="1000"/>
                        <a:t>를</a:t>
                      </a:r>
                      <a:r>
                        <a:rPr lang="en-US" altLang="zh-CN" sz="1000"/>
                        <a:t> datetime </a:t>
                      </a:r>
                      <a:r>
                        <a:rPr lang="ko-KR" altLang="en-US" sz="1000"/>
                        <a:t>유형으로</a:t>
                      </a:r>
                      <a:r>
                        <a:rPr lang="en-US" altLang="zh-CN" sz="1000"/>
                        <a:t> </a:t>
                      </a:r>
                      <a:r>
                        <a:rPr lang="ko-KR" altLang="en-US" sz="1000"/>
                        <a:t>변환합니다</a:t>
                      </a:r>
                      <a:r>
                        <a:rPr lang="en-US" altLang="zh-CN" sz="1000"/>
                        <a:t>; ‘</a:t>
                      </a:r>
                      <a:r>
                        <a:rPr lang="ko-KR" altLang="en-US" sz="1000"/>
                        <a:t>년</a:t>
                      </a:r>
                      <a:r>
                        <a:rPr lang="en-US" altLang="zh-CN" sz="1000"/>
                        <a:t>’, “</a:t>
                      </a:r>
                      <a:r>
                        <a:rPr lang="ko-KR" altLang="en-US" sz="1000"/>
                        <a:t>월</a:t>
                      </a:r>
                      <a:r>
                        <a:rPr lang="en-US" altLang="zh-CN" sz="1000"/>
                        <a:t>” </a:t>
                      </a:r>
                      <a:r>
                        <a:rPr lang="ko-KR" altLang="en-US" sz="1000"/>
                        <a:t>등의</a:t>
                      </a:r>
                      <a:r>
                        <a:rPr lang="en-US" altLang="zh-CN" sz="1000"/>
                        <a:t> </a:t>
                      </a:r>
                      <a:r>
                        <a:rPr lang="ko-KR" altLang="en-US" sz="1000"/>
                        <a:t>시간</a:t>
                      </a:r>
                      <a:r>
                        <a:rPr lang="en-US" altLang="zh-CN" sz="1000"/>
                        <a:t> </a:t>
                      </a:r>
                      <a:r>
                        <a:rPr lang="ko-KR" altLang="en-US" sz="1000"/>
                        <a:t>차원을</a:t>
                      </a:r>
                      <a:r>
                        <a:rPr lang="en-US" altLang="zh-CN" sz="1000"/>
                        <a:t> </a:t>
                      </a:r>
                      <a:r>
                        <a:rPr lang="ko-KR" altLang="en-US" sz="1000"/>
                        <a:t>추출할</a:t>
                      </a:r>
                      <a:r>
                        <a:rPr lang="en-US" altLang="zh-CN" sz="1000"/>
                        <a:t> </a:t>
                      </a:r>
                      <a:r>
                        <a:rPr lang="ko-KR" altLang="en-US" sz="1000"/>
                        <a:t>수</a:t>
                      </a:r>
                      <a:r>
                        <a:rPr lang="en-US" altLang="zh-CN" sz="1000"/>
                        <a:t> </a:t>
                      </a:r>
                      <a:r>
                        <a:rPr lang="ko-KR" altLang="en-US" sz="1000"/>
                        <a:t>있습니다</a:t>
                      </a:r>
                      <a:r>
                        <a:rPr lang="en-US" altLang="zh-CN" sz="1000"/>
                        <a:t>.</a:t>
                      </a:r>
                      <a:endParaRPr lang="en-US" altLang="zh-CN" sz="1000"/>
                    </a:p>
                    <a:p>
                      <a:pPr algn="ctr">
                        <a:buNone/>
                      </a:pPr>
                      <a:r>
                        <a:rPr lang="zh-CN" altLang="en-US" sz="1000"/>
                        <a:t>将</a:t>
                      </a:r>
                      <a:r>
                        <a:rPr lang="en-US" altLang="zh-CN" sz="1000"/>
                        <a:t>“</a:t>
                      </a:r>
                      <a:r>
                        <a:rPr lang="zh-CN" altLang="en-US" sz="1000"/>
                        <a:t>处罚日期</a:t>
                      </a:r>
                      <a:r>
                        <a:rPr lang="en-US" altLang="zh-CN" sz="1000"/>
                        <a:t>”“</a:t>
                      </a:r>
                      <a:r>
                        <a:rPr lang="zh-CN" altLang="en-US" sz="1000"/>
                        <a:t>许可证日期</a:t>
                      </a:r>
                      <a:r>
                        <a:rPr lang="en-US" altLang="zh-CN" sz="1000"/>
                        <a:t>”</a:t>
                      </a:r>
                      <a:r>
                        <a:rPr lang="zh-CN" altLang="en-US" sz="1000"/>
                        <a:t>转换为</a:t>
                      </a:r>
                      <a:r>
                        <a:rPr lang="en-US" altLang="zh-CN" sz="1000"/>
                        <a:t> datetime </a:t>
                      </a:r>
                      <a:r>
                        <a:rPr lang="zh-CN" altLang="en-US" sz="1000"/>
                        <a:t>类型；可以提取出</a:t>
                      </a:r>
                      <a:r>
                        <a:rPr lang="en-US" altLang="zh-CN" sz="1000"/>
                        <a:t>“</a:t>
                      </a:r>
                      <a:r>
                        <a:rPr lang="zh-CN" altLang="en-US" sz="1000"/>
                        <a:t>年</a:t>
                      </a:r>
                      <a:r>
                        <a:rPr lang="en-US" altLang="zh-CN" sz="1000"/>
                        <a:t>”“</a:t>
                      </a:r>
                      <a:r>
                        <a:rPr lang="zh-CN" altLang="en-US" sz="1000"/>
                        <a:t>月</a:t>
                      </a:r>
                      <a:r>
                        <a:rPr lang="en-US" altLang="zh-CN" sz="1000"/>
                        <a:t>”</a:t>
                      </a:r>
                      <a:r>
                        <a:rPr lang="zh-CN" altLang="en-US" sz="1000"/>
                        <a:t>等时间维度</a:t>
                      </a:r>
                      <a:endParaRPr lang="zh-CN" altLang="en-US" sz="1000"/>
                    </a:p>
                  </a:txBody>
                  <a:tcPr anchor="ctr" anchorCtr="0"/>
                </a:tc>
                <a:tc>
                  <a:txBody>
                    <a:bodyPr/>
                    <a:p>
                      <a:pPr algn="ctr">
                        <a:buNone/>
                      </a:pPr>
                      <a:r>
                        <a:rPr lang="ko-KR" altLang="en-US" sz="1000"/>
                        <a:t>시간</a:t>
                      </a:r>
                      <a:r>
                        <a:rPr lang="en-US" altLang="zh-CN" sz="1000"/>
                        <a:t> </a:t>
                      </a:r>
                      <a:r>
                        <a:rPr lang="ko-KR" altLang="en-US" sz="1000"/>
                        <a:t>필드</a:t>
                      </a:r>
                      <a:r>
                        <a:rPr lang="en-US" altLang="zh-CN" sz="1000"/>
                        <a:t> </a:t>
                      </a:r>
                      <a:r>
                        <a:rPr lang="ko-KR" altLang="en-US" sz="1000"/>
                        <a:t>형식을</a:t>
                      </a:r>
                      <a:r>
                        <a:rPr lang="en-US" altLang="zh-CN" sz="1000"/>
                        <a:t> </a:t>
                      </a:r>
                      <a:r>
                        <a:rPr lang="ko-KR" altLang="en-US" sz="1000"/>
                        <a:t>통일하여</a:t>
                      </a:r>
                      <a:r>
                        <a:rPr lang="en-US" altLang="zh-CN" sz="1000"/>
                        <a:t> </a:t>
                      </a:r>
                      <a:r>
                        <a:rPr lang="ko-KR" altLang="en-US" sz="1000"/>
                        <a:t>향후</a:t>
                      </a:r>
                      <a:r>
                        <a:rPr lang="en-US" altLang="zh-CN" sz="1000"/>
                        <a:t> </a:t>
                      </a:r>
                      <a:r>
                        <a:rPr lang="ko-KR" altLang="en-US" sz="1000"/>
                        <a:t>연간</a:t>
                      </a:r>
                      <a:r>
                        <a:rPr lang="en-US" altLang="zh-CN" sz="1000"/>
                        <a:t> </a:t>
                      </a:r>
                      <a:r>
                        <a:rPr lang="ko-KR" altLang="en-US" sz="1000"/>
                        <a:t>및</a:t>
                      </a:r>
                      <a:r>
                        <a:rPr lang="en-US" altLang="zh-CN" sz="1000"/>
                        <a:t> </a:t>
                      </a:r>
                      <a:r>
                        <a:rPr lang="ko-KR" altLang="en-US" sz="1000"/>
                        <a:t>월간</a:t>
                      </a:r>
                      <a:r>
                        <a:rPr lang="en-US" altLang="zh-CN" sz="1000"/>
                        <a:t> </a:t>
                      </a:r>
                      <a:r>
                        <a:rPr lang="ko-KR" altLang="en-US" sz="1000"/>
                        <a:t>추세</a:t>
                      </a:r>
                      <a:r>
                        <a:rPr lang="en-US" altLang="zh-CN" sz="1000"/>
                        <a:t> </a:t>
                      </a:r>
                      <a:r>
                        <a:rPr lang="ko-KR" altLang="en-US" sz="1000"/>
                        <a:t>분석을</a:t>
                      </a:r>
                      <a:r>
                        <a:rPr lang="en-US" altLang="zh-CN" sz="1000"/>
                        <a:t> </a:t>
                      </a:r>
                      <a:r>
                        <a:rPr lang="ko-KR" altLang="en-US" sz="1000"/>
                        <a:t>용이하게</a:t>
                      </a:r>
                      <a:r>
                        <a:rPr lang="en-US" altLang="zh-CN" sz="1000"/>
                        <a:t> </a:t>
                      </a:r>
                      <a:r>
                        <a:rPr lang="ko-KR" altLang="en-US" sz="1000"/>
                        <a:t>합니다</a:t>
                      </a:r>
                      <a:r>
                        <a:rPr lang="en-US" altLang="zh-CN" sz="1000"/>
                        <a:t>.</a:t>
                      </a:r>
                      <a:endParaRPr lang="en-US" altLang="zh-CN" sz="1000"/>
                    </a:p>
                    <a:p>
                      <a:pPr algn="ctr">
                        <a:buNone/>
                      </a:pPr>
                      <a:r>
                        <a:rPr lang="zh-CN" altLang="en-US" sz="1000"/>
                        <a:t>统一时间字段格式，方便后续统计年度与月度趋势</a:t>
                      </a:r>
                      <a:endParaRPr lang="zh-CN" altLang="en-US" sz="1000"/>
                    </a:p>
                  </a:txBody>
                  <a:tcPr anchor="ctr" anchorCtr="0"/>
                </a:tc>
              </a:tr>
              <a:tr h="504825">
                <a:tc>
                  <a:txBody>
                    <a:bodyPr/>
                    <a:p>
                      <a:pPr algn="ctr">
                        <a:buNone/>
                      </a:pPr>
                      <a:r>
                        <a:rPr lang="ko-KR" altLang="en-US" sz="1000"/>
                        <a:t>행정구역</a:t>
                      </a:r>
                      <a:r>
                        <a:rPr lang="en-US" altLang="zh-CN" sz="1000"/>
                        <a:t> </a:t>
                      </a:r>
                      <a:r>
                        <a:rPr lang="ko-KR" altLang="en-US" sz="1000"/>
                        <a:t>추출</a:t>
                      </a:r>
                      <a:r>
                        <a:rPr lang="zh-CN" altLang="en-US" sz="1000"/>
                        <a:t>行政区提取</a:t>
                      </a:r>
                      <a:endParaRPr lang="zh-CN" altLang="en-US" sz="1000"/>
                    </a:p>
                  </a:txBody>
                  <a:tcPr anchor="ctr" anchorCtr="0"/>
                </a:tc>
                <a:tc>
                  <a:txBody>
                    <a:bodyPr/>
                    <a:p>
                      <a:pPr algn="ctr">
                        <a:buNone/>
                      </a:pPr>
                      <a:r>
                        <a:rPr lang="en-US" altLang="zh-CN" sz="1000"/>
                        <a:t>re.search() + </a:t>
                      </a:r>
                      <a:r>
                        <a:rPr lang="ko-KR" altLang="en-US" sz="1000"/>
                        <a:t>정규</a:t>
                      </a:r>
                      <a:r>
                        <a:rPr lang="en-US" altLang="zh-CN" sz="1000"/>
                        <a:t> </a:t>
                      </a:r>
                      <a:r>
                        <a:rPr lang="ko-KR" altLang="en-US" sz="1000"/>
                        <a:t>표현식</a:t>
                      </a:r>
                      <a:r>
                        <a:rPr lang="zh-CN" altLang="en-US" sz="1000"/>
                        <a:t>正则表达式</a:t>
                      </a:r>
                      <a:endParaRPr lang="zh-CN" altLang="en-US" sz="1000"/>
                    </a:p>
                  </a:txBody>
                  <a:tcPr anchor="ctr" anchorCtr="0"/>
                </a:tc>
                <a:tc>
                  <a:txBody>
                    <a:bodyPr/>
                    <a:p>
                      <a:pPr algn="ctr">
                        <a:buNone/>
                      </a:pPr>
                      <a:r>
                        <a:rPr lang="en-US" altLang="zh-CN" sz="1000"/>
                        <a:t>address </a:t>
                      </a:r>
                      <a:r>
                        <a:rPr lang="ko-KR" altLang="en-US" sz="1000"/>
                        <a:t>텍스트에서</a:t>
                      </a:r>
                      <a:r>
                        <a:rPr lang="en-US" altLang="zh-CN" sz="1000"/>
                        <a:t> </a:t>
                      </a:r>
                      <a:r>
                        <a:rPr lang="ko-KR" altLang="en-US" sz="1000"/>
                        <a:t>정규</a:t>
                      </a:r>
                      <a:r>
                        <a:rPr lang="en-US" altLang="zh-CN" sz="1000"/>
                        <a:t> </a:t>
                      </a:r>
                      <a:r>
                        <a:rPr lang="ko-KR" altLang="en-US" sz="1000"/>
                        <a:t>표현식으로</a:t>
                      </a:r>
                      <a:r>
                        <a:rPr lang="en-US" altLang="zh-CN" sz="1000"/>
                        <a:t> “XX</a:t>
                      </a:r>
                      <a:r>
                        <a:rPr lang="ko-KR" altLang="en-US" sz="1000"/>
                        <a:t>구</a:t>
                      </a:r>
                      <a:r>
                        <a:rPr lang="en-US" altLang="zh-CN" sz="1000"/>
                        <a:t>”(</a:t>
                      </a:r>
                      <a:r>
                        <a:rPr lang="ko-KR" altLang="en-US" sz="1000"/>
                        <a:t>예</a:t>
                      </a:r>
                      <a:r>
                        <a:rPr lang="en-US" altLang="zh-CN" sz="1000"/>
                        <a:t>: “</a:t>
                      </a:r>
                      <a:r>
                        <a:rPr lang="ko-KR" altLang="en-US" sz="1000"/>
                        <a:t>강남구</a:t>
                      </a:r>
                      <a:r>
                        <a:rPr lang="en-US" altLang="zh-CN" sz="1000"/>
                        <a:t>”)</a:t>
                      </a:r>
                      <a:r>
                        <a:rPr lang="ko-KR" altLang="en-US" sz="1000"/>
                        <a:t>를</a:t>
                      </a:r>
                      <a:r>
                        <a:rPr lang="en-US" altLang="zh-CN" sz="1000"/>
                        <a:t> </a:t>
                      </a:r>
                      <a:r>
                        <a:rPr lang="ko-KR" altLang="en-US" sz="1000"/>
                        <a:t>일치시켜</a:t>
                      </a:r>
                      <a:r>
                        <a:rPr lang="en-US" altLang="zh-CN" sz="1000"/>
                        <a:t> </a:t>
                      </a:r>
                      <a:r>
                        <a:rPr lang="ko-KR" altLang="en-US" sz="1000"/>
                        <a:t>행정구역을</a:t>
                      </a:r>
                      <a:r>
                        <a:rPr lang="en-US" altLang="zh-CN" sz="1000"/>
                        <a:t> </a:t>
                      </a:r>
                      <a:r>
                        <a:rPr lang="ko-KR" altLang="en-US" sz="1000"/>
                        <a:t>추출합니다</a:t>
                      </a:r>
                      <a:r>
                        <a:rPr lang="en-US" altLang="zh-CN" sz="1000"/>
                        <a:t>.</a:t>
                      </a:r>
                      <a:endParaRPr lang="en-US" altLang="zh-CN" sz="1000"/>
                    </a:p>
                    <a:p>
                      <a:pPr algn="ctr">
                        <a:buNone/>
                      </a:pPr>
                      <a:r>
                        <a:rPr lang="zh-CN" altLang="en-US" sz="1000"/>
                        <a:t>从</a:t>
                      </a:r>
                      <a:r>
                        <a:rPr lang="en-US" altLang="zh-CN" sz="1000"/>
                        <a:t> address </a:t>
                      </a:r>
                      <a:r>
                        <a:rPr lang="zh-CN" altLang="en-US" sz="1000"/>
                        <a:t>文本中用正则匹配</a:t>
                      </a:r>
                      <a:r>
                        <a:rPr lang="en-US" altLang="zh-CN" sz="1000"/>
                        <a:t> "XX</a:t>
                      </a:r>
                      <a:r>
                        <a:rPr lang="ko-KR" altLang="en-US" sz="1000"/>
                        <a:t>구</a:t>
                      </a:r>
                      <a:r>
                        <a:rPr lang="en-US" altLang="zh-CN" sz="1000"/>
                        <a:t>"</a:t>
                      </a:r>
                      <a:r>
                        <a:rPr lang="zh-CN" altLang="en-US" sz="1000"/>
                        <a:t>（如</a:t>
                      </a:r>
                      <a:r>
                        <a:rPr lang="en-US" altLang="zh-CN" sz="1000"/>
                        <a:t>“</a:t>
                      </a:r>
                      <a:r>
                        <a:rPr lang="ko-KR" altLang="en-US" sz="1000"/>
                        <a:t>강남구</a:t>
                      </a:r>
                      <a:r>
                        <a:rPr lang="en-US" altLang="zh-CN" sz="1000"/>
                        <a:t>”</a:t>
                      </a:r>
                      <a:r>
                        <a:rPr lang="zh-CN" altLang="en-US" sz="1000"/>
                        <a:t>），提取行政区</a:t>
                      </a:r>
                      <a:endParaRPr lang="zh-CN" altLang="en-US" sz="1000"/>
                    </a:p>
                  </a:txBody>
                  <a:tcPr anchor="ctr" anchorCtr="0"/>
                </a:tc>
                <a:tc>
                  <a:txBody>
                    <a:bodyPr/>
                    <a:p>
                      <a:pPr algn="ctr">
                        <a:buNone/>
                      </a:pPr>
                      <a:r>
                        <a:rPr lang="ko-KR" altLang="en-US" sz="1000"/>
                        <a:t>정규</a:t>
                      </a:r>
                      <a:r>
                        <a:rPr lang="en-US" altLang="zh-CN" sz="1000"/>
                        <a:t> </a:t>
                      </a:r>
                      <a:r>
                        <a:rPr lang="ko-KR" altLang="en-US" sz="1000"/>
                        <a:t>표현식을</a:t>
                      </a:r>
                      <a:r>
                        <a:rPr lang="en-US" altLang="zh-CN" sz="1000"/>
                        <a:t> </a:t>
                      </a:r>
                      <a:r>
                        <a:rPr lang="ko-KR" altLang="en-US" sz="1000"/>
                        <a:t>통해</a:t>
                      </a:r>
                      <a:r>
                        <a:rPr lang="en-US" altLang="zh-CN" sz="1000"/>
                        <a:t> </a:t>
                      </a:r>
                      <a:r>
                        <a:rPr lang="ko-KR" altLang="en-US" sz="1000"/>
                        <a:t>주소에서</a:t>
                      </a:r>
                      <a:r>
                        <a:rPr lang="en-US" altLang="zh-CN" sz="1000"/>
                        <a:t> '</a:t>
                      </a:r>
                      <a:r>
                        <a:rPr lang="ko-KR" altLang="en-US" sz="1000"/>
                        <a:t>구</a:t>
                      </a:r>
                      <a:r>
                        <a:rPr lang="en-US" altLang="zh-CN" sz="1000"/>
                        <a:t>(</a:t>
                      </a:r>
                      <a:r>
                        <a:rPr lang="ko-KR" altLang="en-US" sz="1000"/>
                        <a:t>행정구역</a:t>
                      </a:r>
                      <a:r>
                        <a:rPr lang="en-US" altLang="zh-CN" sz="1000"/>
                        <a:t>)'</a:t>
                      </a:r>
                      <a:r>
                        <a:rPr lang="ko-KR" altLang="en-US" sz="1000"/>
                        <a:t>를</a:t>
                      </a:r>
                      <a:r>
                        <a:rPr lang="en-US" altLang="zh-CN" sz="1000"/>
                        <a:t> </a:t>
                      </a:r>
                      <a:r>
                        <a:rPr lang="ko-KR" altLang="en-US" sz="1000"/>
                        <a:t>자동으로</a:t>
                      </a:r>
                      <a:r>
                        <a:rPr lang="en-US" altLang="zh-CN" sz="1000"/>
                        <a:t> </a:t>
                      </a:r>
                      <a:r>
                        <a:rPr lang="ko-KR" altLang="en-US" sz="1000"/>
                        <a:t>인식하여</a:t>
                      </a:r>
                      <a:r>
                        <a:rPr lang="en-US" altLang="zh-CN" sz="1000"/>
                        <a:t> </a:t>
                      </a:r>
                      <a:r>
                        <a:rPr lang="ko-KR" altLang="en-US" sz="1000"/>
                        <a:t>그룹화</a:t>
                      </a:r>
                      <a:r>
                        <a:rPr lang="en-US" altLang="zh-CN" sz="1000"/>
                        <a:t> </a:t>
                      </a:r>
                      <a:r>
                        <a:rPr lang="ko-KR" altLang="en-US" sz="1000"/>
                        <a:t>가능한</a:t>
                      </a:r>
                      <a:r>
                        <a:rPr lang="en-US" altLang="zh-CN" sz="1000"/>
                        <a:t> </a:t>
                      </a:r>
                      <a:r>
                        <a:rPr lang="ko-KR" altLang="en-US" sz="1000"/>
                        <a:t>공간</a:t>
                      </a:r>
                      <a:r>
                        <a:rPr lang="en-US" altLang="zh-CN" sz="1000"/>
                        <a:t> </a:t>
                      </a:r>
                      <a:r>
                        <a:rPr lang="ko-KR" altLang="en-US" sz="1000"/>
                        <a:t>차원을</a:t>
                      </a:r>
                      <a:r>
                        <a:rPr lang="en-US" altLang="zh-CN" sz="1000"/>
                        <a:t> </a:t>
                      </a:r>
                      <a:r>
                        <a:rPr lang="ko-KR" altLang="en-US" sz="1000"/>
                        <a:t>생성합니다</a:t>
                      </a:r>
                      <a:r>
                        <a:rPr lang="en-US" altLang="zh-CN" sz="1000"/>
                        <a:t>.</a:t>
                      </a:r>
                      <a:endParaRPr lang="en-US" altLang="zh-CN" sz="1000"/>
                    </a:p>
                    <a:p>
                      <a:pPr algn="ctr">
                        <a:buNone/>
                      </a:pPr>
                      <a:r>
                        <a:rPr lang="zh-CN" altLang="en-US" sz="1000"/>
                        <a:t>通过正则表达式从地址中自动识别</a:t>
                      </a:r>
                      <a:r>
                        <a:rPr lang="en-US" altLang="zh-CN" sz="1000"/>
                        <a:t>‘</a:t>
                      </a:r>
                      <a:r>
                        <a:rPr lang="ko-KR" altLang="en-US" sz="1000"/>
                        <a:t>구</a:t>
                      </a:r>
                      <a:r>
                        <a:rPr lang="zh-CN" altLang="en-US" sz="1000"/>
                        <a:t>（行政区）</a:t>
                      </a:r>
                      <a:r>
                        <a:rPr lang="en-US" altLang="zh-CN" sz="1000"/>
                        <a:t>’</a:t>
                      </a:r>
                      <a:r>
                        <a:rPr lang="zh-CN" altLang="en-US" sz="1000"/>
                        <a:t>，形成可分组的空间维度</a:t>
                      </a:r>
                      <a:endParaRPr lang="zh-CN" altLang="en-US" sz="1000"/>
                    </a:p>
                  </a:txBody>
                  <a:tcPr anchor="ctr" anchorCtr="0"/>
                </a:tc>
              </a:tr>
              <a:tr h="504825">
                <a:tc>
                  <a:txBody>
                    <a:bodyPr/>
                    <a:p>
                      <a:pPr algn="ctr">
                        <a:buNone/>
                      </a:pPr>
                      <a:r>
                        <a:rPr lang="ko-KR" altLang="en-US" sz="1000"/>
                        <a:t>누락값</a:t>
                      </a:r>
                      <a:r>
                        <a:rPr lang="en-US" altLang="zh-CN" sz="1000"/>
                        <a:t> </a:t>
                      </a:r>
                      <a:r>
                        <a:rPr lang="ko-KR" altLang="en-US" sz="1000"/>
                        <a:t>처리</a:t>
                      </a:r>
                      <a:r>
                        <a:rPr lang="zh-CN" altLang="en-US" sz="1000"/>
                        <a:t>缺失值处理</a:t>
                      </a:r>
                      <a:endParaRPr lang="zh-CN" altLang="en-US" sz="1000"/>
                    </a:p>
                  </a:txBody>
                  <a:tcPr anchor="ctr" anchorCtr="0"/>
                </a:tc>
                <a:tc>
                  <a:txBody>
                    <a:bodyPr/>
                    <a:p>
                      <a:pPr algn="ctr">
                        <a:buNone/>
                      </a:pPr>
                      <a:r>
                        <a:rPr lang="en-US" altLang="zh-CN" sz="1000"/>
                        <a:t>fillna()</a:t>
                      </a:r>
                      <a:endParaRPr lang="en-US" altLang="zh-CN" sz="1000"/>
                    </a:p>
                  </a:txBody>
                  <a:tcPr anchor="ctr" anchorCtr="0"/>
                </a:tc>
                <a:tc>
                  <a:txBody>
                    <a:bodyPr/>
                    <a:p>
                      <a:pPr algn="ctr">
                        <a:buNone/>
                      </a:pPr>
                      <a:r>
                        <a:rPr lang="ko-KR" altLang="en-US" sz="1000"/>
                        <a:t>누락된</a:t>
                      </a:r>
                      <a:r>
                        <a:rPr lang="en-US" altLang="zh-CN" sz="1000"/>
                        <a:t> </a:t>
                      </a:r>
                      <a:r>
                        <a:rPr lang="ko-KR" altLang="en-US" sz="1000"/>
                        <a:t>업종명</a:t>
                      </a:r>
                      <a:r>
                        <a:rPr lang="en-US" altLang="zh-CN" sz="1000"/>
                        <a:t>, </a:t>
                      </a:r>
                      <a:r>
                        <a:rPr lang="ko-KR" altLang="en-US" sz="1000"/>
                        <a:t>행정구역</a:t>
                      </a:r>
                      <a:r>
                        <a:rPr lang="en-US" altLang="zh-CN" sz="1000"/>
                        <a:t>, </a:t>
                      </a:r>
                      <a:r>
                        <a:rPr lang="ko-KR" altLang="en-US" sz="1000"/>
                        <a:t>처벌</a:t>
                      </a:r>
                      <a:r>
                        <a:rPr lang="en-US" altLang="zh-CN" sz="1000"/>
                        <a:t> </a:t>
                      </a:r>
                      <a:r>
                        <a:rPr lang="ko-KR" altLang="en-US" sz="1000"/>
                        <a:t>유형</a:t>
                      </a:r>
                      <a:r>
                        <a:rPr lang="en-US" altLang="zh-CN" sz="1000"/>
                        <a:t> </a:t>
                      </a:r>
                      <a:r>
                        <a:rPr lang="ko-KR" altLang="en-US" sz="1000"/>
                        <a:t>등을</a:t>
                      </a:r>
                      <a:r>
                        <a:rPr lang="en-US" altLang="zh-CN" sz="1000"/>
                        <a:t> “</a:t>
                      </a:r>
                      <a:r>
                        <a:rPr lang="ko-KR" altLang="en-US" sz="1000"/>
                        <a:t>미상</a:t>
                      </a:r>
                      <a:r>
                        <a:rPr lang="en-US" altLang="zh-CN" sz="1000"/>
                        <a:t>”</a:t>
                      </a:r>
                      <a:r>
                        <a:rPr lang="ko-KR" altLang="en-US" sz="1000"/>
                        <a:t>으로</a:t>
                      </a:r>
                      <a:r>
                        <a:rPr lang="en-US" altLang="zh-CN" sz="1000"/>
                        <a:t> </a:t>
                      </a:r>
                      <a:r>
                        <a:rPr lang="ko-KR" altLang="en-US" sz="1000"/>
                        <a:t>채워넣어</a:t>
                      </a:r>
                      <a:r>
                        <a:rPr lang="en-US" altLang="zh-CN" sz="1000"/>
                        <a:t> </a:t>
                      </a:r>
                      <a:r>
                        <a:rPr lang="ko-KR" altLang="en-US" sz="1000"/>
                        <a:t>그룹별</a:t>
                      </a:r>
                      <a:r>
                        <a:rPr lang="en-US" altLang="zh-CN" sz="1000"/>
                        <a:t> </a:t>
                      </a:r>
                      <a:r>
                        <a:rPr lang="ko-KR" altLang="en-US" sz="1000"/>
                        <a:t>통계</a:t>
                      </a:r>
                      <a:r>
                        <a:rPr lang="en-US" altLang="zh-CN" sz="1000"/>
                        <a:t> </a:t>
                      </a:r>
                      <a:r>
                        <a:rPr lang="ko-KR" altLang="en-US" sz="1000"/>
                        <a:t>오류</a:t>
                      </a:r>
                      <a:r>
                        <a:rPr lang="en-US" altLang="zh-CN" sz="1000"/>
                        <a:t> </a:t>
                      </a:r>
                      <a:r>
                        <a:rPr lang="ko-KR" altLang="en-US" sz="1000"/>
                        <a:t>발생을</a:t>
                      </a:r>
                      <a:r>
                        <a:rPr lang="en-US" altLang="zh-CN" sz="1000"/>
                        <a:t> </a:t>
                      </a:r>
                      <a:r>
                        <a:rPr lang="ko-KR" altLang="en-US" sz="1000"/>
                        <a:t>방지하십시오</a:t>
                      </a:r>
                      <a:r>
                        <a:rPr lang="en-US" altLang="zh-CN" sz="1000"/>
                        <a:t>.</a:t>
                      </a:r>
                      <a:endParaRPr lang="en-US" altLang="zh-CN" sz="1000"/>
                    </a:p>
                    <a:p>
                      <a:pPr algn="ctr">
                        <a:buNone/>
                      </a:pPr>
                      <a:r>
                        <a:rPr lang="zh-CN" altLang="en-US" sz="1000"/>
                        <a:t>将缺失的行业名、行政区、处罚类型等填充为</a:t>
                      </a:r>
                      <a:r>
                        <a:rPr lang="en-US" altLang="zh-CN" sz="1000"/>
                        <a:t> "</a:t>
                      </a:r>
                      <a:r>
                        <a:rPr lang="ko-KR" altLang="en-US" sz="1000"/>
                        <a:t>미상</a:t>
                      </a:r>
                      <a:r>
                        <a:rPr lang="en-US" altLang="zh-CN" sz="1000"/>
                        <a:t>"</a:t>
                      </a:r>
                      <a:r>
                        <a:rPr lang="zh-CN" altLang="en-US" sz="1000"/>
                        <a:t>（未知），避免分组统计出错</a:t>
                      </a:r>
                      <a:endParaRPr lang="zh-CN" altLang="en-US" sz="1000"/>
                    </a:p>
                  </a:txBody>
                  <a:tcPr anchor="ctr" anchorCtr="0"/>
                </a:tc>
                <a:tc>
                  <a:txBody>
                    <a:bodyPr/>
                    <a:p>
                      <a:pPr algn="ctr">
                        <a:buNone/>
                      </a:pPr>
                      <a:r>
                        <a:rPr lang="ko-KR" altLang="en-US" sz="1000"/>
                        <a:t>키</a:t>
                      </a:r>
                      <a:r>
                        <a:rPr lang="en-US" altLang="zh-CN" sz="1000"/>
                        <a:t> </a:t>
                      </a:r>
                      <a:r>
                        <a:rPr lang="ko-KR" altLang="en-US" sz="1000"/>
                        <a:t>필드</a:t>
                      </a:r>
                      <a:r>
                        <a:rPr lang="en-US" altLang="zh-CN" sz="1000"/>
                        <a:t> </a:t>
                      </a:r>
                      <a:r>
                        <a:rPr lang="ko-KR" altLang="en-US" sz="1000"/>
                        <a:t>누락을</a:t>
                      </a:r>
                      <a:r>
                        <a:rPr lang="en-US" altLang="zh-CN" sz="1000"/>
                        <a:t> </a:t>
                      </a:r>
                      <a:r>
                        <a:rPr lang="ko-KR" altLang="en-US" sz="1000"/>
                        <a:t>보완하고</a:t>
                      </a:r>
                      <a:r>
                        <a:rPr lang="en-US" altLang="zh-CN" sz="1000"/>
                        <a:t> </a:t>
                      </a:r>
                      <a:r>
                        <a:rPr lang="ko-KR" altLang="en-US" sz="1000"/>
                        <a:t>데이터</a:t>
                      </a:r>
                      <a:r>
                        <a:rPr lang="en-US" altLang="zh-CN" sz="1000"/>
                        <a:t> </a:t>
                      </a:r>
                      <a:r>
                        <a:rPr lang="ko-KR" altLang="en-US" sz="1000"/>
                        <a:t>무결성을</a:t>
                      </a:r>
                      <a:r>
                        <a:rPr lang="en-US" altLang="zh-CN" sz="1000"/>
                        <a:t> </a:t>
                      </a:r>
                      <a:r>
                        <a:rPr lang="ko-KR" altLang="en-US" sz="1000"/>
                        <a:t>보장하여</a:t>
                      </a:r>
                      <a:r>
                        <a:rPr lang="en-US" altLang="zh-CN" sz="1000"/>
                        <a:t> </a:t>
                      </a:r>
                      <a:r>
                        <a:rPr lang="ko-KR" altLang="en-US" sz="1000"/>
                        <a:t>후속</a:t>
                      </a:r>
                      <a:r>
                        <a:rPr lang="en-US" altLang="zh-CN" sz="1000"/>
                        <a:t> </a:t>
                      </a:r>
                      <a:r>
                        <a:rPr lang="ko-KR" altLang="en-US" sz="1000"/>
                        <a:t>그룹화</a:t>
                      </a:r>
                      <a:r>
                        <a:rPr lang="en-US" altLang="zh-CN" sz="1000"/>
                        <a:t> </a:t>
                      </a:r>
                      <a:r>
                        <a:rPr lang="ko-KR" altLang="en-US" sz="1000"/>
                        <a:t>시</a:t>
                      </a:r>
                      <a:r>
                        <a:rPr lang="en-US" altLang="zh-CN" sz="1000"/>
                        <a:t> </a:t>
                      </a:r>
                      <a:r>
                        <a:rPr lang="ko-KR" altLang="en-US" sz="1000"/>
                        <a:t>오류를</a:t>
                      </a:r>
                      <a:r>
                        <a:rPr lang="en-US" altLang="zh-CN" sz="1000"/>
                        <a:t> </a:t>
                      </a:r>
                      <a:r>
                        <a:rPr lang="ko-KR" altLang="en-US" sz="1000"/>
                        <a:t>방지합니다</a:t>
                      </a:r>
                      <a:r>
                        <a:rPr lang="en-US" altLang="zh-CN" sz="1000"/>
                        <a:t>.</a:t>
                      </a:r>
                      <a:endParaRPr lang="en-US" altLang="zh-CN" sz="1000"/>
                    </a:p>
                    <a:p>
                      <a:pPr algn="ctr">
                        <a:buNone/>
                      </a:pPr>
                      <a:r>
                        <a:rPr lang="zh-CN" altLang="en-US" sz="1000"/>
                        <a:t>填补关键字段缺失，确保数据完整性，防止后续分组时出错</a:t>
                      </a:r>
                      <a:endParaRPr lang="zh-CN" altLang="en-US" sz="1000"/>
                    </a:p>
                  </a:txBody>
                  <a:tcPr anchor="ctr" anchorCtr="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2397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graphicFrame>
        <p:nvGraphicFramePr>
          <p:cNvPr id="7" name="表格 6"/>
          <p:cNvGraphicFramePr/>
          <p:nvPr>
            <p:custDataLst>
              <p:tags r:id="rId2"/>
            </p:custDataLst>
          </p:nvPr>
        </p:nvGraphicFramePr>
        <p:xfrm>
          <a:off x="914400" y="1840865"/>
          <a:ext cx="7335520" cy="4692015"/>
        </p:xfrm>
        <a:graphic>
          <a:graphicData uri="http://schemas.openxmlformats.org/drawingml/2006/table">
            <a:tbl>
              <a:tblPr firstRow="1" bandRow="1">
                <a:tableStyleId>{5C22544A-7EE6-4342-B048-85BDC9FD1C3A}</a:tableStyleId>
              </a:tblPr>
              <a:tblGrid>
                <a:gridCol w="1833880"/>
                <a:gridCol w="1833880"/>
                <a:gridCol w="1833880"/>
                <a:gridCol w="1833880"/>
              </a:tblGrid>
              <a:tr h="504825">
                <a:tc>
                  <a:txBody>
                    <a:bodyPr/>
                    <a:p>
                      <a:pPr algn="ctr">
                        <a:buNone/>
                      </a:pPr>
                      <a:r>
                        <a:rPr lang="ko-KR" altLang="en-US" sz="1000"/>
                        <a:t>모듈</a:t>
                      </a:r>
                      <a:r>
                        <a:rPr lang="zh-CN" altLang="en-US" sz="1000"/>
                        <a:t>模块</a:t>
                      </a:r>
                      <a:endParaRPr lang="zh-CN" altLang="en-US" sz="1000"/>
                    </a:p>
                  </a:txBody>
                  <a:tcPr anchor="ctr" anchorCtr="0"/>
                </a:tc>
                <a:tc>
                  <a:txBody>
                    <a:bodyPr/>
                    <a:p>
                      <a:pPr algn="ctr">
                        <a:buNone/>
                      </a:pPr>
                      <a:r>
                        <a:rPr lang="ko-KR" altLang="en-US" sz="1000"/>
                        <a:t>알고리즘</a:t>
                      </a:r>
                      <a:r>
                        <a:rPr lang="en-US" altLang="zh-CN" sz="1000"/>
                        <a:t> </a:t>
                      </a:r>
                      <a:r>
                        <a:rPr lang="ko-KR" altLang="en-US" sz="1000"/>
                        <a:t>방법</a:t>
                      </a:r>
                      <a:r>
                        <a:rPr lang="zh-CN" altLang="en-US" sz="1000"/>
                        <a:t>算法方法</a:t>
                      </a:r>
                      <a:endParaRPr lang="zh-CN" altLang="en-US" sz="1000"/>
                    </a:p>
                  </a:txBody>
                  <a:tcPr anchor="ctr" anchorCtr="0"/>
                </a:tc>
                <a:tc>
                  <a:txBody>
                    <a:bodyPr/>
                    <a:p>
                      <a:pPr algn="ctr">
                        <a:buNone/>
                      </a:pPr>
                      <a:r>
                        <a:rPr lang="ko-KR" altLang="en-US" sz="1000"/>
                        <a:t>기능</a:t>
                      </a:r>
                      <a:r>
                        <a:rPr lang="en-US" altLang="zh-CN" sz="1000"/>
                        <a:t> </a:t>
                      </a:r>
                      <a:r>
                        <a:rPr lang="ko-KR" altLang="en-US" sz="1000"/>
                        <a:t>설명</a:t>
                      </a:r>
                      <a:r>
                        <a:rPr lang="zh-CN" altLang="en-US" sz="1000"/>
                        <a:t>功能说明</a:t>
                      </a:r>
                      <a:endParaRPr lang="zh-CN" altLang="en-US" sz="1000"/>
                    </a:p>
                  </a:txBody>
                  <a:tcPr anchor="ctr" anchorCtr="0"/>
                </a:tc>
                <a:tc>
                  <a:txBody>
                    <a:bodyPr/>
                    <a:p>
                      <a:pPr algn="ctr">
                        <a:buNone/>
                      </a:pPr>
                      <a:r>
                        <a:rPr lang="ko-KR" altLang="en-US" sz="1000"/>
                        <a:t>분석</a:t>
                      </a:r>
                      <a:r>
                        <a:rPr lang="zh-CN" altLang="en-US" sz="1000"/>
                        <a:t>分析</a:t>
                      </a:r>
                      <a:endParaRPr lang="zh-CN" altLang="en-US" sz="1000"/>
                    </a:p>
                  </a:txBody>
                  <a:tcPr anchor="ctr" anchorCtr="0"/>
                </a:tc>
              </a:tr>
              <a:tr h="504825">
                <a:tc>
                  <a:txBody>
                    <a:bodyPr/>
                    <a:p>
                      <a:pPr algn="ctr">
                        <a:buNone/>
                      </a:pPr>
                      <a:r>
                        <a:rPr lang="ko-KR" altLang="en-US" sz="1000"/>
                        <a:t>빈도</a:t>
                      </a:r>
                      <a:r>
                        <a:rPr lang="en-US" altLang="zh-CN" sz="1000"/>
                        <a:t> </a:t>
                      </a:r>
                      <a:r>
                        <a:rPr lang="ko-KR" altLang="en-US" sz="1000"/>
                        <a:t>통계</a:t>
                      </a:r>
                      <a:r>
                        <a:rPr lang="zh-CN" altLang="en-US" sz="1000"/>
                        <a:t>频数统计</a:t>
                      </a:r>
                      <a:endParaRPr lang="zh-CN" altLang="en-US" sz="1000"/>
                    </a:p>
                  </a:txBody>
                  <a:tcPr anchor="ctr" anchorCtr="0"/>
                </a:tc>
                <a:tc>
                  <a:txBody>
                    <a:bodyPr/>
                    <a:p>
                      <a:pPr algn="ctr">
                        <a:buNone/>
                      </a:pPr>
                      <a:r>
                        <a:rPr lang="en-US" altLang="zh-CN" sz="1000"/>
                        <a:t>groupby().size()</a:t>
                      </a:r>
                      <a:endParaRPr lang="en-US" altLang="zh-CN" sz="1000"/>
                    </a:p>
                  </a:txBody>
                  <a:tcPr anchor="ctr" anchorCtr="0"/>
                </a:tc>
                <a:tc>
                  <a:txBody>
                    <a:bodyPr/>
                    <a:p>
                      <a:pPr algn="ctr">
                        <a:buNone/>
                      </a:pPr>
                      <a:r>
                        <a:rPr lang="ko-KR" altLang="en-US" sz="1000"/>
                        <a:t>각</a:t>
                      </a:r>
                      <a:r>
                        <a:rPr lang="en-US" altLang="zh-CN" sz="1000"/>
                        <a:t> </a:t>
                      </a:r>
                      <a:r>
                        <a:rPr lang="ko-KR" altLang="en-US" sz="1000"/>
                        <a:t>행정구역</a:t>
                      </a:r>
                      <a:r>
                        <a:rPr lang="en-US" altLang="zh-CN" sz="1000"/>
                        <a:t> </a:t>
                      </a:r>
                      <a:r>
                        <a:rPr lang="ko-KR" altLang="en-US" sz="1000"/>
                        <a:t>또는</a:t>
                      </a:r>
                      <a:r>
                        <a:rPr lang="en-US" altLang="zh-CN" sz="1000"/>
                        <a:t> </a:t>
                      </a:r>
                      <a:r>
                        <a:rPr lang="ko-KR" altLang="en-US" sz="1000"/>
                        <a:t>업종별</a:t>
                      </a:r>
                      <a:r>
                        <a:rPr lang="en-US" altLang="zh-CN" sz="1000"/>
                        <a:t> </a:t>
                      </a:r>
                      <a:r>
                        <a:rPr lang="ko-KR" altLang="en-US" sz="1000"/>
                        <a:t>표본</a:t>
                      </a:r>
                      <a:r>
                        <a:rPr lang="en-US" altLang="zh-CN" sz="1000"/>
                        <a:t> </a:t>
                      </a:r>
                      <a:r>
                        <a:rPr lang="ko-KR" altLang="en-US" sz="1000"/>
                        <a:t>수</a:t>
                      </a:r>
                      <a:r>
                        <a:rPr lang="en-US" altLang="zh-CN" sz="1000"/>
                        <a:t>(</a:t>
                      </a:r>
                      <a:r>
                        <a:rPr lang="ko-KR" altLang="en-US" sz="1000"/>
                        <a:t>사업장</a:t>
                      </a:r>
                      <a:r>
                        <a:rPr lang="en-US" altLang="zh-CN" sz="1000"/>
                        <a:t> </a:t>
                      </a:r>
                      <a:r>
                        <a:rPr lang="ko-KR" altLang="en-US" sz="1000"/>
                        <a:t>수</a:t>
                      </a:r>
                      <a:r>
                        <a:rPr lang="en-US" altLang="zh-CN" sz="1000"/>
                        <a:t>, </a:t>
                      </a:r>
                      <a:r>
                        <a:rPr lang="ko-KR" altLang="en-US" sz="1000"/>
                        <a:t>처벌</a:t>
                      </a:r>
                      <a:r>
                        <a:rPr lang="en-US" altLang="zh-CN" sz="1000"/>
                        <a:t> </a:t>
                      </a:r>
                      <a:r>
                        <a:rPr lang="ko-KR" altLang="en-US" sz="1000"/>
                        <a:t>건수</a:t>
                      </a:r>
                      <a:r>
                        <a:rPr lang="en-US" altLang="zh-CN" sz="1000"/>
                        <a:t>)</a:t>
                      </a:r>
                      <a:r>
                        <a:rPr lang="ko-KR" altLang="en-US" sz="1000"/>
                        <a:t>를</a:t>
                      </a:r>
                      <a:r>
                        <a:rPr lang="en-US" altLang="zh-CN" sz="1000"/>
                        <a:t> </a:t>
                      </a:r>
                      <a:r>
                        <a:rPr lang="ko-KR" altLang="en-US" sz="1000"/>
                        <a:t>계산한다</a:t>
                      </a:r>
                      <a:r>
                        <a:rPr lang="en-US" altLang="zh-CN" sz="1000"/>
                        <a:t>.</a:t>
                      </a:r>
                      <a:endParaRPr lang="en-US" altLang="zh-CN" sz="1000"/>
                    </a:p>
                    <a:p>
                      <a:pPr algn="ctr">
                        <a:buNone/>
                      </a:pPr>
                      <a:r>
                        <a:rPr lang="zh-CN" altLang="en-US" sz="1000"/>
                        <a:t>计算每个行政区或行业的样本数量（业所数、处罚数）</a:t>
                      </a:r>
                      <a:endParaRPr lang="zh-CN" altLang="en-US" sz="1000"/>
                    </a:p>
                  </a:txBody>
                  <a:tcPr anchor="ctr" anchorCtr="0"/>
                </a:tc>
                <a:tc>
                  <a:txBody>
                    <a:bodyPr/>
                    <a:p>
                      <a:pPr algn="ctr">
                        <a:buNone/>
                      </a:pPr>
                      <a:r>
                        <a:rPr lang="ko-KR" altLang="en-US" sz="1000"/>
                        <a:t>각</a:t>
                      </a:r>
                      <a:r>
                        <a:rPr lang="en-US" altLang="zh-CN" sz="1000"/>
                        <a:t> </a:t>
                      </a:r>
                      <a:r>
                        <a:rPr lang="ko-KR" altLang="en-US" sz="1000"/>
                        <a:t>행정구역</a:t>
                      </a:r>
                      <a:r>
                        <a:rPr lang="en-US" altLang="zh-CN" sz="1000"/>
                        <a:t> </a:t>
                      </a:r>
                      <a:r>
                        <a:rPr lang="ko-KR" altLang="en-US" sz="1000"/>
                        <a:t>및</a:t>
                      </a:r>
                      <a:r>
                        <a:rPr lang="en-US" altLang="zh-CN" sz="1000"/>
                        <a:t> </a:t>
                      </a:r>
                      <a:r>
                        <a:rPr lang="ko-KR" altLang="en-US" sz="1000"/>
                        <a:t>업종별</a:t>
                      </a:r>
                      <a:r>
                        <a:rPr lang="en-US" altLang="zh-CN" sz="1000"/>
                        <a:t> </a:t>
                      </a:r>
                      <a:r>
                        <a:rPr lang="ko-KR" altLang="en-US" sz="1000"/>
                        <a:t>사업장</a:t>
                      </a:r>
                      <a:r>
                        <a:rPr lang="en-US" altLang="zh-CN" sz="1000"/>
                        <a:t> </a:t>
                      </a:r>
                      <a:r>
                        <a:rPr lang="ko-KR" altLang="en-US" sz="1000"/>
                        <a:t>수와</a:t>
                      </a:r>
                      <a:r>
                        <a:rPr lang="en-US" altLang="zh-CN" sz="1000"/>
                        <a:t> </a:t>
                      </a:r>
                      <a:r>
                        <a:rPr lang="ko-KR" altLang="en-US" sz="1000"/>
                        <a:t>처벌</a:t>
                      </a:r>
                      <a:r>
                        <a:rPr lang="en-US" altLang="zh-CN" sz="1000"/>
                        <a:t> </a:t>
                      </a:r>
                      <a:r>
                        <a:rPr lang="ko-KR" altLang="en-US" sz="1000"/>
                        <a:t>횟수</a:t>
                      </a:r>
                      <a:r>
                        <a:rPr lang="en-US" altLang="zh-CN" sz="1000"/>
                        <a:t> </a:t>
                      </a:r>
                      <a:r>
                        <a:rPr lang="ko-KR" altLang="en-US" sz="1000"/>
                        <a:t>집계</a:t>
                      </a:r>
                      <a:endParaRPr lang="ko-KR" altLang="en-US" sz="1000"/>
                    </a:p>
                    <a:p>
                      <a:pPr algn="ctr">
                        <a:buNone/>
                      </a:pPr>
                      <a:r>
                        <a:rPr lang="zh-CN" altLang="en-US" sz="1000"/>
                        <a:t>汇总每个行政区和行业的业所数与处罚次数</a:t>
                      </a:r>
                      <a:endParaRPr lang="zh-CN" altLang="en-US" sz="1000"/>
                    </a:p>
                  </a:txBody>
                  <a:tcPr anchor="ctr" anchorCtr="0"/>
                </a:tc>
              </a:tr>
              <a:tr h="504825">
                <a:tc>
                  <a:txBody>
                    <a:bodyPr/>
                    <a:p>
                      <a:pPr algn="ctr">
                        <a:buNone/>
                      </a:pPr>
                      <a:r>
                        <a:rPr lang="ko-KR" altLang="en-US" sz="1000"/>
                        <a:t>데이터</a:t>
                      </a:r>
                      <a:r>
                        <a:rPr lang="en-US" altLang="zh-CN" sz="1000"/>
                        <a:t> </a:t>
                      </a:r>
                      <a:r>
                        <a:rPr lang="ko-KR" altLang="en-US" sz="1000"/>
                        <a:t>병합</a:t>
                      </a:r>
                      <a:r>
                        <a:rPr lang="zh-CN" altLang="en-US" sz="1000"/>
                        <a:t>数据合并</a:t>
                      </a:r>
                      <a:endParaRPr lang="zh-CN" altLang="en-US" sz="1000"/>
                    </a:p>
                  </a:txBody>
                  <a:tcPr anchor="ctr" anchorCtr="0"/>
                </a:tc>
                <a:tc>
                  <a:txBody>
                    <a:bodyPr/>
                    <a:p>
                      <a:pPr algn="ctr">
                        <a:buNone/>
                      </a:pPr>
                      <a:r>
                        <a:rPr lang="en-US" altLang="zh-CN" sz="1000"/>
                        <a:t>pd.merge()</a:t>
                      </a:r>
                      <a:endParaRPr lang="en-US" altLang="zh-CN" sz="1000"/>
                    </a:p>
                  </a:txBody>
                  <a:tcPr anchor="ctr" anchorCtr="0"/>
                </a:tc>
                <a:tc>
                  <a:txBody>
                    <a:bodyPr/>
                    <a:p>
                      <a:pPr algn="ctr">
                        <a:buNone/>
                      </a:pPr>
                      <a:r>
                        <a:rPr lang="ko-KR" altLang="en-US" sz="1000"/>
                        <a:t>두</a:t>
                      </a:r>
                      <a:r>
                        <a:rPr lang="en-US" altLang="zh-CN" sz="1000"/>
                        <a:t> </a:t>
                      </a:r>
                      <a:r>
                        <a:rPr lang="ko-KR" altLang="en-US" sz="1000"/>
                        <a:t>개의</a:t>
                      </a:r>
                      <a:r>
                        <a:rPr lang="en-US" altLang="zh-CN" sz="1000"/>
                        <a:t> </a:t>
                      </a:r>
                      <a:r>
                        <a:rPr lang="ko-KR" altLang="en-US" sz="1000"/>
                        <a:t>표</a:t>
                      </a:r>
                      <a:r>
                        <a:rPr lang="en-US" altLang="zh-CN" sz="1000"/>
                        <a:t>(</a:t>
                      </a:r>
                      <a:r>
                        <a:rPr lang="ko-KR" altLang="en-US" sz="1000"/>
                        <a:t>예</a:t>
                      </a:r>
                      <a:r>
                        <a:rPr lang="en-US" altLang="zh-CN" sz="1000"/>
                        <a:t>: </a:t>
                      </a:r>
                      <a:r>
                        <a:rPr lang="ko-KR" altLang="en-US" sz="1000"/>
                        <a:t>처벌</a:t>
                      </a:r>
                      <a:r>
                        <a:rPr lang="en-US" altLang="zh-CN" sz="1000"/>
                        <a:t> </a:t>
                      </a:r>
                      <a:r>
                        <a:rPr lang="ko-KR" altLang="en-US" sz="1000"/>
                        <a:t>횟수와</a:t>
                      </a:r>
                      <a:r>
                        <a:rPr lang="en-US" altLang="zh-CN" sz="1000"/>
                        <a:t> </a:t>
                      </a:r>
                      <a:r>
                        <a:rPr lang="ko-KR" altLang="en-US" sz="1000"/>
                        <a:t>업소</a:t>
                      </a:r>
                      <a:r>
                        <a:rPr lang="en-US" altLang="zh-CN" sz="1000"/>
                        <a:t> </a:t>
                      </a:r>
                      <a:r>
                        <a:rPr lang="ko-KR" altLang="en-US" sz="1000"/>
                        <a:t>총수</a:t>
                      </a:r>
                      <a:r>
                        <a:rPr lang="en-US" altLang="zh-CN" sz="1000"/>
                        <a:t>)</a:t>
                      </a:r>
                      <a:r>
                        <a:rPr lang="ko-KR" altLang="en-US" sz="1000"/>
                        <a:t>를</a:t>
                      </a:r>
                      <a:r>
                        <a:rPr lang="en-US" altLang="zh-CN" sz="1000"/>
                        <a:t> </a:t>
                      </a:r>
                      <a:r>
                        <a:rPr lang="ko-KR" altLang="en-US" sz="1000"/>
                        <a:t>행정구역</a:t>
                      </a:r>
                      <a:r>
                        <a:rPr lang="en-US" altLang="zh-CN" sz="1000"/>
                        <a:t> </a:t>
                      </a:r>
                      <a:r>
                        <a:rPr lang="ko-KR" altLang="en-US" sz="1000"/>
                        <a:t>또는</a:t>
                      </a:r>
                      <a:r>
                        <a:rPr lang="en-US" altLang="zh-CN" sz="1000"/>
                        <a:t> </a:t>
                      </a:r>
                      <a:r>
                        <a:rPr lang="ko-KR" altLang="en-US" sz="1000"/>
                        <a:t>업종별로</a:t>
                      </a:r>
                      <a:r>
                        <a:rPr lang="en-US" altLang="zh-CN" sz="1000"/>
                        <a:t> </a:t>
                      </a:r>
                      <a:r>
                        <a:rPr lang="ko-KR" altLang="en-US" sz="1000"/>
                        <a:t>통합</a:t>
                      </a:r>
                      <a:endParaRPr lang="ko-KR" altLang="en-US" sz="1000"/>
                    </a:p>
                    <a:p>
                      <a:pPr algn="ctr">
                        <a:buNone/>
                      </a:pPr>
                      <a:r>
                        <a:rPr lang="zh-CN" altLang="en-US" sz="1000"/>
                        <a:t>将两张表（如处罚次数与业所总数）按行政区或行业合并</a:t>
                      </a:r>
                      <a:endParaRPr lang="zh-CN" altLang="en-US" sz="1000"/>
                    </a:p>
                  </a:txBody>
                  <a:tcPr anchor="ctr" anchorCtr="0"/>
                </a:tc>
                <a:tc>
                  <a:txBody>
                    <a:bodyPr/>
                    <a:p>
                      <a:pPr algn="ctr">
                        <a:buNone/>
                      </a:pPr>
                      <a:r>
                        <a:rPr lang="ko-KR" altLang="en-US" sz="1000"/>
                        <a:t>처벌</a:t>
                      </a:r>
                      <a:r>
                        <a:rPr lang="en-US" altLang="zh-CN" sz="1000"/>
                        <a:t> </a:t>
                      </a:r>
                      <a:r>
                        <a:rPr lang="ko-KR" altLang="en-US" sz="1000"/>
                        <a:t>데이터를</a:t>
                      </a:r>
                      <a:r>
                        <a:rPr lang="en-US" altLang="zh-CN" sz="1000"/>
                        <a:t> </a:t>
                      </a:r>
                      <a:r>
                        <a:rPr lang="ko-KR" altLang="en-US" sz="1000"/>
                        <a:t>업소</a:t>
                      </a:r>
                      <a:r>
                        <a:rPr lang="en-US" altLang="zh-CN" sz="1000"/>
                        <a:t> </a:t>
                      </a:r>
                      <a:r>
                        <a:rPr lang="ko-KR" altLang="en-US" sz="1000"/>
                        <a:t>기준과</a:t>
                      </a:r>
                      <a:r>
                        <a:rPr lang="en-US" altLang="zh-CN" sz="1000"/>
                        <a:t> </a:t>
                      </a:r>
                      <a:r>
                        <a:rPr lang="ko-KR" altLang="en-US" sz="1000"/>
                        <a:t>결합하여</a:t>
                      </a:r>
                      <a:r>
                        <a:rPr lang="en-US" altLang="zh-CN" sz="1000"/>
                        <a:t> </a:t>
                      </a:r>
                      <a:r>
                        <a:rPr lang="ko-KR" altLang="en-US" sz="1000"/>
                        <a:t>완전한</a:t>
                      </a:r>
                      <a:r>
                        <a:rPr lang="en-US" altLang="zh-CN" sz="1000"/>
                        <a:t> </a:t>
                      </a:r>
                      <a:r>
                        <a:rPr lang="ko-KR" altLang="en-US" sz="1000"/>
                        <a:t>지역</a:t>
                      </a:r>
                      <a:r>
                        <a:rPr lang="en-US" altLang="zh-CN" sz="1000"/>
                        <a:t> </a:t>
                      </a:r>
                      <a:r>
                        <a:rPr lang="ko-KR" altLang="en-US" sz="1000"/>
                        <a:t>및</a:t>
                      </a:r>
                      <a:r>
                        <a:rPr lang="en-US" altLang="zh-CN" sz="1000"/>
                        <a:t> </a:t>
                      </a:r>
                      <a:r>
                        <a:rPr lang="ko-KR" altLang="en-US" sz="1000"/>
                        <a:t>업종별</a:t>
                      </a:r>
                      <a:r>
                        <a:rPr lang="en-US" altLang="zh-CN" sz="1000"/>
                        <a:t> </a:t>
                      </a:r>
                      <a:r>
                        <a:rPr lang="ko-KR" altLang="en-US" sz="1000"/>
                        <a:t>통계표를</a:t>
                      </a:r>
                      <a:r>
                        <a:rPr lang="en-US" altLang="zh-CN" sz="1000"/>
                        <a:t> </a:t>
                      </a:r>
                      <a:r>
                        <a:rPr lang="ko-KR" altLang="en-US" sz="1000"/>
                        <a:t>도출한다</a:t>
                      </a:r>
                      <a:r>
                        <a:rPr lang="en-US" altLang="zh-CN" sz="1000"/>
                        <a:t>.</a:t>
                      </a:r>
                      <a:endParaRPr lang="en-US" altLang="zh-CN" sz="1000"/>
                    </a:p>
                    <a:p>
                      <a:pPr algn="ctr">
                        <a:buNone/>
                      </a:pPr>
                      <a:r>
                        <a:rPr lang="zh-CN" altLang="en-US" sz="1000"/>
                        <a:t>将处罚数据与业所基数结合，得到完整的区域与行业统计表</a:t>
                      </a:r>
                      <a:endParaRPr lang="zh-CN" altLang="en-US" sz="1000"/>
                    </a:p>
                  </a:txBody>
                  <a:tcPr anchor="ctr" anchorCtr="0"/>
                </a:tc>
              </a:tr>
              <a:tr h="504825">
                <a:tc>
                  <a:txBody>
                    <a:bodyPr/>
                    <a:p>
                      <a:pPr algn="ctr">
                        <a:buNone/>
                      </a:pPr>
                      <a:r>
                        <a:rPr lang="ko-KR" altLang="en-US" sz="1000"/>
                        <a:t>위험</a:t>
                      </a:r>
                      <a:r>
                        <a:rPr lang="en-US" altLang="zh-CN" sz="1000"/>
                        <a:t> </a:t>
                      </a:r>
                      <a:r>
                        <a:rPr lang="ko-KR" altLang="en-US" sz="1000"/>
                        <a:t>지수</a:t>
                      </a:r>
                      <a:r>
                        <a:rPr lang="en-US" altLang="zh-CN" sz="1000"/>
                        <a:t> </a:t>
                      </a:r>
                      <a:r>
                        <a:rPr lang="ko-KR" altLang="en-US" sz="1000"/>
                        <a:t>계산</a:t>
                      </a:r>
                      <a:r>
                        <a:rPr lang="zh-CN" altLang="en-US" sz="1000"/>
                        <a:t>风险指数计算</a:t>
                      </a:r>
                      <a:endParaRPr lang="zh-CN" altLang="en-US" sz="1000"/>
                    </a:p>
                  </a:txBody>
                  <a:tcPr anchor="ctr" anchorCtr="0"/>
                </a:tc>
                <a:tc>
                  <a:txBody>
                    <a:bodyPr/>
                    <a:p>
                      <a:pPr algn="ctr">
                        <a:buNone/>
                      </a:pPr>
                      <a:r>
                        <a:rPr lang="ko-KR" altLang="en-US" sz="1000"/>
                        <a:t>간단한</a:t>
                      </a:r>
                      <a:r>
                        <a:rPr lang="en-US" altLang="zh-CN" sz="1000"/>
                        <a:t> </a:t>
                      </a:r>
                      <a:r>
                        <a:rPr lang="ko-KR" altLang="en-US" sz="1000"/>
                        <a:t>비율</a:t>
                      </a:r>
                      <a:r>
                        <a:rPr lang="en-US" altLang="zh-CN" sz="1000"/>
                        <a:t>: </a:t>
                      </a:r>
                      <a:r>
                        <a:rPr lang="ko-KR" altLang="en-US" sz="1000"/>
                        <a:t>처벌</a:t>
                      </a:r>
                      <a:r>
                        <a:rPr lang="en-US" altLang="zh-CN" sz="1000"/>
                        <a:t> </a:t>
                      </a:r>
                      <a:r>
                        <a:rPr lang="ko-KR" altLang="en-US" sz="1000"/>
                        <a:t>횟수</a:t>
                      </a:r>
                      <a:r>
                        <a:rPr lang="en-US" altLang="zh-CN" sz="1000"/>
                        <a:t> </a:t>
                      </a:r>
                      <a:r>
                        <a:rPr lang="" altLang="en-US" sz="1000"/>
                        <a:t>÷</a:t>
                      </a:r>
                      <a:r>
                        <a:rPr lang="en-US" altLang="zh-CN" sz="1000"/>
                        <a:t> </a:t>
                      </a:r>
                      <a:r>
                        <a:rPr lang="ko-KR" altLang="en-US" sz="1000"/>
                        <a:t>업소</a:t>
                      </a:r>
                      <a:r>
                        <a:rPr lang="en-US" altLang="zh-CN" sz="1000"/>
                        <a:t> </a:t>
                      </a:r>
                      <a:r>
                        <a:rPr lang="ko-KR" altLang="en-US" sz="1000"/>
                        <a:t>총수</a:t>
                      </a:r>
                      <a:endParaRPr lang="ko-KR" altLang="en-US" sz="1000"/>
                    </a:p>
                    <a:p>
                      <a:pPr algn="ctr">
                        <a:buNone/>
                      </a:pPr>
                      <a:r>
                        <a:rPr lang="zh-CN" altLang="en-US" sz="1000"/>
                        <a:t>简单比例：处罚次数</a:t>
                      </a:r>
                      <a:r>
                        <a:rPr lang="en-US" altLang="zh-CN" sz="1000"/>
                        <a:t> </a:t>
                      </a:r>
                      <a:r>
                        <a:rPr lang="en-US" altLang="en-US" sz="1000"/>
                        <a:t>÷</a:t>
                      </a:r>
                      <a:r>
                        <a:rPr lang="en-US" altLang="zh-CN" sz="1000"/>
                        <a:t> </a:t>
                      </a:r>
                      <a:r>
                        <a:rPr lang="zh-CN" altLang="en-US" sz="1000"/>
                        <a:t>业所总数</a:t>
                      </a:r>
                      <a:endParaRPr lang="zh-CN" altLang="en-US" sz="1000"/>
                    </a:p>
                  </a:txBody>
                  <a:tcPr anchor="ctr" anchorCtr="0"/>
                </a:tc>
                <a:tc>
                  <a:txBody>
                    <a:bodyPr/>
                    <a:p>
                      <a:pPr algn="ctr">
                        <a:buNone/>
                      </a:pPr>
                      <a:r>
                        <a:rPr lang="en-US" altLang="zh-CN" sz="1000"/>
                        <a:t>“</a:t>
                      </a:r>
                      <a:r>
                        <a:rPr lang="ko-KR" altLang="en-US" sz="1000"/>
                        <a:t>상대적</a:t>
                      </a:r>
                      <a:r>
                        <a:rPr lang="en-US" altLang="zh-CN" sz="1000"/>
                        <a:t> </a:t>
                      </a:r>
                      <a:r>
                        <a:rPr lang="ko-KR" altLang="en-US" sz="1000"/>
                        <a:t>위험</a:t>
                      </a:r>
                      <a:r>
                        <a:rPr lang="en-US" altLang="zh-CN" sz="1000"/>
                        <a:t> </a:t>
                      </a:r>
                      <a:r>
                        <a:rPr lang="ko-KR" altLang="en-US" sz="1000"/>
                        <a:t>지표</a:t>
                      </a:r>
                      <a:r>
                        <a:rPr lang="en-US" altLang="zh-CN" sz="1000"/>
                        <a:t>”, </a:t>
                      </a:r>
                      <a:r>
                        <a:rPr lang="ko-KR" altLang="en-US" sz="1000"/>
                        <a:t>특정</a:t>
                      </a:r>
                      <a:r>
                        <a:rPr lang="en-US" altLang="zh-CN" sz="1000"/>
                        <a:t> </a:t>
                      </a:r>
                      <a:r>
                        <a:rPr lang="ko-KR" altLang="en-US" sz="1000"/>
                        <a:t>행정구역</a:t>
                      </a:r>
                      <a:r>
                        <a:rPr lang="en-US" altLang="zh-CN" sz="1000"/>
                        <a:t> </a:t>
                      </a:r>
                      <a:r>
                        <a:rPr lang="ko-KR" altLang="en-US" sz="1000"/>
                        <a:t>또는</a:t>
                      </a:r>
                      <a:r>
                        <a:rPr lang="en-US" altLang="zh-CN" sz="1000"/>
                        <a:t> </a:t>
                      </a:r>
                      <a:r>
                        <a:rPr lang="ko-KR" altLang="en-US" sz="1000"/>
                        <a:t>업종의</a:t>
                      </a:r>
                      <a:r>
                        <a:rPr lang="en-US" altLang="zh-CN" sz="1000"/>
                        <a:t> </a:t>
                      </a:r>
                      <a:r>
                        <a:rPr lang="ko-KR" altLang="en-US" sz="1000"/>
                        <a:t>처벌</a:t>
                      </a:r>
                      <a:r>
                        <a:rPr lang="en-US" altLang="zh-CN" sz="1000"/>
                        <a:t> </a:t>
                      </a:r>
                      <a:r>
                        <a:rPr lang="ko-KR" altLang="en-US" sz="1000"/>
                        <a:t>밀도를</a:t>
                      </a:r>
                      <a:r>
                        <a:rPr lang="en-US" altLang="zh-CN" sz="1000"/>
                        <a:t> </a:t>
                      </a:r>
                      <a:r>
                        <a:rPr lang="ko-KR" altLang="en-US" sz="1000"/>
                        <a:t>나타냄</a:t>
                      </a:r>
                      <a:endParaRPr lang="ko-KR" altLang="en-US" sz="1000"/>
                    </a:p>
                    <a:p>
                      <a:pPr algn="ctr">
                        <a:buNone/>
                      </a:pPr>
                      <a:r>
                        <a:rPr lang="en-US" altLang="zh-CN" sz="1000"/>
                        <a:t>“</a:t>
                      </a:r>
                      <a:r>
                        <a:rPr lang="zh-CN" altLang="en-US" sz="1000"/>
                        <a:t>相对风险指标</a:t>
                      </a:r>
                      <a:r>
                        <a:rPr lang="en-US" altLang="zh-CN" sz="1000"/>
                        <a:t>”</a:t>
                      </a:r>
                      <a:r>
                        <a:rPr lang="zh-CN" altLang="en-US" sz="1000"/>
                        <a:t>，表示某行政区或行业的处罚密度</a:t>
                      </a:r>
                      <a:endParaRPr lang="zh-CN" altLang="en-US" sz="1000"/>
                    </a:p>
                  </a:txBody>
                  <a:tcPr anchor="ctr" anchorCtr="0"/>
                </a:tc>
                <a:tc>
                  <a:txBody>
                    <a:bodyPr/>
                    <a:p>
                      <a:pPr algn="ctr">
                        <a:buNone/>
                      </a:pPr>
                      <a:r>
                        <a:rPr lang="en-US" altLang="zh-CN" sz="1000"/>
                        <a:t>(</a:t>
                      </a:r>
                      <a:r>
                        <a:rPr lang="ko-KR" altLang="en-US" sz="1000"/>
                        <a:t>위험비율</a:t>
                      </a:r>
                      <a:r>
                        <a:rPr lang="en-US" altLang="zh-CN" sz="1000"/>
                        <a:t>)</a:t>
                      </a:r>
                      <a:r>
                        <a:rPr lang="ko-KR" altLang="en-US" sz="1000"/>
                        <a:t>은</a:t>
                      </a:r>
                      <a:r>
                        <a:rPr lang="en-US" altLang="zh-CN" sz="1000"/>
                        <a:t> </a:t>
                      </a:r>
                      <a:r>
                        <a:rPr lang="ko-KR" altLang="en-US" sz="1000"/>
                        <a:t>처벌</a:t>
                      </a:r>
                      <a:r>
                        <a:rPr lang="en-US" altLang="zh-CN" sz="1000"/>
                        <a:t> </a:t>
                      </a:r>
                      <a:r>
                        <a:rPr lang="ko-KR" altLang="en-US" sz="1000"/>
                        <a:t>횟수를</a:t>
                      </a:r>
                      <a:r>
                        <a:rPr lang="en-US" altLang="zh-CN" sz="1000"/>
                        <a:t> </a:t>
                      </a:r>
                      <a:r>
                        <a:rPr lang="ko-KR" altLang="en-US" sz="1000"/>
                        <a:t>업소</a:t>
                      </a:r>
                      <a:r>
                        <a:rPr lang="en-US" altLang="zh-CN" sz="1000"/>
                        <a:t> </a:t>
                      </a:r>
                      <a:r>
                        <a:rPr lang="ko-KR" altLang="en-US" sz="1000"/>
                        <a:t>수로</a:t>
                      </a:r>
                      <a:r>
                        <a:rPr lang="en-US" altLang="zh-CN" sz="1000"/>
                        <a:t> </a:t>
                      </a:r>
                      <a:r>
                        <a:rPr lang="ko-KR" altLang="en-US" sz="1000"/>
                        <a:t>나눈</a:t>
                      </a:r>
                      <a:r>
                        <a:rPr lang="en-US" altLang="zh-CN" sz="1000"/>
                        <a:t> </a:t>
                      </a:r>
                      <a:r>
                        <a:rPr lang="ko-KR" altLang="en-US" sz="1000"/>
                        <a:t>값으로</a:t>
                      </a:r>
                      <a:r>
                        <a:rPr lang="en-US" altLang="zh-CN" sz="1000"/>
                        <a:t>, </a:t>
                      </a:r>
                      <a:r>
                        <a:rPr lang="ko-KR" altLang="en-US" sz="1000"/>
                        <a:t>서로</a:t>
                      </a:r>
                      <a:r>
                        <a:rPr lang="en-US" altLang="zh-CN" sz="1000"/>
                        <a:t> </a:t>
                      </a:r>
                      <a:r>
                        <a:rPr lang="ko-KR" altLang="en-US" sz="1000"/>
                        <a:t>다른</a:t>
                      </a:r>
                      <a:r>
                        <a:rPr lang="en-US" altLang="zh-CN" sz="1000"/>
                        <a:t> </a:t>
                      </a:r>
                      <a:r>
                        <a:rPr lang="ko-KR" altLang="en-US" sz="1000"/>
                        <a:t>지역이나</a:t>
                      </a:r>
                      <a:r>
                        <a:rPr lang="en-US" altLang="zh-CN" sz="1000"/>
                        <a:t> </a:t>
                      </a:r>
                      <a:r>
                        <a:rPr lang="ko-KR" altLang="en-US" sz="1000"/>
                        <a:t>업종의</a:t>
                      </a:r>
                      <a:r>
                        <a:rPr lang="en-US" altLang="zh-CN" sz="1000"/>
                        <a:t> </a:t>
                      </a:r>
                      <a:r>
                        <a:rPr lang="ko-KR" altLang="en-US" sz="1000"/>
                        <a:t>상대적</a:t>
                      </a:r>
                      <a:r>
                        <a:rPr lang="en-US" altLang="zh-CN" sz="1000"/>
                        <a:t> </a:t>
                      </a:r>
                      <a:r>
                        <a:rPr lang="ko-KR" altLang="en-US" sz="1000"/>
                        <a:t>경영</a:t>
                      </a:r>
                      <a:r>
                        <a:rPr lang="en-US" altLang="zh-CN" sz="1000"/>
                        <a:t> </a:t>
                      </a:r>
                      <a:r>
                        <a:rPr lang="ko-KR" altLang="en-US" sz="1000"/>
                        <a:t>위험을</a:t>
                      </a:r>
                      <a:r>
                        <a:rPr lang="en-US" altLang="zh-CN" sz="1000"/>
                        <a:t> </a:t>
                      </a:r>
                      <a:r>
                        <a:rPr lang="ko-KR" altLang="en-US" sz="1000"/>
                        <a:t>측정하는</a:t>
                      </a:r>
                      <a:r>
                        <a:rPr lang="en-US" altLang="zh-CN" sz="1000"/>
                        <a:t> </a:t>
                      </a:r>
                      <a:r>
                        <a:rPr lang="ko-KR" altLang="en-US" sz="1000"/>
                        <a:t>데</a:t>
                      </a:r>
                      <a:r>
                        <a:rPr lang="en-US" altLang="zh-CN" sz="1000"/>
                        <a:t> </a:t>
                      </a:r>
                      <a:r>
                        <a:rPr lang="ko-KR" altLang="en-US" sz="1000"/>
                        <a:t>사용됩니다</a:t>
                      </a:r>
                      <a:r>
                        <a:rPr lang="en-US" altLang="zh-CN" sz="1000"/>
                        <a:t>.</a:t>
                      </a:r>
                      <a:endParaRPr lang="en-US" altLang="zh-CN" sz="1000"/>
                    </a:p>
                    <a:p>
                      <a:pPr algn="ctr">
                        <a:buNone/>
                      </a:pPr>
                      <a:r>
                        <a:rPr lang="zh-CN" altLang="en-US" sz="1000"/>
                        <a:t>（</a:t>
                      </a:r>
                      <a:r>
                        <a:rPr lang="en-US" altLang="zh-CN" sz="1000"/>
                        <a:t>Risk Ratio</a:t>
                      </a:r>
                      <a:r>
                        <a:rPr lang="zh-CN" altLang="en-US" sz="1000"/>
                        <a:t>）为处罚次数除以业所数量，用于衡量不同地区或行业的相对经营风险</a:t>
                      </a:r>
                      <a:endParaRPr lang="zh-CN" altLang="en-US" sz="1000"/>
                    </a:p>
                  </a:txBody>
                  <a:tcPr anchor="ctr" anchorCtr="0"/>
                </a:tc>
              </a:tr>
              <a:tr h="504825">
                <a:tc>
                  <a:txBody>
                    <a:bodyPr/>
                    <a:p>
                      <a:pPr algn="ctr">
                        <a:buNone/>
                      </a:pPr>
                      <a:r>
                        <a:rPr lang="ko-KR" altLang="en-US" sz="1000"/>
                        <a:t>정렬</a:t>
                      </a:r>
                      <a:r>
                        <a:rPr lang="en-US" altLang="zh-CN" sz="1000"/>
                        <a:t> </a:t>
                      </a:r>
                      <a:r>
                        <a:rPr lang="ko-KR" altLang="en-US" sz="1000"/>
                        <a:t>및</a:t>
                      </a:r>
                      <a:r>
                        <a:rPr lang="en-US" altLang="zh-CN" sz="1000"/>
                        <a:t> </a:t>
                      </a:r>
                      <a:r>
                        <a:rPr lang="ko-KR" altLang="en-US" sz="1000"/>
                        <a:t>앞</a:t>
                      </a:r>
                      <a:r>
                        <a:rPr lang="en-US" altLang="zh-CN" sz="1000"/>
                        <a:t> N</a:t>
                      </a:r>
                      <a:r>
                        <a:rPr lang="ko-KR" altLang="en-US" sz="1000"/>
                        <a:t>개</a:t>
                      </a:r>
                      <a:r>
                        <a:rPr lang="en-US" altLang="zh-CN" sz="1000"/>
                        <a:t> </a:t>
                      </a:r>
                      <a:r>
                        <a:rPr lang="ko-KR" altLang="en-US" sz="1000"/>
                        <a:t>추출</a:t>
                      </a:r>
                      <a:endParaRPr lang="ko-KR" altLang="en-US" sz="1000"/>
                    </a:p>
                    <a:p>
                      <a:pPr algn="ctr">
                        <a:buNone/>
                      </a:pPr>
                      <a:r>
                        <a:rPr lang="zh-CN" altLang="en-US" sz="1000"/>
                        <a:t>排序与取前</a:t>
                      </a:r>
                      <a:r>
                        <a:rPr lang="en-US" altLang="zh-CN" sz="1000"/>
                        <a:t>N</a:t>
                      </a:r>
                      <a:endParaRPr lang="en-US" altLang="zh-CN" sz="1000"/>
                    </a:p>
                  </a:txBody>
                  <a:tcPr anchor="ctr" anchorCtr="0"/>
                </a:tc>
                <a:tc>
                  <a:txBody>
                    <a:bodyPr/>
                    <a:p>
                      <a:pPr algn="ctr">
                        <a:buNone/>
                      </a:pPr>
                      <a:r>
                        <a:rPr lang="en-US" altLang="zh-CN" sz="1000"/>
                        <a:t>sort_values()</a:t>
                      </a:r>
                      <a:endParaRPr lang="en-US" altLang="zh-CN" sz="1000"/>
                    </a:p>
                  </a:txBody>
                  <a:tcPr anchor="ctr" anchorCtr="0"/>
                </a:tc>
                <a:tc>
                  <a:txBody>
                    <a:bodyPr/>
                    <a:p>
                      <a:pPr algn="ctr">
                        <a:buNone/>
                      </a:pPr>
                      <a:r>
                        <a:rPr lang="ko-KR" altLang="en-US" sz="1000"/>
                        <a:t>위험</a:t>
                      </a:r>
                      <a:r>
                        <a:rPr lang="en-US" altLang="zh-CN" sz="1000"/>
                        <a:t> </a:t>
                      </a:r>
                      <a:r>
                        <a:rPr lang="ko-KR" altLang="en-US" sz="1000"/>
                        <a:t>지수</a:t>
                      </a:r>
                      <a:r>
                        <a:rPr lang="en-US" altLang="zh-CN" sz="1000"/>
                        <a:t> </a:t>
                      </a:r>
                      <a:r>
                        <a:rPr lang="ko-KR" altLang="en-US" sz="1000"/>
                        <a:t>또는</a:t>
                      </a:r>
                      <a:r>
                        <a:rPr lang="en-US" altLang="zh-CN" sz="1000"/>
                        <a:t> </a:t>
                      </a:r>
                      <a:r>
                        <a:rPr lang="ko-KR" altLang="en-US" sz="1000"/>
                        <a:t>처벌</a:t>
                      </a:r>
                      <a:r>
                        <a:rPr lang="en-US" altLang="zh-CN" sz="1000"/>
                        <a:t> </a:t>
                      </a:r>
                      <a:r>
                        <a:rPr lang="ko-KR" altLang="en-US" sz="1000"/>
                        <a:t>빈도를</a:t>
                      </a:r>
                      <a:r>
                        <a:rPr lang="en-US" altLang="zh-CN" sz="1000"/>
                        <a:t> </a:t>
                      </a:r>
                      <a:r>
                        <a:rPr lang="ko-KR" altLang="en-US" sz="1000"/>
                        <a:t>높음에서</a:t>
                      </a:r>
                      <a:r>
                        <a:rPr lang="en-US" altLang="zh-CN" sz="1000"/>
                        <a:t> </a:t>
                      </a:r>
                      <a:r>
                        <a:rPr lang="ko-KR" altLang="en-US" sz="1000"/>
                        <a:t>낮음</a:t>
                      </a:r>
                      <a:r>
                        <a:rPr lang="en-US" altLang="zh-CN" sz="1000"/>
                        <a:t> </a:t>
                      </a:r>
                      <a:r>
                        <a:rPr lang="ko-KR" altLang="en-US" sz="1000"/>
                        <a:t>순으로</a:t>
                      </a:r>
                      <a:r>
                        <a:rPr lang="en-US" altLang="zh-CN" sz="1000"/>
                        <a:t> </a:t>
                      </a:r>
                      <a:r>
                        <a:rPr lang="ko-KR" altLang="en-US" sz="1000"/>
                        <a:t>정렬하여</a:t>
                      </a:r>
                      <a:r>
                        <a:rPr lang="en-US" altLang="zh-CN" sz="1000"/>
                        <a:t> </a:t>
                      </a:r>
                      <a:r>
                        <a:rPr lang="ko-KR" altLang="en-US" sz="1000"/>
                        <a:t>중점</a:t>
                      </a:r>
                      <a:r>
                        <a:rPr lang="en-US" altLang="zh-CN" sz="1000"/>
                        <a:t> </a:t>
                      </a:r>
                      <a:r>
                        <a:rPr lang="ko-KR" altLang="en-US" sz="1000"/>
                        <a:t>위험</a:t>
                      </a:r>
                      <a:r>
                        <a:rPr lang="en-US" altLang="zh-CN" sz="1000"/>
                        <a:t> </a:t>
                      </a:r>
                      <a:r>
                        <a:rPr lang="ko-KR" altLang="en-US" sz="1000"/>
                        <a:t>지역</a:t>
                      </a:r>
                      <a:r>
                        <a:rPr lang="en-US" altLang="zh-CN" sz="1000"/>
                        <a:t> </a:t>
                      </a:r>
                      <a:r>
                        <a:rPr lang="ko-KR" altLang="en-US" sz="1000"/>
                        <a:t>또는</a:t>
                      </a:r>
                      <a:r>
                        <a:rPr lang="en-US" altLang="zh-CN" sz="1000"/>
                        <a:t> </a:t>
                      </a:r>
                      <a:r>
                        <a:rPr lang="ko-KR" altLang="en-US" sz="1000"/>
                        <a:t>업종을</a:t>
                      </a:r>
                      <a:r>
                        <a:rPr lang="en-US" altLang="zh-CN" sz="1000"/>
                        <a:t> </a:t>
                      </a:r>
                      <a:r>
                        <a:rPr lang="ko-KR" altLang="en-US" sz="1000"/>
                        <a:t>식별하는</a:t>
                      </a:r>
                      <a:r>
                        <a:rPr lang="en-US" altLang="zh-CN" sz="1000"/>
                        <a:t> </a:t>
                      </a:r>
                      <a:r>
                        <a:rPr lang="ko-KR" altLang="en-US" sz="1000"/>
                        <a:t>데</a:t>
                      </a:r>
                      <a:r>
                        <a:rPr lang="en-US" altLang="zh-CN" sz="1000"/>
                        <a:t> </a:t>
                      </a:r>
                      <a:r>
                        <a:rPr lang="ko-KR" altLang="en-US" sz="1000"/>
                        <a:t>사용한다</a:t>
                      </a:r>
                      <a:r>
                        <a:rPr lang="en-US" altLang="zh-CN" sz="1000"/>
                        <a:t>.</a:t>
                      </a:r>
                      <a:endParaRPr lang="en-US" altLang="zh-CN" sz="1000"/>
                    </a:p>
                    <a:p>
                      <a:pPr algn="ctr">
                        <a:buNone/>
                      </a:pPr>
                      <a:r>
                        <a:rPr lang="zh-CN" altLang="en-US" sz="1000"/>
                        <a:t>将风险指数或处罚频度从高到低排序，用于识别重点风险区域或行业</a:t>
                      </a:r>
                      <a:endParaRPr lang="zh-CN" altLang="en-US" sz="1000"/>
                    </a:p>
                  </a:txBody>
                  <a:tcPr anchor="ctr" anchorCtr="0"/>
                </a:tc>
                <a:tc>
                  <a:txBody>
                    <a:bodyPr/>
                    <a:p>
                      <a:pPr algn="ctr">
                        <a:buNone/>
                      </a:pPr>
                      <a:r>
                        <a:rPr lang="en-US" altLang="zh-CN" sz="1000"/>
                        <a:t>  </a:t>
                      </a:r>
                      <a:r>
                        <a:rPr lang="ko-KR" altLang="en-US" sz="1000"/>
                        <a:t>위험</a:t>
                      </a:r>
                      <a:r>
                        <a:rPr lang="en-US" altLang="zh-CN" sz="1000"/>
                        <a:t> </a:t>
                      </a:r>
                      <a:r>
                        <a:rPr lang="ko-KR" altLang="en-US" sz="1000"/>
                        <a:t>지수를</a:t>
                      </a:r>
                      <a:r>
                        <a:rPr lang="en-US" altLang="zh-CN" sz="1000"/>
                        <a:t> </a:t>
                      </a:r>
                      <a:r>
                        <a:rPr lang="ko-KR" altLang="en-US" sz="1000"/>
                        <a:t>순위로</a:t>
                      </a:r>
                      <a:r>
                        <a:rPr lang="en-US" altLang="zh-CN" sz="1000"/>
                        <a:t> </a:t>
                      </a:r>
                      <a:r>
                        <a:rPr lang="ko-KR" altLang="en-US" sz="1000"/>
                        <a:t>정렬하여</a:t>
                      </a:r>
                      <a:r>
                        <a:rPr lang="en-US" altLang="zh-CN" sz="1000"/>
                        <a:t> </a:t>
                      </a:r>
                      <a:r>
                        <a:rPr lang="ko-KR" altLang="en-US" sz="1000"/>
                        <a:t>고위험</a:t>
                      </a:r>
                      <a:r>
                        <a:rPr lang="en-US" altLang="zh-CN" sz="1000"/>
                        <a:t> </a:t>
                      </a:r>
                      <a:r>
                        <a:rPr lang="ko-KR" altLang="en-US" sz="1000"/>
                        <a:t>산업</a:t>
                      </a:r>
                      <a:r>
                        <a:rPr lang="en-US" altLang="zh-CN" sz="1000"/>
                        <a:t> </a:t>
                      </a:r>
                      <a:r>
                        <a:rPr lang="ko-KR" altLang="en-US" sz="1000"/>
                        <a:t>및</a:t>
                      </a:r>
                      <a:r>
                        <a:rPr lang="en-US" altLang="zh-CN" sz="1000"/>
                        <a:t> </a:t>
                      </a:r>
                      <a:r>
                        <a:rPr lang="ko-KR" altLang="en-US" sz="1000"/>
                        <a:t>행정구역을</a:t>
                      </a:r>
                      <a:r>
                        <a:rPr lang="en-US" altLang="zh-CN" sz="1000"/>
                        <a:t> </a:t>
                      </a:r>
                      <a:r>
                        <a:rPr lang="ko-KR" altLang="en-US" sz="1000"/>
                        <a:t>신속하게</a:t>
                      </a:r>
                      <a:r>
                        <a:rPr lang="en-US" altLang="zh-CN" sz="1000"/>
                        <a:t> </a:t>
                      </a:r>
                      <a:r>
                        <a:rPr lang="ko-KR" altLang="en-US" sz="1000"/>
                        <a:t>찾아냅니다</a:t>
                      </a:r>
                      <a:r>
                        <a:rPr lang="en-US" altLang="zh-CN" sz="1000"/>
                        <a:t>.</a:t>
                      </a:r>
                      <a:endParaRPr lang="en-US" altLang="zh-CN" sz="1000"/>
                    </a:p>
                    <a:p>
                      <a:pPr algn="ctr">
                        <a:buNone/>
                      </a:pPr>
                      <a:r>
                        <a:rPr lang="zh-CN" altLang="en-US" sz="1000"/>
                        <a:t>对风险指数排序，快速找到高风险行业与行政区</a:t>
                      </a:r>
                      <a:endParaRPr lang="zh-CN" altLang="en-US" sz="1000"/>
                    </a:p>
                  </a:txBody>
                  <a:tcPr anchor="ctr" anchorCtr="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4835" y="38290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数据1"/>
          <p:cNvPicPr>
            <a:picLocks noChangeAspect="1"/>
          </p:cNvPicPr>
          <p:nvPr/>
        </p:nvPicPr>
        <p:blipFill>
          <a:blip r:embed="rId2"/>
          <a:stretch>
            <a:fillRect/>
          </a:stretch>
        </p:blipFill>
        <p:spPr>
          <a:xfrm>
            <a:off x="1056640" y="828675"/>
            <a:ext cx="6621145" cy="58642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4835" y="38290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C:/Users/LENOVO/Desktop/stt/homework/数据科学/数据2.png数据2"/>
          <p:cNvPicPr>
            <a:picLocks noChangeAspect="1"/>
          </p:cNvPicPr>
          <p:nvPr/>
        </p:nvPicPr>
        <p:blipFill>
          <a:blip r:embed="rId2"/>
          <a:srcRect t="7624" b="7624"/>
          <a:stretch>
            <a:fillRect/>
          </a:stretch>
        </p:blipFill>
        <p:spPr>
          <a:xfrm>
            <a:off x="1056640" y="828675"/>
            <a:ext cx="6621145" cy="58642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4835" y="38290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C:/Users/LENOVO/Desktop/stt/homework/数据科学/数据3.png数据3"/>
          <p:cNvPicPr>
            <a:picLocks noChangeAspect="1"/>
          </p:cNvPicPr>
          <p:nvPr/>
        </p:nvPicPr>
        <p:blipFill>
          <a:blip r:embed="rId2"/>
          <a:srcRect t="7404" b="7404"/>
          <a:stretch>
            <a:fillRect/>
          </a:stretch>
        </p:blipFill>
        <p:spPr>
          <a:xfrm>
            <a:off x="1056640" y="828675"/>
            <a:ext cx="6621145" cy="58642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1190" y="107886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6" name="图片 5" descr="1"/>
          <p:cNvPicPr>
            <a:picLocks noChangeAspect="1"/>
          </p:cNvPicPr>
          <p:nvPr/>
        </p:nvPicPr>
        <p:blipFill>
          <a:blip r:embed="rId2"/>
          <a:stretch>
            <a:fillRect/>
          </a:stretch>
        </p:blipFill>
        <p:spPr>
          <a:xfrm>
            <a:off x="330200" y="2630170"/>
            <a:ext cx="8482965" cy="23475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1190" y="1078865"/>
            <a:ext cx="7315200" cy="445770"/>
          </a:xfrm>
          <a:prstGeom prst="rect">
            <a:avLst/>
          </a:prstGeom>
          <a:noFill/>
        </p:spPr>
        <p:txBody>
          <a:bodyPr wrap="none">
            <a:noAutofit/>
          </a:bodyPr>
          <a:lstStyle/>
          <a:p>
            <a:pPr>
              <a:defRPr sz="2000">
                <a:solidFill>
                  <a:srgbClr val="3C3C3C"/>
                </a:solidFill>
              </a:defRPr>
            </a:pPr>
            <a:r>
              <a:t>- 주차별 목표 및 작업 / </a:t>
            </a:r>
            <a:r>
              <a:rPr lang="zh-CN"/>
              <a:t>数据处理</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4"/>
          <p:cNvPicPr>
            <a:picLocks noChangeAspect="1"/>
          </p:cNvPicPr>
          <p:nvPr/>
        </p:nvPicPr>
        <p:blipFill>
          <a:blip r:embed="rId2"/>
          <a:stretch>
            <a:fillRect/>
          </a:stretch>
        </p:blipFill>
        <p:spPr>
          <a:xfrm>
            <a:off x="2370455" y="1570990"/>
            <a:ext cx="4001770" cy="49993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1"/>
          <p:cNvPicPr>
            <a:picLocks noChangeAspect="1"/>
          </p:cNvPicPr>
          <p:nvPr/>
        </p:nvPicPr>
        <p:blipFill>
          <a:blip r:embed="rId2"/>
          <a:stretch>
            <a:fillRect/>
          </a:stretch>
        </p:blipFill>
        <p:spPr>
          <a:xfrm>
            <a:off x="245745" y="2131695"/>
            <a:ext cx="6167755" cy="4093845"/>
          </a:xfrm>
          <a:prstGeom prst="rect">
            <a:avLst/>
          </a:prstGeom>
        </p:spPr>
      </p:pic>
      <p:sp>
        <p:nvSpPr>
          <p:cNvPr id="6" name="文本框 5"/>
          <p:cNvSpPr txBox="1"/>
          <p:nvPr/>
        </p:nvSpPr>
        <p:spPr>
          <a:xfrm>
            <a:off x="6781800" y="1929765"/>
            <a:ext cx="2178050" cy="4295775"/>
          </a:xfrm>
          <a:prstGeom prst="rect">
            <a:avLst/>
          </a:prstGeom>
          <a:noFill/>
        </p:spPr>
        <p:txBody>
          <a:bodyPr wrap="square" rtlCol="0">
            <a:noAutofit/>
          </a:bodyPr>
          <a:p>
            <a:endParaRPr lang="zh-CN" altLang="en-US" sz="1200"/>
          </a:p>
          <a:p>
            <a:r>
              <a:rPr lang="ko-KR" altLang="en-US" sz="1200"/>
              <a:t>요약</a:t>
            </a:r>
            <a:r>
              <a:rPr lang="en-US" altLang="zh-CN" sz="1200"/>
              <a:t>: </a:t>
            </a:r>
            <a:r>
              <a:rPr lang="ko-KR" altLang="en-US" sz="1200"/>
              <a:t>처벌</a:t>
            </a:r>
            <a:r>
              <a:rPr lang="en-US" altLang="zh-CN" sz="1200"/>
              <a:t> </a:t>
            </a:r>
            <a:r>
              <a:rPr lang="ko-KR" altLang="en-US" sz="1200"/>
              <a:t>유형의</a:t>
            </a:r>
            <a:r>
              <a:rPr lang="en-US" altLang="zh-CN" sz="1200"/>
              <a:t> </a:t>
            </a:r>
            <a:r>
              <a:rPr lang="ko-KR" altLang="en-US" sz="1200"/>
              <a:t>빈도</a:t>
            </a:r>
            <a:r>
              <a:rPr lang="en-US" altLang="zh-CN" sz="1200"/>
              <a:t> </a:t>
            </a:r>
            <a:r>
              <a:rPr lang="ko-KR" altLang="en-US" sz="1200"/>
              <a:t>분포를</a:t>
            </a:r>
            <a:r>
              <a:rPr lang="en-US" altLang="zh-CN" sz="1200"/>
              <a:t> </a:t>
            </a:r>
            <a:r>
              <a:rPr lang="ko-KR" altLang="en-US" sz="1200"/>
              <a:t>보면</a:t>
            </a:r>
            <a:r>
              <a:rPr lang="en-US" altLang="zh-CN" sz="1200"/>
              <a:t>, </a:t>
            </a:r>
            <a:r>
              <a:rPr lang="ko-KR" altLang="en-US" sz="1200"/>
              <a:t>직권에</a:t>
            </a:r>
            <a:r>
              <a:rPr lang="en-US" altLang="zh-CN" sz="1200"/>
              <a:t> </a:t>
            </a:r>
            <a:r>
              <a:rPr lang="ko-KR" altLang="en-US" sz="1200"/>
              <a:t>의한</a:t>
            </a:r>
            <a:r>
              <a:rPr lang="en-US" altLang="zh-CN" sz="1200"/>
              <a:t> </a:t>
            </a:r>
            <a:r>
              <a:rPr lang="ko-KR" altLang="en-US" sz="1200"/>
              <a:t>등록</a:t>
            </a:r>
            <a:r>
              <a:rPr lang="en-US" altLang="zh-CN" sz="1200"/>
              <a:t> </a:t>
            </a:r>
            <a:r>
              <a:rPr lang="ko-KR" altLang="en-US" sz="1200"/>
              <a:t>말소와</a:t>
            </a:r>
            <a:r>
              <a:rPr lang="en-US" altLang="zh-CN" sz="1200"/>
              <a:t> </a:t>
            </a:r>
            <a:r>
              <a:rPr lang="ko-KR" altLang="en-US" sz="1200"/>
              <a:t>영업</a:t>
            </a:r>
            <a:r>
              <a:rPr lang="en-US" altLang="zh-CN" sz="1200"/>
              <a:t> </a:t>
            </a:r>
            <a:r>
              <a:rPr lang="ko-KR" altLang="en-US" sz="1200"/>
              <a:t>정지가</a:t>
            </a:r>
            <a:r>
              <a:rPr lang="en-US" altLang="zh-CN" sz="1200"/>
              <a:t> </a:t>
            </a:r>
            <a:r>
              <a:rPr lang="ko-KR" altLang="en-US" sz="1200"/>
              <a:t>가장</a:t>
            </a:r>
            <a:r>
              <a:rPr lang="en-US" altLang="zh-CN" sz="1200"/>
              <a:t> </a:t>
            </a:r>
            <a:r>
              <a:rPr lang="ko-KR" altLang="en-US" sz="1200"/>
              <a:t>흔한</a:t>
            </a:r>
            <a:r>
              <a:rPr lang="en-US" altLang="zh-CN" sz="1200"/>
              <a:t> </a:t>
            </a:r>
            <a:r>
              <a:rPr lang="ko-KR" altLang="en-US" sz="1200"/>
              <a:t>처분</a:t>
            </a:r>
            <a:r>
              <a:rPr lang="en-US" altLang="zh-CN" sz="1200"/>
              <a:t> </a:t>
            </a:r>
            <a:r>
              <a:rPr lang="ko-KR" altLang="en-US" sz="1200"/>
              <a:t>방식으로</a:t>
            </a:r>
            <a:r>
              <a:rPr lang="en-US" altLang="zh-CN" sz="1200"/>
              <a:t>, </a:t>
            </a:r>
            <a:r>
              <a:rPr lang="ko-KR" altLang="en-US" sz="1200"/>
              <a:t>그</a:t>
            </a:r>
            <a:r>
              <a:rPr lang="en-US" altLang="zh-CN" sz="1200"/>
              <a:t> </a:t>
            </a:r>
            <a:r>
              <a:rPr lang="ko-KR" altLang="en-US" sz="1200"/>
              <a:t>빈도가</a:t>
            </a:r>
            <a:r>
              <a:rPr lang="en-US" altLang="zh-CN" sz="1200"/>
              <a:t> </a:t>
            </a:r>
            <a:r>
              <a:rPr lang="ko-KR" altLang="en-US" sz="1200"/>
              <a:t>벌금</a:t>
            </a:r>
            <a:r>
              <a:rPr lang="en-US" altLang="zh-CN" sz="1200"/>
              <a:t>, </a:t>
            </a:r>
            <a:r>
              <a:rPr lang="ko-KR" altLang="en-US" sz="1200"/>
              <a:t>행정</a:t>
            </a:r>
            <a:r>
              <a:rPr lang="en-US" altLang="zh-CN" sz="1200"/>
              <a:t> </a:t>
            </a:r>
            <a:r>
              <a:rPr lang="ko-KR" altLang="en-US" sz="1200"/>
              <a:t>지도</a:t>
            </a:r>
            <a:r>
              <a:rPr lang="en-US" altLang="zh-CN" sz="1200"/>
              <a:t> </a:t>
            </a:r>
            <a:r>
              <a:rPr lang="ko-KR" altLang="en-US" sz="1200"/>
              <a:t>또는</a:t>
            </a:r>
            <a:r>
              <a:rPr lang="en-US" altLang="zh-CN" sz="1200"/>
              <a:t> </a:t>
            </a:r>
            <a:r>
              <a:rPr lang="ko-KR" altLang="en-US" sz="1200"/>
              <a:t>경고</a:t>
            </a:r>
            <a:r>
              <a:rPr lang="en-US" altLang="zh-CN" sz="1200"/>
              <a:t> </a:t>
            </a:r>
            <a:r>
              <a:rPr lang="ko-KR" altLang="en-US" sz="1200"/>
              <a:t>등</a:t>
            </a:r>
            <a:r>
              <a:rPr lang="en-US" altLang="zh-CN" sz="1200"/>
              <a:t> </a:t>
            </a:r>
            <a:r>
              <a:rPr lang="ko-KR" altLang="en-US" sz="1200"/>
              <a:t>유연한</a:t>
            </a:r>
            <a:r>
              <a:rPr lang="en-US" altLang="zh-CN" sz="1200"/>
              <a:t> </a:t>
            </a:r>
            <a:r>
              <a:rPr lang="ko-KR" altLang="en-US" sz="1200"/>
              <a:t>수단보다</a:t>
            </a:r>
            <a:r>
              <a:rPr lang="en-US" altLang="zh-CN" sz="1200"/>
              <a:t> </a:t>
            </a:r>
            <a:r>
              <a:rPr lang="ko-KR" altLang="en-US" sz="1200"/>
              <a:t>훨씬</a:t>
            </a:r>
            <a:r>
              <a:rPr lang="en-US" altLang="zh-CN" sz="1200"/>
              <a:t> </a:t>
            </a:r>
            <a:r>
              <a:rPr lang="ko-KR" altLang="en-US" sz="1200"/>
              <a:t>높다</a:t>
            </a:r>
            <a:r>
              <a:rPr lang="en-US" altLang="zh-CN" sz="1200"/>
              <a:t>. </a:t>
            </a:r>
            <a:r>
              <a:rPr lang="ko-KR" altLang="en-US" sz="1200"/>
              <a:t>이는</a:t>
            </a:r>
            <a:r>
              <a:rPr lang="en-US" altLang="zh-CN" sz="1200"/>
              <a:t> </a:t>
            </a:r>
            <a:r>
              <a:rPr lang="ko-KR" altLang="en-US" sz="1200"/>
              <a:t>규제</a:t>
            </a:r>
            <a:r>
              <a:rPr lang="en-US" altLang="zh-CN" sz="1200"/>
              <a:t> </a:t>
            </a:r>
            <a:r>
              <a:rPr lang="ko-KR" altLang="en-US" sz="1200"/>
              <a:t>실무에서</a:t>
            </a:r>
            <a:r>
              <a:rPr lang="en-US" altLang="zh-CN" sz="1200"/>
              <a:t> </a:t>
            </a:r>
            <a:r>
              <a:rPr lang="ko-KR" altLang="en-US" sz="1200"/>
              <a:t>위반</a:t>
            </a:r>
            <a:r>
              <a:rPr lang="en-US" altLang="zh-CN" sz="1200"/>
              <a:t> </a:t>
            </a:r>
            <a:r>
              <a:rPr lang="ko-KR" altLang="en-US" sz="1200"/>
              <a:t>행위를</a:t>
            </a:r>
            <a:r>
              <a:rPr lang="en-US" altLang="zh-CN" sz="1200"/>
              <a:t> </a:t>
            </a:r>
            <a:r>
              <a:rPr lang="ko-KR" altLang="en-US" sz="1200"/>
              <a:t>통제하기</a:t>
            </a:r>
            <a:r>
              <a:rPr lang="en-US" altLang="zh-CN" sz="1200"/>
              <a:t> </a:t>
            </a:r>
            <a:r>
              <a:rPr lang="ko-KR" altLang="en-US" sz="1200"/>
              <a:t>위해</a:t>
            </a:r>
            <a:r>
              <a:rPr lang="en-US" altLang="zh-CN" sz="1200"/>
              <a:t> </a:t>
            </a:r>
            <a:r>
              <a:rPr lang="ko-KR" altLang="en-US" sz="1200"/>
              <a:t>영업</a:t>
            </a:r>
            <a:r>
              <a:rPr lang="en-US" altLang="zh-CN" sz="1200"/>
              <a:t> </a:t>
            </a:r>
            <a:r>
              <a:rPr lang="ko-KR" altLang="en-US" sz="1200"/>
              <a:t>정지나</a:t>
            </a:r>
            <a:r>
              <a:rPr lang="en-US" altLang="zh-CN" sz="1200"/>
              <a:t> </a:t>
            </a:r>
            <a:r>
              <a:rPr lang="ko-KR" altLang="en-US" sz="1200"/>
              <a:t>등록</a:t>
            </a:r>
            <a:r>
              <a:rPr lang="en-US" altLang="zh-CN" sz="1200"/>
              <a:t> </a:t>
            </a:r>
            <a:r>
              <a:rPr lang="ko-KR" altLang="en-US" sz="1200"/>
              <a:t>말소</a:t>
            </a:r>
            <a:r>
              <a:rPr lang="en-US" altLang="zh-CN" sz="1200"/>
              <a:t> </a:t>
            </a:r>
            <a:r>
              <a:rPr lang="ko-KR" altLang="en-US" sz="1200"/>
              <a:t>같은</a:t>
            </a:r>
            <a:r>
              <a:rPr lang="en-US" altLang="zh-CN" sz="1200"/>
              <a:t> </a:t>
            </a:r>
            <a:r>
              <a:rPr lang="ko-KR" altLang="en-US" sz="1200"/>
              <a:t>강제적</a:t>
            </a:r>
            <a:r>
              <a:rPr lang="en-US" altLang="zh-CN" sz="1200"/>
              <a:t> </a:t>
            </a:r>
            <a:r>
              <a:rPr lang="ko-KR" altLang="en-US" sz="1200"/>
              <a:t>조치를</a:t>
            </a:r>
            <a:r>
              <a:rPr lang="en-US" altLang="zh-CN" sz="1200"/>
              <a:t> </a:t>
            </a:r>
            <a:r>
              <a:rPr lang="ko-KR" altLang="en-US" sz="1200"/>
              <a:t>선호하는</a:t>
            </a:r>
            <a:r>
              <a:rPr lang="en-US" altLang="zh-CN" sz="1200"/>
              <a:t> </a:t>
            </a:r>
            <a:r>
              <a:rPr lang="ko-KR" altLang="en-US" sz="1200"/>
              <a:t>반면</a:t>
            </a:r>
            <a:r>
              <a:rPr lang="en-US" altLang="zh-CN" sz="1200"/>
              <a:t>, </a:t>
            </a:r>
            <a:r>
              <a:rPr lang="ko-KR" altLang="en-US" sz="1200"/>
              <a:t>벌금과</a:t>
            </a:r>
            <a:r>
              <a:rPr lang="en-US" altLang="zh-CN" sz="1200"/>
              <a:t> </a:t>
            </a:r>
            <a:r>
              <a:rPr lang="ko-KR" altLang="en-US" sz="1200"/>
              <a:t>시정</a:t>
            </a:r>
            <a:r>
              <a:rPr lang="en-US" altLang="zh-CN" sz="1200"/>
              <a:t> </a:t>
            </a:r>
            <a:r>
              <a:rPr lang="ko-KR" altLang="en-US" sz="1200"/>
              <a:t>명령은</a:t>
            </a:r>
            <a:r>
              <a:rPr lang="en-US" altLang="zh-CN" sz="1200"/>
              <a:t> </a:t>
            </a:r>
            <a:r>
              <a:rPr lang="ko-KR" altLang="en-US" sz="1200"/>
              <a:t>보조</a:t>
            </a:r>
            <a:r>
              <a:rPr lang="en-US" altLang="zh-CN" sz="1200"/>
              <a:t> </a:t>
            </a:r>
            <a:r>
              <a:rPr lang="ko-KR" altLang="en-US" sz="1200"/>
              <a:t>수단으로</a:t>
            </a:r>
            <a:r>
              <a:rPr lang="en-US" altLang="zh-CN" sz="1200"/>
              <a:t> </a:t>
            </a:r>
            <a:r>
              <a:rPr lang="ko-KR" altLang="en-US" sz="1200"/>
              <a:t>활용됨을</a:t>
            </a:r>
            <a:r>
              <a:rPr lang="en-US" altLang="zh-CN" sz="1200"/>
              <a:t> </a:t>
            </a:r>
            <a:r>
              <a:rPr lang="ko-KR" altLang="en-US" sz="1200"/>
              <a:t>시사한다</a:t>
            </a:r>
            <a:r>
              <a:rPr lang="en-US" altLang="zh-CN" sz="1200"/>
              <a:t>.</a:t>
            </a:r>
            <a:endParaRPr lang="en-US" altLang="zh-CN" sz="1200"/>
          </a:p>
          <a:p>
            <a:endParaRPr lang="en-US" altLang="zh-CN" sz="1200"/>
          </a:p>
          <a:p>
            <a:r>
              <a:rPr lang="zh-CN" altLang="en-US" sz="1200"/>
              <a:t>总结：从处罚类型的频次分布来看，依职权注销与经营停业是最常见的处分方式，其频率远高于罚金、行政指导或警告等软性手段，这表明监管实践中更倾向于通过停业、注销等强制性措施来治理违规行为，而罚金和整改命令则作为辅助手段出现。</a:t>
            </a:r>
            <a:endParaRPr lang="zh-CN" altLang="en-US" sz="1200"/>
          </a:p>
        </p:txBody>
      </p:sp>
      <p:sp>
        <p:nvSpPr>
          <p:cNvPr id="9" name="文本框 8"/>
          <p:cNvSpPr txBox="1"/>
          <p:nvPr/>
        </p:nvSpPr>
        <p:spPr>
          <a:xfrm>
            <a:off x="2891155" y="6354445"/>
            <a:ext cx="3048000" cy="368300"/>
          </a:xfrm>
          <a:prstGeom prst="rect">
            <a:avLst/>
          </a:prstGeom>
          <a:noFill/>
        </p:spPr>
        <p:txBody>
          <a:bodyPr wrap="square" rtlCol="0">
            <a:spAutoFit/>
          </a:bodyPr>
          <a:p>
            <a:r>
              <a:rPr lang="ko-KR" altLang="en-US"/>
              <a:t>분류</a:t>
            </a:r>
            <a:r>
              <a:rPr lang="en-US" altLang="zh-CN"/>
              <a:t> </a:t>
            </a:r>
            <a:r>
              <a:rPr lang="ko-KR" altLang="en-US"/>
              <a:t>범주</a:t>
            </a:r>
            <a:r>
              <a:rPr lang="en-US" altLang="zh-CN"/>
              <a:t> </a:t>
            </a:r>
            <a:r>
              <a:rPr lang="ko-KR" altLang="en-US"/>
              <a:t>빈도</a:t>
            </a:r>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781800" y="2371090"/>
            <a:ext cx="2178050" cy="3627120"/>
          </a:xfrm>
          <a:prstGeom prst="rect">
            <a:avLst/>
          </a:prstGeom>
          <a:noFill/>
        </p:spPr>
        <p:txBody>
          <a:bodyPr wrap="square" rtlCol="0">
            <a:noAutofit/>
          </a:bodyPr>
          <a:p>
            <a:endParaRPr lang="zh-CN" altLang="en-US" sz="1200"/>
          </a:p>
          <a:p>
            <a:r>
              <a:rPr lang="ko-KR" altLang="en-US" sz="1200"/>
              <a:t>요약</a:t>
            </a:r>
            <a:r>
              <a:rPr lang="en-US" altLang="zh-CN" sz="1200"/>
              <a:t>: </a:t>
            </a:r>
            <a:r>
              <a:rPr lang="ko-KR" altLang="en-US" sz="1200"/>
              <a:t>위반</a:t>
            </a:r>
            <a:r>
              <a:rPr lang="en-US" altLang="zh-CN" sz="1200"/>
              <a:t> </a:t>
            </a:r>
            <a:r>
              <a:rPr lang="ko-KR" altLang="en-US" sz="1200"/>
              <a:t>추세를</a:t>
            </a:r>
            <a:r>
              <a:rPr lang="en-US" altLang="zh-CN" sz="1200"/>
              <a:t> </a:t>
            </a:r>
            <a:r>
              <a:rPr lang="ko-KR" altLang="en-US" sz="1200"/>
              <a:t>보면</a:t>
            </a:r>
            <a:r>
              <a:rPr lang="en-US" altLang="zh-CN" sz="1200"/>
              <a:t>, 2023</a:t>
            </a:r>
            <a:r>
              <a:rPr lang="ko-KR" altLang="en-US" sz="1200"/>
              <a:t>년</a:t>
            </a:r>
            <a:r>
              <a:rPr lang="en-US" altLang="zh-CN" sz="1200"/>
              <a:t> </a:t>
            </a:r>
            <a:r>
              <a:rPr lang="ko-KR" altLang="en-US" sz="1200"/>
              <a:t>말</a:t>
            </a:r>
            <a:r>
              <a:rPr lang="en-US" altLang="zh-CN" sz="1200"/>
              <a:t> </a:t>
            </a:r>
            <a:r>
              <a:rPr lang="ko-KR" altLang="en-US" sz="1200"/>
              <a:t>위반</a:t>
            </a:r>
            <a:r>
              <a:rPr lang="en-US" altLang="zh-CN" sz="1200"/>
              <a:t> </a:t>
            </a:r>
            <a:r>
              <a:rPr lang="ko-KR" altLang="en-US" sz="1200"/>
              <a:t>건수가</a:t>
            </a:r>
            <a:r>
              <a:rPr lang="en-US" altLang="zh-CN" sz="1200"/>
              <a:t> </a:t>
            </a:r>
            <a:r>
              <a:rPr lang="ko-KR" altLang="en-US" sz="1200"/>
              <a:t>정점을</a:t>
            </a:r>
            <a:r>
              <a:rPr lang="en-US" altLang="zh-CN" sz="1200"/>
              <a:t> </a:t>
            </a:r>
            <a:r>
              <a:rPr lang="ko-KR" altLang="en-US" sz="1200"/>
              <a:t>찍은</a:t>
            </a:r>
            <a:r>
              <a:rPr lang="en-US" altLang="zh-CN" sz="1200"/>
              <a:t> </a:t>
            </a:r>
            <a:r>
              <a:rPr lang="ko-KR" altLang="en-US" sz="1200"/>
              <a:t>후</a:t>
            </a:r>
            <a:r>
              <a:rPr lang="en-US" altLang="zh-CN" sz="1200"/>
              <a:t> 2024</a:t>
            </a:r>
            <a:r>
              <a:rPr lang="ko-KR" altLang="en-US" sz="1200"/>
              <a:t>년부터</a:t>
            </a:r>
            <a:r>
              <a:rPr lang="en-US" altLang="zh-CN" sz="1200"/>
              <a:t> </a:t>
            </a:r>
            <a:r>
              <a:rPr lang="ko-KR" altLang="en-US" sz="1200"/>
              <a:t>급격히</a:t>
            </a:r>
            <a:r>
              <a:rPr lang="en-US" altLang="zh-CN" sz="1200"/>
              <a:t> </a:t>
            </a:r>
            <a:r>
              <a:rPr lang="ko-KR" altLang="en-US" sz="1200"/>
              <a:t>감소했으며</a:t>
            </a:r>
            <a:r>
              <a:rPr lang="en-US" altLang="zh-CN" sz="1200"/>
              <a:t>, </a:t>
            </a:r>
            <a:r>
              <a:rPr lang="ko-KR" altLang="en-US" sz="1200"/>
              <a:t>이후</a:t>
            </a:r>
            <a:r>
              <a:rPr lang="en-US" altLang="zh-CN" sz="1200"/>
              <a:t> </a:t>
            </a:r>
            <a:r>
              <a:rPr lang="ko-KR" altLang="en-US" sz="1200"/>
              <a:t>전반적으로</a:t>
            </a:r>
            <a:r>
              <a:rPr lang="en-US" altLang="zh-CN" sz="1200"/>
              <a:t> </a:t>
            </a:r>
            <a:r>
              <a:rPr lang="ko-KR" altLang="en-US" sz="1200"/>
              <a:t>지속적인</a:t>
            </a:r>
            <a:r>
              <a:rPr lang="en-US" altLang="zh-CN" sz="1200"/>
              <a:t> </a:t>
            </a:r>
            <a:r>
              <a:rPr lang="ko-KR" altLang="en-US" sz="1200"/>
              <a:t>하락세를</a:t>
            </a:r>
            <a:r>
              <a:rPr lang="en-US" altLang="zh-CN" sz="1200"/>
              <a:t> </a:t>
            </a:r>
            <a:r>
              <a:rPr lang="ko-KR" altLang="en-US" sz="1200"/>
              <a:t>보이며</a:t>
            </a:r>
            <a:r>
              <a:rPr lang="en-US" altLang="zh-CN" sz="1200"/>
              <a:t> 2025</a:t>
            </a:r>
            <a:r>
              <a:rPr lang="ko-KR" altLang="en-US" sz="1200"/>
              <a:t>년에는</a:t>
            </a:r>
            <a:r>
              <a:rPr lang="en-US" altLang="zh-CN" sz="1200"/>
              <a:t> </a:t>
            </a:r>
            <a:r>
              <a:rPr lang="ko-KR" altLang="en-US" sz="1200"/>
              <a:t>낮은</a:t>
            </a:r>
            <a:r>
              <a:rPr lang="en-US" altLang="zh-CN" sz="1200"/>
              <a:t> </a:t>
            </a:r>
            <a:r>
              <a:rPr lang="ko-KR" altLang="en-US" sz="1200"/>
              <a:t>수준을</a:t>
            </a:r>
            <a:r>
              <a:rPr lang="en-US" altLang="zh-CN" sz="1200"/>
              <a:t> </a:t>
            </a:r>
            <a:r>
              <a:rPr lang="ko-KR" altLang="en-US" sz="1200"/>
              <a:t>유지하고</a:t>
            </a:r>
            <a:r>
              <a:rPr lang="en-US" altLang="zh-CN" sz="1200"/>
              <a:t> </a:t>
            </a:r>
            <a:r>
              <a:rPr lang="ko-KR" altLang="en-US" sz="1200"/>
              <a:t>있다</a:t>
            </a:r>
            <a:r>
              <a:rPr lang="en-US" altLang="zh-CN" sz="1200"/>
              <a:t>. </a:t>
            </a:r>
            <a:r>
              <a:rPr lang="ko-KR" altLang="en-US" sz="1200"/>
              <a:t>이는</a:t>
            </a:r>
            <a:r>
              <a:rPr lang="en-US" altLang="zh-CN" sz="1200"/>
              <a:t> </a:t>
            </a:r>
            <a:r>
              <a:rPr lang="ko-KR" altLang="en-US" sz="1200"/>
              <a:t>엄격한</a:t>
            </a:r>
            <a:r>
              <a:rPr lang="en-US" altLang="zh-CN" sz="1200"/>
              <a:t> </a:t>
            </a:r>
            <a:r>
              <a:rPr lang="ko-KR" altLang="en-US" sz="1200"/>
              <a:t>규제와</a:t>
            </a:r>
            <a:r>
              <a:rPr lang="en-US" altLang="zh-CN" sz="1200"/>
              <a:t> </a:t>
            </a:r>
            <a:r>
              <a:rPr lang="ko-KR" altLang="en-US" sz="1200"/>
              <a:t>처벌</a:t>
            </a:r>
            <a:r>
              <a:rPr lang="en-US" altLang="zh-CN" sz="1200"/>
              <a:t> </a:t>
            </a:r>
            <a:r>
              <a:rPr lang="ko-KR" altLang="en-US" sz="1200"/>
              <a:t>하에서</a:t>
            </a:r>
            <a:r>
              <a:rPr lang="en-US" altLang="zh-CN" sz="1200"/>
              <a:t> </a:t>
            </a:r>
            <a:r>
              <a:rPr lang="ko-KR" altLang="en-US" sz="1200"/>
              <a:t>위반</a:t>
            </a:r>
            <a:r>
              <a:rPr lang="en-US" altLang="zh-CN" sz="1200"/>
              <a:t> </a:t>
            </a:r>
            <a:r>
              <a:rPr lang="ko-KR" altLang="en-US" sz="1200"/>
              <a:t>행위가</a:t>
            </a:r>
            <a:r>
              <a:rPr lang="en-US" altLang="zh-CN" sz="1200"/>
              <a:t> </a:t>
            </a:r>
            <a:r>
              <a:rPr lang="ko-KR" altLang="en-US" sz="1200"/>
              <a:t>점차</a:t>
            </a:r>
            <a:r>
              <a:rPr lang="en-US" altLang="zh-CN" sz="1200"/>
              <a:t> </a:t>
            </a:r>
            <a:r>
              <a:rPr lang="ko-KR" altLang="en-US" sz="1200"/>
              <a:t>효과적으로</a:t>
            </a:r>
            <a:r>
              <a:rPr lang="en-US" altLang="zh-CN" sz="1200"/>
              <a:t> </a:t>
            </a:r>
            <a:r>
              <a:rPr lang="ko-KR" altLang="en-US" sz="1200"/>
              <a:t>통제되고</a:t>
            </a:r>
            <a:r>
              <a:rPr lang="en-US" altLang="zh-CN" sz="1200"/>
              <a:t> </a:t>
            </a:r>
            <a:r>
              <a:rPr lang="ko-KR" altLang="en-US" sz="1200"/>
              <a:t>있음을</a:t>
            </a:r>
            <a:r>
              <a:rPr lang="en-US" altLang="zh-CN" sz="1200"/>
              <a:t> </a:t>
            </a:r>
            <a:r>
              <a:rPr lang="ko-KR" altLang="en-US" sz="1200"/>
              <a:t>시사한다</a:t>
            </a:r>
            <a:r>
              <a:rPr lang="en-US" altLang="zh-CN" sz="1200"/>
              <a:t>.</a:t>
            </a:r>
            <a:endParaRPr lang="en-US" altLang="zh-CN" sz="1200"/>
          </a:p>
          <a:p>
            <a:endParaRPr lang="en-US" altLang="zh-CN" sz="1200"/>
          </a:p>
          <a:p>
            <a:r>
              <a:rPr lang="zh-CN" altLang="en-US" sz="1200"/>
              <a:t>总结：从违规趋势来看，</a:t>
            </a:r>
            <a:r>
              <a:rPr lang="en-US" altLang="zh-CN" sz="1200"/>
              <a:t>2023 </a:t>
            </a:r>
            <a:r>
              <a:rPr lang="zh-CN" altLang="en-US" sz="1200"/>
              <a:t>年底违规次数出现高峰后自</a:t>
            </a:r>
            <a:r>
              <a:rPr lang="en-US" altLang="zh-CN" sz="1200"/>
              <a:t> 2024 </a:t>
            </a:r>
            <a:r>
              <a:rPr lang="zh-CN" altLang="en-US" sz="1200"/>
              <a:t>年起快速回落，此后整体呈持续下降并在</a:t>
            </a:r>
            <a:r>
              <a:rPr lang="en-US" altLang="zh-CN" sz="1200"/>
              <a:t> 2025 </a:t>
            </a:r>
            <a:r>
              <a:rPr lang="zh-CN" altLang="en-US" sz="1200"/>
              <a:t>年维持在较低水平，说明在严格的监管处罚下，违规行为已得到逐步有效控制。</a:t>
            </a:r>
            <a:endParaRPr lang="zh-CN" altLang="en-US" sz="1200"/>
          </a:p>
        </p:txBody>
      </p:sp>
      <p:sp>
        <p:nvSpPr>
          <p:cNvPr id="7" name="文本框 6"/>
          <p:cNvSpPr txBox="1"/>
          <p:nvPr/>
        </p:nvSpPr>
        <p:spPr>
          <a:xfrm>
            <a:off x="2827020" y="6400165"/>
            <a:ext cx="3048000" cy="368300"/>
          </a:xfrm>
          <a:prstGeom prst="rect">
            <a:avLst/>
          </a:prstGeom>
          <a:noFill/>
        </p:spPr>
        <p:txBody>
          <a:bodyPr wrap="square" rtlCol="0">
            <a:spAutoFit/>
          </a:bodyPr>
          <a:p>
            <a:r>
              <a:rPr lang="ko-KR" altLang="en-US"/>
              <a:t>위반</a:t>
            </a:r>
            <a:r>
              <a:rPr lang="en-US" altLang="zh-CN"/>
              <a:t> </a:t>
            </a:r>
            <a:r>
              <a:rPr lang="ko-KR" altLang="en-US"/>
              <a:t>추세</a:t>
            </a:r>
            <a:endParaRPr lang="ko-KR" altLang="en-US"/>
          </a:p>
        </p:txBody>
      </p:sp>
      <p:pic>
        <p:nvPicPr>
          <p:cNvPr id="8" name="图片 7" descr="2"/>
          <p:cNvPicPr>
            <a:picLocks noChangeAspect="1"/>
          </p:cNvPicPr>
          <p:nvPr/>
        </p:nvPicPr>
        <p:blipFill>
          <a:blip r:embed="rId2"/>
          <a:stretch>
            <a:fillRect/>
          </a:stretch>
        </p:blipFill>
        <p:spPr>
          <a:xfrm>
            <a:off x="146050" y="2653030"/>
            <a:ext cx="6416675" cy="28149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562725" y="2131060"/>
            <a:ext cx="2178050" cy="3893185"/>
          </a:xfrm>
          <a:prstGeom prst="rect">
            <a:avLst/>
          </a:prstGeom>
          <a:noFill/>
        </p:spPr>
        <p:txBody>
          <a:bodyPr wrap="square" rtlCol="0">
            <a:noAutofit/>
          </a:bodyPr>
          <a:p>
            <a:endParaRPr lang="zh-CN" altLang="en-US" sz="1200"/>
          </a:p>
          <a:p>
            <a:r>
              <a:rPr lang="ko-KR" altLang="en-US" sz="1200">
                <a:sym typeface="+mn-ea"/>
              </a:rPr>
              <a:t>요약</a:t>
            </a:r>
            <a:r>
              <a:rPr lang="en-US" altLang="zh-CN" sz="1200">
                <a:sym typeface="+mn-ea"/>
              </a:rPr>
              <a:t>: </a:t>
            </a:r>
            <a:r>
              <a:rPr lang="en-US" altLang="zh-CN" sz="1200"/>
              <a:t>“</a:t>
            </a:r>
            <a:r>
              <a:rPr lang="ko-KR" altLang="en-US" sz="1200"/>
              <a:t>지역</a:t>
            </a:r>
            <a:r>
              <a:rPr lang="en-US" altLang="zh-CN" sz="1200"/>
              <a:t> </a:t>
            </a:r>
            <a:r>
              <a:rPr lang="ko-KR" altLang="en-US" sz="1200"/>
              <a:t>위험</a:t>
            </a:r>
            <a:r>
              <a:rPr lang="en-US" altLang="zh-CN" sz="1200"/>
              <a:t> </a:t>
            </a:r>
            <a:r>
              <a:rPr lang="ko-KR" altLang="en-US" sz="1200"/>
              <a:t>지수</a:t>
            </a:r>
            <a:r>
              <a:rPr lang="en-US" altLang="zh-CN" sz="1200"/>
              <a:t> </a:t>
            </a:r>
            <a:r>
              <a:rPr lang="ko-KR" altLang="en-US" sz="1200"/>
              <a:t>순위</a:t>
            </a:r>
            <a:r>
              <a:rPr lang="en-US" altLang="zh-CN" sz="1200"/>
              <a:t>”</a:t>
            </a:r>
            <a:r>
              <a:rPr lang="ko-KR" altLang="en-US" sz="1200"/>
              <a:t>를</a:t>
            </a:r>
            <a:r>
              <a:rPr lang="en-US" altLang="zh-CN" sz="1200"/>
              <a:t> </a:t>
            </a:r>
            <a:r>
              <a:rPr lang="ko-KR" altLang="en-US" sz="1200"/>
              <a:t>통해</a:t>
            </a:r>
            <a:r>
              <a:rPr lang="en-US" altLang="zh-CN" sz="1200"/>
              <a:t> </a:t>
            </a:r>
            <a:r>
              <a:rPr lang="ko-KR" altLang="en-US" sz="1200"/>
              <a:t>위험이</a:t>
            </a:r>
            <a:r>
              <a:rPr lang="en-US" altLang="zh-CN" sz="1200"/>
              <a:t> </a:t>
            </a:r>
            <a:r>
              <a:rPr lang="ko-KR" altLang="en-US" sz="1200"/>
              <a:t>소수</a:t>
            </a:r>
            <a:r>
              <a:rPr lang="en-US" altLang="zh-CN" sz="1200"/>
              <a:t> </a:t>
            </a:r>
            <a:r>
              <a:rPr lang="ko-KR" altLang="en-US" sz="1200"/>
              <a:t>지역에</a:t>
            </a:r>
            <a:r>
              <a:rPr lang="en-US" altLang="zh-CN" sz="1200"/>
              <a:t> </a:t>
            </a:r>
            <a:r>
              <a:rPr lang="ko-KR" altLang="en-US" sz="1200"/>
              <a:t>집중되어</a:t>
            </a:r>
            <a:r>
              <a:rPr lang="en-US" altLang="zh-CN" sz="1200"/>
              <a:t> </a:t>
            </a:r>
            <a:r>
              <a:rPr lang="ko-KR" altLang="en-US" sz="1200"/>
              <a:t>있음을</a:t>
            </a:r>
            <a:r>
              <a:rPr lang="en-US" altLang="zh-CN" sz="1200"/>
              <a:t> </a:t>
            </a:r>
            <a:r>
              <a:rPr lang="ko-KR" altLang="en-US" sz="1200"/>
              <a:t>알</a:t>
            </a:r>
            <a:r>
              <a:rPr lang="en-US" altLang="zh-CN" sz="1200"/>
              <a:t> </a:t>
            </a:r>
            <a:r>
              <a:rPr lang="ko-KR" altLang="en-US" sz="1200"/>
              <a:t>수</a:t>
            </a:r>
            <a:r>
              <a:rPr lang="en-US" altLang="zh-CN" sz="1200"/>
              <a:t> </a:t>
            </a:r>
            <a:r>
              <a:rPr lang="ko-KR" altLang="en-US" sz="1200"/>
              <a:t>있으며</a:t>
            </a:r>
            <a:r>
              <a:rPr lang="en-US" altLang="zh-CN" sz="1200"/>
              <a:t>, </a:t>
            </a:r>
            <a:r>
              <a:rPr lang="ko-KR" altLang="en-US" sz="1200"/>
              <a:t>특히</a:t>
            </a:r>
            <a:r>
              <a:rPr lang="en-US" altLang="zh-CN" sz="1200"/>
              <a:t> </a:t>
            </a:r>
            <a:r>
              <a:rPr lang="ko-KR" altLang="en-US" sz="1200"/>
              <a:t>서대문구</a:t>
            </a:r>
            <a:r>
              <a:rPr lang="en-US" altLang="zh-CN" sz="1200"/>
              <a:t>, </a:t>
            </a:r>
            <a:r>
              <a:rPr lang="ko-KR" altLang="en-US" sz="1200"/>
              <a:t>미상</a:t>
            </a:r>
            <a:r>
              <a:rPr lang="en-US" altLang="zh-CN" sz="1200"/>
              <a:t> </a:t>
            </a:r>
            <a:r>
              <a:rPr lang="ko-KR" altLang="en-US" sz="1200"/>
              <a:t>지역</a:t>
            </a:r>
            <a:r>
              <a:rPr lang="en-US" altLang="zh-CN" sz="1200"/>
              <a:t> </a:t>
            </a:r>
            <a:r>
              <a:rPr lang="ko-KR" altLang="en-US" sz="1200"/>
              <a:t>및</a:t>
            </a:r>
            <a:r>
              <a:rPr lang="en-US" altLang="zh-CN" sz="1200"/>
              <a:t> </a:t>
            </a:r>
            <a:r>
              <a:rPr lang="ko-KR" altLang="en-US" sz="1200"/>
              <a:t>금천구</a:t>
            </a:r>
            <a:r>
              <a:rPr lang="en-US" altLang="zh-CN" sz="1200"/>
              <a:t> </a:t>
            </a:r>
            <a:r>
              <a:rPr lang="ko-KR" altLang="en-US" sz="1200"/>
              <a:t>등의</a:t>
            </a:r>
            <a:r>
              <a:rPr lang="en-US" altLang="zh-CN" sz="1200"/>
              <a:t> </a:t>
            </a:r>
            <a:r>
              <a:rPr lang="ko-KR" altLang="en-US" sz="1200"/>
              <a:t>지수가</a:t>
            </a:r>
            <a:r>
              <a:rPr lang="en-US" altLang="zh-CN" sz="1200"/>
              <a:t> </a:t>
            </a:r>
            <a:r>
              <a:rPr lang="ko-KR" altLang="en-US" sz="1200"/>
              <a:t>가장</a:t>
            </a:r>
            <a:r>
              <a:rPr lang="en-US" altLang="zh-CN" sz="1200"/>
              <a:t> </a:t>
            </a:r>
            <a:r>
              <a:rPr lang="ko-KR" altLang="en-US" sz="1200"/>
              <a:t>높고</a:t>
            </a:r>
            <a:r>
              <a:rPr lang="en-US" altLang="zh-CN" sz="1200"/>
              <a:t>, </a:t>
            </a:r>
            <a:r>
              <a:rPr lang="ko-KR" altLang="en-US" sz="1200"/>
              <a:t>나머지</a:t>
            </a:r>
            <a:r>
              <a:rPr lang="en-US" altLang="zh-CN" sz="1200"/>
              <a:t> </a:t>
            </a:r>
            <a:r>
              <a:rPr lang="ko-KR" altLang="en-US" sz="1200"/>
              <a:t>대부분의</a:t>
            </a:r>
            <a:r>
              <a:rPr lang="en-US" altLang="zh-CN" sz="1200"/>
              <a:t> </a:t>
            </a:r>
            <a:r>
              <a:rPr lang="ko-KR" altLang="en-US" sz="1200"/>
              <a:t>구의</a:t>
            </a:r>
            <a:r>
              <a:rPr lang="en-US" altLang="zh-CN" sz="1200"/>
              <a:t> </a:t>
            </a:r>
            <a:r>
              <a:rPr lang="ko-KR" altLang="en-US" sz="1200"/>
              <a:t>위험</a:t>
            </a:r>
            <a:r>
              <a:rPr lang="en-US" altLang="zh-CN" sz="1200"/>
              <a:t> </a:t>
            </a:r>
            <a:r>
              <a:rPr lang="ko-KR" altLang="en-US" sz="1200"/>
              <a:t>지수는</a:t>
            </a:r>
            <a:r>
              <a:rPr lang="en-US" altLang="zh-CN" sz="1200"/>
              <a:t> </a:t>
            </a:r>
            <a:r>
              <a:rPr lang="ko-KR" altLang="en-US" sz="1200"/>
              <a:t>상대적으로</a:t>
            </a:r>
            <a:r>
              <a:rPr lang="en-US" altLang="zh-CN" sz="1200"/>
              <a:t> </a:t>
            </a:r>
            <a:r>
              <a:rPr lang="ko-KR" altLang="en-US" sz="1200"/>
              <a:t>낮으며</a:t>
            </a:r>
            <a:r>
              <a:rPr lang="en-US" altLang="zh-CN" sz="1200"/>
              <a:t> </a:t>
            </a:r>
            <a:r>
              <a:rPr lang="ko-KR" altLang="en-US" sz="1200"/>
              <a:t>단계적으로</a:t>
            </a:r>
            <a:r>
              <a:rPr lang="en-US" altLang="zh-CN" sz="1200"/>
              <a:t> </a:t>
            </a:r>
            <a:r>
              <a:rPr lang="ko-KR" altLang="en-US" sz="1200"/>
              <a:t>감소하는</a:t>
            </a:r>
            <a:r>
              <a:rPr lang="en-US" altLang="zh-CN" sz="1200"/>
              <a:t> </a:t>
            </a:r>
            <a:r>
              <a:rPr lang="ko-KR" altLang="en-US" sz="1200"/>
              <a:t>롱테일</a:t>
            </a:r>
            <a:r>
              <a:rPr lang="en-US" altLang="zh-CN" sz="1200"/>
              <a:t> </a:t>
            </a:r>
            <a:r>
              <a:rPr lang="ko-KR" altLang="en-US" sz="1200"/>
              <a:t>분포를</a:t>
            </a:r>
            <a:r>
              <a:rPr lang="en-US" altLang="zh-CN" sz="1200"/>
              <a:t> </a:t>
            </a:r>
            <a:r>
              <a:rPr lang="ko-KR" altLang="en-US" sz="1200"/>
              <a:t>보인다</a:t>
            </a:r>
            <a:r>
              <a:rPr lang="en-US" altLang="zh-CN" sz="1200"/>
              <a:t>.</a:t>
            </a:r>
            <a:endParaRPr lang="en-US" altLang="zh-CN" sz="1200"/>
          </a:p>
          <a:p>
            <a:endParaRPr lang="en-US" altLang="zh-CN" sz="1200"/>
          </a:p>
          <a:p>
            <a:r>
              <a:rPr lang="zh-CN" altLang="en-US" sz="1200"/>
              <a:t>总结：从</a:t>
            </a:r>
            <a:r>
              <a:rPr lang="en-US" altLang="zh-CN" sz="1200"/>
              <a:t>“</a:t>
            </a:r>
            <a:r>
              <a:rPr lang="zh-CN" altLang="en-US" sz="1200"/>
              <a:t>地区风险指数排序</a:t>
            </a:r>
            <a:r>
              <a:rPr lang="en-US" altLang="zh-CN" sz="1200"/>
              <a:t>”</a:t>
            </a:r>
            <a:r>
              <a:rPr lang="zh-CN" altLang="en-US" sz="1200"/>
              <a:t>可以看出，风险主要集中在少数区域，尤其是</a:t>
            </a:r>
            <a:r>
              <a:rPr lang="en-US" altLang="zh-CN" sz="1200"/>
              <a:t> </a:t>
            </a:r>
            <a:r>
              <a:rPr lang="zh-CN" altLang="en-US" sz="1200"/>
              <a:t>西大门区和</a:t>
            </a:r>
            <a:r>
              <a:rPr lang="en-US" altLang="zh-CN" sz="1200"/>
              <a:t> </a:t>
            </a:r>
            <a:r>
              <a:rPr lang="zh-CN" altLang="en-US" sz="1200"/>
              <a:t>金川区等地指数最高，其余大部分区的风险指数相对较低且呈逐级递减的长尾分布。</a:t>
            </a:r>
            <a:endParaRPr lang="zh-CN" altLang="en-US" sz="1200"/>
          </a:p>
          <a:p>
            <a:endParaRPr lang="zh-CN" altLang="en-US" sz="1200"/>
          </a:p>
        </p:txBody>
      </p:sp>
      <p:pic>
        <p:nvPicPr>
          <p:cNvPr id="7" name="图片 6" descr="3"/>
          <p:cNvPicPr>
            <a:picLocks noChangeAspect="1"/>
          </p:cNvPicPr>
          <p:nvPr/>
        </p:nvPicPr>
        <p:blipFill>
          <a:blip r:embed="rId2"/>
          <a:stretch>
            <a:fillRect/>
          </a:stretch>
        </p:blipFill>
        <p:spPr>
          <a:xfrm>
            <a:off x="688340" y="1874520"/>
            <a:ext cx="5523865" cy="4406900"/>
          </a:xfrm>
          <a:prstGeom prst="rect">
            <a:avLst/>
          </a:prstGeom>
        </p:spPr>
      </p:pic>
      <p:sp>
        <p:nvSpPr>
          <p:cNvPr id="8" name="文本框 7"/>
          <p:cNvSpPr txBox="1"/>
          <p:nvPr/>
        </p:nvSpPr>
        <p:spPr>
          <a:xfrm>
            <a:off x="2407920" y="6354445"/>
            <a:ext cx="2232660" cy="342900"/>
          </a:xfrm>
          <a:prstGeom prst="rect">
            <a:avLst/>
          </a:prstGeom>
          <a:noFill/>
        </p:spPr>
        <p:txBody>
          <a:bodyPr wrap="square" rtlCol="0">
            <a:noAutofit/>
          </a:bodyPr>
          <a:p>
            <a:r>
              <a:rPr lang="ko-KR" altLang="en-US"/>
              <a:t>지역</a:t>
            </a:r>
            <a:r>
              <a:rPr lang="en-US" altLang="zh-CN"/>
              <a:t> </a:t>
            </a:r>
            <a:r>
              <a:rPr lang="ko-KR" altLang="en-US"/>
              <a:t>위험</a:t>
            </a:r>
            <a:r>
              <a:rPr lang="en-US" altLang="zh-CN"/>
              <a:t> </a:t>
            </a:r>
            <a:r>
              <a:rPr lang="ko-KR" altLang="en-US"/>
              <a:t>지수</a:t>
            </a:r>
            <a:r>
              <a:rPr lang="en-US" altLang="zh-CN"/>
              <a:t> </a:t>
            </a:r>
            <a:r>
              <a:rPr lang="ko-KR" altLang="en-US"/>
              <a:t>순위</a:t>
            </a:r>
            <a:endParaRPr lang="ko-KR" altLang="en-US"/>
          </a:p>
          <a:p>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C:/Users/LENOVO/Desktop/stt/homework/数据科学/使用的可视化数据/4.png4"/>
          <p:cNvPicPr>
            <a:picLocks noChangeAspect="1"/>
          </p:cNvPicPr>
          <p:nvPr/>
        </p:nvPicPr>
        <p:blipFill>
          <a:blip r:embed="rId2"/>
          <a:srcRect l="5064" r="5064"/>
          <a:stretch>
            <a:fillRect/>
          </a:stretch>
        </p:blipFill>
        <p:spPr>
          <a:xfrm>
            <a:off x="245745" y="2131695"/>
            <a:ext cx="6167755" cy="4093845"/>
          </a:xfrm>
          <a:prstGeom prst="rect">
            <a:avLst/>
          </a:prstGeom>
        </p:spPr>
      </p:pic>
      <p:sp>
        <p:nvSpPr>
          <p:cNvPr id="6" name="文本框 5"/>
          <p:cNvSpPr txBox="1"/>
          <p:nvPr/>
        </p:nvSpPr>
        <p:spPr>
          <a:xfrm>
            <a:off x="6717665" y="2414905"/>
            <a:ext cx="2178050" cy="3289300"/>
          </a:xfrm>
          <a:prstGeom prst="rect">
            <a:avLst/>
          </a:prstGeom>
          <a:noFill/>
        </p:spPr>
        <p:txBody>
          <a:bodyPr wrap="square" rtlCol="0">
            <a:noAutofit/>
          </a:bodyPr>
          <a:p>
            <a:r>
              <a:rPr lang="ko-KR" altLang="en-US" sz="1200"/>
              <a:t>요약</a:t>
            </a:r>
            <a:r>
              <a:rPr lang="en-US" altLang="zh-CN" sz="1200"/>
              <a:t>: “</a:t>
            </a:r>
            <a:r>
              <a:rPr lang="ko-KR" altLang="en-US" sz="1200"/>
              <a:t>업종</a:t>
            </a:r>
            <a:r>
              <a:rPr lang="en-US" altLang="zh-CN" sz="1200"/>
              <a:t> </a:t>
            </a:r>
            <a:r>
              <a:rPr lang="ko-KR" altLang="en-US" sz="1200"/>
              <a:t>위험</a:t>
            </a:r>
            <a:r>
              <a:rPr lang="en-US" altLang="zh-CN" sz="1200"/>
              <a:t> </a:t>
            </a:r>
            <a:r>
              <a:rPr lang="ko-KR" altLang="en-US" sz="1200"/>
              <a:t>지수</a:t>
            </a:r>
            <a:r>
              <a:rPr lang="en-US" altLang="zh-CN" sz="1200"/>
              <a:t> </a:t>
            </a:r>
            <a:r>
              <a:rPr lang="ko-KR" altLang="en-US" sz="1200"/>
              <a:t>순위</a:t>
            </a:r>
            <a:r>
              <a:rPr lang="en-US" altLang="zh-CN" sz="1200"/>
              <a:t>”</a:t>
            </a:r>
            <a:r>
              <a:rPr lang="ko-KR" altLang="en-US" sz="1200"/>
              <a:t>를</a:t>
            </a:r>
            <a:r>
              <a:rPr lang="en-US" altLang="zh-CN" sz="1200"/>
              <a:t> </a:t>
            </a:r>
            <a:r>
              <a:rPr lang="ko-KR" altLang="en-US" sz="1200"/>
              <a:t>통해</a:t>
            </a:r>
            <a:r>
              <a:rPr lang="en-US" altLang="zh-CN" sz="1200"/>
              <a:t> </a:t>
            </a:r>
            <a:r>
              <a:rPr lang="ko-KR" altLang="en-US" sz="1200"/>
              <a:t>위험이</a:t>
            </a:r>
            <a:r>
              <a:rPr lang="en-US" altLang="zh-CN" sz="1200"/>
              <a:t> “</a:t>
            </a:r>
            <a:r>
              <a:rPr lang="ko-KR" altLang="en-US" sz="1200"/>
              <a:t>단란주점</a:t>
            </a:r>
            <a:r>
              <a:rPr lang="en-US" altLang="zh-CN" sz="1200"/>
              <a:t>”</a:t>
            </a:r>
            <a:r>
              <a:rPr lang="ko-KR" altLang="en-US" sz="1200"/>
              <a:t>과</a:t>
            </a:r>
            <a:r>
              <a:rPr lang="en-US" altLang="zh-CN" sz="1200"/>
              <a:t> “</a:t>
            </a:r>
            <a:r>
              <a:rPr lang="ko-KR" altLang="en-US" sz="1200"/>
              <a:t>유흥주점영업</a:t>
            </a:r>
            <a:r>
              <a:rPr lang="en-US" altLang="zh-CN" sz="1200"/>
              <a:t>” </a:t>
            </a:r>
            <a:r>
              <a:rPr lang="ko-KR" altLang="en-US" sz="1200"/>
              <a:t>등</a:t>
            </a:r>
            <a:r>
              <a:rPr lang="en-US" altLang="zh-CN" sz="1200"/>
              <a:t> </a:t>
            </a:r>
            <a:r>
              <a:rPr lang="ko-KR" altLang="en-US" sz="1200"/>
              <a:t>바</a:t>
            </a:r>
            <a:r>
              <a:rPr lang="en-US" altLang="zh-CN" sz="1200"/>
              <a:t> </a:t>
            </a:r>
            <a:r>
              <a:rPr lang="ko-KR" altLang="en-US" sz="1200"/>
              <a:t>업종에</a:t>
            </a:r>
            <a:r>
              <a:rPr lang="en-US" altLang="zh-CN" sz="1200"/>
              <a:t> </a:t>
            </a:r>
            <a:r>
              <a:rPr lang="ko-KR" altLang="en-US" sz="1200"/>
              <a:t>집중되어</a:t>
            </a:r>
            <a:r>
              <a:rPr lang="en-US" altLang="zh-CN" sz="1200"/>
              <a:t> </a:t>
            </a:r>
            <a:r>
              <a:rPr lang="ko-KR" altLang="en-US" sz="1200"/>
              <a:t>있음을</a:t>
            </a:r>
            <a:r>
              <a:rPr lang="en-US" altLang="zh-CN" sz="1200"/>
              <a:t> </a:t>
            </a:r>
            <a:r>
              <a:rPr lang="ko-KR" altLang="en-US" sz="1200"/>
              <a:t>알</a:t>
            </a:r>
            <a:r>
              <a:rPr lang="en-US" altLang="zh-CN" sz="1200"/>
              <a:t> </a:t>
            </a:r>
            <a:r>
              <a:rPr lang="ko-KR" altLang="en-US" sz="1200"/>
              <a:t>수</a:t>
            </a:r>
            <a:r>
              <a:rPr lang="en-US" altLang="zh-CN" sz="1200"/>
              <a:t> </a:t>
            </a:r>
            <a:r>
              <a:rPr lang="ko-KR" altLang="en-US" sz="1200"/>
              <a:t>있으며</a:t>
            </a:r>
            <a:r>
              <a:rPr lang="en-US" altLang="zh-CN" sz="1200"/>
              <a:t>, </a:t>
            </a:r>
            <a:r>
              <a:rPr lang="ko-KR" altLang="en-US" sz="1200"/>
              <a:t>해당</a:t>
            </a:r>
            <a:r>
              <a:rPr lang="en-US" altLang="zh-CN" sz="1200"/>
              <a:t> </a:t>
            </a:r>
            <a:r>
              <a:rPr lang="ko-KR" altLang="en-US" sz="1200"/>
              <a:t>업종의</a:t>
            </a:r>
            <a:r>
              <a:rPr lang="en-US" altLang="zh-CN" sz="1200"/>
              <a:t> </a:t>
            </a:r>
            <a:r>
              <a:rPr lang="ko-KR" altLang="en-US" sz="1200"/>
              <a:t>위험</a:t>
            </a:r>
            <a:r>
              <a:rPr lang="en-US" altLang="zh-CN" sz="1200"/>
              <a:t> </a:t>
            </a:r>
            <a:r>
              <a:rPr lang="ko-KR" altLang="en-US" sz="1200"/>
              <a:t>지수는</a:t>
            </a:r>
            <a:r>
              <a:rPr lang="en-US" altLang="zh-CN" sz="1200"/>
              <a:t> </a:t>
            </a:r>
            <a:r>
              <a:rPr lang="ko-KR" altLang="en-US" sz="1200"/>
              <a:t>다른</a:t>
            </a:r>
            <a:r>
              <a:rPr lang="en-US" altLang="zh-CN" sz="1200"/>
              <a:t> </a:t>
            </a:r>
            <a:r>
              <a:rPr lang="ko-KR" altLang="en-US" sz="1200"/>
              <a:t>식품</a:t>
            </a:r>
            <a:r>
              <a:rPr lang="en-US" altLang="zh-CN" sz="1200"/>
              <a:t> </a:t>
            </a:r>
            <a:r>
              <a:rPr lang="ko-KR" altLang="en-US" sz="1200"/>
              <a:t>관련</a:t>
            </a:r>
            <a:r>
              <a:rPr lang="en-US" altLang="zh-CN" sz="1200"/>
              <a:t> </a:t>
            </a:r>
            <a:r>
              <a:rPr lang="ko-KR" altLang="en-US" sz="1200"/>
              <a:t>업종보다</a:t>
            </a:r>
            <a:r>
              <a:rPr lang="en-US" altLang="zh-CN" sz="1200"/>
              <a:t> </a:t>
            </a:r>
            <a:r>
              <a:rPr lang="ko-KR" altLang="en-US" sz="1200"/>
              <a:t>훨씬</a:t>
            </a:r>
            <a:r>
              <a:rPr lang="en-US" altLang="zh-CN" sz="1200"/>
              <a:t> </a:t>
            </a:r>
            <a:r>
              <a:rPr lang="ko-KR" altLang="en-US" sz="1200"/>
              <a:t>높습니다</a:t>
            </a:r>
            <a:r>
              <a:rPr lang="en-US" altLang="zh-CN" sz="1200"/>
              <a:t>. </a:t>
            </a:r>
            <a:r>
              <a:rPr lang="ko-KR" altLang="en-US" sz="1200"/>
              <a:t>나머지</a:t>
            </a:r>
            <a:r>
              <a:rPr lang="en-US" altLang="zh-CN" sz="1200"/>
              <a:t> </a:t>
            </a:r>
            <a:r>
              <a:rPr lang="ko-KR" altLang="en-US" sz="1200"/>
              <a:t>업종은</a:t>
            </a:r>
            <a:r>
              <a:rPr lang="en-US" altLang="zh-CN" sz="1200"/>
              <a:t> </a:t>
            </a:r>
            <a:r>
              <a:rPr lang="ko-KR" altLang="en-US" sz="1200"/>
              <a:t>전반적으로</a:t>
            </a:r>
            <a:r>
              <a:rPr lang="en-US" altLang="zh-CN" sz="1200"/>
              <a:t> </a:t>
            </a:r>
            <a:r>
              <a:rPr lang="ko-KR" altLang="en-US" sz="1200"/>
              <a:t>위험</a:t>
            </a:r>
            <a:r>
              <a:rPr lang="en-US" altLang="zh-CN" sz="1200"/>
              <a:t> </a:t>
            </a:r>
            <a:r>
              <a:rPr lang="ko-KR" altLang="en-US" sz="1200"/>
              <a:t>수준이</a:t>
            </a:r>
            <a:r>
              <a:rPr lang="en-US" altLang="zh-CN" sz="1200"/>
              <a:t> </a:t>
            </a:r>
            <a:r>
              <a:rPr lang="ko-KR" altLang="en-US" sz="1200"/>
              <a:t>낮으며</a:t>
            </a:r>
            <a:r>
              <a:rPr lang="en-US" altLang="zh-CN" sz="1200"/>
              <a:t> </a:t>
            </a:r>
            <a:r>
              <a:rPr lang="ko-KR" altLang="en-US" sz="1200"/>
              <a:t>그</a:t>
            </a:r>
            <a:r>
              <a:rPr lang="en-US" altLang="zh-CN" sz="1200"/>
              <a:t> </a:t>
            </a:r>
            <a:r>
              <a:rPr lang="ko-KR" altLang="en-US" sz="1200"/>
              <a:t>차이가</a:t>
            </a:r>
            <a:r>
              <a:rPr lang="en-US" altLang="zh-CN" sz="1200"/>
              <a:t> </a:t>
            </a:r>
            <a:r>
              <a:rPr lang="ko-KR" altLang="en-US" sz="1200"/>
              <a:t>뚜렷합니다</a:t>
            </a:r>
            <a:r>
              <a:rPr lang="en-US" altLang="zh-CN" sz="1200"/>
              <a:t>.</a:t>
            </a:r>
            <a:endParaRPr lang="en-US" altLang="zh-CN" sz="1200"/>
          </a:p>
          <a:p>
            <a:endParaRPr lang="en-US" altLang="zh-CN" sz="1200"/>
          </a:p>
          <a:p>
            <a:r>
              <a:rPr lang="zh-CN" altLang="en-US" sz="1200"/>
              <a:t>总结：从</a:t>
            </a:r>
            <a:r>
              <a:rPr lang="en-US" altLang="zh-CN" sz="1200"/>
              <a:t>“</a:t>
            </a:r>
            <a:r>
              <a:rPr lang="zh-CN" altLang="en-US" sz="1200"/>
              <a:t>行业风险指数排序</a:t>
            </a:r>
            <a:r>
              <a:rPr lang="en-US" altLang="zh-CN" sz="1200"/>
              <a:t>”</a:t>
            </a:r>
            <a:r>
              <a:rPr lang="zh-CN" altLang="en-US" sz="1200"/>
              <a:t>可以看出，风险高度集中在家庭式酒馆和娱乐酒吧营业等酒吧类业态，其风险指数远高于其他食品相关行业，其余行业整体风险水平较低且差距明显。</a:t>
            </a:r>
            <a:endParaRPr lang="zh-CN" altLang="en-US" sz="1200"/>
          </a:p>
        </p:txBody>
      </p:sp>
      <p:sp>
        <p:nvSpPr>
          <p:cNvPr id="7" name="文本框 6"/>
          <p:cNvSpPr txBox="1"/>
          <p:nvPr/>
        </p:nvSpPr>
        <p:spPr>
          <a:xfrm>
            <a:off x="2762885" y="6290310"/>
            <a:ext cx="3048000" cy="368300"/>
          </a:xfrm>
          <a:prstGeom prst="rect">
            <a:avLst/>
          </a:prstGeom>
          <a:noFill/>
        </p:spPr>
        <p:txBody>
          <a:bodyPr wrap="square" rtlCol="0">
            <a:spAutoFit/>
          </a:bodyPr>
          <a:p>
            <a:r>
              <a:rPr lang="ko-KR" altLang="en-US"/>
              <a:t>산업</a:t>
            </a:r>
            <a:r>
              <a:rPr lang="en-US" altLang="zh-CN"/>
              <a:t> </a:t>
            </a:r>
            <a:r>
              <a:rPr lang="ko-KR" altLang="en-US"/>
              <a:t>위험</a:t>
            </a:r>
            <a:r>
              <a:rPr lang="en-US" altLang="zh-CN"/>
              <a:t> </a:t>
            </a:r>
            <a:r>
              <a:rPr lang="ko-KR" altLang="en-US"/>
              <a:t>지수</a:t>
            </a:r>
            <a:r>
              <a:rPr lang="en-US" altLang="zh-CN"/>
              <a:t> </a:t>
            </a:r>
            <a:r>
              <a:rPr lang="ko-KR" altLang="en-US"/>
              <a:t>순위</a:t>
            </a:r>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589395" y="2268220"/>
            <a:ext cx="2178050" cy="3370580"/>
          </a:xfrm>
          <a:prstGeom prst="rect">
            <a:avLst/>
          </a:prstGeom>
          <a:noFill/>
        </p:spPr>
        <p:txBody>
          <a:bodyPr wrap="square" rtlCol="0">
            <a:noAutofit/>
          </a:bodyPr>
          <a:p>
            <a:r>
              <a:rPr lang="ko-KR" altLang="en-US" sz="1200"/>
              <a:t>요약</a:t>
            </a:r>
            <a:r>
              <a:rPr lang="en-US" altLang="zh-CN" sz="1200"/>
              <a:t>: “</a:t>
            </a:r>
            <a:r>
              <a:rPr lang="ko-KR" altLang="en-US" sz="1200"/>
              <a:t>매장</a:t>
            </a:r>
            <a:r>
              <a:rPr lang="en-US" altLang="zh-CN" sz="1200"/>
              <a:t> </a:t>
            </a:r>
            <a:r>
              <a:rPr lang="ko-KR" altLang="en-US" sz="1200"/>
              <a:t>분포</a:t>
            </a:r>
            <a:r>
              <a:rPr lang="en-US" altLang="zh-CN" sz="1200"/>
              <a:t>(</a:t>
            </a:r>
            <a:r>
              <a:rPr lang="ko-KR" altLang="en-US" sz="1200"/>
              <a:t>상위</a:t>
            </a:r>
            <a:r>
              <a:rPr lang="en-US" altLang="zh-CN" sz="1200"/>
              <a:t> 25</a:t>
            </a:r>
            <a:r>
              <a:rPr lang="ko-KR" altLang="en-US" sz="1200"/>
              <a:t>개</a:t>
            </a:r>
            <a:r>
              <a:rPr lang="en-US" altLang="zh-CN" sz="1200"/>
              <a:t> </a:t>
            </a:r>
            <a:r>
              <a:rPr lang="ko-KR" altLang="en-US" sz="1200"/>
              <a:t>행정구역</a:t>
            </a:r>
            <a:r>
              <a:rPr lang="en-US" altLang="zh-CN" sz="1200"/>
              <a:t>)”</a:t>
            </a:r>
            <a:r>
              <a:rPr lang="ko-KR" altLang="en-US" sz="1200"/>
              <a:t>를</a:t>
            </a:r>
            <a:r>
              <a:rPr lang="en-US" altLang="zh-CN" sz="1200"/>
              <a:t> </a:t>
            </a:r>
            <a:r>
              <a:rPr lang="ko-KR" altLang="en-US" sz="1200"/>
              <a:t>통해</a:t>
            </a:r>
            <a:r>
              <a:rPr lang="en-US" altLang="zh-CN" sz="1200"/>
              <a:t> </a:t>
            </a:r>
            <a:r>
              <a:rPr lang="ko-KR" altLang="en-US" sz="1200"/>
              <a:t>볼</a:t>
            </a:r>
            <a:r>
              <a:rPr lang="en-US" altLang="zh-CN" sz="1200"/>
              <a:t> </a:t>
            </a:r>
            <a:r>
              <a:rPr lang="ko-KR" altLang="en-US" sz="1200"/>
              <a:t>때</a:t>
            </a:r>
            <a:r>
              <a:rPr lang="en-US" altLang="zh-CN" sz="1200"/>
              <a:t>, </a:t>
            </a:r>
            <a:r>
              <a:rPr lang="ko-KR" altLang="en-US" sz="1200"/>
              <a:t>매장은</a:t>
            </a:r>
            <a:r>
              <a:rPr lang="en-US" altLang="zh-CN" sz="1200"/>
              <a:t> </a:t>
            </a:r>
            <a:r>
              <a:rPr lang="ko-KR" altLang="en-US" sz="1200"/>
              <a:t>주로</a:t>
            </a:r>
            <a:r>
              <a:rPr lang="en-US" altLang="zh-CN" sz="1200"/>
              <a:t> </a:t>
            </a:r>
            <a:r>
              <a:rPr lang="ko-KR" altLang="en-US" sz="1200"/>
              <a:t>강남구에</a:t>
            </a:r>
            <a:r>
              <a:rPr lang="en-US" altLang="zh-CN" sz="1200"/>
              <a:t> </a:t>
            </a:r>
            <a:r>
              <a:rPr lang="ko-KR" altLang="en-US" sz="1200"/>
              <a:t>집중되어</a:t>
            </a:r>
            <a:r>
              <a:rPr lang="en-US" altLang="zh-CN" sz="1200"/>
              <a:t> </a:t>
            </a:r>
            <a:r>
              <a:rPr lang="ko-KR" altLang="en-US" sz="1200"/>
              <a:t>있으며</a:t>
            </a:r>
            <a:r>
              <a:rPr lang="en-US" altLang="zh-CN" sz="1200"/>
              <a:t>, </a:t>
            </a:r>
            <a:r>
              <a:rPr lang="ko-KR" altLang="en-US" sz="1200"/>
              <a:t>그</a:t>
            </a:r>
            <a:r>
              <a:rPr lang="en-US" altLang="zh-CN" sz="1200"/>
              <a:t> </a:t>
            </a:r>
            <a:r>
              <a:rPr lang="ko-KR" altLang="en-US" sz="1200"/>
              <a:t>다음으로</a:t>
            </a:r>
            <a:r>
              <a:rPr lang="en-US" altLang="zh-CN" sz="1200"/>
              <a:t> </a:t>
            </a:r>
            <a:r>
              <a:rPr lang="ko-KR" altLang="en-US" sz="1200"/>
              <a:t>영등포구</a:t>
            </a:r>
            <a:r>
              <a:rPr lang="en-US" altLang="zh-CN" sz="1200"/>
              <a:t>, </a:t>
            </a:r>
            <a:r>
              <a:rPr lang="ko-KR" altLang="en-US" sz="1200"/>
              <a:t>서초구</a:t>
            </a:r>
            <a:r>
              <a:rPr lang="en-US" altLang="zh-CN" sz="1200"/>
              <a:t>, </a:t>
            </a:r>
            <a:r>
              <a:rPr lang="ko-KR" altLang="en-US" sz="1200"/>
              <a:t>송파구</a:t>
            </a:r>
            <a:r>
              <a:rPr lang="en-US" altLang="zh-CN" sz="1200"/>
              <a:t> </a:t>
            </a:r>
            <a:r>
              <a:rPr lang="ko-KR" altLang="en-US" sz="1200"/>
              <a:t>등</a:t>
            </a:r>
            <a:r>
              <a:rPr lang="en-US" altLang="zh-CN" sz="1200"/>
              <a:t> </a:t>
            </a:r>
            <a:r>
              <a:rPr lang="ko-KR" altLang="en-US" sz="1200"/>
              <a:t>핵심</a:t>
            </a:r>
            <a:r>
              <a:rPr lang="en-US" altLang="zh-CN" sz="1200"/>
              <a:t> </a:t>
            </a:r>
            <a:r>
              <a:rPr lang="ko-KR" altLang="en-US" sz="1200"/>
              <a:t>상권에</a:t>
            </a:r>
            <a:r>
              <a:rPr lang="en-US" altLang="zh-CN" sz="1200"/>
              <a:t> </a:t>
            </a:r>
            <a:r>
              <a:rPr lang="ko-KR" altLang="en-US" sz="1200"/>
              <a:t>위치해</a:t>
            </a:r>
            <a:r>
              <a:rPr lang="en-US" altLang="zh-CN" sz="1200"/>
              <a:t> </a:t>
            </a:r>
            <a:r>
              <a:rPr lang="ko-KR" altLang="en-US" sz="1200"/>
              <a:t>있다</a:t>
            </a:r>
            <a:r>
              <a:rPr lang="en-US" altLang="zh-CN" sz="1200"/>
              <a:t>. </a:t>
            </a:r>
            <a:r>
              <a:rPr lang="ko-KR" altLang="en-US" sz="1200"/>
              <a:t>나머지</a:t>
            </a:r>
            <a:r>
              <a:rPr lang="en-US" altLang="zh-CN" sz="1200"/>
              <a:t> </a:t>
            </a:r>
            <a:r>
              <a:rPr lang="ko-KR" altLang="en-US" sz="1200"/>
              <a:t>행정구역의</a:t>
            </a:r>
            <a:r>
              <a:rPr lang="en-US" altLang="zh-CN" sz="1200"/>
              <a:t> </a:t>
            </a:r>
            <a:r>
              <a:rPr lang="ko-KR" altLang="en-US" sz="1200"/>
              <a:t>매장</a:t>
            </a:r>
            <a:r>
              <a:rPr lang="en-US" altLang="zh-CN" sz="1200"/>
              <a:t> </a:t>
            </a:r>
            <a:r>
              <a:rPr lang="ko-KR" altLang="en-US" sz="1200"/>
              <a:t>수는</a:t>
            </a:r>
            <a:r>
              <a:rPr lang="en-US" altLang="zh-CN" sz="1200"/>
              <a:t> </a:t>
            </a:r>
            <a:r>
              <a:rPr lang="ko-KR" altLang="en-US" sz="1200"/>
              <a:t>상대적으로</a:t>
            </a:r>
            <a:r>
              <a:rPr lang="en-US" altLang="zh-CN" sz="1200"/>
              <a:t> </a:t>
            </a:r>
            <a:r>
              <a:rPr lang="ko-KR" altLang="en-US" sz="1200"/>
              <a:t>적으며</a:t>
            </a:r>
            <a:r>
              <a:rPr lang="en-US" altLang="zh-CN" sz="1200"/>
              <a:t>, </a:t>
            </a:r>
            <a:r>
              <a:rPr lang="ko-KR" altLang="en-US" sz="1200"/>
              <a:t>전체적으로</a:t>
            </a:r>
            <a:r>
              <a:rPr lang="en-US" altLang="zh-CN" sz="1200"/>
              <a:t> </a:t>
            </a:r>
            <a:r>
              <a:rPr lang="ko-KR" altLang="en-US" sz="1200"/>
              <a:t>뚜렷한</a:t>
            </a:r>
            <a:r>
              <a:rPr lang="en-US" altLang="zh-CN" sz="1200"/>
              <a:t> </a:t>
            </a:r>
            <a:r>
              <a:rPr lang="ko-KR" altLang="en-US" sz="1200"/>
              <a:t>상위</a:t>
            </a:r>
            <a:r>
              <a:rPr lang="en-US" altLang="zh-CN" sz="1200"/>
              <a:t> </a:t>
            </a:r>
            <a:r>
              <a:rPr lang="ko-KR" altLang="en-US" sz="1200"/>
              <a:t>집중</a:t>
            </a:r>
            <a:r>
              <a:rPr lang="en-US" altLang="zh-CN" sz="1200"/>
              <a:t> </a:t>
            </a:r>
            <a:r>
              <a:rPr lang="ko-KR" altLang="en-US" sz="1200"/>
              <a:t>현상을</a:t>
            </a:r>
            <a:r>
              <a:rPr lang="en-US" altLang="zh-CN" sz="1200"/>
              <a:t> </a:t>
            </a:r>
            <a:r>
              <a:rPr lang="ko-KR" altLang="en-US" sz="1200"/>
              <a:t>보인다</a:t>
            </a:r>
            <a:r>
              <a:rPr lang="en-US" altLang="zh-CN" sz="1200"/>
              <a:t>.</a:t>
            </a:r>
            <a:endParaRPr lang="en-US" altLang="zh-CN" sz="1200"/>
          </a:p>
          <a:p>
            <a:endParaRPr lang="en-US" altLang="zh-CN" sz="1200"/>
          </a:p>
          <a:p>
            <a:r>
              <a:rPr lang="zh-CN" altLang="en-US" sz="1200"/>
              <a:t>总结：从</a:t>
            </a:r>
            <a:r>
              <a:rPr lang="en-US" altLang="zh-CN" sz="1200"/>
              <a:t>“</a:t>
            </a:r>
            <a:r>
              <a:rPr lang="zh-CN" altLang="en-US" sz="1200"/>
              <a:t>门店分布（前</a:t>
            </a:r>
            <a:r>
              <a:rPr lang="en-US" altLang="zh-CN" sz="1200"/>
              <a:t>25</a:t>
            </a:r>
            <a:r>
              <a:rPr lang="zh-CN" altLang="en-US" sz="1200"/>
              <a:t>个行政区）</a:t>
            </a:r>
            <a:r>
              <a:rPr lang="en-US" altLang="zh-CN" sz="1200"/>
              <a:t>”</a:t>
            </a:r>
            <a:r>
              <a:rPr lang="zh-CN" altLang="en-US" sz="1200"/>
              <a:t>可以看出，门店主要高度集中在江南区，其次是永登浦区、瑞草区、松坡区等核心商圈，其余行政区门店数量相对较少，整体呈现明显的头部集中特征。</a:t>
            </a:r>
            <a:endParaRPr lang="zh-CN" altLang="en-US" sz="1200"/>
          </a:p>
        </p:txBody>
      </p:sp>
      <p:pic>
        <p:nvPicPr>
          <p:cNvPr id="7" name="图片 6" descr="5"/>
          <p:cNvPicPr>
            <a:picLocks noChangeAspect="1"/>
          </p:cNvPicPr>
          <p:nvPr/>
        </p:nvPicPr>
        <p:blipFill>
          <a:blip r:embed="rId2"/>
          <a:stretch>
            <a:fillRect/>
          </a:stretch>
        </p:blipFill>
        <p:spPr>
          <a:xfrm>
            <a:off x="676275" y="1929765"/>
            <a:ext cx="5353685" cy="4281170"/>
          </a:xfrm>
          <a:prstGeom prst="rect">
            <a:avLst/>
          </a:prstGeom>
        </p:spPr>
      </p:pic>
      <p:sp>
        <p:nvSpPr>
          <p:cNvPr id="8" name="文本框 7"/>
          <p:cNvSpPr txBox="1"/>
          <p:nvPr/>
        </p:nvSpPr>
        <p:spPr>
          <a:xfrm>
            <a:off x="1912620" y="6205855"/>
            <a:ext cx="3652520" cy="368300"/>
          </a:xfrm>
          <a:prstGeom prst="rect">
            <a:avLst/>
          </a:prstGeom>
          <a:noFill/>
        </p:spPr>
        <p:txBody>
          <a:bodyPr wrap="square" rtlCol="0">
            <a:spAutoFit/>
          </a:bodyPr>
          <a:p>
            <a:r>
              <a:rPr lang="ko-KR" altLang="en-US"/>
              <a:t>매장</a:t>
            </a:r>
            <a:r>
              <a:rPr lang="en-US" altLang="zh-CN"/>
              <a:t> </a:t>
            </a:r>
            <a:r>
              <a:rPr lang="ko-KR" altLang="en-US"/>
              <a:t>분포</a:t>
            </a:r>
            <a:r>
              <a:rPr lang="en-US" altLang="zh-CN"/>
              <a:t>(</a:t>
            </a:r>
            <a:r>
              <a:rPr lang="ko-KR" altLang="en-US"/>
              <a:t>상위</a:t>
            </a:r>
            <a:r>
              <a:rPr lang="en-US" altLang="zh-CN"/>
              <a:t> 25</a:t>
            </a:r>
            <a:r>
              <a:rPr lang="ko-KR" altLang="en-US"/>
              <a:t>개</a:t>
            </a:r>
            <a:r>
              <a:rPr lang="en-US" altLang="zh-CN"/>
              <a:t> </a:t>
            </a:r>
            <a:r>
              <a:rPr lang="ko-KR" altLang="en-US"/>
              <a:t>행정구역</a:t>
            </a:r>
            <a:r>
              <a:rPr lang="en-US" altLang="zh-CN"/>
              <a:t>)</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699250" y="2237740"/>
            <a:ext cx="2178050" cy="3654425"/>
          </a:xfrm>
          <a:prstGeom prst="rect">
            <a:avLst/>
          </a:prstGeom>
          <a:noFill/>
        </p:spPr>
        <p:txBody>
          <a:bodyPr wrap="square" rtlCol="0">
            <a:noAutofit/>
          </a:bodyPr>
          <a:p>
            <a:r>
              <a:rPr lang="ko-KR" altLang="en-US" sz="1200"/>
              <a:t>요약</a:t>
            </a:r>
            <a:r>
              <a:rPr lang="en-US" altLang="zh-CN" sz="1200"/>
              <a:t>: “</a:t>
            </a:r>
            <a:r>
              <a:rPr lang="ko-KR" altLang="en-US" sz="1200"/>
              <a:t>매장</a:t>
            </a:r>
            <a:r>
              <a:rPr lang="en-US" altLang="zh-CN" sz="1200"/>
              <a:t> </a:t>
            </a:r>
            <a:r>
              <a:rPr lang="ko-KR" altLang="en-US" sz="1200"/>
              <a:t>분포</a:t>
            </a:r>
            <a:r>
              <a:rPr lang="en-US" altLang="zh-CN" sz="1200"/>
              <a:t>(</a:t>
            </a:r>
            <a:r>
              <a:rPr lang="ko-KR" altLang="en-US" sz="1200"/>
              <a:t>상위</a:t>
            </a:r>
            <a:r>
              <a:rPr lang="en-US" altLang="zh-CN" sz="1200"/>
              <a:t> 25</a:t>
            </a:r>
            <a:r>
              <a:rPr lang="ko-KR" altLang="en-US" sz="1200"/>
              <a:t>개</a:t>
            </a:r>
            <a:r>
              <a:rPr lang="en-US" altLang="zh-CN" sz="1200"/>
              <a:t> </a:t>
            </a:r>
            <a:r>
              <a:rPr lang="ko-KR" altLang="en-US" sz="1200"/>
              <a:t>업태</a:t>
            </a:r>
            <a:r>
              <a:rPr lang="en-US" altLang="zh-CN" sz="1200"/>
              <a:t>/</a:t>
            </a:r>
            <a:r>
              <a:rPr lang="ko-KR" altLang="en-US" sz="1200"/>
              <a:t>업종</a:t>
            </a:r>
            <a:r>
              <a:rPr lang="en-US" altLang="zh-CN" sz="1200"/>
              <a:t>)”</a:t>
            </a:r>
            <a:r>
              <a:rPr lang="ko-KR" altLang="en-US" sz="1200"/>
              <a:t>를</a:t>
            </a:r>
            <a:r>
              <a:rPr lang="en-US" altLang="zh-CN" sz="1200"/>
              <a:t> </a:t>
            </a:r>
            <a:r>
              <a:rPr lang="ko-KR" altLang="en-US" sz="1200"/>
              <a:t>통해</a:t>
            </a:r>
            <a:r>
              <a:rPr lang="en-US" altLang="zh-CN" sz="1200"/>
              <a:t> </a:t>
            </a:r>
            <a:r>
              <a:rPr lang="ko-KR" altLang="en-US" sz="1200"/>
              <a:t>매장</a:t>
            </a:r>
            <a:r>
              <a:rPr lang="en-US" altLang="zh-CN" sz="1200"/>
              <a:t> </a:t>
            </a:r>
            <a:r>
              <a:rPr lang="ko-KR" altLang="en-US" sz="1200"/>
              <a:t>수가</a:t>
            </a:r>
            <a:r>
              <a:rPr lang="en-US" altLang="zh-CN" sz="1200"/>
              <a:t> “</a:t>
            </a:r>
            <a:r>
              <a:rPr lang="ko-KR" altLang="en-US" sz="1200"/>
              <a:t>즉석</a:t>
            </a:r>
            <a:r>
              <a:rPr lang="en-US" altLang="zh-CN" sz="1200"/>
              <a:t> </a:t>
            </a:r>
            <a:r>
              <a:rPr lang="ko-KR" altLang="en-US" sz="1200"/>
              <a:t>판매</a:t>
            </a:r>
            <a:r>
              <a:rPr lang="en-US" altLang="zh-CN" sz="1200"/>
              <a:t> </a:t>
            </a:r>
            <a:r>
              <a:rPr lang="ko-KR" altLang="en-US" sz="1200"/>
              <a:t>제조</a:t>
            </a:r>
            <a:r>
              <a:rPr lang="en-US" altLang="zh-CN" sz="1200"/>
              <a:t> </a:t>
            </a:r>
            <a:r>
              <a:rPr lang="ko-KR" altLang="en-US" sz="1200"/>
              <a:t>가공업</a:t>
            </a:r>
            <a:r>
              <a:rPr lang="en-US" altLang="zh-CN" sz="1200"/>
              <a:t>”, ‘</a:t>
            </a:r>
            <a:r>
              <a:rPr lang="ko-KR" altLang="en-US" sz="1200"/>
              <a:t>한식</a:t>
            </a:r>
            <a:r>
              <a:rPr lang="en-US" altLang="zh-CN" sz="1200"/>
              <a:t>’, “</a:t>
            </a:r>
            <a:r>
              <a:rPr lang="ko-KR" altLang="en-US" sz="1200"/>
              <a:t>기타</a:t>
            </a:r>
            <a:r>
              <a:rPr lang="en-US" altLang="zh-CN" sz="1200"/>
              <a:t>” </a:t>
            </a:r>
            <a:r>
              <a:rPr lang="ko-KR" altLang="en-US" sz="1200"/>
              <a:t>등</a:t>
            </a:r>
            <a:r>
              <a:rPr lang="en-US" altLang="zh-CN" sz="1200"/>
              <a:t> </a:t>
            </a:r>
            <a:r>
              <a:rPr lang="ko-KR" altLang="en-US" sz="1200"/>
              <a:t>소수</a:t>
            </a:r>
            <a:r>
              <a:rPr lang="en-US" altLang="zh-CN" sz="1200"/>
              <a:t> </a:t>
            </a:r>
            <a:r>
              <a:rPr lang="ko-KR" altLang="en-US" sz="1200"/>
              <a:t>업태에</a:t>
            </a:r>
            <a:r>
              <a:rPr lang="en-US" altLang="zh-CN" sz="1200"/>
              <a:t> </a:t>
            </a:r>
            <a:r>
              <a:rPr lang="ko-KR" altLang="en-US" sz="1200"/>
              <a:t>집중되어</a:t>
            </a:r>
            <a:r>
              <a:rPr lang="en-US" altLang="zh-CN" sz="1200"/>
              <a:t> </a:t>
            </a:r>
            <a:r>
              <a:rPr lang="ko-KR" altLang="en-US" sz="1200"/>
              <a:t>있음을</a:t>
            </a:r>
            <a:r>
              <a:rPr lang="en-US" altLang="zh-CN" sz="1200"/>
              <a:t> </a:t>
            </a:r>
            <a:r>
              <a:rPr lang="ko-KR" altLang="en-US" sz="1200"/>
              <a:t>알</a:t>
            </a:r>
            <a:r>
              <a:rPr lang="en-US" altLang="zh-CN" sz="1200"/>
              <a:t> </a:t>
            </a:r>
            <a:r>
              <a:rPr lang="ko-KR" altLang="en-US" sz="1200"/>
              <a:t>수</a:t>
            </a:r>
            <a:r>
              <a:rPr lang="en-US" altLang="zh-CN" sz="1200"/>
              <a:t> </a:t>
            </a:r>
            <a:r>
              <a:rPr lang="ko-KR" altLang="en-US" sz="1200"/>
              <a:t>있다</a:t>
            </a:r>
            <a:r>
              <a:rPr lang="en-US" altLang="zh-CN" sz="1200"/>
              <a:t>. </a:t>
            </a:r>
            <a:r>
              <a:rPr lang="ko-KR" altLang="en-US" sz="1200"/>
              <a:t>이</a:t>
            </a:r>
            <a:r>
              <a:rPr lang="en-US" altLang="zh-CN" sz="1200"/>
              <a:t> </a:t>
            </a:r>
            <a:r>
              <a:rPr lang="ko-KR" altLang="en-US" sz="1200"/>
              <a:t>중</a:t>
            </a:r>
            <a:r>
              <a:rPr lang="en-US" altLang="zh-CN" sz="1200"/>
              <a:t> </a:t>
            </a:r>
            <a:r>
              <a:rPr lang="ko-KR" altLang="en-US" sz="1200"/>
              <a:t>즉석</a:t>
            </a:r>
            <a:r>
              <a:rPr lang="en-US" altLang="zh-CN" sz="1200"/>
              <a:t> </a:t>
            </a:r>
            <a:r>
              <a:rPr lang="ko-KR" altLang="en-US" sz="1200"/>
              <a:t>판매</a:t>
            </a:r>
            <a:r>
              <a:rPr lang="en-US" altLang="zh-CN" sz="1200"/>
              <a:t> </a:t>
            </a:r>
            <a:r>
              <a:rPr lang="ko-KR" altLang="en-US" sz="1200"/>
              <a:t>제조</a:t>
            </a:r>
            <a:r>
              <a:rPr lang="en-US" altLang="zh-CN" sz="1200"/>
              <a:t> </a:t>
            </a:r>
            <a:r>
              <a:rPr lang="ko-KR" altLang="en-US" sz="1200"/>
              <a:t>가공업</a:t>
            </a:r>
            <a:r>
              <a:rPr lang="en-US" altLang="zh-CN" sz="1200"/>
              <a:t> </a:t>
            </a:r>
            <a:r>
              <a:rPr lang="ko-KR" altLang="en-US" sz="1200"/>
              <a:t>매장</a:t>
            </a:r>
            <a:r>
              <a:rPr lang="en-US" altLang="zh-CN" sz="1200"/>
              <a:t> </a:t>
            </a:r>
            <a:r>
              <a:rPr lang="ko-KR" altLang="en-US" sz="1200"/>
              <a:t>수가</a:t>
            </a:r>
            <a:r>
              <a:rPr lang="en-US" altLang="zh-CN" sz="1200"/>
              <a:t> </a:t>
            </a:r>
            <a:r>
              <a:rPr lang="ko-KR" altLang="en-US" sz="1200"/>
              <a:t>가장</a:t>
            </a:r>
            <a:r>
              <a:rPr lang="en-US" altLang="zh-CN" sz="1200"/>
              <a:t> </a:t>
            </a:r>
            <a:r>
              <a:rPr lang="ko-KR" altLang="en-US" sz="1200"/>
              <a:t>많으며</a:t>
            </a:r>
            <a:r>
              <a:rPr lang="en-US" altLang="zh-CN" sz="1200"/>
              <a:t>, </a:t>
            </a:r>
            <a:r>
              <a:rPr lang="ko-KR" altLang="en-US" sz="1200"/>
              <a:t>영업장</a:t>
            </a:r>
            <a:r>
              <a:rPr lang="en-US" altLang="zh-CN" sz="1200"/>
              <a:t> </a:t>
            </a:r>
            <a:r>
              <a:rPr lang="ko-KR" altLang="en-US" sz="1200"/>
              <a:t>판매</a:t>
            </a:r>
            <a:r>
              <a:rPr lang="en-US" altLang="zh-CN" sz="1200"/>
              <a:t>, </a:t>
            </a:r>
            <a:r>
              <a:rPr lang="ko-KR" altLang="en-US" sz="1200"/>
              <a:t>커피숍</a:t>
            </a:r>
            <a:r>
              <a:rPr lang="en-US" altLang="zh-CN" sz="1200"/>
              <a:t>, </a:t>
            </a:r>
            <a:r>
              <a:rPr lang="ko-KR" altLang="en-US" sz="1200"/>
              <a:t>편의점</a:t>
            </a:r>
            <a:r>
              <a:rPr lang="en-US" altLang="zh-CN" sz="1200"/>
              <a:t> </a:t>
            </a:r>
            <a:r>
              <a:rPr lang="ko-KR" altLang="en-US" sz="1200"/>
              <a:t>등</a:t>
            </a:r>
            <a:r>
              <a:rPr lang="en-US" altLang="zh-CN" sz="1200"/>
              <a:t> </a:t>
            </a:r>
            <a:r>
              <a:rPr lang="ko-KR" altLang="en-US" sz="1200"/>
              <a:t>나머지</a:t>
            </a:r>
            <a:r>
              <a:rPr lang="en-US" altLang="zh-CN" sz="1200"/>
              <a:t> </a:t>
            </a:r>
            <a:r>
              <a:rPr lang="ko-KR" altLang="en-US" sz="1200"/>
              <a:t>업종은</a:t>
            </a:r>
            <a:r>
              <a:rPr lang="en-US" altLang="zh-CN" sz="1200"/>
              <a:t> </a:t>
            </a:r>
            <a:r>
              <a:rPr lang="ko-KR" altLang="en-US" sz="1200"/>
              <a:t>감소하는</a:t>
            </a:r>
            <a:r>
              <a:rPr lang="en-US" altLang="zh-CN" sz="1200"/>
              <a:t> </a:t>
            </a:r>
            <a:r>
              <a:rPr lang="ko-KR" altLang="en-US" sz="1200"/>
              <a:t>롱테일</a:t>
            </a:r>
            <a:r>
              <a:rPr lang="en-US" altLang="zh-CN" sz="1200"/>
              <a:t> </a:t>
            </a:r>
            <a:r>
              <a:rPr lang="ko-KR" altLang="en-US" sz="1200"/>
              <a:t>분포를</a:t>
            </a:r>
            <a:r>
              <a:rPr lang="en-US" altLang="zh-CN" sz="1200"/>
              <a:t> </a:t>
            </a:r>
            <a:r>
              <a:rPr lang="ko-KR" altLang="en-US" sz="1200"/>
              <a:t>보인다</a:t>
            </a:r>
            <a:r>
              <a:rPr lang="en-US" altLang="zh-CN" sz="1200"/>
              <a:t>.</a:t>
            </a:r>
            <a:endParaRPr lang="en-US" altLang="zh-CN" sz="1200"/>
          </a:p>
          <a:p>
            <a:endParaRPr lang="en-US" altLang="zh-CN" sz="1200"/>
          </a:p>
          <a:p>
            <a:r>
              <a:rPr lang="zh-CN" altLang="en-US" sz="1200"/>
              <a:t>总结：从</a:t>
            </a:r>
            <a:r>
              <a:rPr lang="en-US" altLang="zh-CN" sz="1200"/>
              <a:t>“</a:t>
            </a:r>
            <a:r>
              <a:rPr lang="zh-CN" altLang="en-US" sz="1200"/>
              <a:t>门店分布（前</a:t>
            </a:r>
            <a:r>
              <a:rPr lang="en-US" altLang="zh-CN" sz="1200"/>
              <a:t>25</a:t>
            </a:r>
            <a:r>
              <a:rPr lang="zh-CN" altLang="en-US" sz="1200"/>
              <a:t>个业态</a:t>
            </a:r>
            <a:r>
              <a:rPr lang="en-US" altLang="zh-CN" sz="1200"/>
              <a:t>/</a:t>
            </a:r>
            <a:r>
              <a:rPr lang="zh-CN" altLang="en-US" sz="1200"/>
              <a:t>行业）</a:t>
            </a:r>
            <a:r>
              <a:rPr lang="en-US" altLang="zh-CN" sz="1200"/>
              <a:t>”</a:t>
            </a:r>
            <a:r>
              <a:rPr lang="zh-CN" altLang="en-US" sz="1200"/>
              <a:t>可以看出，门店数量高度集中在</a:t>
            </a:r>
            <a:r>
              <a:rPr lang="en-US" altLang="zh-CN" sz="1200"/>
              <a:t>“</a:t>
            </a:r>
            <a:r>
              <a:rPr lang="zh-CN" altLang="en-US" sz="1200"/>
              <a:t>即食销售制造加工业</a:t>
            </a:r>
            <a:r>
              <a:rPr lang="en-US" altLang="zh-CN" sz="1200"/>
              <a:t>”“</a:t>
            </a:r>
            <a:r>
              <a:rPr lang="zh-CN" altLang="en-US" sz="1200"/>
              <a:t>韩食</a:t>
            </a:r>
            <a:r>
              <a:rPr lang="en-US" altLang="zh-CN" sz="1200"/>
              <a:t>”“</a:t>
            </a:r>
            <a:r>
              <a:rPr lang="zh-CN" altLang="en-US" sz="1200"/>
              <a:t>其他</a:t>
            </a:r>
            <a:r>
              <a:rPr lang="en-US" altLang="zh-CN" sz="1200"/>
              <a:t>”</a:t>
            </a:r>
            <a:r>
              <a:rPr lang="zh-CN" altLang="en-US" sz="1200"/>
              <a:t>等少数业态，其中即食销售制造加工业门店数最多，其余如营业场所销售、咖啡店、便利店等行业呈递减的长尾分布。</a:t>
            </a:r>
            <a:endParaRPr lang="zh-CN" altLang="en-US" sz="1200"/>
          </a:p>
        </p:txBody>
      </p:sp>
      <p:pic>
        <p:nvPicPr>
          <p:cNvPr id="7" name="图片 6" descr="6"/>
          <p:cNvPicPr>
            <a:picLocks noChangeAspect="1"/>
          </p:cNvPicPr>
          <p:nvPr/>
        </p:nvPicPr>
        <p:blipFill>
          <a:blip r:embed="rId2"/>
          <a:stretch>
            <a:fillRect/>
          </a:stretch>
        </p:blipFill>
        <p:spPr>
          <a:xfrm>
            <a:off x="795655" y="2028190"/>
            <a:ext cx="5104130" cy="4073525"/>
          </a:xfrm>
          <a:prstGeom prst="rect">
            <a:avLst/>
          </a:prstGeom>
        </p:spPr>
      </p:pic>
      <p:sp>
        <p:nvSpPr>
          <p:cNvPr id="8" name="文本框 7"/>
          <p:cNvSpPr txBox="1"/>
          <p:nvPr/>
        </p:nvSpPr>
        <p:spPr>
          <a:xfrm>
            <a:off x="1971675" y="6225540"/>
            <a:ext cx="3533140" cy="368300"/>
          </a:xfrm>
          <a:prstGeom prst="rect">
            <a:avLst/>
          </a:prstGeom>
          <a:noFill/>
        </p:spPr>
        <p:txBody>
          <a:bodyPr wrap="square" rtlCol="0">
            <a:spAutoFit/>
          </a:bodyPr>
          <a:p>
            <a:r>
              <a:rPr lang="ko-KR" altLang="en-US"/>
              <a:t>매장</a:t>
            </a:r>
            <a:r>
              <a:rPr lang="en-US" altLang="zh-CN"/>
              <a:t> </a:t>
            </a:r>
            <a:r>
              <a:rPr lang="ko-KR" altLang="en-US"/>
              <a:t>분포</a:t>
            </a:r>
            <a:r>
              <a:rPr lang="en-US" altLang="zh-CN"/>
              <a:t>(</a:t>
            </a:r>
            <a:r>
              <a:rPr lang="ko-KR" altLang="en-US"/>
              <a:t>상위</a:t>
            </a:r>
            <a:r>
              <a:rPr lang="en-US" altLang="zh-CN"/>
              <a:t> 25</a:t>
            </a:r>
            <a:r>
              <a:rPr lang="ko-KR" altLang="en-US"/>
              <a:t>개</a:t>
            </a:r>
            <a:r>
              <a:rPr lang="en-US" altLang="zh-CN"/>
              <a:t> </a:t>
            </a:r>
            <a:r>
              <a:rPr lang="ko-KR" altLang="en-US"/>
              <a:t>업태</a:t>
            </a:r>
            <a:r>
              <a:rPr lang="en-US" altLang="zh-CN"/>
              <a:t>/</a:t>
            </a:r>
            <a:r>
              <a:rPr lang="ko-KR" altLang="en-US"/>
              <a:t>업종</a:t>
            </a:r>
            <a:r>
              <a:rPr lang="en-US" altLang="zh-CN"/>
              <a:t>)</a:t>
            </a: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781800" y="2783840"/>
            <a:ext cx="2178050" cy="2885440"/>
          </a:xfrm>
          <a:prstGeom prst="rect">
            <a:avLst/>
          </a:prstGeom>
          <a:noFill/>
        </p:spPr>
        <p:txBody>
          <a:bodyPr wrap="square" rtlCol="0">
            <a:noAutofit/>
          </a:bodyPr>
          <a:p>
            <a:r>
              <a:rPr lang="ko-KR" altLang="en-US" sz="1200"/>
              <a:t>요약</a:t>
            </a:r>
            <a:r>
              <a:rPr lang="en-US" altLang="zh-CN" sz="1200"/>
              <a:t>: </a:t>
            </a:r>
            <a:r>
              <a:rPr lang="ko-KR" altLang="en-US" sz="1200"/>
              <a:t>시</a:t>
            </a:r>
            <a:r>
              <a:rPr lang="en-US" altLang="zh-CN" sz="1200"/>
              <a:t>·</a:t>
            </a:r>
            <a:r>
              <a:rPr lang="ko-KR" altLang="en-US" sz="1200"/>
              <a:t>군</a:t>
            </a:r>
            <a:r>
              <a:rPr lang="en-US" altLang="zh-CN" sz="1200"/>
              <a:t>·</a:t>
            </a:r>
            <a:r>
              <a:rPr lang="ko-KR" altLang="en-US" sz="1200"/>
              <a:t>구</a:t>
            </a:r>
            <a:r>
              <a:rPr lang="en-US" altLang="zh-CN" sz="1200"/>
              <a:t> </a:t>
            </a:r>
            <a:r>
              <a:rPr lang="ko-KR" altLang="en-US" sz="1200"/>
              <a:t>코드의</a:t>
            </a:r>
            <a:r>
              <a:rPr lang="en-US" altLang="zh-CN" sz="1200"/>
              <a:t> </a:t>
            </a:r>
            <a:r>
              <a:rPr lang="ko-KR" altLang="en-US" sz="1200"/>
              <a:t>수치</a:t>
            </a:r>
            <a:r>
              <a:rPr lang="en-US" altLang="zh-CN" sz="1200"/>
              <a:t> </a:t>
            </a:r>
            <a:r>
              <a:rPr lang="ko-KR" altLang="en-US" sz="1200"/>
              <a:t>분포는</a:t>
            </a:r>
            <a:r>
              <a:rPr lang="en-US" altLang="zh-CN" sz="1200"/>
              <a:t> </a:t>
            </a:r>
            <a:r>
              <a:rPr lang="ko-KR" altLang="en-US" sz="1200"/>
              <a:t>다중</a:t>
            </a:r>
            <a:r>
              <a:rPr lang="en-US" altLang="zh-CN" sz="1200"/>
              <a:t> </a:t>
            </a:r>
            <a:r>
              <a:rPr lang="ko-KR" altLang="en-US" sz="1200"/>
              <a:t>피크</a:t>
            </a:r>
            <a:r>
              <a:rPr lang="en-US" altLang="zh-CN" sz="1200"/>
              <a:t> </a:t>
            </a:r>
            <a:r>
              <a:rPr lang="ko-KR" altLang="en-US" sz="1200"/>
              <a:t>분산</a:t>
            </a:r>
            <a:r>
              <a:rPr lang="en-US" altLang="zh-CN" sz="1200"/>
              <a:t> </a:t>
            </a:r>
            <a:r>
              <a:rPr lang="ko-KR" altLang="en-US" sz="1200"/>
              <a:t>형태를</a:t>
            </a:r>
            <a:r>
              <a:rPr lang="en-US" altLang="zh-CN" sz="1200"/>
              <a:t> </a:t>
            </a:r>
            <a:r>
              <a:rPr lang="ko-KR" altLang="en-US" sz="1200"/>
              <a:t>보이며</a:t>
            </a:r>
            <a:r>
              <a:rPr lang="en-US" altLang="zh-CN" sz="1200"/>
              <a:t>, </a:t>
            </a:r>
            <a:r>
              <a:rPr lang="ko-KR" altLang="en-US" sz="1200"/>
              <a:t>표본은</a:t>
            </a:r>
            <a:r>
              <a:rPr lang="en-US" altLang="zh-CN" sz="1200"/>
              <a:t> </a:t>
            </a:r>
            <a:r>
              <a:rPr lang="ko-KR" altLang="en-US" sz="1200"/>
              <a:t>주로</a:t>
            </a:r>
            <a:r>
              <a:rPr lang="en-US" altLang="zh-CN" sz="1200"/>
              <a:t> </a:t>
            </a:r>
            <a:r>
              <a:rPr lang="ko-KR" altLang="en-US" sz="1200"/>
              <a:t>소수의</a:t>
            </a:r>
            <a:r>
              <a:rPr lang="en-US" altLang="zh-CN" sz="1200"/>
              <a:t> </a:t>
            </a:r>
            <a:r>
              <a:rPr lang="ko-KR" altLang="en-US" sz="1200"/>
              <a:t>코드</a:t>
            </a:r>
            <a:r>
              <a:rPr lang="en-US" altLang="zh-CN" sz="1200"/>
              <a:t> </a:t>
            </a:r>
            <a:r>
              <a:rPr lang="ko-KR" altLang="en-US" sz="1200"/>
              <a:t>구간</a:t>
            </a:r>
            <a:r>
              <a:rPr lang="en-US" altLang="zh-CN" sz="1200"/>
              <a:t>(</a:t>
            </a:r>
            <a:r>
              <a:rPr lang="ko-KR" altLang="en-US" sz="1200"/>
              <a:t>예</a:t>
            </a:r>
            <a:r>
              <a:rPr lang="en-US" altLang="zh-CN" sz="1200"/>
              <a:t>: </a:t>
            </a:r>
            <a:r>
              <a:rPr lang="ko-KR" altLang="en-US" sz="1200"/>
              <a:t>약</a:t>
            </a:r>
            <a:r>
              <a:rPr lang="en-US" altLang="zh-CN" sz="1200"/>
              <a:t> 3.21</a:t>
            </a:r>
            <a:r>
              <a:rPr lang="en-US" altLang="en-US" sz="1200"/>
              <a:t>×</a:t>
            </a:r>
            <a:r>
              <a:rPr lang="en-US" altLang="zh-CN" sz="1200"/>
              <a:t>10</a:t>
            </a:r>
            <a:r>
              <a:rPr lang="en-US" altLang="en-US" sz="1200"/>
              <a:t>⁶</a:t>
            </a:r>
            <a:r>
              <a:rPr lang="en-US" altLang="zh-CN" sz="1200"/>
              <a:t> </a:t>
            </a:r>
            <a:r>
              <a:rPr lang="ko-KR" altLang="en-US" sz="1200"/>
              <a:t>대</a:t>
            </a:r>
            <a:r>
              <a:rPr lang="en-US" altLang="zh-CN" sz="1200"/>
              <a:t>)</a:t>
            </a:r>
            <a:r>
              <a:rPr lang="ko-KR" altLang="en-US" sz="1200"/>
              <a:t>에</a:t>
            </a:r>
            <a:r>
              <a:rPr lang="en-US" altLang="zh-CN" sz="1200"/>
              <a:t> </a:t>
            </a:r>
            <a:r>
              <a:rPr lang="ko-KR" altLang="en-US" sz="1200"/>
              <a:t>집중되어</a:t>
            </a:r>
            <a:r>
              <a:rPr lang="en-US" altLang="zh-CN" sz="1200"/>
              <a:t> </a:t>
            </a:r>
            <a:r>
              <a:rPr lang="ko-KR" altLang="en-US" sz="1200"/>
              <a:t>있다</a:t>
            </a:r>
            <a:r>
              <a:rPr lang="en-US" altLang="zh-CN" sz="1200"/>
              <a:t>. </a:t>
            </a:r>
            <a:r>
              <a:rPr lang="ko-KR" altLang="en-US" sz="1200"/>
              <a:t>이는</a:t>
            </a:r>
            <a:r>
              <a:rPr lang="en-US" altLang="zh-CN" sz="1200"/>
              <a:t> </a:t>
            </a:r>
            <a:r>
              <a:rPr lang="ko-KR" altLang="en-US" sz="1200"/>
              <a:t>기업</a:t>
            </a:r>
            <a:r>
              <a:rPr lang="en-US" altLang="zh-CN" sz="1200"/>
              <a:t> </a:t>
            </a:r>
            <a:r>
              <a:rPr lang="ko-KR" altLang="en-US" sz="1200"/>
              <a:t>기록이</a:t>
            </a:r>
            <a:r>
              <a:rPr lang="en-US" altLang="zh-CN" sz="1200"/>
              <a:t> </a:t>
            </a:r>
            <a:r>
              <a:rPr lang="ko-KR" altLang="en-US" sz="1200"/>
              <a:t>일부</a:t>
            </a:r>
            <a:r>
              <a:rPr lang="en-US" altLang="zh-CN" sz="1200"/>
              <a:t> </a:t>
            </a:r>
            <a:r>
              <a:rPr lang="ko-KR" altLang="en-US" sz="1200"/>
              <a:t>시</a:t>
            </a:r>
            <a:r>
              <a:rPr lang="en-US" altLang="zh-CN" sz="1200"/>
              <a:t>·</a:t>
            </a:r>
            <a:r>
              <a:rPr lang="ko-KR" altLang="en-US" sz="1200"/>
              <a:t>군</a:t>
            </a:r>
            <a:r>
              <a:rPr lang="en-US" altLang="zh-CN" sz="1200"/>
              <a:t>·</a:t>
            </a:r>
            <a:r>
              <a:rPr lang="ko-KR" altLang="en-US" sz="1200"/>
              <a:t>구에</a:t>
            </a:r>
            <a:r>
              <a:rPr lang="en-US" altLang="zh-CN" sz="1200"/>
              <a:t> </a:t>
            </a:r>
            <a:r>
              <a:rPr lang="ko-KR" altLang="en-US" sz="1200"/>
              <a:t>고도로</a:t>
            </a:r>
            <a:r>
              <a:rPr lang="en-US" altLang="zh-CN" sz="1200"/>
              <a:t> </a:t>
            </a:r>
            <a:r>
              <a:rPr lang="ko-KR" altLang="en-US" sz="1200"/>
              <a:t>집중되어</a:t>
            </a:r>
            <a:r>
              <a:rPr lang="en-US" altLang="zh-CN" sz="1200"/>
              <a:t> </a:t>
            </a:r>
            <a:r>
              <a:rPr lang="ko-KR" altLang="en-US" sz="1200"/>
              <a:t>있고</a:t>
            </a:r>
            <a:r>
              <a:rPr lang="en-US" altLang="zh-CN" sz="1200"/>
              <a:t> </a:t>
            </a:r>
            <a:r>
              <a:rPr lang="ko-KR" altLang="en-US" sz="1200"/>
              <a:t>다른</a:t>
            </a:r>
            <a:r>
              <a:rPr lang="en-US" altLang="zh-CN" sz="1200"/>
              <a:t> </a:t>
            </a:r>
            <a:r>
              <a:rPr lang="ko-KR" altLang="en-US" sz="1200"/>
              <a:t>지역은</a:t>
            </a:r>
            <a:r>
              <a:rPr lang="en-US" altLang="zh-CN" sz="1200"/>
              <a:t> </a:t>
            </a:r>
            <a:r>
              <a:rPr lang="ko-KR" altLang="en-US" sz="1200"/>
              <a:t>상대적으로</a:t>
            </a:r>
            <a:r>
              <a:rPr lang="en-US" altLang="zh-CN" sz="1200"/>
              <a:t> </a:t>
            </a:r>
            <a:r>
              <a:rPr lang="ko-KR" altLang="en-US" sz="1200"/>
              <a:t>적음을</a:t>
            </a:r>
            <a:r>
              <a:rPr lang="en-US" altLang="zh-CN" sz="1200"/>
              <a:t> </a:t>
            </a:r>
            <a:r>
              <a:rPr lang="ko-KR" altLang="en-US" sz="1200"/>
              <a:t>시사한다</a:t>
            </a:r>
            <a:r>
              <a:rPr lang="en-US" altLang="zh-CN" sz="1200"/>
              <a:t>.</a:t>
            </a:r>
            <a:endParaRPr lang="en-US" altLang="zh-CN" sz="1200"/>
          </a:p>
          <a:p>
            <a:endParaRPr lang="en-US" altLang="zh-CN" sz="1200"/>
          </a:p>
          <a:p>
            <a:r>
              <a:rPr lang="zh-CN" altLang="en-US" sz="1200"/>
              <a:t>总结：市郡区代码的数值分布呈多峰离散形态，样本主要集中在少数几个代码区间（如约</a:t>
            </a:r>
            <a:r>
              <a:rPr lang="en-US" altLang="zh-CN" sz="1200"/>
              <a:t> 3.21</a:t>
            </a:r>
            <a:r>
              <a:rPr lang="en-US" altLang="en-US" sz="1200"/>
              <a:t>×</a:t>
            </a:r>
            <a:r>
              <a:rPr lang="en-US" altLang="zh-CN" sz="1200"/>
              <a:t>10</a:t>
            </a:r>
            <a:r>
              <a:rPr lang="en-US" altLang="en-US" sz="1200"/>
              <a:t>⁶</a:t>
            </a:r>
            <a:r>
              <a:rPr lang="en-US" altLang="zh-CN" sz="1200"/>
              <a:t> </a:t>
            </a:r>
            <a:r>
              <a:rPr lang="zh-CN" altLang="en-US" sz="1200"/>
              <a:t>一带），说明企业记录在部分市郡区高度集中、其他地区相对较少。</a:t>
            </a:r>
            <a:endParaRPr lang="zh-CN" altLang="en-US" sz="1200"/>
          </a:p>
        </p:txBody>
      </p:sp>
      <p:sp>
        <p:nvSpPr>
          <p:cNvPr id="7" name="文本框 6"/>
          <p:cNvSpPr txBox="1"/>
          <p:nvPr/>
        </p:nvSpPr>
        <p:spPr>
          <a:xfrm>
            <a:off x="2108200" y="5969000"/>
            <a:ext cx="3048000" cy="368300"/>
          </a:xfrm>
          <a:prstGeom prst="rect">
            <a:avLst/>
          </a:prstGeom>
          <a:noFill/>
        </p:spPr>
        <p:txBody>
          <a:bodyPr wrap="square" rtlCol="0">
            <a:spAutoFit/>
          </a:bodyPr>
          <a:p>
            <a:r>
              <a:rPr lang="ko-KR" altLang="en-US"/>
              <a:t>시</a:t>
            </a:r>
            <a:r>
              <a:rPr lang="en-US" altLang="zh-CN"/>
              <a:t>·</a:t>
            </a:r>
            <a:r>
              <a:rPr lang="ko-KR" altLang="en-US"/>
              <a:t>군</a:t>
            </a:r>
            <a:r>
              <a:rPr lang="en-US" altLang="zh-CN"/>
              <a:t>·</a:t>
            </a:r>
            <a:r>
              <a:rPr lang="ko-KR" altLang="en-US"/>
              <a:t>구</a:t>
            </a:r>
            <a:r>
              <a:rPr lang="en-US" altLang="zh-CN"/>
              <a:t> </a:t>
            </a:r>
            <a:r>
              <a:rPr lang="ko-KR" altLang="en-US"/>
              <a:t>코드의</a:t>
            </a:r>
            <a:r>
              <a:rPr lang="en-US" altLang="zh-CN"/>
              <a:t> </a:t>
            </a:r>
            <a:r>
              <a:rPr lang="ko-KR" altLang="en-US"/>
              <a:t>수치</a:t>
            </a:r>
            <a:r>
              <a:rPr lang="en-US" altLang="zh-CN"/>
              <a:t> </a:t>
            </a:r>
            <a:r>
              <a:rPr lang="ko-KR" altLang="en-US"/>
              <a:t>분포</a:t>
            </a:r>
            <a:endParaRPr lang="ko-KR" altLang="en-US"/>
          </a:p>
        </p:txBody>
      </p:sp>
      <p:pic>
        <p:nvPicPr>
          <p:cNvPr id="8" name="图片 7" descr="7"/>
          <p:cNvPicPr>
            <a:picLocks noChangeAspect="1"/>
          </p:cNvPicPr>
          <p:nvPr/>
        </p:nvPicPr>
        <p:blipFill>
          <a:blip r:embed="rId2"/>
          <a:stretch>
            <a:fillRect/>
          </a:stretch>
        </p:blipFill>
        <p:spPr>
          <a:xfrm>
            <a:off x="208280" y="2193290"/>
            <a:ext cx="6571615" cy="32480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781800" y="2464435"/>
            <a:ext cx="2178050" cy="2958465"/>
          </a:xfrm>
          <a:prstGeom prst="rect">
            <a:avLst/>
          </a:prstGeom>
          <a:noFill/>
        </p:spPr>
        <p:txBody>
          <a:bodyPr wrap="square" rtlCol="0">
            <a:noAutofit/>
          </a:bodyPr>
          <a:p>
            <a:r>
              <a:rPr lang="ko-KR" altLang="en-US" sz="1200"/>
              <a:t>요약</a:t>
            </a:r>
            <a:r>
              <a:rPr lang="en-US" altLang="zh-CN" sz="1200"/>
              <a:t>: </a:t>
            </a:r>
            <a:r>
              <a:rPr lang="ko-KR" altLang="en-US" sz="1200"/>
              <a:t>산업</a:t>
            </a:r>
            <a:r>
              <a:rPr lang="en-US" altLang="zh-CN" sz="1200"/>
              <a:t> </a:t>
            </a:r>
            <a:r>
              <a:rPr lang="ko-KR" altLang="en-US" sz="1200"/>
              <a:t>코드의</a:t>
            </a:r>
            <a:r>
              <a:rPr lang="en-US" altLang="zh-CN" sz="1200"/>
              <a:t> </a:t>
            </a:r>
            <a:r>
              <a:rPr lang="ko-KR" altLang="en-US" sz="1200"/>
              <a:t>수치</a:t>
            </a:r>
            <a:r>
              <a:rPr lang="en-US" altLang="zh-CN" sz="1200"/>
              <a:t> </a:t>
            </a:r>
            <a:r>
              <a:rPr lang="ko-KR" altLang="en-US" sz="1200"/>
              <a:t>분포는</a:t>
            </a:r>
            <a:r>
              <a:rPr lang="en-US" altLang="zh-CN" sz="1200"/>
              <a:t> </a:t>
            </a:r>
            <a:r>
              <a:rPr lang="ko-KR" altLang="en-US" sz="1200"/>
              <a:t>극도로</a:t>
            </a:r>
            <a:r>
              <a:rPr lang="en-US" altLang="zh-CN" sz="1200"/>
              <a:t> </a:t>
            </a:r>
            <a:r>
              <a:rPr lang="ko-KR" altLang="en-US" sz="1200"/>
              <a:t>불균형하며</a:t>
            </a:r>
            <a:r>
              <a:rPr lang="en-US" altLang="zh-CN" sz="1200"/>
              <a:t>, </a:t>
            </a:r>
            <a:r>
              <a:rPr lang="ko-KR" altLang="en-US" sz="1200"/>
              <a:t>표본이</a:t>
            </a:r>
            <a:r>
              <a:rPr lang="en-US" altLang="zh-CN" sz="1200"/>
              <a:t> </a:t>
            </a:r>
            <a:r>
              <a:rPr lang="ko-KR" altLang="en-US" sz="1200"/>
              <a:t>소수</a:t>
            </a:r>
            <a:r>
              <a:rPr lang="en-US" altLang="zh-CN" sz="1200"/>
              <a:t> </a:t>
            </a:r>
            <a:r>
              <a:rPr lang="ko-KR" altLang="en-US" sz="1200"/>
              <a:t>산업</a:t>
            </a:r>
            <a:r>
              <a:rPr lang="en-US" altLang="zh-CN" sz="1200"/>
              <a:t> </a:t>
            </a:r>
            <a:r>
              <a:rPr lang="ko-KR" altLang="en-US" sz="1200"/>
              <a:t>코드</a:t>
            </a:r>
            <a:r>
              <a:rPr lang="en-US" altLang="zh-CN" sz="1200"/>
              <a:t>(</a:t>
            </a:r>
            <a:r>
              <a:rPr lang="ko-KR" altLang="en-US" sz="1200"/>
              <a:t>예</a:t>
            </a:r>
            <a:r>
              <a:rPr lang="en-US" altLang="zh-CN" sz="1200"/>
              <a:t>: 101~108, 135 </a:t>
            </a:r>
            <a:r>
              <a:rPr lang="ko-KR" altLang="en-US" sz="1200"/>
              <a:t>등</a:t>
            </a:r>
            <a:r>
              <a:rPr lang="en-US" altLang="zh-CN" sz="1200"/>
              <a:t>)</a:t>
            </a:r>
            <a:r>
              <a:rPr lang="ko-KR" altLang="en-US" sz="1200"/>
              <a:t>에</a:t>
            </a:r>
            <a:r>
              <a:rPr lang="en-US" altLang="zh-CN" sz="1200"/>
              <a:t> </a:t>
            </a:r>
            <a:r>
              <a:rPr lang="ko-KR" altLang="en-US" sz="1200"/>
              <a:t>집중되어</a:t>
            </a:r>
            <a:r>
              <a:rPr lang="en-US" altLang="zh-CN" sz="1200"/>
              <a:t> </a:t>
            </a:r>
            <a:r>
              <a:rPr lang="ko-KR" altLang="en-US" sz="1200"/>
              <a:t>있고</a:t>
            </a:r>
            <a:r>
              <a:rPr lang="en-US" altLang="zh-CN" sz="1200"/>
              <a:t> </a:t>
            </a:r>
            <a:r>
              <a:rPr lang="ko-KR" altLang="en-US" sz="1200"/>
              <a:t>나머지</a:t>
            </a:r>
            <a:r>
              <a:rPr lang="en-US" altLang="zh-CN" sz="1200"/>
              <a:t> </a:t>
            </a:r>
            <a:r>
              <a:rPr lang="ko-KR" altLang="en-US" sz="1200"/>
              <a:t>코드의</a:t>
            </a:r>
            <a:r>
              <a:rPr lang="en-US" altLang="zh-CN" sz="1200"/>
              <a:t> </a:t>
            </a:r>
            <a:r>
              <a:rPr lang="ko-KR" altLang="en-US" sz="1200"/>
              <a:t>빈도는</a:t>
            </a:r>
            <a:r>
              <a:rPr lang="en-US" altLang="zh-CN" sz="1200"/>
              <a:t> </a:t>
            </a:r>
            <a:r>
              <a:rPr lang="ko-KR" altLang="en-US" sz="1200"/>
              <a:t>매우</a:t>
            </a:r>
            <a:r>
              <a:rPr lang="en-US" altLang="zh-CN" sz="1200"/>
              <a:t> </a:t>
            </a:r>
            <a:r>
              <a:rPr lang="ko-KR" altLang="en-US" sz="1200"/>
              <a:t>낮거나</a:t>
            </a:r>
            <a:r>
              <a:rPr lang="en-US" altLang="zh-CN" sz="1200"/>
              <a:t> </a:t>
            </a:r>
            <a:r>
              <a:rPr lang="ko-KR" altLang="en-US" sz="1200"/>
              <a:t>거의</a:t>
            </a:r>
            <a:r>
              <a:rPr lang="en-US" altLang="zh-CN" sz="1200"/>
              <a:t> </a:t>
            </a:r>
            <a:r>
              <a:rPr lang="ko-KR" altLang="en-US" sz="1200"/>
              <a:t>제로에</a:t>
            </a:r>
            <a:r>
              <a:rPr lang="en-US" altLang="zh-CN" sz="1200"/>
              <a:t> </a:t>
            </a:r>
            <a:r>
              <a:rPr lang="ko-KR" altLang="en-US" sz="1200"/>
              <a:t>가깝다</a:t>
            </a:r>
            <a:r>
              <a:rPr lang="en-US" altLang="zh-CN" sz="1200"/>
              <a:t>. </a:t>
            </a:r>
            <a:r>
              <a:rPr lang="ko-KR" altLang="en-US" sz="1200"/>
              <a:t>이는</a:t>
            </a:r>
            <a:r>
              <a:rPr lang="en-US" altLang="zh-CN" sz="1200"/>
              <a:t> </a:t>
            </a:r>
            <a:r>
              <a:rPr lang="ko-KR" altLang="en-US" sz="1200"/>
              <a:t>산업</a:t>
            </a:r>
            <a:r>
              <a:rPr lang="en-US" altLang="zh-CN" sz="1200"/>
              <a:t> </a:t>
            </a:r>
            <a:r>
              <a:rPr lang="ko-KR" altLang="en-US" sz="1200"/>
              <a:t>구조가</a:t>
            </a:r>
            <a:r>
              <a:rPr lang="en-US" altLang="zh-CN" sz="1200"/>
              <a:t> </a:t>
            </a:r>
            <a:r>
              <a:rPr lang="ko-KR" altLang="en-US" sz="1200"/>
              <a:t>소수</a:t>
            </a:r>
            <a:r>
              <a:rPr lang="en-US" altLang="zh-CN" sz="1200"/>
              <a:t> </a:t>
            </a:r>
            <a:r>
              <a:rPr lang="ko-KR" altLang="en-US" sz="1200"/>
              <a:t>주요</a:t>
            </a:r>
            <a:r>
              <a:rPr lang="en-US" altLang="zh-CN" sz="1200"/>
              <a:t> </a:t>
            </a:r>
            <a:r>
              <a:rPr lang="ko-KR" altLang="en-US" sz="1200"/>
              <a:t>업태에</a:t>
            </a:r>
            <a:r>
              <a:rPr lang="en-US" altLang="zh-CN" sz="1200"/>
              <a:t> </a:t>
            </a:r>
            <a:r>
              <a:rPr lang="ko-KR" altLang="en-US" sz="1200"/>
              <a:t>현저히</a:t>
            </a:r>
            <a:r>
              <a:rPr lang="en-US" altLang="zh-CN" sz="1200"/>
              <a:t> </a:t>
            </a:r>
            <a:r>
              <a:rPr lang="ko-KR" altLang="en-US" sz="1200"/>
              <a:t>편중되어</a:t>
            </a:r>
            <a:r>
              <a:rPr lang="en-US" altLang="zh-CN" sz="1200"/>
              <a:t> </a:t>
            </a:r>
            <a:r>
              <a:rPr lang="ko-KR" altLang="en-US" sz="1200"/>
              <a:t>있음을</a:t>
            </a:r>
            <a:r>
              <a:rPr lang="en-US" altLang="zh-CN" sz="1200"/>
              <a:t> </a:t>
            </a:r>
            <a:r>
              <a:rPr lang="ko-KR" altLang="en-US" sz="1200"/>
              <a:t>시사한다</a:t>
            </a:r>
            <a:r>
              <a:rPr lang="en-US" altLang="zh-CN" sz="1200"/>
              <a:t>.</a:t>
            </a:r>
            <a:endParaRPr lang="en-US" altLang="zh-CN" sz="1200"/>
          </a:p>
          <a:p>
            <a:endParaRPr lang="en-US" altLang="zh-CN" sz="1200"/>
          </a:p>
          <a:p>
            <a:r>
              <a:rPr lang="zh-CN" altLang="en-US" sz="1200"/>
              <a:t>总结：</a:t>
            </a:r>
            <a:r>
              <a:rPr lang="en-US" altLang="zh-CN" sz="1200"/>
              <a:t> </a:t>
            </a:r>
            <a:r>
              <a:rPr lang="zh-CN" altLang="en-US" sz="1200"/>
              <a:t>行业代码</a:t>
            </a:r>
            <a:r>
              <a:rPr lang="zh-CN" altLang="en-US" sz="1200"/>
              <a:t>的数值分布极不均衡，样本高度集中在少数几个行业代码（如</a:t>
            </a:r>
            <a:r>
              <a:rPr lang="en-US" altLang="zh-CN" sz="1200"/>
              <a:t> 101</a:t>
            </a:r>
            <a:r>
              <a:rPr lang="zh-CN" altLang="en-US" sz="1200"/>
              <a:t>～</a:t>
            </a:r>
            <a:r>
              <a:rPr lang="en-US" altLang="zh-CN" sz="1200"/>
              <a:t>108 </a:t>
            </a:r>
            <a:r>
              <a:rPr lang="zh-CN" altLang="en-US" sz="1200"/>
              <a:t>和</a:t>
            </a:r>
            <a:r>
              <a:rPr lang="en-US" altLang="zh-CN" sz="1200"/>
              <a:t> 135 </a:t>
            </a:r>
            <a:r>
              <a:rPr lang="zh-CN" altLang="en-US" sz="1200"/>
              <a:t>等），其余代码频数很低甚至接近为零，说明行业结构明显偏向少数头部业态。</a:t>
            </a:r>
            <a:endParaRPr lang="zh-CN" altLang="en-US" sz="1200"/>
          </a:p>
        </p:txBody>
      </p:sp>
      <p:pic>
        <p:nvPicPr>
          <p:cNvPr id="7" name="图片 6" descr="8"/>
          <p:cNvPicPr>
            <a:picLocks noChangeAspect="1"/>
          </p:cNvPicPr>
          <p:nvPr/>
        </p:nvPicPr>
        <p:blipFill>
          <a:blip r:embed="rId2"/>
          <a:stretch>
            <a:fillRect/>
          </a:stretch>
        </p:blipFill>
        <p:spPr>
          <a:xfrm>
            <a:off x="272415" y="2363470"/>
            <a:ext cx="6400165" cy="3159760"/>
          </a:xfrm>
          <a:prstGeom prst="rect">
            <a:avLst/>
          </a:prstGeom>
        </p:spPr>
      </p:pic>
      <p:sp>
        <p:nvSpPr>
          <p:cNvPr id="8" name="文本框 7"/>
          <p:cNvSpPr txBox="1"/>
          <p:nvPr/>
        </p:nvSpPr>
        <p:spPr>
          <a:xfrm>
            <a:off x="2625725" y="5887720"/>
            <a:ext cx="3048000" cy="368300"/>
          </a:xfrm>
          <a:prstGeom prst="rect">
            <a:avLst/>
          </a:prstGeom>
          <a:noFill/>
        </p:spPr>
        <p:txBody>
          <a:bodyPr wrap="square" rtlCol="0">
            <a:spAutoFit/>
          </a:bodyPr>
          <a:p>
            <a:r>
              <a:rPr lang="ko-KR" altLang="en-US"/>
              <a:t>산업</a:t>
            </a:r>
            <a:r>
              <a:rPr lang="en-US" altLang="zh-CN"/>
              <a:t> </a:t>
            </a:r>
            <a:r>
              <a:rPr lang="ko-KR" altLang="en-US"/>
              <a:t>코드의</a:t>
            </a:r>
            <a:r>
              <a:rPr lang="en-US" altLang="zh-CN"/>
              <a:t> </a:t>
            </a:r>
            <a:r>
              <a:rPr lang="ko-KR" altLang="en-US"/>
              <a:t>수치</a:t>
            </a:r>
            <a:r>
              <a:rPr lang="en-US" altLang="zh-CN"/>
              <a:t> </a:t>
            </a:r>
            <a:r>
              <a:rPr lang="ko-KR" altLang="en-US"/>
              <a:t>분포</a:t>
            </a:r>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86487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484630"/>
            <a:ext cx="7315200" cy="445770"/>
          </a:xfrm>
          <a:prstGeom prst="rect">
            <a:avLst/>
          </a:prstGeom>
          <a:noFill/>
        </p:spPr>
        <p:txBody>
          <a:bodyPr wrap="none">
            <a:noAutofit/>
          </a:bodyPr>
          <a:lstStyle/>
          <a:p>
            <a:pPr algn="l">
              <a:defRPr sz="2000">
                <a:solidFill>
                  <a:srgbClr val="3C3C3C"/>
                </a:solidFill>
              </a:defRPr>
            </a:pPr>
            <a:r>
              <a:t>- </a:t>
            </a:r>
            <a:r>
              <a:rPr lang="ko-KR" altLang="en-US"/>
              <a:t>시각화</a:t>
            </a:r>
            <a:r>
              <a:t> / </a:t>
            </a:r>
            <a:r>
              <a:rPr lang="zh-CN"/>
              <a:t>可视化</a:t>
            </a:r>
            <a:endParaRPr lang="zh-CN"/>
          </a:p>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6" name="文本框 5"/>
          <p:cNvSpPr txBox="1"/>
          <p:nvPr/>
        </p:nvSpPr>
        <p:spPr>
          <a:xfrm>
            <a:off x="6781800" y="2331720"/>
            <a:ext cx="2178050" cy="3581400"/>
          </a:xfrm>
          <a:prstGeom prst="rect">
            <a:avLst/>
          </a:prstGeom>
          <a:noFill/>
        </p:spPr>
        <p:txBody>
          <a:bodyPr wrap="square" rtlCol="0">
            <a:noAutofit/>
          </a:bodyPr>
          <a:p>
            <a:r>
              <a:rPr lang="ko-KR" altLang="en-US" sz="1200"/>
              <a:t>요약</a:t>
            </a:r>
            <a:r>
              <a:rPr lang="en-US" altLang="zh-CN" sz="1200"/>
              <a:t>: </a:t>
            </a:r>
            <a:r>
              <a:rPr lang="ko-KR" altLang="en-US" sz="1200"/>
              <a:t>해당</a:t>
            </a:r>
            <a:r>
              <a:rPr lang="en-US" altLang="zh-CN" sz="1200"/>
              <a:t> </a:t>
            </a:r>
            <a:r>
              <a:rPr lang="ko-KR" altLang="en-US" sz="1200"/>
              <a:t>특성의</a:t>
            </a:r>
            <a:r>
              <a:rPr lang="en-US" altLang="zh-CN" sz="1200"/>
              <a:t> </a:t>
            </a:r>
            <a:r>
              <a:rPr lang="ko-KR" altLang="en-US" sz="1200"/>
              <a:t>분포는</a:t>
            </a:r>
            <a:r>
              <a:rPr lang="en-US" altLang="zh-CN" sz="1200"/>
              <a:t> </a:t>
            </a:r>
            <a:r>
              <a:rPr lang="ko-KR" altLang="en-US" sz="1200"/>
              <a:t>오른쪽으로</a:t>
            </a:r>
            <a:r>
              <a:rPr lang="en-US" altLang="zh-CN" sz="1200"/>
              <a:t> </a:t>
            </a:r>
            <a:r>
              <a:rPr lang="ko-KR" altLang="en-US" sz="1200"/>
              <a:t>치우친</a:t>
            </a:r>
            <a:r>
              <a:rPr lang="en-US" altLang="zh-CN" sz="1200"/>
              <a:t> </a:t>
            </a:r>
            <a:r>
              <a:rPr lang="ko-KR" altLang="en-US" sz="1200"/>
              <a:t>긴</a:t>
            </a:r>
            <a:r>
              <a:rPr lang="en-US" altLang="zh-CN" sz="1200"/>
              <a:t> </a:t>
            </a:r>
            <a:r>
              <a:rPr lang="ko-KR" altLang="en-US" sz="1200"/>
              <a:t>꼬리를</a:t>
            </a:r>
            <a:r>
              <a:rPr lang="en-US" altLang="zh-CN" sz="1200"/>
              <a:t> </a:t>
            </a:r>
            <a:r>
              <a:rPr lang="ko-KR" altLang="en-US" sz="1200"/>
              <a:t>보이며</a:t>
            </a:r>
            <a:r>
              <a:rPr lang="en-US" altLang="zh-CN" sz="1200"/>
              <a:t>, </a:t>
            </a:r>
            <a:r>
              <a:rPr lang="ko-KR" altLang="en-US" sz="1200"/>
              <a:t>영업장소</a:t>
            </a:r>
            <a:r>
              <a:rPr lang="en-US" altLang="zh-CN" sz="1200"/>
              <a:t> </a:t>
            </a:r>
            <a:r>
              <a:rPr lang="ko-KR" altLang="en-US" sz="1200"/>
              <a:t>일련번호는</a:t>
            </a:r>
            <a:r>
              <a:rPr lang="en-US" altLang="zh-CN" sz="1200"/>
              <a:t> </a:t>
            </a:r>
            <a:r>
              <a:rPr lang="ko-KR" altLang="en-US" sz="1200"/>
              <a:t>주로</a:t>
            </a:r>
            <a:r>
              <a:rPr lang="en-US" altLang="zh-CN" sz="1200"/>
              <a:t> </a:t>
            </a:r>
            <a:r>
              <a:rPr lang="ko-KR" altLang="en-US" sz="1200"/>
              <a:t>매장</a:t>
            </a:r>
            <a:r>
              <a:rPr lang="en-US" altLang="zh-CN" sz="1200"/>
              <a:t> </a:t>
            </a:r>
            <a:r>
              <a:rPr lang="ko-KR" altLang="en-US" sz="1200"/>
              <a:t>입력</a:t>
            </a:r>
            <a:r>
              <a:rPr lang="en-US" altLang="zh-CN" sz="1200"/>
              <a:t> </a:t>
            </a:r>
            <a:r>
              <a:rPr lang="ko-KR" altLang="en-US" sz="1200"/>
              <a:t>순서를</a:t>
            </a:r>
            <a:r>
              <a:rPr lang="en-US" altLang="zh-CN" sz="1200"/>
              <a:t> </a:t>
            </a:r>
            <a:r>
              <a:rPr lang="ko-KR" altLang="en-US" sz="1200"/>
              <a:t>반영할</a:t>
            </a:r>
            <a:r>
              <a:rPr lang="en-US" altLang="zh-CN" sz="1200"/>
              <a:t> </a:t>
            </a:r>
            <a:r>
              <a:rPr lang="ko-KR" altLang="en-US" sz="1200"/>
              <a:t>뿐</a:t>
            </a:r>
            <a:r>
              <a:rPr lang="en-US" altLang="zh-CN" sz="1200"/>
              <a:t> </a:t>
            </a:r>
            <a:r>
              <a:rPr lang="ko-KR" altLang="en-US" sz="1200"/>
              <a:t>업무</a:t>
            </a:r>
            <a:r>
              <a:rPr lang="en-US" altLang="zh-CN" sz="1200"/>
              <a:t> </a:t>
            </a:r>
            <a:r>
              <a:rPr lang="ko-KR" altLang="en-US" sz="1200"/>
              <a:t>속성을</a:t>
            </a:r>
            <a:r>
              <a:rPr lang="en-US" altLang="zh-CN" sz="1200"/>
              <a:t> </a:t>
            </a:r>
            <a:r>
              <a:rPr lang="ko-KR" altLang="en-US" sz="1200"/>
              <a:t>나타내지</a:t>
            </a:r>
            <a:r>
              <a:rPr lang="en-US" altLang="zh-CN" sz="1200"/>
              <a:t> </a:t>
            </a:r>
            <a:r>
              <a:rPr lang="ko-KR" altLang="en-US" sz="1200"/>
              <a:t>않음을</a:t>
            </a:r>
            <a:r>
              <a:rPr lang="en-US" altLang="zh-CN" sz="1200"/>
              <a:t> </a:t>
            </a:r>
            <a:r>
              <a:rPr lang="ko-KR" altLang="en-US" sz="1200"/>
              <a:t>시사합니다</a:t>
            </a:r>
            <a:r>
              <a:rPr lang="en-US" altLang="zh-CN" sz="1200"/>
              <a:t>. </a:t>
            </a:r>
            <a:r>
              <a:rPr lang="ko-KR" altLang="en-US" sz="1200"/>
              <a:t>대부분의</a:t>
            </a:r>
            <a:r>
              <a:rPr lang="en-US" altLang="zh-CN" sz="1200"/>
              <a:t> </a:t>
            </a:r>
            <a:r>
              <a:rPr lang="ko-KR" altLang="en-US" sz="1200"/>
              <a:t>매장이</a:t>
            </a:r>
            <a:r>
              <a:rPr lang="en-US" altLang="zh-CN" sz="1200"/>
              <a:t> </a:t>
            </a:r>
            <a:r>
              <a:rPr lang="ko-KR" altLang="en-US" sz="1200"/>
              <a:t>비교적</a:t>
            </a:r>
            <a:r>
              <a:rPr lang="en-US" altLang="zh-CN" sz="1200"/>
              <a:t> </a:t>
            </a:r>
            <a:r>
              <a:rPr lang="ko-KR" altLang="en-US" sz="1200"/>
              <a:t>작은</a:t>
            </a:r>
            <a:r>
              <a:rPr lang="en-US" altLang="zh-CN" sz="1200"/>
              <a:t> </a:t>
            </a:r>
            <a:r>
              <a:rPr lang="ko-KR" altLang="en-US" sz="1200"/>
              <a:t>번호</a:t>
            </a:r>
            <a:r>
              <a:rPr lang="en-US" altLang="zh-CN" sz="1200"/>
              <a:t> </a:t>
            </a:r>
            <a:r>
              <a:rPr lang="ko-KR" altLang="en-US" sz="1200"/>
              <a:t>구간에</a:t>
            </a:r>
            <a:r>
              <a:rPr lang="en-US" altLang="zh-CN" sz="1200"/>
              <a:t> </a:t>
            </a:r>
            <a:r>
              <a:rPr lang="ko-KR" altLang="en-US" sz="1200"/>
              <a:t>집중되어</a:t>
            </a:r>
            <a:r>
              <a:rPr lang="en-US" altLang="zh-CN" sz="1200"/>
              <a:t> </a:t>
            </a:r>
            <a:r>
              <a:rPr lang="ko-KR" altLang="en-US" sz="1200"/>
              <a:t>있으므로</a:t>
            </a:r>
            <a:r>
              <a:rPr lang="en-US" altLang="zh-CN" sz="1200"/>
              <a:t>, </a:t>
            </a:r>
            <a:r>
              <a:rPr lang="ko-KR" altLang="en-US" sz="1200"/>
              <a:t>후속</a:t>
            </a:r>
            <a:r>
              <a:rPr lang="en-US" altLang="zh-CN" sz="1200"/>
              <a:t> </a:t>
            </a:r>
            <a:r>
              <a:rPr lang="ko-KR" altLang="en-US" sz="1200"/>
              <a:t>모델링에서는</a:t>
            </a:r>
            <a:r>
              <a:rPr lang="en-US" altLang="zh-CN" sz="1200"/>
              <a:t> </a:t>
            </a:r>
            <a:r>
              <a:rPr lang="ko-KR" altLang="en-US" sz="1200"/>
              <a:t>연속</a:t>
            </a:r>
            <a:r>
              <a:rPr lang="en-US" altLang="zh-CN" sz="1200"/>
              <a:t> </a:t>
            </a:r>
            <a:r>
              <a:rPr lang="ko-KR" altLang="en-US" sz="1200"/>
              <a:t>수치</a:t>
            </a:r>
            <a:r>
              <a:rPr lang="en-US" altLang="zh-CN" sz="1200"/>
              <a:t> </a:t>
            </a:r>
            <a:r>
              <a:rPr lang="ko-KR" altLang="en-US" sz="1200"/>
              <a:t>특성보다는</a:t>
            </a:r>
            <a:r>
              <a:rPr lang="en-US" altLang="zh-CN" sz="1200"/>
              <a:t> </a:t>
            </a:r>
            <a:r>
              <a:rPr lang="ko-KR" altLang="en-US" sz="1200"/>
              <a:t>식별자</a:t>
            </a:r>
            <a:r>
              <a:rPr lang="en-US" altLang="zh-CN" sz="1200"/>
              <a:t> </a:t>
            </a:r>
            <a:r>
              <a:rPr lang="ko-KR" altLang="en-US" sz="1200"/>
              <a:t>필드로</a:t>
            </a:r>
            <a:r>
              <a:rPr lang="en-US" altLang="zh-CN" sz="1200"/>
              <a:t> </a:t>
            </a:r>
            <a:r>
              <a:rPr lang="ko-KR" altLang="en-US" sz="1200"/>
              <a:t>사용하는</a:t>
            </a:r>
            <a:r>
              <a:rPr lang="en-US" altLang="zh-CN" sz="1200"/>
              <a:t> </a:t>
            </a:r>
            <a:r>
              <a:rPr lang="ko-KR" altLang="en-US" sz="1200"/>
              <a:t>것이</a:t>
            </a:r>
            <a:r>
              <a:rPr lang="en-US" altLang="zh-CN" sz="1200"/>
              <a:t> </a:t>
            </a:r>
            <a:r>
              <a:rPr lang="ko-KR" altLang="en-US" sz="1200"/>
              <a:t>더</a:t>
            </a:r>
            <a:r>
              <a:rPr lang="en-US" altLang="zh-CN" sz="1200"/>
              <a:t> </a:t>
            </a:r>
            <a:r>
              <a:rPr lang="ko-KR" altLang="en-US" sz="1200"/>
              <a:t>적합합니다</a:t>
            </a:r>
            <a:r>
              <a:rPr lang="en-US" altLang="zh-CN" sz="1200"/>
              <a:t>.</a:t>
            </a:r>
            <a:endParaRPr lang="en-US" altLang="zh-CN" sz="1200"/>
          </a:p>
          <a:p>
            <a:endParaRPr lang="en-US" altLang="zh-CN" sz="1200"/>
          </a:p>
          <a:p>
            <a:r>
              <a:rPr lang="zh-CN" altLang="en-US" sz="1200"/>
              <a:t>总结：该特征的分布呈右偏长尾，说明营业场所序列号主要反映的是门店录入顺序而非业务属性，大多数门店集中在较小编号区间，因此在后续建模中更适合作为标识字段而不是连续数值特征使用。</a:t>
            </a:r>
            <a:endParaRPr lang="zh-CN" altLang="en-US" sz="1200"/>
          </a:p>
        </p:txBody>
      </p:sp>
      <p:pic>
        <p:nvPicPr>
          <p:cNvPr id="7" name="图片 6" descr="9"/>
          <p:cNvPicPr>
            <a:picLocks noChangeAspect="1"/>
          </p:cNvPicPr>
          <p:nvPr/>
        </p:nvPicPr>
        <p:blipFill>
          <a:blip r:embed="rId2"/>
          <a:stretch>
            <a:fillRect/>
          </a:stretch>
        </p:blipFill>
        <p:spPr>
          <a:xfrm>
            <a:off x="235585" y="2331720"/>
            <a:ext cx="6464300" cy="3191510"/>
          </a:xfrm>
          <a:prstGeom prst="rect">
            <a:avLst/>
          </a:prstGeom>
        </p:spPr>
      </p:pic>
      <p:sp>
        <p:nvSpPr>
          <p:cNvPr id="8" name="文本框 7"/>
          <p:cNvSpPr txBox="1"/>
          <p:nvPr/>
        </p:nvSpPr>
        <p:spPr>
          <a:xfrm>
            <a:off x="2679700" y="5805170"/>
            <a:ext cx="3048000" cy="368300"/>
          </a:xfrm>
          <a:prstGeom prst="rect">
            <a:avLst/>
          </a:prstGeom>
          <a:noFill/>
        </p:spPr>
        <p:txBody>
          <a:bodyPr wrap="square" rtlCol="0">
            <a:spAutoFit/>
          </a:bodyPr>
          <a:p>
            <a:r>
              <a:rPr lang="ko-KR" altLang="en-US"/>
              <a:t>영업장소</a:t>
            </a:r>
            <a:r>
              <a:rPr lang="en-US" altLang="zh-CN"/>
              <a:t> </a:t>
            </a:r>
            <a:r>
              <a:rPr lang="ko-KR" altLang="en-US"/>
              <a:t>일련번호</a:t>
            </a:r>
            <a:r>
              <a:rPr lang="en-US" altLang="zh-CN"/>
              <a:t> </a:t>
            </a:r>
            <a:r>
              <a:rPr lang="ko-KR" altLang="en-US"/>
              <a:t>분포</a:t>
            </a:r>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0265" y="69088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시각화</a:t>
            </a:r>
            <a:r>
              <a:t> / </a:t>
            </a:r>
            <a:r>
              <a:rPr lang="zh-CN"/>
              <a:t>数据可视化</a:t>
            </a:r>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可视化1"/>
          <p:cNvPicPr>
            <a:picLocks noChangeAspect="1"/>
          </p:cNvPicPr>
          <p:nvPr/>
        </p:nvPicPr>
        <p:blipFill>
          <a:blip r:embed="rId2"/>
          <a:stretch>
            <a:fillRect/>
          </a:stretch>
        </p:blipFill>
        <p:spPr>
          <a:xfrm>
            <a:off x="1456690" y="1061085"/>
            <a:ext cx="6231255" cy="57137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0265" y="69088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시각화</a:t>
            </a:r>
            <a:r>
              <a:t> / </a:t>
            </a:r>
            <a:r>
              <a:rPr lang="zh-CN"/>
              <a:t>数据可视化</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C:/Users/LENOVO/Desktop/stt/homework/数据科学/可视化2.png可视化2"/>
          <p:cNvPicPr>
            <a:picLocks noChangeAspect="1"/>
          </p:cNvPicPr>
          <p:nvPr/>
        </p:nvPicPr>
        <p:blipFill>
          <a:blip r:embed="rId2"/>
          <a:srcRect t="1936" b="1936"/>
          <a:stretch>
            <a:fillRect/>
          </a:stretch>
        </p:blipFill>
        <p:spPr>
          <a:xfrm>
            <a:off x="1456690" y="1061085"/>
            <a:ext cx="6231255" cy="571373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6" name="图片 5" descr="分析1"/>
          <p:cNvPicPr>
            <a:picLocks noChangeAspect="1"/>
          </p:cNvPicPr>
          <p:nvPr/>
        </p:nvPicPr>
        <p:blipFill>
          <a:blip r:embed="rId2"/>
          <a:stretch>
            <a:fillRect/>
          </a:stretch>
        </p:blipFill>
        <p:spPr>
          <a:xfrm>
            <a:off x="160655" y="1799590"/>
            <a:ext cx="6051550" cy="4715510"/>
          </a:xfrm>
          <a:prstGeom prst="rect">
            <a:avLst/>
          </a:prstGeom>
        </p:spPr>
      </p:pic>
      <p:sp>
        <p:nvSpPr>
          <p:cNvPr id="7" name="文本框 6"/>
          <p:cNvSpPr txBox="1"/>
          <p:nvPr/>
        </p:nvSpPr>
        <p:spPr>
          <a:xfrm>
            <a:off x="6589395" y="2464435"/>
            <a:ext cx="2178050" cy="3306445"/>
          </a:xfrm>
          <a:prstGeom prst="rect">
            <a:avLst/>
          </a:prstGeom>
          <a:noFill/>
        </p:spPr>
        <p:txBody>
          <a:bodyPr wrap="square" rtlCol="0">
            <a:noAutofit/>
          </a:bodyPr>
          <a:p>
            <a:r>
              <a:rPr lang="ko-KR" altLang="en-US" sz="1200"/>
              <a:t>요약</a:t>
            </a:r>
            <a:r>
              <a:rPr lang="en-US" altLang="zh-CN" sz="1200"/>
              <a:t>: </a:t>
            </a:r>
            <a:r>
              <a:rPr lang="ko-KR" altLang="en-US" sz="1200"/>
              <a:t>회귀</a:t>
            </a:r>
            <a:r>
              <a:rPr lang="en-US" altLang="zh-CN" sz="1200"/>
              <a:t> </a:t>
            </a:r>
            <a:r>
              <a:rPr lang="ko-KR" altLang="en-US" sz="1200"/>
              <a:t>분석</a:t>
            </a:r>
            <a:r>
              <a:rPr lang="en-US" altLang="zh-CN" sz="1200"/>
              <a:t> </a:t>
            </a:r>
            <a:r>
              <a:rPr lang="ko-KR" altLang="en-US" sz="1200"/>
              <a:t>결과</a:t>
            </a:r>
            <a:r>
              <a:rPr lang="en-US" altLang="zh-CN" sz="1200"/>
              <a:t>, </a:t>
            </a:r>
            <a:r>
              <a:rPr lang="ko-KR" altLang="en-US" sz="1200"/>
              <a:t>각</a:t>
            </a:r>
            <a:r>
              <a:rPr lang="en-US" altLang="zh-CN" sz="1200"/>
              <a:t> </a:t>
            </a:r>
            <a:r>
              <a:rPr lang="ko-KR" altLang="en-US" sz="1200"/>
              <a:t>행정구역의</a:t>
            </a:r>
            <a:r>
              <a:rPr lang="en-US" altLang="zh-CN" sz="1200"/>
              <a:t> </a:t>
            </a:r>
            <a:r>
              <a:rPr lang="ko-KR" altLang="en-US" sz="1200"/>
              <a:t>매장</a:t>
            </a:r>
            <a:r>
              <a:rPr lang="en-US" altLang="zh-CN" sz="1200"/>
              <a:t> </a:t>
            </a:r>
            <a:r>
              <a:rPr lang="ko-KR" altLang="en-US" sz="1200"/>
              <a:t>수와</a:t>
            </a:r>
            <a:r>
              <a:rPr lang="en-US" altLang="zh-CN" sz="1200"/>
              <a:t> </a:t>
            </a:r>
            <a:r>
              <a:rPr lang="ko-KR" altLang="en-US" sz="1200"/>
              <a:t>처벌</a:t>
            </a:r>
            <a:r>
              <a:rPr lang="en-US" altLang="zh-CN" sz="1200"/>
              <a:t> </a:t>
            </a:r>
            <a:r>
              <a:rPr lang="ko-KR" altLang="en-US" sz="1200"/>
              <a:t>횟수</a:t>
            </a:r>
            <a:r>
              <a:rPr lang="en-US" altLang="zh-CN" sz="1200"/>
              <a:t> </a:t>
            </a:r>
            <a:r>
              <a:rPr lang="ko-KR" altLang="en-US" sz="1200"/>
              <a:t>사이에는</a:t>
            </a:r>
            <a:r>
              <a:rPr lang="en-US" altLang="zh-CN" sz="1200"/>
              <a:t> </a:t>
            </a:r>
            <a:r>
              <a:rPr lang="ko-KR" altLang="en-US" sz="1200"/>
              <a:t>유의미하지만</a:t>
            </a:r>
            <a:r>
              <a:rPr lang="en-US" altLang="zh-CN" sz="1200"/>
              <a:t> </a:t>
            </a:r>
            <a:r>
              <a:rPr lang="ko-KR" altLang="en-US" sz="1200"/>
              <a:t>중간</a:t>
            </a:r>
            <a:r>
              <a:rPr lang="en-US" altLang="zh-CN" sz="1200"/>
              <a:t> </a:t>
            </a:r>
            <a:r>
              <a:rPr lang="ko-KR" altLang="en-US" sz="1200"/>
              <a:t>정도의</a:t>
            </a:r>
            <a:r>
              <a:rPr lang="en-US" altLang="zh-CN" sz="1200"/>
              <a:t> </a:t>
            </a:r>
            <a:r>
              <a:rPr lang="ko-KR" altLang="en-US" sz="1200"/>
              <a:t>양의</a:t>
            </a:r>
            <a:r>
              <a:rPr lang="en-US" altLang="zh-CN" sz="1200"/>
              <a:t> </a:t>
            </a:r>
            <a:r>
              <a:rPr lang="ko-KR" altLang="en-US" sz="1200"/>
              <a:t>상관관계</a:t>
            </a:r>
            <a:r>
              <a:rPr lang="en-US" altLang="zh-CN" sz="1200"/>
              <a:t>(R</a:t>
            </a:r>
            <a:r>
              <a:rPr lang="en-US" altLang="en-US" sz="1200"/>
              <a:t>²</a:t>
            </a:r>
            <a:r>
              <a:rPr lang="en-US" altLang="zh-CN" sz="1200"/>
              <a:t>≈0.31)</a:t>
            </a:r>
            <a:r>
              <a:rPr lang="ko-KR" altLang="en-US" sz="1200"/>
              <a:t>가</a:t>
            </a:r>
            <a:r>
              <a:rPr lang="en-US" altLang="zh-CN" sz="1200"/>
              <a:t> </a:t>
            </a:r>
            <a:r>
              <a:rPr lang="ko-KR" altLang="en-US" sz="1200"/>
              <a:t>존재한다</a:t>
            </a:r>
            <a:r>
              <a:rPr lang="en-US" altLang="zh-CN" sz="1200"/>
              <a:t>. </a:t>
            </a:r>
            <a:r>
              <a:rPr lang="ko-KR" altLang="en-US" sz="1200"/>
              <a:t>즉</a:t>
            </a:r>
            <a:r>
              <a:rPr lang="en-US" altLang="zh-CN" sz="1200"/>
              <a:t>, </a:t>
            </a:r>
            <a:r>
              <a:rPr lang="ko-KR" altLang="en-US" sz="1200"/>
              <a:t>일반적으로</a:t>
            </a:r>
            <a:r>
              <a:rPr lang="en-US" altLang="zh-CN" sz="1200"/>
              <a:t> </a:t>
            </a:r>
            <a:r>
              <a:rPr lang="ko-KR" altLang="en-US" sz="1200"/>
              <a:t>매장</a:t>
            </a:r>
            <a:r>
              <a:rPr lang="en-US" altLang="zh-CN" sz="1200"/>
              <a:t> </a:t>
            </a:r>
            <a:r>
              <a:rPr lang="ko-KR" altLang="en-US" sz="1200"/>
              <a:t>수가</a:t>
            </a:r>
            <a:r>
              <a:rPr lang="en-US" altLang="zh-CN" sz="1200"/>
              <a:t> </a:t>
            </a:r>
            <a:r>
              <a:rPr lang="ko-KR" altLang="en-US" sz="1200"/>
              <a:t>많을수록</a:t>
            </a:r>
            <a:r>
              <a:rPr lang="en-US" altLang="zh-CN" sz="1200"/>
              <a:t> </a:t>
            </a:r>
            <a:r>
              <a:rPr lang="ko-KR" altLang="en-US" sz="1200"/>
              <a:t>처벌</a:t>
            </a:r>
            <a:r>
              <a:rPr lang="en-US" altLang="zh-CN" sz="1200"/>
              <a:t> </a:t>
            </a:r>
            <a:r>
              <a:rPr lang="ko-KR" altLang="en-US" sz="1200"/>
              <a:t>횟수도</a:t>
            </a:r>
            <a:r>
              <a:rPr lang="en-US" altLang="zh-CN" sz="1200"/>
              <a:t> </a:t>
            </a:r>
            <a:r>
              <a:rPr lang="ko-KR" altLang="en-US" sz="1200"/>
              <a:t>많아지지만</a:t>
            </a:r>
            <a:r>
              <a:rPr lang="en-US" altLang="zh-CN" sz="1200"/>
              <a:t>, </a:t>
            </a:r>
            <a:r>
              <a:rPr lang="ko-KR" altLang="en-US" sz="1200"/>
              <a:t>여전히</a:t>
            </a:r>
            <a:r>
              <a:rPr lang="en-US" altLang="zh-CN" sz="1200"/>
              <a:t> </a:t>
            </a:r>
            <a:r>
              <a:rPr lang="ko-KR" altLang="en-US" sz="1200"/>
              <a:t>상당</a:t>
            </a:r>
            <a:r>
              <a:rPr lang="en-US" altLang="zh-CN" sz="1200"/>
              <a:t> </a:t>
            </a:r>
            <a:r>
              <a:rPr lang="ko-KR" altLang="en-US" sz="1200"/>
              <a:t>부분의</a:t>
            </a:r>
            <a:r>
              <a:rPr lang="en-US" altLang="zh-CN" sz="1200"/>
              <a:t> </a:t>
            </a:r>
            <a:r>
              <a:rPr lang="ko-KR" altLang="en-US" sz="1200"/>
              <a:t>차이는</a:t>
            </a:r>
            <a:r>
              <a:rPr lang="en-US" altLang="zh-CN" sz="1200"/>
              <a:t> </a:t>
            </a:r>
            <a:r>
              <a:rPr lang="ko-KR" altLang="en-US" sz="1200"/>
              <a:t>다른</a:t>
            </a:r>
            <a:r>
              <a:rPr lang="en-US" altLang="zh-CN" sz="1200"/>
              <a:t> </a:t>
            </a:r>
            <a:r>
              <a:rPr lang="ko-KR" altLang="en-US" sz="1200"/>
              <a:t>요인에</a:t>
            </a:r>
            <a:r>
              <a:rPr lang="en-US" altLang="zh-CN" sz="1200"/>
              <a:t> </a:t>
            </a:r>
            <a:r>
              <a:rPr lang="ko-KR" altLang="en-US" sz="1200"/>
              <a:t>의해</a:t>
            </a:r>
            <a:r>
              <a:rPr lang="en-US" altLang="zh-CN" sz="1200"/>
              <a:t> </a:t>
            </a:r>
            <a:r>
              <a:rPr lang="ko-KR" altLang="en-US" sz="1200"/>
              <a:t>결정된다</a:t>
            </a:r>
            <a:r>
              <a:rPr lang="en-US" altLang="zh-CN" sz="1200"/>
              <a:t>.</a:t>
            </a:r>
            <a:endParaRPr lang="en-US" altLang="zh-CN" sz="1200"/>
          </a:p>
          <a:p>
            <a:endParaRPr lang="en-US" altLang="zh-CN" sz="1200"/>
          </a:p>
          <a:p>
            <a:r>
              <a:rPr lang="zh-CN" altLang="en-US" sz="1200"/>
              <a:t>总结：</a:t>
            </a:r>
            <a:r>
              <a:rPr lang="en-US" altLang="zh-CN" sz="1200"/>
              <a:t> </a:t>
            </a:r>
            <a:r>
              <a:rPr lang="zh-CN" altLang="en-US" sz="1200"/>
              <a:t>回归结果表明，各行政区的门店数量与处罚次数之间存在显著但中等强度的正相关关系（</a:t>
            </a:r>
            <a:r>
              <a:rPr lang="en-US" altLang="zh-CN" sz="1200"/>
              <a:t>R</a:t>
            </a:r>
            <a:r>
              <a:rPr lang="en-US" altLang="en-US" sz="1200"/>
              <a:t>²</a:t>
            </a:r>
            <a:r>
              <a:rPr lang="en-US" altLang="zh-CN" sz="1200"/>
              <a:t>≈0.31</a:t>
            </a:r>
            <a:r>
              <a:rPr lang="zh-CN" altLang="en-US" sz="1200"/>
              <a:t>），即门店越多一般被处罚次数越多，但仍有相当一部分差异由其他因素决定。</a:t>
            </a:r>
            <a:endParaRPr lang="zh-CN" altLang="en-US" sz="1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分析2"/>
          <p:cNvPicPr>
            <a:picLocks noChangeAspect="1"/>
          </p:cNvPicPr>
          <p:nvPr/>
        </p:nvPicPr>
        <p:blipFill>
          <a:blip r:embed="rId2"/>
          <a:stretch>
            <a:fillRect/>
          </a:stretch>
        </p:blipFill>
        <p:spPr>
          <a:xfrm>
            <a:off x="175260" y="1799590"/>
            <a:ext cx="6131560" cy="4691380"/>
          </a:xfrm>
          <a:prstGeom prst="rect">
            <a:avLst/>
          </a:prstGeom>
        </p:spPr>
      </p:pic>
      <p:sp>
        <p:nvSpPr>
          <p:cNvPr id="7" name="文本框 6"/>
          <p:cNvSpPr txBox="1"/>
          <p:nvPr/>
        </p:nvSpPr>
        <p:spPr>
          <a:xfrm>
            <a:off x="6589395" y="2464435"/>
            <a:ext cx="2178050" cy="3306445"/>
          </a:xfrm>
          <a:prstGeom prst="rect">
            <a:avLst/>
          </a:prstGeom>
          <a:noFill/>
        </p:spPr>
        <p:txBody>
          <a:bodyPr wrap="square" rtlCol="0">
            <a:noAutofit/>
          </a:bodyPr>
          <a:p>
            <a:r>
              <a:rPr lang="ko-KR" altLang="en-US" sz="1200"/>
              <a:t>요약</a:t>
            </a:r>
            <a:r>
              <a:rPr lang="en-US" altLang="zh-CN" sz="1200"/>
              <a:t>: </a:t>
            </a:r>
            <a:r>
              <a:rPr lang="ko-KR" altLang="en-US" sz="1200"/>
              <a:t>회귀</a:t>
            </a:r>
            <a:r>
              <a:rPr lang="en-US" altLang="zh-CN" sz="1200"/>
              <a:t> </a:t>
            </a:r>
            <a:r>
              <a:rPr lang="ko-KR" altLang="en-US" sz="1200"/>
              <a:t>분석</a:t>
            </a:r>
            <a:r>
              <a:rPr lang="en-US" altLang="zh-CN" sz="1200"/>
              <a:t> </a:t>
            </a:r>
            <a:r>
              <a:rPr lang="ko-KR" altLang="en-US" sz="1200"/>
              <a:t>결과</a:t>
            </a:r>
            <a:r>
              <a:rPr lang="en-US" altLang="zh-CN" sz="1200"/>
              <a:t>, </a:t>
            </a:r>
            <a:r>
              <a:rPr lang="ko-KR" altLang="en-US" sz="1200"/>
              <a:t>각</a:t>
            </a:r>
            <a:r>
              <a:rPr lang="en-US" altLang="zh-CN" sz="1200"/>
              <a:t> </a:t>
            </a:r>
            <a:r>
              <a:rPr lang="ko-KR" altLang="en-US" sz="1200"/>
              <a:t>행정구역의</a:t>
            </a:r>
            <a:r>
              <a:rPr lang="en-US" altLang="zh-CN" sz="1200"/>
              <a:t> </a:t>
            </a:r>
            <a:r>
              <a:rPr lang="ko-KR" altLang="en-US" sz="1200"/>
              <a:t>위험</a:t>
            </a:r>
            <a:r>
              <a:rPr lang="en-US" altLang="zh-CN" sz="1200"/>
              <a:t> </a:t>
            </a:r>
            <a:r>
              <a:rPr lang="ko-KR" altLang="en-US" sz="1200"/>
              <a:t>비율과</a:t>
            </a:r>
            <a:r>
              <a:rPr lang="en-US" altLang="zh-CN" sz="1200"/>
              <a:t> </a:t>
            </a:r>
            <a:r>
              <a:rPr lang="ko-KR" altLang="en-US" sz="1200"/>
              <a:t>매장</a:t>
            </a:r>
            <a:r>
              <a:rPr lang="en-US" altLang="zh-CN" sz="1200"/>
              <a:t> </a:t>
            </a:r>
            <a:r>
              <a:rPr lang="ko-KR" altLang="en-US" sz="1200"/>
              <a:t>수</a:t>
            </a:r>
            <a:r>
              <a:rPr lang="en-US" altLang="zh-CN" sz="1200"/>
              <a:t> </a:t>
            </a:r>
            <a:r>
              <a:rPr lang="ko-KR" altLang="en-US" sz="1200"/>
              <a:t>사이에는</a:t>
            </a:r>
            <a:r>
              <a:rPr lang="en-US" altLang="zh-CN" sz="1200"/>
              <a:t> </a:t>
            </a:r>
            <a:r>
              <a:rPr lang="ko-KR" altLang="en-US" sz="1200"/>
              <a:t>거의</a:t>
            </a:r>
            <a:r>
              <a:rPr lang="en-US" altLang="zh-CN" sz="1200"/>
              <a:t> </a:t>
            </a:r>
            <a:r>
              <a:rPr lang="ko-KR" altLang="en-US" sz="1200"/>
              <a:t>선형</a:t>
            </a:r>
            <a:r>
              <a:rPr lang="en-US" altLang="zh-CN" sz="1200"/>
              <a:t> </a:t>
            </a:r>
            <a:r>
              <a:rPr lang="ko-KR" altLang="en-US" sz="1200"/>
              <a:t>관계가</a:t>
            </a:r>
            <a:r>
              <a:rPr lang="en-US" altLang="zh-CN" sz="1200"/>
              <a:t> </a:t>
            </a:r>
            <a:r>
              <a:rPr lang="ko-KR" altLang="en-US" sz="1200"/>
              <a:t>존재하지</a:t>
            </a:r>
            <a:r>
              <a:rPr lang="en-US" altLang="zh-CN" sz="1200"/>
              <a:t> </a:t>
            </a:r>
            <a:r>
              <a:rPr lang="ko-KR" altLang="en-US" sz="1200"/>
              <a:t>않음</a:t>
            </a:r>
            <a:r>
              <a:rPr lang="en-US" altLang="zh-CN" sz="1200"/>
              <a:t>(R</a:t>
            </a:r>
            <a:r>
              <a:rPr lang="en-US" altLang="en-US" sz="1200"/>
              <a:t>²</a:t>
            </a:r>
            <a:r>
              <a:rPr lang="en-US" altLang="zh-CN" sz="1200"/>
              <a:t>≈0.007, </a:t>
            </a:r>
            <a:r>
              <a:rPr lang="ko-KR" altLang="en-US" sz="1200"/>
              <a:t>기울기</a:t>
            </a:r>
            <a:r>
              <a:rPr lang="en-US" altLang="zh-CN" sz="1200"/>
              <a:t> ≈ 0)</a:t>
            </a:r>
            <a:r>
              <a:rPr lang="ko-KR" altLang="en-US" sz="1200"/>
              <a:t>을</a:t>
            </a:r>
            <a:r>
              <a:rPr lang="en-US" altLang="zh-CN" sz="1200"/>
              <a:t> </a:t>
            </a:r>
            <a:r>
              <a:rPr lang="ko-KR" altLang="en-US" sz="1200"/>
              <a:t>보여준다</a:t>
            </a:r>
            <a:r>
              <a:rPr lang="en-US" altLang="zh-CN" sz="1200"/>
              <a:t>. </a:t>
            </a:r>
            <a:r>
              <a:rPr lang="ko-KR" altLang="en-US" sz="1200"/>
              <a:t>이는</a:t>
            </a:r>
            <a:r>
              <a:rPr lang="en-US" altLang="zh-CN" sz="1200"/>
              <a:t> </a:t>
            </a:r>
            <a:r>
              <a:rPr lang="ko-KR" altLang="en-US" sz="1200"/>
              <a:t>매장</a:t>
            </a:r>
            <a:r>
              <a:rPr lang="en-US" altLang="zh-CN" sz="1200"/>
              <a:t> </a:t>
            </a:r>
            <a:r>
              <a:rPr lang="ko-KR" altLang="en-US" sz="1200"/>
              <a:t>수가</a:t>
            </a:r>
            <a:r>
              <a:rPr lang="en-US" altLang="zh-CN" sz="1200"/>
              <a:t> </a:t>
            </a:r>
            <a:r>
              <a:rPr lang="ko-KR" altLang="en-US" sz="1200"/>
              <a:t>많은</a:t>
            </a:r>
            <a:r>
              <a:rPr lang="en-US" altLang="zh-CN" sz="1200"/>
              <a:t> </a:t>
            </a:r>
            <a:r>
              <a:rPr lang="ko-KR" altLang="en-US" sz="1200"/>
              <a:t>지역이</a:t>
            </a:r>
            <a:r>
              <a:rPr lang="en-US" altLang="zh-CN" sz="1200"/>
              <a:t> </a:t>
            </a:r>
            <a:r>
              <a:rPr lang="ko-KR" altLang="en-US" sz="1200"/>
              <a:t>반드시</a:t>
            </a:r>
            <a:r>
              <a:rPr lang="en-US" altLang="zh-CN" sz="1200"/>
              <a:t> “</a:t>
            </a:r>
            <a:r>
              <a:rPr lang="ko-KR" altLang="en-US" sz="1200"/>
              <a:t>평균</a:t>
            </a:r>
            <a:r>
              <a:rPr lang="en-US" altLang="zh-CN" sz="1200"/>
              <a:t> </a:t>
            </a:r>
            <a:r>
              <a:rPr lang="ko-KR" altLang="en-US" sz="1200"/>
              <a:t>위반</a:t>
            </a:r>
            <a:r>
              <a:rPr lang="en-US" altLang="zh-CN" sz="1200"/>
              <a:t> </a:t>
            </a:r>
            <a:r>
              <a:rPr lang="ko-KR" altLang="en-US" sz="1200"/>
              <a:t>위험</a:t>
            </a:r>
            <a:r>
              <a:rPr lang="en-US" altLang="zh-CN" sz="1200"/>
              <a:t>”</a:t>
            </a:r>
            <a:r>
              <a:rPr lang="ko-KR" altLang="en-US" sz="1200"/>
              <a:t>이</a:t>
            </a:r>
            <a:r>
              <a:rPr lang="en-US" altLang="zh-CN" sz="1200"/>
              <a:t> </a:t>
            </a:r>
            <a:r>
              <a:rPr lang="ko-KR" altLang="en-US" sz="1200"/>
              <a:t>더</a:t>
            </a:r>
            <a:r>
              <a:rPr lang="en-US" altLang="zh-CN" sz="1200"/>
              <a:t> </a:t>
            </a:r>
            <a:r>
              <a:rPr lang="ko-KR" altLang="en-US" sz="1200"/>
              <a:t>높거나</a:t>
            </a:r>
            <a:r>
              <a:rPr lang="en-US" altLang="zh-CN" sz="1200"/>
              <a:t> </a:t>
            </a:r>
            <a:r>
              <a:rPr lang="ko-KR" altLang="en-US" sz="1200"/>
              <a:t>낮지</a:t>
            </a:r>
            <a:r>
              <a:rPr lang="en-US" altLang="zh-CN" sz="1200"/>
              <a:t> </a:t>
            </a:r>
            <a:r>
              <a:rPr lang="ko-KR" altLang="en-US" sz="1200"/>
              <a:t>않음을</a:t>
            </a:r>
            <a:r>
              <a:rPr lang="en-US" altLang="zh-CN" sz="1200"/>
              <a:t> </a:t>
            </a:r>
            <a:r>
              <a:rPr lang="ko-KR" altLang="en-US" sz="1200"/>
              <a:t>시사한다</a:t>
            </a:r>
            <a:r>
              <a:rPr lang="en-US" altLang="zh-CN" sz="1200"/>
              <a:t>.</a:t>
            </a:r>
            <a:endParaRPr lang="en-US" altLang="zh-CN" sz="1200"/>
          </a:p>
          <a:p>
            <a:endParaRPr lang="en-US" altLang="zh-CN" sz="1200"/>
          </a:p>
          <a:p>
            <a:r>
              <a:rPr lang="zh-CN" altLang="en-US" sz="1200"/>
              <a:t>总结：回归结果显示，各行政区的风险比与门店数量几乎不存在线性关系（</a:t>
            </a:r>
            <a:r>
              <a:rPr lang="en-US" altLang="zh-CN" sz="1200"/>
              <a:t>R</a:t>
            </a:r>
            <a:r>
              <a:rPr lang="en-US" altLang="en-US" sz="1200"/>
              <a:t>²</a:t>
            </a:r>
            <a:r>
              <a:rPr lang="en-US" altLang="zh-CN" sz="1200"/>
              <a:t>≈0.007</a:t>
            </a:r>
            <a:r>
              <a:rPr lang="zh-CN" altLang="en-US" sz="1200"/>
              <a:t>，斜率接近</a:t>
            </a:r>
            <a:r>
              <a:rPr lang="en-US" altLang="zh-CN" sz="1200"/>
              <a:t> 0</a:t>
            </a:r>
            <a:r>
              <a:rPr lang="zh-CN" altLang="en-US" sz="1200"/>
              <a:t>），说明门店越多的地区并不会因此在</a:t>
            </a:r>
            <a:r>
              <a:rPr lang="en-US" altLang="zh-CN" sz="1200"/>
              <a:t>“</a:t>
            </a:r>
            <a:r>
              <a:rPr lang="zh-CN" altLang="en-US" sz="1200"/>
              <a:t>平均违规风险</a:t>
            </a:r>
            <a:r>
              <a:rPr lang="en-US" altLang="zh-CN" sz="1200"/>
              <a:t>”</a:t>
            </a:r>
            <a:r>
              <a:rPr lang="zh-CN" altLang="en-US" sz="1200"/>
              <a:t>上更高或更低。</a:t>
            </a:r>
            <a:endParaRPr lang="zh-CN" altLang="en-US" sz="1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6589395" y="2464435"/>
            <a:ext cx="2178050" cy="3306445"/>
          </a:xfrm>
          <a:prstGeom prst="rect">
            <a:avLst/>
          </a:prstGeom>
          <a:noFill/>
        </p:spPr>
        <p:txBody>
          <a:bodyPr wrap="square" rtlCol="0">
            <a:noAutofit/>
          </a:bodyPr>
          <a:p>
            <a:r>
              <a:rPr lang="ko-KR" altLang="en-US" sz="1200"/>
              <a:t>요약</a:t>
            </a:r>
            <a:r>
              <a:rPr lang="en-US" altLang="zh-CN" sz="1200"/>
              <a:t>: </a:t>
            </a:r>
            <a:r>
              <a:rPr lang="ko-KR" altLang="en-US" sz="1200"/>
              <a:t>업종별로</a:t>
            </a:r>
            <a:r>
              <a:rPr lang="en-US" altLang="zh-CN" sz="1200"/>
              <a:t> </a:t>
            </a:r>
            <a:r>
              <a:rPr lang="ko-KR" altLang="en-US" sz="1200"/>
              <a:t>볼</a:t>
            </a:r>
            <a:r>
              <a:rPr lang="en-US" altLang="zh-CN" sz="1200"/>
              <a:t> </a:t>
            </a:r>
            <a:r>
              <a:rPr lang="ko-KR" altLang="en-US" sz="1200"/>
              <a:t>때</a:t>
            </a:r>
            <a:r>
              <a:rPr lang="en-US" altLang="zh-CN" sz="1200"/>
              <a:t>, </a:t>
            </a:r>
            <a:r>
              <a:rPr lang="ko-KR" altLang="en-US" sz="1200"/>
              <a:t>매장</a:t>
            </a:r>
            <a:r>
              <a:rPr lang="en-US" altLang="zh-CN" sz="1200"/>
              <a:t> </a:t>
            </a:r>
            <a:r>
              <a:rPr lang="ko-KR" altLang="en-US" sz="1200"/>
              <a:t>수와</a:t>
            </a:r>
            <a:r>
              <a:rPr lang="en-US" altLang="zh-CN" sz="1200"/>
              <a:t> </a:t>
            </a:r>
            <a:r>
              <a:rPr lang="ko-KR" altLang="en-US" sz="1200"/>
              <a:t>처벌</a:t>
            </a:r>
            <a:r>
              <a:rPr lang="en-US" altLang="zh-CN" sz="1200"/>
              <a:t> </a:t>
            </a:r>
            <a:r>
              <a:rPr lang="ko-KR" altLang="en-US" sz="1200"/>
              <a:t>횟수</a:t>
            </a:r>
            <a:r>
              <a:rPr lang="en-US" altLang="zh-CN" sz="1200"/>
              <a:t> </a:t>
            </a:r>
            <a:r>
              <a:rPr lang="ko-KR" altLang="en-US" sz="1200"/>
              <a:t>사이에는</a:t>
            </a:r>
            <a:r>
              <a:rPr lang="en-US" altLang="zh-CN" sz="1200"/>
              <a:t> </a:t>
            </a:r>
            <a:r>
              <a:rPr lang="ko-KR" altLang="en-US" sz="1200"/>
              <a:t>강한</a:t>
            </a:r>
            <a:r>
              <a:rPr lang="en-US" altLang="zh-CN" sz="1200"/>
              <a:t> </a:t>
            </a:r>
            <a:r>
              <a:rPr lang="ko-KR" altLang="en-US" sz="1200"/>
              <a:t>선형</a:t>
            </a:r>
            <a:r>
              <a:rPr lang="en-US" altLang="zh-CN" sz="1200"/>
              <a:t> </a:t>
            </a:r>
            <a:r>
              <a:rPr lang="ko-KR" altLang="en-US" sz="1200"/>
              <a:t>양의</a:t>
            </a:r>
            <a:r>
              <a:rPr lang="en-US" altLang="zh-CN" sz="1200"/>
              <a:t> </a:t>
            </a:r>
            <a:r>
              <a:rPr lang="ko-KR" altLang="en-US" sz="1200"/>
              <a:t>상관관계가</a:t>
            </a:r>
            <a:r>
              <a:rPr lang="en-US" altLang="zh-CN" sz="1200"/>
              <a:t> </a:t>
            </a:r>
            <a:r>
              <a:rPr lang="ko-KR" altLang="en-US" sz="1200"/>
              <a:t>존재한다</a:t>
            </a:r>
            <a:r>
              <a:rPr lang="en-US" altLang="zh-CN" sz="1200"/>
              <a:t>(R</a:t>
            </a:r>
            <a:r>
              <a:rPr lang="en-US" altLang="en-US" sz="1200"/>
              <a:t>²</a:t>
            </a:r>
            <a:r>
              <a:rPr lang="en-US" altLang="zh-CN" sz="1200"/>
              <a:t>≈0.63). </a:t>
            </a:r>
            <a:r>
              <a:rPr lang="ko-KR" altLang="en-US" sz="1200"/>
              <a:t>매장이</a:t>
            </a:r>
            <a:r>
              <a:rPr lang="en-US" altLang="zh-CN" sz="1200"/>
              <a:t> </a:t>
            </a:r>
            <a:r>
              <a:rPr lang="ko-KR" altLang="en-US" sz="1200"/>
              <a:t>많을수록</a:t>
            </a:r>
            <a:r>
              <a:rPr lang="en-US" altLang="zh-CN" sz="1200"/>
              <a:t> </a:t>
            </a:r>
            <a:r>
              <a:rPr lang="ko-KR" altLang="en-US" sz="1200"/>
              <a:t>해당</a:t>
            </a:r>
            <a:r>
              <a:rPr lang="en-US" altLang="zh-CN" sz="1200"/>
              <a:t> </a:t>
            </a:r>
            <a:r>
              <a:rPr lang="ko-KR" altLang="en-US" sz="1200"/>
              <a:t>업태의</a:t>
            </a:r>
            <a:r>
              <a:rPr lang="en-US" altLang="zh-CN" sz="1200"/>
              <a:t> </a:t>
            </a:r>
            <a:r>
              <a:rPr lang="ko-KR" altLang="en-US" sz="1200"/>
              <a:t>전체</a:t>
            </a:r>
            <a:r>
              <a:rPr lang="en-US" altLang="zh-CN" sz="1200"/>
              <a:t> </a:t>
            </a:r>
            <a:r>
              <a:rPr lang="ko-KR" altLang="en-US" sz="1200"/>
              <a:t>위반</a:t>
            </a:r>
            <a:r>
              <a:rPr lang="en-US" altLang="zh-CN" sz="1200"/>
              <a:t> </a:t>
            </a:r>
            <a:r>
              <a:rPr lang="ko-KR" altLang="en-US" sz="1200"/>
              <a:t>횟수가</a:t>
            </a:r>
            <a:r>
              <a:rPr lang="en-US" altLang="zh-CN" sz="1200"/>
              <a:t> </a:t>
            </a:r>
            <a:r>
              <a:rPr lang="ko-KR" altLang="en-US" sz="1200"/>
              <a:t>높아지며</a:t>
            </a:r>
            <a:r>
              <a:rPr lang="en-US" altLang="zh-CN" sz="1200"/>
              <a:t>, </a:t>
            </a:r>
            <a:r>
              <a:rPr lang="ko-KR" altLang="en-US" sz="1200"/>
              <a:t>업종</a:t>
            </a:r>
            <a:r>
              <a:rPr lang="en-US" altLang="zh-CN" sz="1200"/>
              <a:t> </a:t>
            </a:r>
            <a:r>
              <a:rPr lang="ko-KR" altLang="en-US" sz="1200"/>
              <a:t>규모는</a:t>
            </a:r>
            <a:r>
              <a:rPr lang="en-US" altLang="zh-CN" sz="1200"/>
              <a:t> </a:t>
            </a:r>
            <a:r>
              <a:rPr lang="ko-KR" altLang="en-US" sz="1200"/>
              <a:t>처벌</a:t>
            </a:r>
            <a:r>
              <a:rPr lang="en-US" altLang="zh-CN" sz="1200"/>
              <a:t> </a:t>
            </a:r>
            <a:r>
              <a:rPr lang="ko-KR" altLang="en-US" sz="1200"/>
              <a:t>총량에</a:t>
            </a:r>
            <a:r>
              <a:rPr lang="en-US" altLang="zh-CN" sz="1200"/>
              <a:t> </a:t>
            </a:r>
            <a:r>
              <a:rPr lang="ko-KR" altLang="en-US" sz="1200"/>
              <a:t>대해</a:t>
            </a:r>
            <a:r>
              <a:rPr lang="en-US" altLang="zh-CN" sz="1200"/>
              <a:t> </a:t>
            </a:r>
            <a:r>
              <a:rPr lang="ko-KR" altLang="en-US" sz="1200"/>
              <a:t>강한</a:t>
            </a:r>
            <a:r>
              <a:rPr lang="en-US" altLang="zh-CN" sz="1200"/>
              <a:t> </a:t>
            </a:r>
            <a:r>
              <a:rPr lang="ko-KR" altLang="en-US" sz="1200"/>
              <a:t>설명력을</a:t>
            </a:r>
            <a:r>
              <a:rPr lang="en-US" altLang="zh-CN" sz="1200"/>
              <a:t> </a:t>
            </a:r>
            <a:r>
              <a:rPr lang="ko-KR" altLang="en-US" sz="1200"/>
              <a:t>가진다</a:t>
            </a:r>
            <a:r>
              <a:rPr lang="en-US" altLang="zh-CN" sz="1200"/>
              <a:t>.</a:t>
            </a:r>
            <a:endParaRPr lang="en-US" altLang="zh-CN" sz="1200"/>
          </a:p>
          <a:p>
            <a:endParaRPr lang="en-US" altLang="zh-CN" sz="1200"/>
          </a:p>
          <a:p>
            <a:r>
              <a:rPr lang="zh-CN" altLang="en-US" sz="1200"/>
              <a:t>总结：按行业来看，门店数量与处罚次数之间存在较强的线性正相关关系（</a:t>
            </a:r>
            <a:r>
              <a:rPr lang="en-US" altLang="zh-CN" sz="1200"/>
              <a:t>R</a:t>
            </a:r>
            <a:r>
              <a:rPr lang="en-US" altLang="en-US" sz="1200"/>
              <a:t>²</a:t>
            </a:r>
            <a:r>
              <a:rPr lang="en-US" altLang="zh-CN" sz="1200"/>
              <a:t>≈0.63</a:t>
            </a:r>
            <a:r>
              <a:rPr lang="zh-CN" altLang="en-US" sz="1200"/>
              <a:t>），门店越多的业态整体违规次数越高，行业规模对处罚总量具有较强的解释力。</a:t>
            </a:r>
            <a:endParaRPr lang="zh-CN" altLang="en-US" sz="1200"/>
          </a:p>
        </p:txBody>
      </p:sp>
      <p:pic>
        <p:nvPicPr>
          <p:cNvPr id="2" name="图片 1" descr="分析3"/>
          <p:cNvPicPr>
            <a:picLocks noChangeAspect="1"/>
          </p:cNvPicPr>
          <p:nvPr/>
        </p:nvPicPr>
        <p:blipFill>
          <a:blip r:embed="rId2"/>
          <a:stretch>
            <a:fillRect/>
          </a:stretch>
        </p:blipFill>
        <p:spPr>
          <a:xfrm>
            <a:off x="281940" y="1772920"/>
            <a:ext cx="6030595" cy="45440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6723380" y="2464435"/>
            <a:ext cx="2178050" cy="3306445"/>
          </a:xfrm>
          <a:prstGeom prst="rect">
            <a:avLst/>
          </a:prstGeom>
          <a:noFill/>
        </p:spPr>
        <p:txBody>
          <a:bodyPr wrap="square" rtlCol="0">
            <a:noAutofit/>
          </a:bodyPr>
          <a:p>
            <a:r>
              <a:rPr lang="ko-KR" altLang="en-US" sz="1200"/>
              <a:t>요약</a:t>
            </a:r>
            <a:r>
              <a:rPr lang="en-US" altLang="zh-CN" sz="1200"/>
              <a:t>: </a:t>
            </a:r>
            <a:r>
              <a:rPr lang="ko-KR" altLang="en-US" sz="1200"/>
              <a:t>산업</a:t>
            </a:r>
            <a:r>
              <a:rPr lang="en-US" altLang="zh-CN" sz="1200"/>
              <a:t> </a:t>
            </a:r>
            <a:r>
              <a:rPr lang="ko-KR" altLang="en-US" sz="1200"/>
              <a:t>차원에서</a:t>
            </a:r>
            <a:r>
              <a:rPr lang="en-US" altLang="zh-CN" sz="1200"/>
              <a:t> </a:t>
            </a:r>
            <a:r>
              <a:rPr lang="ko-KR" altLang="en-US" sz="1200"/>
              <a:t>볼</a:t>
            </a:r>
            <a:r>
              <a:rPr lang="en-US" altLang="zh-CN" sz="1200"/>
              <a:t> </a:t>
            </a:r>
            <a:r>
              <a:rPr lang="ko-KR" altLang="en-US" sz="1200"/>
              <a:t>때</a:t>
            </a:r>
            <a:r>
              <a:rPr lang="en-US" altLang="zh-CN" sz="1200"/>
              <a:t>, </a:t>
            </a:r>
            <a:r>
              <a:rPr lang="ko-KR" altLang="en-US" sz="1200"/>
              <a:t>위험</a:t>
            </a:r>
            <a:r>
              <a:rPr lang="en-US" altLang="zh-CN" sz="1200"/>
              <a:t> </a:t>
            </a:r>
            <a:r>
              <a:rPr lang="ko-KR" altLang="en-US" sz="1200"/>
              <a:t>비율과</a:t>
            </a:r>
            <a:r>
              <a:rPr lang="en-US" altLang="zh-CN" sz="1200"/>
              <a:t> </a:t>
            </a:r>
            <a:r>
              <a:rPr lang="ko-KR" altLang="en-US" sz="1200"/>
              <a:t>매장</a:t>
            </a:r>
            <a:r>
              <a:rPr lang="en-US" altLang="zh-CN" sz="1200"/>
              <a:t> </a:t>
            </a:r>
            <a:r>
              <a:rPr lang="ko-KR" altLang="en-US" sz="1200"/>
              <a:t>수</a:t>
            </a:r>
            <a:r>
              <a:rPr lang="en-US" altLang="zh-CN" sz="1200"/>
              <a:t> </a:t>
            </a:r>
            <a:r>
              <a:rPr lang="ko-KR" altLang="en-US" sz="1200"/>
              <a:t>사이에는</a:t>
            </a:r>
            <a:r>
              <a:rPr lang="en-US" altLang="zh-CN" sz="1200"/>
              <a:t> </a:t>
            </a:r>
            <a:r>
              <a:rPr lang="ko-KR" altLang="en-US" sz="1200"/>
              <a:t>거의</a:t>
            </a:r>
            <a:r>
              <a:rPr lang="en-US" altLang="zh-CN" sz="1200"/>
              <a:t> </a:t>
            </a:r>
            <a:r>
              <a:rPr lang="ko-KR" altLang="en-US" sz="1200"/>
              <a:t>선형</a:t>
            </a:r>
            <a:r>
              <a:rPr lang="en-US" altLang="zh-CN" sz="1200"/>
              <a:t> </a:t>
            </a:r>
            <a:r>
              <a:rPr lang="ko-KR" altLang="en-US" sz="1200"/>
              <a:t>관계가</a:t>
            </a:r>
            <a:r>
              <a:rPr lang="en-US" altLang="zh-CN" sz="1200"/>
              <a:t> </a:t>
            </a:r>
            <a:r>
              <a:rPr lang="ko-KR" altLang="en-US" sz="1200"/>
              <a:t>없다</a:t>
            </a:r>
            <a:r>
              <a:rPr lang="en-US" altLang="zh-CN" sz="1200"/>
              <a:t>(R</a:t>
            </a:r>
            <a:r>
              <a:rPr lang="en-US" altLang="en-US" sz="1200"/>
              <a:t>²</a:t>
            </a:r>
            <a:r>
              <a:rPr lang="en-US" altLang="zh-CN" sz="1200"/>
              <a:t>≈0.02, </a:t>
            </a:r>
            <a:r>
              <a:rPr lang="ko-KR" altLang="en-US" sz="1200"/>
              <a:t>기울기는</a:t>
            </a:r>
            <a:r>
              <a:rPr lang="en-US" altLang="zh-CN" sz="1200"/>
              <a:t> </a:t>
            </a:r>
            <a:r>
              <a:rPr lang="ko-KR" altLang="en-US" sz="1200"/>
              <a:t>약간</a:t>
            </a:r>
            <a:r>
              <a:rPr lang="en-US" altLang="zh-CN" sz="1200"/>
              <a:t> </a:t>
            </a:r>
            <a:r>
              <a:rPr lang="ko-KR" altLang="en-US" sz="1200"/>
              <a:t>음수</a:t>
            </a:r>
            <a:r>
              <a:rPr lang="en-US" altLang="zh-CN" sz="1200"/>
              <a:t>). </a:t>
            </a:r>
            <a:r>
              <a:rPr lang="ko-KR" altLang="en-US" sz="1200"/>
              <a:t>이는</a:t>
            </a:r>
            <a:r>
              <a:rPr lang="en-US" altLang="zh-CN" sz="1200"/>
              <a:t> </a:t>
            </a:r>
            <a:r>
              <a:rPr lang="ko-KR" altLang="en-US" sz="1200"/>
              <a:t>산업</a:t>
            </a:r>
            <a:r>
              <a:rPr lang="en-US" altLang="zh-CN" sz="1200"/>
              <a:t> </a:t>
            </a:r>
            <a:r>
              <a:rPr lang="ko-KR" altLang="en-US" sz="1200"/>
              <a:t>규모가</a:t>
            </a:r>
            <a:r>
              <a:rPr lang="en-US" altLang="zh-CN" sz="1200"/>
              <a:t> </a:t>
            </a:r>
            <a:r>
              <a:rPr lang="ko-KR" altLang="en-US" sz="1200"/>
              <a:t>커진다고</a:t>
            </a:r>
            <a:r>
              <a:rPr lang="en-US" altLang="zh-CN" sz="1200"/>
              <a:t> </a:t>
            </a:r>
            <a:r>
              <a:rPr lang="ko-KR" altLang="en-US" sz="1200"/>
              <a:t>해서</a:t>
            </a:r>
            <a:r>
              <a:rPr lang="en-US" altLang="zh-CN" sz="1200"/>
              <a:t> '</a:t>
            </a:r>
            <a:r>
              <a:rPr lang="ko-KR" altLang="en-US" sz="1200"/>
              <a:t>매장당</a:t>
            </a:r>
            <a:r>
              <a:rPr lang="en-US" altLang="zh-CN" sz="1200"/>
              <a:t> </a:t>
            </a:r>
            <a:r>
              <a:rPr lang="ko-KR" altLang="en-US" sz="1200"/>
              <a:t>평균</a:t>
            </a:r>
            <a:r>
              <a:rPr lang="en-US" altLang="zh-CN" sz="1200"/>
              <a:t> </a:t>
            </a:r>
            <a:r>
              <a:rPr lang="ko-KR" altLang="en-US" sz="1200"/>
              <a:t>위반</a:t>
            </a:r>
            <a:r>
              <a:rPr lang="en-US" altLang="zh-CN" sz="1200"/>
              <a:t> </a:t>
            </a:r>
            <a:r>
              <a:rPr lang="ko-KR" altLang="en-US" sz="1200"/>
              <a:t>위험</a:t>
            </a:r>
            <a:r>
              <a:rPr lang="en-US" altLang="zh-CN" sz="1200"/>
              <a:t>'</a:t>
            </a:r>
            <a:r>
              <a:rPr lang="ko-KR" altLang="en-US" sz="1200"/>
              <a:t>이</a:t>
            </a:r>
            <a:r>
              <a:rPr lang="en-US" altLang="zh-CN" sz="1200"/>
              <a:t> </a:t>
            </a:r>
            <a:r>
              <a:rPr lang="ko-KR" altLang="en-US" sz="1200"/>
              <a:t>현저히</a:t>
            </a:r>
            <a:r>
              <a:rPr lang="en-US" altLang="zh-CN" sz="1200"/>
              <a:t> </a:t>
            </a:r>
            <a:r>
              <a:rPr lang="ko-KR" altLang="en-US" sz="1200"/>
              <a:t>증가하거나</a:t>
            </a:r>
            <a:r>
              <a:rPr lang="en-US" altLang="zh-CN" sz="1200"/>
              <a:t> </a:t>
            </a:r>
            <a:r>
              <a:rPr lang="ko-KR" altLang="en-US" sz="1200"/>
              <a:t>감소하지</a:t>
            </a:r>
            <a:r>
              <a:rPr lang="en-US" altLang="zh-CN" sz="1200"/>
              <a:t> </a:t>
            </a:r>
            <a:r>
              <a:rPr lang="ko-KR" altLang="en-US" sz="1200"/>
              <a:t>않음을</a:t>
            </a:r>
            <a:r>
              <a:rPr lang="en-US" altLang="zh-CN" sz="1200"/>
              <a:t> </a:t>
            </a:r>
            <a:r>
              <a:rPr lang="ko-KR" altLang="en-US" sz="1200"/>
              <a:t>의미하며</a:t>
            </a:r>
            <a:r>
              <a:rPr lang="en-US" altLang="zh-CN" sz="1200"/>
              <a:t>, </a:t>
            </a:r>
            <a:r>
              <a:rPr lang="ko-KR" altLang="en-US" sz="1200"/>
              <a:t>위험</a:t>
            </a:r>
            <a:r>
              <a:rPr lang="en-US" altLang="zh-CN" sz="1200"/>
              <a:t> </a:t>
            </a:r>
            <a:r>
              <a:rPr lang="ko-KR" altLang="en-US" sz="1200"/>
              <a:t>차이는</a:t>
            </a:r>
            <a:r>
              <a:rPr lang="en-US" altLang="zh-CN" sz="1200"/>
              <a:t> </a:t>
            </a:r>
            <a:r>
              <a:rPr lang="ko-KR" altLang="en-US" sz="1200"/>
              <a:t>주로</a:t>
            </a:r>
            <a:r>
              <a:rPr lang="en-US" altLang="zh-CN" sz="1200"/>
              <a:t> </a:t>
            </a:r>
            <a:r>
              <a:rPr lang="ko-KR" altLang="en-US" sz="1200"/>
              <a:t>산업</a:t>
            </a:r>
            <a:r>
              <a:rPr lang="en-US" altLang="zh-CN" sz="1200"/>
              <a:t> </a:t>
            </a:r>
            <a:r>
              <a:rPr lang="ko-KR" altLang="en-US" sz="1200"/>
              <a:t>자체</a:t>
            </a:r>
            <a:r>
              <a:rPr lang="en-US" altLang="zh-CN" sz="1200"/>
              <a:t> </a:t>
            </a:r>
            <a:r>
              <a:rPr lang="ko-KR" altLang="en-US" sz="1200"/>
              <a:t>특성</a:t>
            </a:r>
            <a:r>
              <a:rPr lang="en-US" altLang="zh-CN" sz="1200"/>
              <a:t> </a:t>
            </a:r>
            <a:r>
              <a:rPr lang="ko-KR" altLang="en-US" sz="1200"/>
              <a:t>등</a:t>
            </a:r>
            <a:r>
              <a:rPr lang="en-US" altLang="zh-CN" sz="1200"/>
              <a:t> </a:t>
            </a:r>
            <a:r>
              <a:rPr lang="ko-KR" altLang="en-US" sz="1200"/>
              <a:t>다른</a:t>
            </a:r>
            <a:r>
              <a:rPr lang="en-US" altLang="zh-CN" sz="1200"/>
              <a:t> </a:t>
            </a:r>
            <a:r>
              <a:rPr lang="ko-KR" altLang="en-US" sz="1200"/>
              <a:t>요인에</a:t>
            </a:r>
            <a:r>
              <a:rPr lang="en-US" altLang="zh-CN" sz="1200"/>
              <a:t> </a:t>
            </a:r>
            <a:r>
              <a:rPr lang="ko-KR" altLang="en-US" sz="1200"/>
              <a:t>의해</a:t>
            </a:r>
            <a:r>
              <a:rPr lang="en-US" altLang="zh-CN" sz="1200"/>
              <a:t> </a:t>
            </a:r>
            <a:r>
              <a:rPr lang="ko-KR" altLang="en-US" sz="1200"/>
              <a:t>결정된다</a:t>
            </a:r>
            <a:r>
              <a:rPr lang="en-US" altLang="zh-CN" sz="1200"/>
              <a:t>.</a:t>
            </a:r>
            <a:endParaRPr lang="en-US" altLang="zh-CN" sz="1200"/>
          </a:p>
          <a:p>
            <a:endParaRPr lang="en-US" altLang="zh-CN" sz="1200"/>
          </a:p>
          <a:p>
            <a:endParaRPr lang="en-US" altLang="zh-CN" sz="1200"/>
          </a:p>
          <a:p>
            <a:r>
              <a:rPr lang="zh-CN" altLang="en-US" sz="1200"/>
              <a:t>总结：从行业层面看，风险比与门店数量几乎没有线性关系（</a:t>
            </a:r>
            <a:r>
              <a:rPr lang="en-US" altLang="zh-CN" sz="1200"/>
              <a:t>R</a:t>
            </a:r>
            <a:r>
              <a:rPr lang="en-US" altLang="en-US" sz="1200"/>
              <a:t>²</a:t>
            </a:r>
            <a:r>
              <a:rPr lang="en-US" altLang="zh-CN" sz="1200"/>
              <a:t>≈0.02</a:t>
            </a:r>
            <a:r>
              <a:rPr lang="zh-CN" altLang="en-US" sz="1200"/>
              <a:t>，斜率略为负），说明行业规模越大并不会明显提高或降低</a:t>
            </a:r>
            <a:r>
              <a:rPr lang="en-US" altLang="zh-CN" sz="1200"/>
              <a:t>“</a:t>
            </a:r>
            <a:r>
              <a:rPr lang="zh-CN" altLang="en-US" sz="1200"/>
              <a:t>单店平均违规风险</a:t>
            </a:r>
            <a:r>
              <a:rPr lang="en-US" altLang="zh-CN" sz="1200"/>
              <a:t>”</a:t>
            </a:r>
            <a:r>
              <a:rPr lang="zh-CN" altLang="en-US" sz="1200"/>
              <a:t>，风险差异主要由行业自身特性等其他因素决定。</a:t>
            </a:r>
            <a:endParaRPr lang="zh-CN" altLang="en-US" sz="1200"/>
          </a:p>
        </p:txBody>
      </p:sp>
      <p:pic>
        <p:nvPicPr>
          <p:cNvPr id="2" name="图片 1" descr="分析4"/>
          <p:cNvPicPr>
            <a:picLocks noChangeAspect="1"/>
          </p:cNvPicPr>
          <p:nvPr/>
        </p:nvPicPr>
        <p:blipFill>
          <a:blip r:embed="rId2"/>
          <a:stretch>
            <a:fillRect/>
          </a:stretch>
        </p:blipFill>
        <p:spPr>
          <a:xfrm>
            <a:off x="304800" y="1837690"/>
            <a:ext cx="6098540" cy="462724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5655" y="63119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分析代码1"/>
          <p:cNvPicPr>
            <a:picLocks noChangeAspect="1"/>
          </p:cNvPicPr>
          <p:nvPr/>
        </p:nvPicPr>
        <p:blipFill>
          <a:blip r:embed="rId2"/>
          <a:stretch>
            <a:fillRect/>
          </a:stretch>
        </p:blipFill>
        <p:spPr>
          <a:xfrm>
            <a:off x="1515745" y="1076960"/>
            <a:ext cx="6112510" cy="574484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5655" y="63119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pic>
        <p:nvPicPr>
          <p:cNvPr id="2" name="图片 1" descr="C:/Users/LENOVO/Desktop/stt/homework/数据科学/分析代码2.png分析代码2"/>
          <p:cNvPicPr>
            <a:picLocks noChangeAspect="1"/>
          </p:cNvPicPr>
          <p:nvPr/>
        </p:nvPicPr>
        <p:blipFill>
          <a:blip r:embed="rId2"/>
          <a:srcRect t="1823" b="1823"/>
          <a:stretch>
            <a:fillRect/>
          </a:stretch>
        </p:blipFill>
        <p:spPr>
          <a:xfrm>
            <a:off x="1515745" y="1076960"/>
            <a:ext cx="6112510" cy="574484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795655" y="2070735"/>
            <a:ext cx="7755255" cy="4377690"/>
          </a:xfrm>
          <a:prstGeom prst="rect">
            <a:avLst/>
          </a:prstGeom>
          <a:noFill/>
        </p:spPr>
        <p:txBody>
          <a:bodyPr wrap="square" rtlCol="0">
            <a:noAutofit/>
          </a:bodyPr>
          <a:p>
            <a:r>
              <a:rPr lang="ko-KR" altLang="en-US" sz="1400">
                <a:latin typeface="宋体" panose="02010600030101010101" pitchFamily="2" charset="-122"/>
                <a:ea typeface="宋体" panose="02010600030101010101" pitchFamily="2" charset="-122"/>
                <a:cs typeface="宋体" panose="02010600030101010101" pitchFamily="2" charset="-122"/>
              </a:rPr>
              <a:t>종속변수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기업</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존속</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여부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존속</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여부는</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해당</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업태에서의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기업</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발전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상태를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증명하며</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존속이</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많을수록</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해당</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업태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시장</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환경이</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건강하고</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발전에</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적합함을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나타낸다</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반대로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발전에</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부적합하다</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ko-KR" altLang="en-US" sz="1400">
                <a:latin typeface="宋体" panose="02010600030101010101" pitchFamily="2" charset="-122"/>
                <a:ea typeface="宋体" panose="02010600030101010101" pitchFamily="2" charset="-122"/>
                <a:cs typeface="宋体" panose="02010600030101010101" pitchFamily="2" charset="-122"/>
              </a:rPr>
              <a:t>독립변수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처벌</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횟수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처벌</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유형</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지역</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업종</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등급</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등</a:t>
            </a:r>
            <a:endParaRPr lang="ko-KR" altLang="en-US" sz="1400">
              <a:latin typeface="宋体" panose="02010600030101010101" pitchFamily="2" charset="-122"/>
              <a:ea typeface="宋体" panose="02010600030101010101" pitchFamily="2" charset="-122"/>
              <a:cs typeface="宋体" panose="02010600030101010101" pitchFamily="2" charset="-122"/>
            </a:endParaRPr>
          </a:p>
          <a:p>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ko-KR" altLang="en-US" sz="1400">
                <a:latin typeface="宋体" panose="02010600030101010101" pitchFamily="2" charset="-122"/>
                <a:ea typeface="宋体" panose="02010600030101010101" pitchFamily="2" charset="-122"/>
                <a:cs typeface="宋体" panose="02010600030101010101" pitchFamily="2" charset="-122"/>
              </a:rPr>
              <a:t>서울시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음식점업</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행정처벌</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데이터를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기반으로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처벌</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총량</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ko-KR" altLang="en-US" sz="1400">
                <a:latin typeface="宋体" panose="02010600030101010101" pitchFamily="2" charset="-122"/>
                <a:ea typeface="宋体" panose="02010600030101010101" pitchFamily="2" charset="-122"/>
                <a:cs typeface="宋体" panose="02010600030101010101" pitchFamily="2" charset="-122"/>
              </a:rPr>
              <a:t>점포</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규모</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ko-KR" altLang="en-US" sz="1400">
                <a:latin typeface="宋体" panose="02010600030101010101" pitchFamily="2" charset="-122"/>
                <a:ea typeface="宋体" panose="02010600030101010101" pitchFamily="2" charset="-122"/>
                <a:cs typeface="宋体" panose="02010600030101010101" pitchFamily="2" charset="-122"/>
              </a:rPr>
              <a:t>단일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점포</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위험도</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ko-KR" altLang="en-US" sz="1400">
                <a:latin typeface="宋体" panose="02010600030101010101" pitchFamily="2" charset="-122"/>
                <a:ea typeface="宋体" panose="02010600030101010101" pitchFamily="2" charset="-122"/>
                <a:cs typeface="宋体" panose="02010600030101010101" pitchFamily="2" charset="-122"/>
              </a:rPr>
              <a:t>의</a:t>
            </a:r>
            <a:r>
              <a:rPr lang="en-US" altLang="zh-CN" sz="1400">
                <a:latin typeface="宋体" panose="02010600030101010101" pitchFamily="2" charset="-122"/>
                <a:ea typeface="宋体" panose="02010600030101010101" pitchFamily="2" charset="-122"/>
                <a:cs typeface="宋体" panose="02010600030101010101" pitchFamily="2" charset="-122"/>
              </a:rPr>
              <a:t> 3</a:t>
            </a:r>
            <a:r>
              <a:rPr lang="ko-KR" altLang="en-US" sz="1400">
                <a:latin typeface="宋体" panose="02010600030101010101" pitchFamily="2" charset="-122"/>
                <a:ea typeface="宋体" panose="02010600030101010101" pitchFamily="2" charset="-122"/>
                <a:cs typeface="宋体" panose="02010600030101010101" pitchFamily="2" charset="-122"/>
              </a:rPr>
              <a:t>단계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구조</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지표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체계를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구축하였다</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점포</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수를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규모</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변수로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처벌</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건수와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위험률을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결과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변수로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삼아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일반최소제곱회귀분석을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통해</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행정구역</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및</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업종</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차원의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규모</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효과와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구조적</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차이를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검증하였다</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zh-CN" altLang="en-US" sz="1400">
                <a:latin typeface="宋体" panose="02010600030101010101" pitchFamily="2" charset="-122"/>
                <a:ea typeface="宋体" panose="02010600030101010101" pitchFamily="2" charset="-122"/>
                <a:cs typeface="宋体" panose="02010600030101010101" pitchFamily="2" charset="-122"/>
              </a:rPr>
              <a:t>因变量：企业存续情况</a:t>
            </a:r>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zh-CN" altLang="en-US" sz="1400">
                <a:latin typeface="宋体" panose="02010600030101010101" pitchFamily="2" charset="-122"/>
                <a:ea typeface="宋体" panose="02010600030101010101" pitchFamily="2" charset="-122"/>
                <a:cs typeface="宋体" panose="02010600030101010101" pitchFamily="2" charset="-122"/>
              </a:rPr>
              <a:t>存续可证明企业在该业态的发展状况，存续多说明该业态市场环境健康，适合发展。反之不适合发展。</a:t>
            </a:r>
            <a:endParaRPr lang="zh-CN"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zh-CN" altLang="en-US" sz="1400">
                <a:latin typeface="宋体" panose="02010600030101010101" pitchFamily="2" charset="-122"/>
                <a:ea typeface="宋体" panose="02010600030101010101" pitchFamily="2" charset="-122"/>
                <a:cs typeface="宋体" panose="02010600030101010101" pitchFamily="2" charset="-122"/>
              </a:rPr>
              <a:t>自变量：处罚次数、处罚类型、地区风险、行业风险等级等</a:t>
            </a:r>
            <a:endParaRPr lang="zh-CN"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zh-CN" altLang="en-US" sz="1400">
                <a:latin typeface="宋体" panose="02010600030101010101" pitchFamily="2" charset="-122"/>
                <a:ea typeface="宋体" panose="02010600030101010101" pitchFamily="2" charset="-122"/>
                <a:cs typeface="宋体" panose="02010600030101010101" pitchFamily="2" charset="-122"/>
              </a:rPr>
              <a:t>基于首尔市餐饮业行政处罚数据构建了“处罚总量—店铺规模—单店风险”三层结构指标体系，以店铺数量作为规模变量，以处罚数量与风险率作为结果变量，运用普通最小二乘回归检验行政区与行业层面的规模效应与结构性风险差异。</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t> / </a:t>
            </a:r>
            <a:r>
              <a:rPr lang="zh-CN"/>
              <a:t>数据分析</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795655" y="2070735"/>
            <a:ext cx="3671570" cy="4075430"/>
          </a:xfrm>
          <a:prstGeom prst="rect">
            <a:avLst/>
          </a:prstGeom>
          <a:noFill/>
        </p:spPr>
        <p:txBody>
          <a:bodyPr wrap="square" rtlCol="0">
            <a:noAutofit/>
          </a:bodyPr>
          <a:p>
            <a:r>
              <a:rPr lang="zh-CN" altLang="en-US" sz="1400">
                <a:latin typeface="宋体" panose="02010600030101010101" pitchFamily="2" charset="-122"/>
                <a:ea typeface="宋体" panose="02010600030101010101" pitchFamily="2" charset="-122"/>
                <a:cs typeface="宋体" panose="02010600030101010101" pitchFamily="2" charset="-122"/>
              </a:rPr>
              <a:t>分析中用到的统计方法：</a:t>
            </a:r>
            <a:endParaRPr lang="zh-CN"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A.</a:t>
            </a:r>
            <a:r>
              <a:rPr lang="zh-CN" altLang="en-US" sz="1400">
                <a:latin typeface="宋体" panose="02010600030101010101" pitchFamily="2" charset="-122"/>
                <a:ea typeface="宋体" panose="02010600030101010101" pitchFamily="2" charset="-122"/>
                <a:cs typeface="宋体" panose="02010600030101010101" pitchFamily="2" charset="-122"/>
              </a:rPr>
              <a:t>归一化风险指标</a:t>
            </a:r>
            <a:r>
              <a:rPr lang="en-US" altLang="zh-CN" sz="1400">
                <a:latin typeface="宋体" panose="02010600030101010101" pitchFamily="2" charset="-122"/>
                <a:ea typeface="宋体" panose="02010600030101010101" pitchFamily="2" charset="-122"/>
                <a:cs typeface="宋体" panose="02010600030101010101" pitchFamily="2" charset="-122"/>
              </a:rPr>
              <a:t>(Risk Normalization)</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zh-CN" altLang="en-US" sz="1400">
                <a:latin typeface="宋体" panose="02010600030101010101" pitchFamily="2" charset="-122"/>
                <a:ea typeface="宋体" panose="02010600030101010101" pitchFamily="2" charset="-122"/>
                <a:cs typeface="宋体" panose="02010600030101010101" pitchFamily="2" charset="-122"/>
              </a:rPr>
              <a:t>用</a:t>
            </a:r>
            <a:r>
              <a:rPr lang="en-US" altLang="zh-CN" sz="1400">
                <a:latin typeface="宋体" panose="02010600030101010101" pitchFamily="2" charset="-122"/>
                <a:ea typeface="宋体" panose="02010600030101010101" pitchFamily="2" charset="-122"/>
                <a:cs typeface="宋体" panose="02010600030101010101" pitchFamily="2" charset="-122"/>
              </a:rPr>
              <a:t> penalty_count/store count </a:t>
            </a:r>
            <a:r>
              <a:rPr lang="zh-CN" altLang="en-US" sz="1400">
                <a:latin typeface="宋体" panose="02010600030101010101" pitchFamily="2" charset="-122"/>
                <a:ea typeface="宋体" panose="02010600030101010101" pitchFamily="2" charset="-122"/>
                <a:cs typeface="宋体" panose="02010600030101010101" pitchFamily="2" charset="-122"/>
              </a:rPr>
              <a:t>得到</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zh-CN" altLang="en-US" sz="1400">
                <a:latin typeface="宋体" panose="02010600030101010101" pitchFamily="2" charset="-122"/>
                <a:ea typeface="宋体" panose="02010600030101010101" pitchFamily="2" charset="-122"/>
                <a:cs typeface="宋体" panose="02010600030101010101" pitchFamily="2" charset="-122"/>
              </a:rPr>
              <a:t>单店风险</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zh-CN" altLang="en-US" sz="1400">
                <a:latin typeface="宋体" panose="02010600030101010101" pitchFamily="2" charset="-122"/>
                <a:ea typeface="宋体" panose="02010600030101010101" pitchFamily="2" charset="-122"/>
                <a:cs typeface="宋体" panose="02010600030101010101" pitchFamily="2" charset="-122"/>
              </a:rPr>
              <a:t>指标</a:t>
            </a:r>
            <a:endParaRPr lang="zh-CN"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B.</a:t>
            </a:r>
            <a:r>
              <a:rPr lang="zh-CN" altLang="en-US" sz="1400">
                <a:latin typeface="宋体" panose="02010600030101010101" pitchFamily="2" charset="-122"/>
                <a:ea typeface="宋体" panose="02010600030101010101" pitchFamily="2" charset="-122"/>
                <a:cs typeface="宋体" panose="02010600030101010101" pitchFamily="2" charset="-122"/>
              </a:rPr>
              <a:t>一元线性回归</a:t>
            </a:r>
            <a:r>
              <a:rPr lang="en-US" altLang="zh-CN" sz="1400">
                <a:latin typeface="宋体" panose="02010600030101010101" pitchFamily="2" charset="-122"/>
                <a:ea typeface="宋体" panose="02010600030101010101" pitchFamily="2" charset="-122"/>
                <a:cs typeface="宋体" panose="02010600030101010101" pitchFamily="2" charset="-122"/>
              </a:rPr>
              <a:t>(Simple Linear Regression/OLS)</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zh-CN" altLang="en-US" sz="1400">
                <a:latin typeface="宋体" panose="02010600030101010101" pitchFamily="2" charset="-122"/>
                <a:ea typeface="宋体" panose="02010600030101010101" pitchFamily="2" charset="-122"/>
                <a:cs typeface="宋体" panose="02010600030101010101" pitchFamily="2" charset="-122"/>
              </a:rPr>
              <a:t>用于判断</a:t>
            </a:r>
            <a:r>
              <a:rPr lang="en-US" altLang="zh-CN" sz="1400">
                <a:latin typeface="宋体" panose="02010600030101010101" pitchFamily="2" charset="-122"/>
                <a:ea typeface="宋体" panose="02010600030101010101" pitchFamily="2" charset="-122"/>
                <a:cs typeface="宋体" panose="02010600030101010101" pitchFamily="2" charset="-122"/>
              </a:rPr>
              <a:t> risk ratio </a:t>
            </a:r>
            <a:r>
              <a:rPr lang="zh-CN" altLang="en-US" sz="1400">
                <a:latin typeface="宋体" panose="02010600030101010101" pitchFamily="2" charset="-122"/>
                <a:ea typeface="宋体" panose="02010600030101010101" pitchFamily="2" charset="-122"/>
                <a:cs typeface="宋体" panose="02010600030101010101" pitchFamily="2" charset="-122"/>
              </a:rPr>
              <a:t>与</a:t>
            </a:r>
            <a:r>
              <a:rPr lang="en-US" altLang="zh-CN" sz="1400">
                <a:latin typeface="宋体" panose="02010600030101010101" pitchFamily="2" charset="-122"/>
                <a:ea typeface="宋体" panose="02010600030101010101" pitchFamily="2" charset="-122"/>
                <a:cs typeface="宋体" panose="02010600030101010101" pitchFamily="2" charset="-122"/>
              </a:rPr>
              <a:t> store count </a:t>
            </a:r>
            <a:r>
              <a:rPr lang="zh-CN" altLang="en-US" sz="1400">
                <a:latin typeface="宋体" panose="02010600030101010101" pitchFamily="2" charset="-122"/>
                <a:ea typeface="宋体" panose="02010600030101010101" pitchFamily="2" charset="-122"/>
                <a:cs typeface="宋体" panose="02010600030101010101" pitchFamily="2" charset="-122"/>
              </a:rPr>
              <a:t>是否存在统计关系</a:t>
            </a:r>
            <a:endParaRPr lang="zh-CN"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C.</a:t>
            </a:r>
            <a:r>
              <a:rPr lang="zh-CN" altLang="en-US" sz="1400">
                <a:latin typeface="宋体" panose="02010600030101010101" pitchFamily="2" charset="-122"/>
                <a:ea typeface="宋体" panose="02010600030101010101" pitchFamily="2" charset="-122"/>
                <a:cs typeface="宋体" panose="02010600030101010101" pitchFamily="2" charset="-122"/>
              </a:rPr>
              <a:t>显著性检验</a:t>
            </a:r>
            <a:r>
              <a:rPr lang="en-US" altLang="zh-CN" sz="1400">
                <a:latin typeface="宋体" panose="02010600030101010101" pitchFamily="2" charset="-122"/>
                <a:ea typeface="宋体" panose="02010600030101010101" pitchFamily="2" charset="-122"/>
                <a:cs typeface="宋体" panose="02010600030101010101" pitchFamily="2" charset="-122"/>
              </a:rPr>
              <a:t>(Hypothesis Testing)</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zh-CN" altLang="en-US" sz="1400">
                <a:latin typeface="宋体" panose="02010600030101010101" pitchFamily="2" charset="-122"/>
                <a:ea typeface="宋体" panose="02010600030101010101" pitchFamily="2" charset="-122"/>
                <a:cs typeface="宋体" panose="02010600030101010101" pitchFamily="2" charset="-122"/>
              </a:rPr>
              <a:t>假设检验</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pPr marL="457200" lvl="1" indent="457200"/>
            <a:r>
              <a:rPr lang="en-US" altLang="zh-CN" sz="1400">
                <a:latin typeface="宋体" panose="02010600030101010101" pitchFamily="2" charset="-122"/>
                <a:ea typeface="宋体" panose="02010600030101010101" pitchFamily="2" charset="-122"/>
                <a:cs typeface="宋体" panose="02010600030101010101" pitchFamily="2" charset="-122"/>
              </a:rPr>
              <a:t>Ho:β=0(</a:t>
            </a:r>
            <a:r>
              <a:rPr lang="zh-CN" altLang="en-US" sz="1400">
                <a:latin typeface="宋体" panose="02010600030101010101" pitchFamily="2" charset="-122"/>
                <a:ea typeface="宋体" panose="02010600030101010101" pitchFamily="2" charset="-122"/>
                <a:cs typeface="宋体" panose="02010600030101010101" pitchFamily="2" charset="-122"/>
              </a:rPr>
              <a:t>风险率与规模无关</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pPr marL="457200" lvl="1" indent="457200"/>
            <a:r>
              <a:rPr lang="en-US" altLang="zh-CN" sz="1400">
                <a:latin typeface="宋体" panose="02010600030101010101" pitchFamily="2" charset="-122"/>
                <a:ea typeface="宋体" panose="02010600030101010101" pitchFamily="2" charset="-122"/>
                <a:cs typeface="宋体" panose="02010600030101010101" pitchFamily="2" charset="-122"/>
              </a:rPr>
              <a:t>H:β≠0(</a:t>
            </a:r>
            <a:r>
              <a:rPr lang="zh-CN" altLang="en-US" sz="1400">
                <a:latin typeface="宋体" panose="02010600030101010101" pitchFamily="2" charset="-122"/>
                <a:ea typeface="宋体" panose="02010600030101010101" pitchFamily="2" charset="-122"/>
                <a:cs typeface="宋体" panose="02010600030101010101" pitchFamily="2" charset="-122"/>
              </a:rPr>
              <a:t>风险率与规模有关</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pPr marL="457200" lvl="1" indent="457200"/>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D.</a:t>
            </a:r>
            <a:r>
              <a:rPr lang="zh-CN" altLang="en-US" sz="1400">
                <a:latin typeface="宋体" panose="02010600030101010101" pitchFamily="2" charset="-122"/>
                <a:ea typeface="宋体" panose="02010600030101010101" pitchFamily="2" charset="-122"/>
                <a:cs typeface="宋体" panose="02010600030101010101" pitchFamily="2" charset="-122"/>
              </a:rPr>
              <a:t>可视化检验</a:t>
            </a:r>
            <a:r>
              <a:rPr lang="en-US" altLang="zh-CN" sz="1400">
                <a:latin typeface="宋体" panose="02010600030101010101" pitchFamily="2" charset="-122"/>
                <a:ea typeface="宋体" panose="02010600030101010101" pitchFamily="2" charset="-122"/>
                <a:cs typeface="宋体" panose="02010600030101010101" pitchFamily="2" charset="-122"/>
              </a:rPr>
              <a:t>(Scatter +Regression Line)</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zh-CN" altLang="en-US" sz="1400">
                <a:latin typeface="宋体" panose="02010600030101010101" pitchFamily="2" charset="-122"/>
                <a:ea typeface="宋体" panose="02010600030101010101" pitchFamily="2" charset="-122"/>
                <a:cs typeface="宋体" panose="02010600030101010101" pitchFamily="2" charset="-122"/>
              </a:rPr>
              <a:t>把</a:t>
            </a:r>
            <a:r>
              <a:rPr lang="en-US" altLang="zh-CN" sz="1400">
                <a:latin typeface="宋体" panose="02010600030101010101" pitchFamily="2" charset="-122"/>
                <a:ea typeface="宋体" panose="02010600030101010101" pitchFamily="2" charset="-122"/>
                <a:cs typeface="宋体" panose="02010600030101010101" pitchFamily="2" charset="-122"/>
              </a:rPr>
              <a:t> risk ratio </a:t>
            </a:r>
            <a:r>
              <a:rPr lang="zh-CN" altLang="en-US" sz="1400">
                <a:latin typeface="宋体" panose="02010600030101010101" pitchFamily="2" charset="-122"/>
                <a:ea typeface="宋体" panose="02010600030101010101" pitchFamily="2" charset="-122"/>
                <a:cs typeface="宋体" panose="02010600030101010101" pitchFamily="2" charset="-122"/>
              </a:rPr>
              <a:t>作为</a:t>
            </a:r>
            <a:r>
              <a:rPr lang="en-US" altLang="zh-CN" sz="1400">
                <a:latin typeface="宋体" panose="02010600030101010101" pitchFamily="2" charset="-122"/>
                <a:ea typeface="宋体" panose="02010600030101010101" pitchFamily="2" charset="-122"/>
                <a:cs typeface="宋体" panose="02010600030101010101" pitchFamily="2" charset="-122"/>
              </a:rPr>
              <a:t> Y,</a:t>
            </a:r>
            <a:r>
              <a:rPr lang="zh-CN" altLang="en-US" sz="1400">
                <a:latin typeface="宋体" panose="02010600030101010101" pitchFamily="2" charset="-122"/>
                <a:ea typeface="宋体" panose="02010600030101010101" pitchFamily="2" charset="-122"/>
                <a:cs typeface="宋体" panose="02010600030101010101" pitchFamily="2" charset="-122"/>
              </a:rPr>
              <a:t>把</a:t>
            </a:r>
            <a:r>
              <a:rPr lang="en-US" altLang="zh-CN" sz="1400">
                <a:latin typeface="宋体" panose="02010600030101010101" pitchFamily="2" charset="-122"/>
                <a:ea typeface="宋体" panose="02010600030101010101" pitchFamily="2" charset="-122"/>
                <a:cs typeface="宋体" panose="02010600030101010101" pitchFamily="2" charset="-122"/>
              </a:rPr>
              <a:t> store count </a:t>
            </a:r>
            <a:r>
              <a:rPr lang="zh-CN" altLang="en-US" sz="1400">
                <a:latin typeface="宋体" panose="02010600030101010101" pitchFamily="2" charset="-122"/>
                <a:ea typeface="宋体" panose="02010600030101010101" pitchFamily="2" charset="-122"/>
                <a:cs typeface="宋体" panose="02010600030101010101" pitchFamily="2" charset="-122"/>
              </a:rPr>
              <a:t>作为</a:t>
            </a:r>
            <a:r>
              <a:rPr lang="en-US" altLang="zh-CN" sz="1400">
                <a:latin typeface="宋体" panose="02010600030101010101" pitchFamily="2" charset="-122"/>
                <a:ea typeface="宋体" panose="02010600030101010101" pitchFamily="2" charset="-122"/>
                <a:cs typeface="宋体" panose="02010600030101010101" pitchFamily="2" charset="-122"/>
              </a:rPr>
              <a:t>X</a:t>
            </a:r>
            <a:r>
              <a:rPr lang="zh-CN" altLang="en-US" sz="1400">
                <a:latin typeface="宋体" panose="02010600030101010101" pitchFamily="2" charset="-122"/>
                <a:ea typeface="宋体" panose="02010600030101010101" pitchFamily="2" charset="-122"/>
                <a:cs typeface="宋体" panose="02010600030101010101" pitchFamily="2" charset="-122"/>
              </a:rPr>
              <a:t>。看趋势是否明显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4925060" y="2070735"/>
            <a:ext cx="3671570" cy="4075430"/>
          </a:xfrm>
          <a:prstGeom prst="rect">
            <a:avLst/>
          </a:prstGeom>
          <a:noFill/>
        </p:spPr>
        <p:txBody>
          <a:bodyPr wrap="square" rtlCol="0">
            <a:noAutofit/>
          </a:bodyPr>
          <a:p>
            <a:r>
              <a:rPr lang="ko-KR" altLang="en-US" sz="1400">
                <a:latin typeface="宋体" panose="02010600030101010101" pitchFamily="2" charset="-122"/>
                <a:ea typeface="宋体" panose="02010600030101010101" pitchFamily="2" charset="-122"/>
                <a:cs typeface="宋体" panose="02010600030101010101" pitchFamily="2" charset="-122"/>
              </a:rPr>
              <a:t>분석에</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사용된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통계</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방법</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A.</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정상화</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지표</a:t>
            </a:r>
            <a:r>
              <a:rPr lang="en-US" altLang="zh-CN" sz="1400">
                <a:latin typeface="宋体" panose="02010600030101010101" pitchFamily="2" charset="-122"/>
                <a:ea typeface="宋体" panose="02010600030101010101" pitchFamily="2" charset="-122"/>
                <a:cs typeface="宋体" panose="02010600030101010101" pitchFamily="2" charset="-122"/>
              </a:rPr>
              <a:t>(Risk Normalization)</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penalty_count/store count</a:t>
            </a:r>
            <a:r>
              <a:rPr lang="ko-KR" altLang="en-US" sz="1400">
                <a:latin typeface="宋体" panose="02010600030101010101" pitchFamily="2" charset="-122"/>
                <a:ea typeface="宋体" panose="02010600030101010101" pitchFamily="2" charset="-122"/>
                <a:cs typeface="宋体" panose="02010600030101010101" pitchFamily="2" charset="-122"/>
              </a:rPr>
              <a:t>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단일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매장</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지표를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산출합니다</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B.</a:t>
            </a:r>
            <a:r>
              <a:rPr lang="ko-KR" altLang="en-US" sz="1400">
                <a:latin typeface="宋体" panose="02010600030101010101" pitchFamily="2" charset="-122"/>
                <a:ea typeface="宋体" panose="02010600030101010101" pitchFamily="2" charset="-122"/>
                <a:cs typeface="宋体" panose="02010600030101010101" pitchFamily="2" charset="-122"/>
              </a:rPr>
              <a:t>단순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선형</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회귀</a:t>
            </a:r>
            <a:r>
              <a:rPr lang="en-US" altLang="zh-CN" sz="1400">
                <a:latin typeface="宋体" panose="02010600030101010101" pitchFamily="2" charset="-122"/>
                <a:ea typeface="宋体" panose="02010600030101010101" pitchFamily="2" charset="-122"/>
                <a:cs typeface="宋体" panose="02010600030101010101" pitchFamily="2" charset="-122"/>
              </a:rPr>
              <a:t>(Simple Linear Regression/OLS)</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비율과</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매장</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사이에</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통계적</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관계가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있는지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판단하기</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위한</a:t>
            </a:r>
            <a:endParaRPr lang="ko-KR" altLang="en-US" sz="1400">
              <a:latin typeface="宋体" panose="02010600030101010101" pitchFamily="2" charset="-122"/>
              <a:ea typeface="宋体" panose="02010600030101010101" pitchFamily="2" charset="-122"/>
              <a:cs typeface="宋体" panose="02010600030101010101" pitchFamily="2" charset="-122"/>
            </a:endParaRPr>
          </a:p>
          <a:p>
            <a:endParaRPr lang="zh-CN" altLang="en-US"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C.</a:t>
            </a:r>
            <a:r>
              <a:rPr lang="ko-KR" altLang="en-US" sz="1400">
                <a:latin typeface="宋体" panose="02010600030101010101" pitchFamily="2" charset="-122"/>
                <a:ea typeface="宋体" panose="02010600030101010101" pitchFamily="2" charset="-122"/>
                <a:cs typeface="宋体" panose="02010600030101010101" pitchFamily="2" charset="-122"/>
              </a:rPr>
              <a:t>유의성</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검정</a:t>
            </a:r>
            <a:r>
              <a:rPr lang="en-US" altLang="zh-CN" sz="1400">
                <a:latin typeface="宋体" panose="02010600030101010101" pitchFamily="2" charset="-122"/>
                <a:ea typeface="宋体" panose="02010600030101010101" pitchFamily="2" charset="-122"/>
                <a:cs typeface="宋体" panose="02010600030101010101" pitchFamily="2" charset="-122"/>
              </a:rPr>
              <a:t>(Hypothesis Testing)</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가설</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검정</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Ho: β=0 (</a:t>
            </a:r>
            <a:r>
              <a:rPr lang="ko-KR" altLang="en-US" sz="1400">
                <a:latin typeface="宋体" panose="02010600030101010101" pitchFamily="2" charset="-122"/>
                <a:ea typeface="宋体" panose="02010600030101010101" pitchFamily="2" charset="-122"/>
                <a:cs typeface="宋体" panose="02010600030101010101" pitchFamily="2" charset="-122"/>
              </a:rPr>
              <a:t>위험률이</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규모와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무관함</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H: β≠0 (</a:t>
            </a:r>
            <a:r>
              <a:rPr lang="ko-KR" altLang="en-US" sz="1400">
                <a:latin typeface="宋体" panose="02010600030101010101" pitchFamily="2" charset="-122"/>
                <a:ea typeface="宋体" panose="02010600030101010101" pitchFamily="2" charset="-122"/>
                <a:cs typeface="宋体" panose="02010600030101010101" pitchFamily="2" charset="-122"/>
              </a:rPr>
              <a:t>위험률이</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규모와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관련됨</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pPr marL="457200" lvl="1" indent="457200"/>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D.</a:t>
            </a:r>
            <a:r>
              <a:rPr lang="ko-KR" altLang="en-US" sz="1400">
                <a:latin typeface="宋体" panose="02010600030101010101" pitchFamily="2" charset="-122"/>
                <a:ea typeface="宋体" panose="02010600030101010101" pitchFamily="2" charset="-122"/>
                <a:cs typeface="宋体" panose="02010600030101010101" pitchFamily="2" charset="-122"/>
              </a:rPr>
              <a:t>시각화</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검정</a:t>
            </a:r>
            <a:r>
              <a:rPr lang="en-US" altLang="zh-CN" sz="1400">
                <a:latin typeface="宋体" panose="02010600030101010101" pitchFamily="2" charset="-122"/>
                <a:ea typeface="宋体" panose="02010600030101010101" pitchFamily="2" charset="-122"/>
                <a:cs typeface="宋体" panose="02010600030101010101" pitchFamily="2" charset="-122"/>
              </a:rPr>
              <a:t>(</a:t>
            </a:r>
            <a:r>
              <a:rPr lang="ko-KR" altLang="en-US" sz="1400">
                <a:latin typeface="宋体" panose="02010600030101010101" pitchFamily="2" charset="-122"/>
                <a:ea typeface="宋体" panose="02010600030101010101" pitchFamily="2" charset="-122"/>
                <a:cs typeface="宋体" panose="02010600030101010101" pitchFamily="2" charset="-122"/>
              </a:rPr>
              <a:t>산점도</a:t>
            </a:r>
            <a:r>
              <a:rPr lang="en-US" altLang="zh-CN" sz="1400">
                <a:latin typeface="宋体" panose="02010600030101010101" pitchFamily="2" charset="-122"/>
                <a:ea typeface="宋体" panose="02010600030101010101" pitchFamily="2" charset="-122"/>
                <a:cs typeface="宋体" panose="02010600030101010101" pitchFamily="2" charset="-122"/>
              </a:rPr>
              <a:t> + </a:t>
            </a:r>
            <a:r>
              <a:rPr lang="ko-KR" altLang="en-US" sz="1400">
                <a:latin typeface="宋体" panose="02010600030101010101" pitchFamily="2" charset="-122"/>
                <a:ea typeface="宋体" panose="02010600030101010101" pitchFamily="2" charset="-122"/>
                <a:cs typeface="宋体" panose="02010600030101010101" pitchFamily="2" charset="-122"/>
              </a:rPr>
              <a:t>회귀선</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a:p>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위험</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비율을</a:t>
            </a:r>
            <a:r>
              <a:rPr lang="en-US" altLang="zh-CN" sz="1400">
                <a:latin typeface="宋体" panose="02010600030101010101" pitchFamily="2" charset="-122"/>
                <a:ea typeface="宋体" panose="02010600030101010101" pitchFamily="2" charset="-122"/>
                <a:cs typeface="宋体" panose="02010600030101010101" pitchFamily="2" charset="-122"/>
              </a:rPr>
              <a:t> Y</a:t>
            </a:r>
            <a:r>
              <a:rPr lang="ko-KR" altLang="en-US" sz="1400">
                <a:latin typeface="宋体" panose="02010600030101010101" pitchFamily="2" charset="-122"/>
                <a:ea typeface="宋体" panose="02010600030101010101" pitchFamily="2" charset="-122"/>
                <a:cs typeface="宋体" panose="02010600030101010101" pitchFamily="2" charset="-122"/>
              </a:rPr>
              <a:t>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매장</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수를</a:t>
            </a:r>
            <a:r>
              <a:rPr lang="en-US" altLang="zh-CN" sz="1400">
                <a:latin typeface="宋体" panose="02010600030101010101" pitchFamily="2" charset="-122"/>
                <a:ea typeface="宋体" panose="02010600030101010101" pitchFamily="2" charset="-122"/>
                <a:cs typeface="宋体" panose="02010600030101010101" pitchFamily="2" charset="-122"/>
              </a:rPr>
              <a:t> X</a:t>
            </a:r>
            <a:r>
              <a:rPr lang="ko-KR" altLang="en-US" sz="1400">
                <a:latin typeface="宋体" panose="02010600030101010101" pitchFamily="2" charset="-122"/>
                <a:ea typeface="宋体" panose="02010600030101010101" pitchFamily="2" charset="-122"/>
                <a:cs typeface="宋体" panose="02010600030101010101" pitchFamily="2" charset="-122"/>
              </a:rPr>
              <a:t>로</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설정합니다</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추세가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뚜렷한지</a:t>
            </a:r>
            <a:r>
              <a:rPr lang="en-US" altLang="zh-CN" sz="1400">
                <a:latin typeface="宋体" panose="02010600030101010101" pitchFamily="2" charset="-122"/>
                <a:ea typeface="宋体" panose="02010600030101010101" pitchFamily="2" charset="-122"/>
                <a:cs typeface="宋体" panose="02010600030101010101" pitchFamily="2" charset="-122"/>
              </a:rPr>
              <a:t> </a:t>
            </a:r>
            <a:r>
              <a:rPr lang="ko-KR" altLang="en-US" sz="1400">
                <a:latin typeface="宋体" panose="02010600030101010101" pitchFamily="2" charset="-122"/>
                <a:ea typeface="宋体" panose="02010600030101010101" pitchFamily="2" charset="-122"/>
                <a:cs typeface="宋体" panose="02010600030101010101" pitchFamily="2" charset="-122"/>
              </a:rPr>
              <a:t>확인합니다</a:t>
            </a:r>
            <a:r>
              <a:rPr lang="en-US" altLang="zh-CN" sz="1400">
                <a:latin typeface="宋体" panose="02010600030101010101" pitchFamily="2" charset="-122"/>
                <a:ea typeface="宋体" panose="02010600030101010101" pitchFamily="2" charset="-122"/>
                <a:cs typeface="宋体" panose="02010600030101010101" pitchFamily="2" charset="-122"/>
              </a:rPr>
              <a:t>.</a:t>
            </a:r>
            <a:endParaRPr lang="en-US" altLang="zh-CN"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rPr lang="en-US" altLang="zh-CN"/>
              <a:t> </a:t>
            </a:r>
            <a:r>
              <a:rPr lang="ko-KR" altLang="en-US"/>
              <a:t>결과</a:t>
            </a:r>
            <a:r>
              <a:t> / </a:t>
            </a:r>
            <a:r>
              <a:rPr lang="zh-CN"/>
              <a:t>数据分析结果</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795655" y="2070735"/>
            <a:ext cx="7755255" cy="4075430"/>
          </a:xfrm>
          <a:prstGeom prst="rect">
            <a:avLst/>
          </a:prstGeom>
          <a:noFill/>
        </p:spPr>
        <p:txBody>
          <a:bodyPr wrap="square" rtlCol="0">
            <a:noAutofit/>
          </a:bodyPr>
          <a:p>
            <a:r>
              <a:rPr lang="en-US" altLang="zh-CN" sz="1400"/>
              <a:t>1. </a:t>
            </a:r>
            <a:r>
              <a:rPr lang="ko-KR" altLang="en-US" sz="1400"/>
              <a:t>서울</a:t>
            </a:r>
            <a:r>
              <a:rPr lang="en-US" altLang="zh-CN" sz="1400"/>
              <a:t> </a:t>
            </a:r>
            <a:r>
              <a:rPr lang="ko-KR" altLang="en-US" sz="1400"/>
              <a:t>지역의</a:t>
            </a:r>
            <a:r>
              <a:rPr lang="en-US" altLang="zh-CN" sz="1400"/>
              <a:t> </a:t>
            </a:r>
            <a:r>
              <a:rPr lang="ko-KR" altLang="en-US" sz="1400"/>
              <a:t>처벌은</a:t>
            </a:r>
            <a:r>
              <a:rPr lang="en-US" altLang="zh-CN" sz="1400"/>
              <a:t> ‘</a:t>
            </a:r>
            <a:r>
              <a:rPr lang="ko-KR" altLang="en-US" sz="1400"/>
              <a:t>중벌형</a:t>
            </a:r>
            <a:r>
              <a:rPr lang="en-US" altLang="zh-CN" sz="1400"/>
              <a:t>’ </a:t>
            </a:r>
            <a:r>
              <a:rPr lang="ko-KR" altLang="en-US" sz="1400"/>
              <a:t>조치인</a:t>
            </a:r>
            <a:endParaRPr lang="ko-KR" altLang="en-US" sz="1400"/>
          </a:p>
          <a:p>
            <a:r>
              <a:rPr lang="en-US" altLang="zh-CN" sz="1400"/>
              <a:t> </a:t>
            </a:r>
            <a:r>
              <a:rPr lang="ko-KR" altLang="en-US" sz="1400"/>
              <a:t>직권말소</a:t>
            </a:r>
            <a:r>
              <a:rPr lang="en-US" altLang="zh-CN" sz="1400"/>
              <a:t>, </a:t>
            </a:r>
            <a:r>
              <a:rPr lang="ko-KR" altLang="en-US" sz="1400"/>
              <a:t>영업정지</a:t>
            </a:r>
            <a:r>
              <a:rPr lang="en-US" altLang="zh-CN" sz="1400"/>
              <a:t>, </a:t>
            </a:r>
            <a:r>
              <a:rPr lang="ko-KR" altLang="en-US" sz="1400"/>
              <a:t>영업소폐쇄</a:t>
            </a:r>
            <a:r>
              <a:rPr lang="en-US" altLang="zh-CN" sz="1400"/>
              <a:t>, </a:t>
            </a:r>
            <a:r>
              <a:rPr lang="ko-KR" altLang="en-US" sz="1400"/>
              <a:t>과징금부과</a:t>
            </a:r>
            <a:r>
              <a:rPr lang="en-US" altLang="zh-CN" sz="1400"/>
              <a:t> </a:t>
            </a:r>
            <a:r>
              <a:rPr lang="ko-KR" altLang="en-US" sz="1400"/>
              <a:t>등</a:t>
            </a:r>
            <a:r>
              <a:rPr lang="en-US" altLang="zh-CN" sz="1400"/>
              <a:t> </a:t>
            </a:r>
            <a:r>
              <a:rPr lang="ko-KR" altLang="en-US" sz="1400"/>
              <a:t>네</a:t>
            </a:r>
            <a:r>
              <a:rPr lang="en-US" altLang="zh-CN" sz="1400"/>
              <a:t> </a:t>
            </a:r>
            <a:r>
              <a:rPr lang="ko-KR" altLang="en-US" sz="1400"/>
              <a:t>가지</a:t>
            </a:r>
            <a:r>
              <a:rPr lang="en-US" altLang="zh-CN" sz="1400"/>
              <a:t> </a:t>
            </a:r>
            <a:r>
              <a:rPr lang="ko-KR" altLang="en-US" sz="1400"/>
              <a:t>유형에</a:t>
            </a:r>
            <a:r>
              <a:rPr lang="en-US" altLang="zh-CN" sz="1400"/>
              <a:t> </a:t>
            </a:r>
            <a:r>
              <a:rPr lang="ko-KR" altLang="en-US" sz="1400"/>
              <a:t>집중되어</a:t>
            </a:r>
            <a:r>
              <a:rPr lang="en-US" altLang="zh-CN" sz="1400"/>
              <a:t> </a:t>
            </a:r>
            <a:r>
              <a:rPr lang="ko-KR" altLang="en-US" sz="1400"/>
              <a:t>대부분의</a:t>
            </a:r>
            <a:r>
              <a:rPr lang="en-US" altLang="zh-CN" sz="1400"/>
              <a:t> </a:t>
            </a:r>
            <a:r>
              <a:rPr lang="ko-KR" altLang="en-US" sz="1400"/>
              <a:t>기록을</a:t>
            </a:r>
            <a:r>
              <a:rPr lang="en-US" altLang="zh-CN" sz="1400"/>
              <a:t> </a:t>
            </a:r>
            <a:r>
              <a:rPr lang="ko-KR" altLang="en-US" sz="1400"/>
              <a:t>차지한다</a:t>
            </a:r>
            <a:r>
              <a:rPr lang="en-US" altLang="zh-CN" sz="1400"/>
              <a:t>. </a:t>
            </a:r>
            <a:r>
              <a:rPr lang="ko-KR" altLang="en-US" sz="1400"/>
              <a:t>서울</a:t>
            </a:r>
            <a:r>
              <a:rPr lang="en-US" altLang="zh-CN" sz="1400"/>
              <a:t> </a:t>
            </a:r>
            <a:r>
              <a:rPr lang="ko-KR" altLang="en-US" sz="1400"/>
              <a:t>음식점</a:t>
            </a:r>
            <a:r>
              <a:rPr lang="en-US" altLang="zh-CN" sz="1400"/>
              <a:t> </a:t>
            </a:r>
            <a:r>
              <a:rPr lang="ko-KR" altLang="en-US" sz="1400"/>
              <a:t>업계의</a:t>
            </a:r>
            <a:r>
              <a:rPr lang="en-US" altLang="zh-CN" sz="1400"/>
              <a:t> </a:t>
            </a:r>
            <a:r>
              <a:rPr lang="ko-KR" altLang="en-US" sz="1400"/>
              <a:t>규제는</a:t>
            </a:r>
            <a:r>
              <a:rPr lang="en-US" altLang="zh-CN" sz="1400"/>
              <a:t> '</a:t>
            </a:r>
            <a:r>
              <a:rPr lang="ko-KR" altLang="en-US" sz="1400"/>
              <a:t>경고성</a:t>
            </a:r>
            <a:r>
              <a:rPr lang="en-US" altLang="zh-CN" sz="1400"/>
              <a:t> </a:t>
            </a:r>
            <a:r>
              <a:rPr lang="ko-KR" altLang="en-US" sz="1400"/>
              <a:t>조치</a:t>
            </a:r>
            <a:r>
              <a:rPr lang="en-US" altLang="zh-CN" sz="1400"/>
              <a:t>'</a:t>
            </a:r>
            <a:r>
              <a:rPr lang="ko-KR" altLang="en-US" sz="1400"/>
              <a:t>가</a:t>
            </a:r>
            <a:r>
              <a:rPr lang="en-US" altLang="zh-CN" sz="1400"/>
              <a:t> </a:t>
            </a:r>
            <a:r>
              <a:rPr lang="ko-KR" altLang="en-US" sz="1400"/>
              <a:t>아니라</a:t>
            </a:r>
            <a:r>
              <a:rPr lang="en-US" altLang="zh-CN" sz="1400"/>
              <a:t> </a:t>
            </a:r>
            <a:r>
              <a:rPr lang="ko-KR" altLang="en-US" sz="1400"/>
              <a:t>문제가</a:t>
            </a:r>
            <a:r>
              <a:rPr lang="en-US" altLang="zh-CN" sz="1400"/>
              <a:t> </a:t>
            </a:r>
            <a:r>
              <a:rPr lang="ko-KR" altLang="en-US" sz="1400"/>
              <a:t>발견되면</a:t>
            </a:r>
            <a:r>
              <a:rPr lang="en-US" altLang="zh-CN" sz="1400"/>
              <a:t> </a:t>
            </a:r>
            <a:r>
              <a:rPr lang="ko-KR" altLang="en-US" sz="1400"/>
              <a:t>처벌이</a:t>
            </a:r>
            <a:r>
              <a:rPr lang="en-US" altLang="zh-CN" sz="1400"/>
              <a:t> </a:t>
            </a:r>
            <a:r>
              <a:rPr lang="ko-KR" altLang="en-US" sz="1400"/>
              <a:t>바로</a:t>
            </a:r>
            <a:r>
              <a:rPr lang="en-US" altLang="zh-CN" sz="1400"/>
              <a:t> </a:t>
            </a:r>
            <a:r>
              <a:rPr lang="ko-KR" altLang="en-US" sz="1400"/>
              <a:t>영업</a:t>
            </a:r>
            <a:r>
              <a:rPr lang="en-US" altLang="zh-CN" sz="1400"/>
              <a:t> </a:t>
            </a:r>
            <a:r>
              <a:rPr lang="ko-KR" altLang="en-US" sz="1400"/>
              <a:t>계속</a:t>
            </a:r>
            <a:r>
              <a:rPr lang="en-US" altLang="zh-CN" sz="1400"/>
              <a:t> </a:t>
            </a:r>
            <a:r>
              <a:rPr lang="ko-KR" altLang="en-US" sz="1400"/>
              <a:t>자격에</a:t>
            </a:r>
            <a:r>
              <a:rPr lang="en-US" altLang="zh-CN" sz="1400"/>
              <a:t> </a:t>
            </a:r>
            <a:r>
              <a:rPr lang="ko-KR" altLang="en-US" sz="1400"/>
              <a:t>영향을</a:t>
            </a:r>
            <a:r>
              <a:rPr lang="en-US" altLang="zh-CN" sz="1400"/>
              <a:t> </a:t>
            </a:r>
            <a:r>
              <a:rPr lang="ko-KR" altLang="en-US" sz="1400"/>
              <a:t>미친다</a:t>
            </a:r>
            <a:r>
              <a:rPr lang="en-US" altLang="zh-CN" sz="1400"/>
              <a:t>.</a:t>
            </a:r>
            <a:endParaRPr lang="en-US" altLang="zh-CN" sz="1400"/>
          </a:p>
          <a:p>
            <a:endParaRPr lang="en-US" altLang="zh-CN" sz="1400"/>
          </a:p>
          <a:p>
            <a:r>
              <a:rPr lang="ko-KR" altLang="en-US" sz="1400"/>
              <a:t>분석</a:t>
            </a:r>
            <a:r>
              <a:rPr lang="en-US" altLang="zh-CN" sz="1400"/>
              <a:t>: </a:t>
            </a:r>
            <a:r>
              <a:rPr lang="ko-KR" altLang="en-US" sz="1400"/>
              <a:t>위생과</a:t>
            </a:r>
            <a:r>
              <a:rPr lang="en-US" altLang="zh-CN" sz="1400"/>
              <a:t> </a:t>
            </a:r>
            <a:r>
              <a:rPr lang="ko-KR" altLang="en-US" sz="1400"/>
              <a:t>규정</a:t>
            </a:r>
            <a:r>
              <a:rPr lang="en-US" altLang="zh-CN" sz="1400"/>
              <a:t> </a:t>
            </a:r>
            <a:r>
              <a:rPr lang="ko-KR" altLang="en-US" sz="1400"/>
              <a:t>준수는</a:t>
            </a:r>
            <a:r>
              <a:rPr lang="en-US" altLang="zh-CN" sz="1400"/>
              <a:t> </a:t>
            </a:r>
            <a:r>
              <a:rPr lang="ko-KR" altLang="en-US" sz="1400"/>
              <a:t>사업</a:t>
            </a:r>
            <a:r>
              <a:rPr lang="en-US" altLang="zh-CN" sz="1400"/>
              <a:t> </a:t>
            </a:r>
            <a:r>
              <a:rPr lang="ko-KR" altLang="en-US" sz="1400"/>
              <a:t>초기부터</a:t>
            </a:r>
            <a:r>
              <a:rPr lang="en-US" altLang="zh-CN" sz="1400"/>
              <a:t> </a:t>
            </a:r>
            <a:r>
              <a:rPr lang="ko-KR" altLang="en-US" sz="1400"/>
              <a:t>철저히</a:t>
            </a:r>
            <a:r>
              <a:rPr lang="en-US" altLang="zh-CN" sz="1400"/>
              <a:t> </a:t>
            </a:r>
            <a:r>
              <a:rPr lang="ko-KR" altLang="en-US" sz="1400"/>
              <a:t>이행해야</a:t>
            </a:r>
            <a:r>
              <a:rPr lang="en-US" altLang="zh-CN" sz="1400"/>
              <a:t> </a:t>
            </a:r>
            <a:r>
              <a:rPr lang="ko-KR" altLang="en-US" sz="1400"/>
              <a:t>한다</a:t>
            </a:r>
            <a:r>
              <a:rPr lang="en-US" altLang="zh-CN" sz="1400"/>
              <a:t>. </a:t>
            </a:r>
            <a:r>
              <a:rPr lang="ko-KR" altLang="en-US" sz="1400"/>
              <a:t>일단</a:t>
            </a:r>
            <a:r>
              <a:rPr lang="en-US" altLang="zh-CN" sz="1400"/>
              <a:t> </a:t>
            </a:r>
            <a:r>
              <a:rPr lang="ko-KR" altLang="en-US" sz="1400"/>
              <a:t>처벌이</a:t>
            </a:r>
            <a:r>
              <a:rPr lang="en-US" altLang="zh-CN" sz="1400"/>
              <a:t> </a:t>
            </a:r>
            <a:r>
              <a:rPr lang="ko-KR" altLang="en-US" sz="1400"/>
              <a:t>내려지면</a:t>
            </a:r>
            <a:r>
              <a:rPr lang="en-US" altLang="zh-CN" sz="1400"/>
              <a:t> </a:t>
            </a:r>
            <a:r>
              <a:rPr lang="ko-KR" altLang="en-US" sz="1400"/>
              <a:t>비용이</a:t>
            </a:r>
            <a:r>
              <a:rPr lang="en-US" altLang="zh-CN" sz="1400"/>
              <a:t> </a:t>
            </a:r>
            <a:r>
              <a:rPr lang="ko-KR" altLang="en-US" sz="1400"/>
              <a:t>매우</a:t>
            </a:r>
            <a:r>
              <a:rPr lang="en-US" altLang="zh-CN" sz="1400"/>
              <a:t> </a:t>
            </a:r>
            <a:r>
              <a:rPr lang="ko-KR" altLang="en-US" sz="1400"/>
              <a:t>크기</a:t>
            </a:r>
            <a:r>
              <a:rPr lang="en-US" altLang="zh-CN" sz="1400"/>
              <a:t> </a:t>
            </a:r>
            <a:r>
              <a:rPr lang="ko-KR" altLang="en-US" sz="1400"/>
              <a:t>때문이다</a:t>
            </a:r>
            <a:r>
              <a:rPr lang="en-US" altLang="zh-CN" sz="1400"/>
              <a:t>. '</a:t>
            </a:r>
            <a:r>
              <a:rPr lang="ko-KR" altLang="en-US" sz="1400"/>
              <a:t>경미한</a:t>
            </a:r>
            <a:r>
              <a:rPr lang="en-US" altLang="zh-CN" sz="1400"/>
              <a:t> </a:t>
            </a:r>
            <a:r>
              <a:rPr lang="ko-KR" altLang="en-US" sz="1400"/>
              <a:t>처벌</a:t>
            </a:r>
            <a:r>
              <a:rPr lang="en-US" altLang="zh-CN" sz="1400"/>
              <a:t>'</a:t>
            </a:r>
            <a:r>
              <a:rPr lang="ko-KR" altLang="en-US" sz="1400"/>
              <a:t>은</a:t>
            </a:r>
            <a:r>
              <a:rPr lang="en-US" altLang="zh-CN" sz="1400"/>
              <a:t> </a:t>
            </a:r>
            <a:r>
              <a:rPr lang="ko-KR" altLang="en-US" sz="1400"/>
              <a:t>서울에서</a:t>
            </a:r>
            <a:r>
              <a:rPr lang="en-US" altLang="zh-CN" sz="1400"/>
              <a:t> </a:t>
            </a:r>
            <a:r>
              <a:rPr lang="ko-KR" altLang="en-US" sz="1400"/>
              <a:t>실제</a:t>
            </a:r>
            <a:r>
              <a:rPr lang="en-US" altLang="zh-CN" sz="1400"/>
              <a:t> </a:t>
            </a:r>
            <a:r>
              <a:rPr lang="ko-KR" altLang="en-US" sz="1400"/>
              <a:t>적용되는</a:t>
            </a:r>
            <a:r>
              <a:rPr lang="en-US" altLang="zh-CN" sz="1400"/>
              <a:t> </a:t>
            </a:r>
            <a:r>
              <a:rPr lang="ko-KR" altLang="en-US" sz="1400"/>
              <a:t>경우가</a:t>
            </a:r>
            <a:r>
              <a:rPr lang="en-US" altLang="zh-CN" sz="1400"/>
              <a:t> </a:t>
            </a:r>
            <a:r>
              <a:rPr lang="ko-KR" altLang="en-US" sz="1400"/>
              <a:t>매우</a:t>
            </a:r>
            <a:r>
              <a:rPr lang="en-US" altLang="zh-CN" sz="1400"/>
              <a:t> </a:t>
            </a:r>
            <a:r>
              <a:rPr lang="ko-KR" altLang="en-US" sz="1400"/>
              <a:t>드물므로</a:t>
            </a:r>
            <a:r>
              <a:rPr lang="en-US" altLang="zh-CN" sz="1400"/>
              <a:t>, </a:t>
            </a:r>
            <a:r>
              <a:rPr lang="ko-KR" altLang="en-US" sz="1400"/>
              <a:t>운에</a:t>
            </a:r>
            <a:r>
              <a:rPr lang="en-US" altLang="zh-CN" sz="1400"/>
              <a:t> </a:t>
            </a:r>
            <a:r>
              <a:rPr lang="ko-KR" altLang="en-US" sz="1400"/>
              <a:t>맡기는</a:t>
            </a:r>
            <a:r>
              <a:rPr lang="en-US" altLang="zh-CN" sz="1400"/>
              <a:t> </a:t>
            </a:r>
            <a:r>
              <a:rPr lang="ko-KR" altLang="en-US" sz="1400"/>
              <a:t>마음가짐은</a:t>
            </a:r>
            <a:r>
              <a:rPr lang="en-US" altLang="zh-CN" sz="1400"/>
              <a:t> </a:t>
            </a:r>
            <a:r>
              <a:rPr lang="ko-KR" altLang="en-US" sz="1400"/>
              <a:t>금물이다</a:t>
            </a:r>
            <a:r>
              <a:rPr lang="en-US" altLang="zh-CN" sz="1400"/>
              <a:t>.</a:t>
            </a:r>
            <a:endParaRPr lang="en-US" altLang="zh-CN" sz="1400"/>
          </a:p>
          <a:p>
            <a:endParaRPr lang="en-US" altLang="zh-CN" sz="1400"/>
          </a:p>
          <a:p>
            <a:r>
              <a:rPr lang="en-US" altLang="zh-CN" sz="1400"/>
              <a:t>1. </a:t>
            </a:r>
            <a:r>
              <a:rPr lang="zh-CN" altLang="en-US" sz="1400"/>
              <a:t>首尔地区处罚高度集中在</a:t>
            </a:r>
            <a:r>
              <a:rPr lang="en-US" altLang="zh-CN" sz="1400"/>
              <a:t>“</a:t>
            </a:r>
            <a:r>
              <a:rPr lang="zh-CN" altLang="en-US" sz="1400"/>
              <a:t>重罚型</a:t>
            </a:r>
            <a:r>
              <a:rPr lang="en-US" altLang="zh-CN" sz="1400"/>
              <a:t>”</a:t>
            </a:r>
            <a:r>
              <a:rPr lang="zh-CN" altLang="en-US" sz="1400"/>
              <a:t>措施</a:t>
            </a:r>
            <a:endParaRPr lang="zh-CN" altLang="en-US" sz="1400"/>
          </a:p>
          <a:p>
            <a:pPr indent="0">
              <a:buFont typeface="+mj-ea"/>
              <a:buNone/>
            </a:pPr>
            <a:r>
              <a:rPr lang="zh-CN" altLang="en-US" sz="1400"/>
              <a:t>职权注销、营业停止、营业所关闭</a:t>
            </a:r>
            <a:r>
              <a:rPr lang="zh-CN" sz="1400"/>
              <a:t>、</a:t>
            </a:r>
            <a:r>
              <a:rPr lang="zh-CN" altLang="en-US" sz="1400"/>
              <a:t>罚金，这四类处罚占据了大部分记录。首尔餐饮业的监管不是</a:t>
            </a:r>
            <a:r>
              <a:rPr lang="en-US" altLang="zh-CN" sz="1400"/>
              <a:t>“</a:t>
            </a:r>
            <a:r>
              <a:rPr lang="zh-CN" altLang="en-US" sz="1400"/>
              <a:t>轻敲警钟</a:t>
            </a:r>
            <a:r>
              <a:rPr lang="en-US" altLang="zh-CN" sz="1400"/>
              <a:t>”</a:t>
            </a:r>
            <a:r>
              <a:rPr lang="zh-CN" altLang="en-US" sz="1400"/>
              <a:t>，而是一旦发现问题，处罚直接影响继续营业的资格。</a:t>
            </a:r>
            <a:endParaRPr lang="zh-CN" altLang="en-US" sz="1400"/>
          </a:p>
          <a:p>
            <a:endParaRPr lang="zh-CN" altLang="en-US" sz="1400"/>
          </a:p>
          <a:p>
            <a:r>
              <a:rPr lang="zh-CN" altLang="en-US" sz="1400"/>
              <a:t>分析：</a:t>
            </a:r>
            <a:r>
              <a:rPr lang="en-US" altLang="zh-CN" sz="1400"/>
              <a:t> </a:t>
            </a:r>
            <a:r>
              <a:rPr lang="zh-CN" altLang="en-US" sz="1400"/>
              <a:t>必须把卫生与合规放在经营初期就做到位，因为处罚一旦落下，成本极高。</a:t>
            </a:r>
            <a:r>
              <a:rPr lang="en-US" altLang="zh-CN" sz="1400"/>
              <a:t> </a:t>
            </a:r>
            <a:r>
              <a:rPr lang="zh-CN" altLang="en-US" sz="1400"/>
              <a:t>不可抱侥幸心理，因为</a:t>
            </a:r>
            <a:r>
              <a:rPr lang="en-US" altLang="zh-CN" sz="1400"/>
              <a:t>“</a:t>
            </a:r>
            <a:r>
              <a:rPr lang="zh-CN" altLang="en-US" sz="1400"/>
              <a:t>轻处罚</a:t>
            </a:r>
            <a:r>
              <a:rPr lang="en-US" altLang="zh-CN" sz="1400"/>
              <a:t>”</a:t>
            </a:r>
            <a:r>
              <a:rPr lang="zh-CN" altLang="en-US" sz="1400"/>
              <a:t>在首尔的实际应用中非常少。</a:t>
            </a:r>
            <a:endParaRPr lang="zh-CN" alt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rPr lang="en-US" altLang="zh-CN"/>
              <a:t> </a:t>
            </a:r>
            <a:r>
              <a:rPr lang="ko-KR" altLang="en-US"/>
              <a:t>결과</a:t>
            </a:r>
            <a:r>
              <a:t> / </a:t>
            </a:r>
            <a:r>
              <a:rPr lang="zh-CN"/>
              <a:t>数据分析</a:t>
            </a:r>
            <a:r>
              <a:rPr lang="zh-CN">
                <a:sym typeface="+mn-ea"/>
              </a:rPr>
              <a:t>结果</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795655" y="2070735"/>
            <a:ext cx="7755255" cy="4561205"/>
          </a:xfrm>
          <a:prstGeom prst="rect">
            <a:avLst/>
          </a:prstGeom>
          <a:noFill/>
        </p:spPr>
        <p:txBody>
          <a:bodyPr wrap="square" rtlCol="0">
            <a:noAutofit/>
          </a:bodyPr>
          <a:p>
            <a:r>
              <a:rPr lang="en-US" altLang="zh-CN" sz="1400"/>
              <a:t>2. </a:t>
            </a:r>
            <a:r>
              <a:rPr lang="ko-KR" altLang="en-US" sz="1400"/>
              <a:t>지역별</a:t>
            </a:r>
            <a:r>
              <a:rPr lang="en-US" altLang="zh-CN" sz="1400"/>
              <a:t> </a:t>
            </a:r>
            <a:r>
              <a:rPr lang="ko-KR" altLang="en-US" sz="1400"/>
              <a:t>차이가</a:t>
            </a:r>
            <a:r>
              <a:rPr lang="en-US" altLang="zh-CN" sz="1400"/>
              <a:t> </a:t>
            </a:r>
            <a:r>
              <a:rPr lang="ko-KR" altLang="en-US" sz="1400"/>
              <a:t>뚜렷하며</a:t>
            </a:r>
            <a:r>
              <a:rPr lang="en-US" altLang="zh-CN" sz="1400"/>
              <a:t> </a:t>
            </a:r>
            <a:r>
              <a:rPr lang="ko-KR" altLang="en-US" sz="1400"/>
              <a:t>일부</a:t>
            </a:r>
            <a:r>
              <a:rPr lang="en-US" altLang="zh-CN" sz="1400"/>
              <a:t> </a:t>
            </a:r>
            <a:r>
              <a:rPr lang="ko-KR" altLang="en-US" sz="1400"/>
              <a:t>구역은</a:t>
            </a:r>
            <a:r>
              <a:rPr lang="en-US" altLang="zh-CN" sz="1400"/>
              <a:t> '</a:t>
            </a:r>
            <a:r>
              <a:rPr lang="ko-KR" altLang="en-US" sz="1400"/>
              <a:t>고위험</a:t>
            </a:r>
            <a:r>
              <a:rPr lang="en-US" altLang="zh-CN" sz="1400"/>
              <a:t> </a:t>
            </a:r>
            <a:r>
              <a:rPr lang="ko-KR" altLang="en-US" sz="1400"/>
              <a:t>지역</a:t>
            </a:r>
            <a:r>
              <a:rPr lang="en-US" altLang="zh-CN" sz="1400"/>
              <a:t>'</a:t>
            </a:r>
            <a:r>
              <a:rPr lang="ko-KR" altLang="en-US" sz="1400"/>
              <a:t>으로</a:t>
            </a:r>
            <a:r>
              <a:rPr lang="en-US" altLang="zh-CN" sz="1400"/>
              <a:t> </a:t>
            </a:r>
            <a:r>
              <a:rPr lang="ko-KR" altLang="en-US" sz="1400"/>
              <a:t>분류됩니다</a:t>
            </a:r>
            <a:r>
              <a:rPr lang="en-US" altLang="zh-CN" sz="1400"/>
              <a:t>. </a:t>
            </a:r>
            <a:endParaRPr lang="en-US" altLang="zh-CN" sz="1400"/>
          </a:p>
          <a:p>
            <a:pPr marL="342900" indent="-342900">
              <a:buFont typeface="+mj-ea"/>
              <a:buAutoNum type="circleNumDbPlain"/>
            </a:pPr>
            <a:r>
              <a:rPr lang="ko-KR" altLang="en-US" sz="1400"/>
              <a:t>일부</a:t>
            </a:r>
            <a:r>
              <a:rPr lang="en-US" altLang="zh-CN" sz="1400"/>
              <a:t> </a:t>
            </a:r>
            <a:r>
              <a:rPr lang="ko-KR" altLang="en-US" sz="1400"/>
              <a:t>행정구역의</a:t>
            </a:r>
            <a:r>
              <a:rPr lang="en-US" altLang="zh-CN" sz="1400"/>
              <a:t> </a:t>
            </a:r>
            <a:r>
              <a:rPr lang="ko-KR" altLang="en-US" sz="1400"/>
              <a:t>처벌</a:t>
            </a:r>
            <a:r>
              <a:rPr lang="en-US" altLang="zh-CN" sz="1400"/>
              <a:t> </a:t>
            </a:r>
            <a:r>
              <a:rPr lang="ko-KR" altLang="en-US" sz="1400"/>
              <a:t>기록량이</a:t>
            </a:r>
            <a:r>
              <a:rPr lang="en-US" altLang="zh-CN" sz="1400"/>
              <a:t> </a:t>
            </a:r>
            <a:r>
              <a:rPr lang="ko-KR" altLang="en-US" sz="1400"/>
              <a:t>현저히</a:t>
            </a:r>
            <a:r>
              <a:rPr lang="en-US" altLang="zh-CN" sz="1400"/>
              <a:t> </a:t>
            </a:r>
            <a:r>
              <a:rPr lang="ko-KR" altLang="en-US" sz="1400"/>
              <a:t>높음</a:t>
            </a:r>
            <a:endParaRPr lang="ko-KR" altLang="en-US" sz="1400"/>
          </a:p>
          <a:p>
            <a:pPr marL="342900" indent="-342900">
              <a:buFont typeface="+mj-ea"/>
              <a:buAutoNum type="circleNumDbPlain"/>
            </a:pPr>
            <a:r>
              <a:rPr lang="ko-KR" altLang="en-US" sz="1400"/>
              <a:t>다른</a:t>
            </a:r>
            <a:r>
              <a:rPr lang="en-US" altLang="zh-CN" sz="1400"/>
              <a:t> </a:t>
            </a:r>
            <a:r>
              <a:rPr lang="ko-KR" altLang="en-US" sz="1400"/>
              <a:t>지역은</a:t>
            </a:r>
            <a:r>
              <a:rPr lang="en-US" altLang="zh-CN" sz="1400"/>
              <a:t> </a:t>
            </a:r>
            <a:r>
              <a:rPr lang="ko-KR" altLang="en-US" sz="1400"/>
              <a:t>위반</a:t>
            </a:r>
            <a:r>
              <a:rPr lang="en-US" altLang="zh-CN" sz="1400"/>
              <a:t> </a:t>
            </a:r>
            <a:r>
              <a:rPr lang="ko-KR" altLang="en-US" sz="1400"/>
              <a:t>사례가</a:t>
            </a:r>
            <a:r>
              <a:rPr lang="en-US" altLang="zh-CN" sz="1400"/>
              <a:t> </a:t>
            </a:r>
            <a:r>
              <a:rPr lang="ko-KR" altLang="en-US" sz="1400"/>
              <a:t>드물게</a:t>
            </a:r>
            <a:r>
              <a:rPr lang="en-US" altLang="zh-CN" sz="1400"/>
              <a:t> </a:t>
            </a:r>
            <a:r>
              <a:rPr lang="ko-KR" altLang="en-US" sz="1400"/>
              <a:t>발생</a:t>
            </a:r>
            <a:endParaRPr lang="ko-KR" altLang="en-US" sz="1400"/>
          </a:p>
          <a:p>
            <a:pPr marL="342900" indent="-342900">
              <a:buFont typeface="+mj-ea"/>
              <a:buAutoNum type="circleNumDbPlain"/>
            </a:pPr>
            <a:r>
              <a:rPr lang="ko-KR" altLang="en-US" sz="1400"/>
              <a:t>상업</a:t>
            </a:r>
            <a:r>
              <a:rPr lang="en-US" altLang="zh-CN" sz="1400"/>
              <a:t> </a:t>
            </a:r>
            <a:r>
              <a:rPr lang="ko-KR" altLang="en-US" sz="1400"/>
              <a:t>밀집도</a:t>
            </a:r>
            <a:r>
              <a:rPr lang="en-US" altLang="zh-CN" sz="1400"/>
              <a:t> </a:t>
            </a:r>
            <a:r>
              <a:rPr lang="ko-KR" altLang="en-US" sz="1400"/>
              <a:t>높음</a:t>
            </a:r>
            <a:r>
              <a:rPr lang="en-US" altLang="zh-CN" sz="1400"/>
              <a:t>(</a:t>
            </a:r>
            <a:r>
              <a:rPr lang="ko-KR" altLang="en-US" sz="1400"/>
              <a:t>가게</a:t>
            </a:r>
            <a:r>
              <a:rPr lang="en-US" altLang="zh-CN" sz="1400"/>
              <a:t> </a:t>
            </a:r>
            <a:r>
              <a:rPr lang="ko-KR" altLang="en-US" sz="1400"/>
              <a:t>많음</a:t>
            </a:r>
            <a:r>
              <a:rPr lang="en-US" altLang="zh-CN" sz="1400"/>
              <a:t> </a:t>
            </a:r>
            <a:r>
              <a:rPr lang="en-US" altLang="en-US" sz="1400"/>
              <a:t>→</a:t>
            </a:r>
            <a:r>
              <a:rPr lang="en-US" altLang="zh-CN" sz="1400"/>
              <a:t> </a:t>
            </a:r>
            <a:r>
              <a:rPr lang="ko-KR" altLang="en-US" sz="1400"/>
              <a:t>점검</a:t>
            </a:r>
            <a:r>
              <a:rPr lang="en-US" altLang="zh-CN" sz="1400"/>
              <a:t> </a:t>
            </a:r>
            <a:r>
              <a:rPr lang="ko-KR" altLang="en-US" sz="1400"/>
              <a:t>빈도</a:t>
            </a:r>
            <a:r>
              <a:rPr lang="en-US" altLang="zh-CN" sz="1400"/>
              <a:t> </a:t>
            </a:r>
            <a:r>
              <a:rPr lang="ko-KR" altLang="en-US" sz="1400"/>
              <a:t>증가</a:t>
            </a:r>
            <a:r>
              <a:rPr lang="en-US" altLang="zh-CN" sz="1400"/>
              <a:t>)</a:t>
            </a:r>
            <a:endParaRPr lang="en-US" altLang="zh-CN" sz="1400"/>
          </a:p>
          <a:p>
            <a:pPr marL="342900" indent="-342900">
              <a:buFont typeface="+mj-ea"/>
              <a:buAutoNum type="circleNumDbPlain"/>
            </a:pPr>
            <a:r>
              <a:rPr lang="ko-KR" altLang="en-US" sz="1400"/>
              <a:t>표적</a:t>
            </a:r>
            <a:r>
              <a:rPr lang="en-US" altLang="zh-CN" sz="1400"/>
              <a:t> </a:t>
            </a:r>
            <a:r>
              <a:rPr lang="ko-KR" altLang="en-US" sz="1400"/>
              <a:t>규제</a:t>
            </a:r>
            <a:r>
              <a:rPr lang="en-US" altLang="zh-CN" sz="1400"/>
              <a:t> </a:t>
            </a:r>
            <a:r>
              <a:rPr lang="ko-KR" altLang="en-US" sz="1400"/>
              <a:t>강도</a:t>
            </a:r>
            <a:r>
              <a:rPr lang="en-US" altLang="zh-CN" sz="1400"/>
              <a:t> </a:t>
            </a:r>
            <a:r>
              <a:rPr lang="ko-KR" altLang="en-US" sz="1400"/>
              <a:t>강화</a:t>
            </a:r>
            <a:endParaRPr lang="ko-KR" altLang="en-US" sz="1400"/>
          </a:p>
          <a:p>
            <a:pPr marL="342900" indent="-342900">
              <a:buFont typeface="+mj-ea"/>
              <a:buAutoNum type="circleNumDbPlain"/>
            </a:pPr>
            <a:r>
              <a:rPr lang="ko-KR" altLang="en-US" sz="1400"/>
              <a:t>인파가</a:t>
            </a:r>
            <a:r>
              <a:rPr lang="en-US" altLang="zh-CN" sz="1400"/>
              <a:t> </a:t>
            </a:r>
            <a:r>
              <a:rPr lang="ko-KR" altLang="en-US" sz="1400"/>
              <a:t>많은</a:t>
            </a:r>
            <a:r>
              <a:rPr lang="en-US" altLang="zh-CN" sz="1400"/>
              <a:t> </a:t>
            </a:r>
            <a:r>
              <a:rPr lang="ko-KR" altLang="en-US" sz="1400"/>
              <a:t>지역은</a:t>
            </a:r>
            <a:r>
              <a:rPr lang="en-US" altLang="zh-CN" sz="1400"/>
              <a:t> </a:t>
            </a:r>
            <a:r>
              <a:rPr lang="ko-KR" altLang="en-US" sz="1400"/>
              <a:t>위생</a:t>
            </a:r>
            <a:r>
              <a:rPr lang="en-US" altLang="zh-CN" sz="1400"/>
              <a:t> </a:t>
            </a:r>
            <a:r>
              <a:rPr lang="ko-KR" altLang="en-US" sz="1400"/>
              <a:t>문제</a:t>
            </a:r>
            <a:r>
              <a:rPr lang="en-US" altLang="zh-CN" sz="1400"/>
              <a:t> </a:t>
            </a:r>
            <a:r>
              <a:rPr lang="ko-KR" altLang="en-US" sz="1400"/>
              <a:t>발생</a:t>
            </a:r>
            <a:r>
              <a:rPr lang="en-US" altLang="zh-CN" sz="1400"/>
              <a:t> </a:t>
            </a:r>
            <a:r>
              <a:rPr lang="ko-KR" altLang="en-US" sz="1400"/>
              <a:t>가능성이</a:t>
            </a:r>
            <a:r>
              <a:rPr lang="en-US" altLang="zh-CN" sz="1400"/>
              <a:t> </a:t>
            </a:r>
            <a:r>
              <a:rPr lang="ko-KR" altLang="en-US" sz="1400"/>
              <a:t>높음</a:t>
            </a:r>
            <a:endParaRPr lang="ko-KR" altLang="en-US" sz="1400"/>
          </a:p>
          <a:p>
            <a:pPr marL="342900" indent="-342900">
              <a:buFont typeface="+mj-ea"/>
              <a:buAutoNum type="circleNumDbPlain"/>
            </a:pPr>
            <a:endParaRPr lang="ko-KR" altLang="en-US" sz="1400"/>
          </a:p>
          <a:p>
            <a:r>
              <a:rPr lang="ko-KR" altLang="en-US" sz="1400"/>
              <a:t>분석</a:t>
            </a:r>
            <a:r>
              <a:rPr lang="en-US" altLang="zh-CN" sz="1400"/>
              <a:t>: </a:t>
            </a:r>
            <a:r>
              <a:rPr lang="ko-KR" altLang="en-US" sz="1400"/>
              <a:t>매장</a:t>
            </a:r>
            <a:r>
              <a:rPr lang="en-US" altLang="zh-CN" sz="1400"/>
              <a:t> </a:t>
            </a:r>
            <a:r>
              <a:rPr lang="ko-KR" altLang="en-US" sz="1400"/>
              <a:t>개설</a:t>
            </a:r>
            <a:r>
              <a:rPr lang="en-US" altLang="zh-CN" sz="1400"/>
              <a:t> </a:t>
            </a:r>
            <a:r>
              <a:rPr lang="ko-KR" altLang="en-US" sz="1400"/>
              <a:t>시</a:t>
            </a:r>
            <a:r>
              <a:rPr lang="en-US" altLang="zh-CN" sz="1400"/>
              <a:t> </a:t>
            </a:r>
            <a:r>
              <a:rPr lang="ko-KR" altLang="en-US" sz="1400"/>
              <a:t>대상</a:t>
            </a:r>
            <a:r>
              <a:rPr lang="en-US" altLang="zh-CN" sz="1400"/>
              <a:t> </a:t>
            </a:r>
            <a:r>
              <a:rPr lang="ko-KR" altLang="en-US" sz="1400"/>
              <a:t>행정구역의</a:t>
            </a:r>
            <a:r>
              <a:rPr lang="en-US" altLang="zh-CN" sz="1400"/>
              <a:t> </a:t>
            </a:r>
            <a:r>
              <a:rPr lang="ko-KR" altLang="en-US" sz="1400"/>
              <a:t>감독</a:t>
            </a:r>
            <a:r>
              <a:rPr lang="en-US" altLang="zh-CN" sz="1400"/>
              <a:t> </a:t>
            </a:r>
            <a:r>
              <a:rPr lang="ko-KR" altLang="en-US" sz="1400"/>
              <a:t>빈도와</a:t>
            </a:r>
            <a:r>
              <a:rPr lang="en-US" altLang="zh-CN" sz="1400"/>
              <a:t> </a:t>
            </a:r>
            <a:r>
              <a:rPr lang="ko-KR" altLang="en-US" sz="1400"/>
              <a:t>과거</a:t>
            </a:r>
            <a:r>
              <a:rPr lang="en-US" altLang="zh-CN" sz="1400"/>
              <a:t> </a:t>
            </a:r>
            <a:r>
              <a:rPr lang="ko-KR" altLang="en-US" sz="1400"/>
              <a:t>처벌</a:t>
            </a:r>
            <a:r>
              <a:rPr lang="en-US" altLang="zh-CN" sz="1400"/>
              <a:t> </a:t>
            </a:r>
            <a:r>
              <a:rPr lang="ko-KR" altLang="en-US" sz="1400"/>
              <a:t>이력을</a:t>
            </a:r>
            <a:r>
              <a:rPr lang="en-US" altLang="zh-CN" sz="1400"/>
              <a:t> </a:t>
            </a:r>
            <a:r>
              <a:rPr lang="ko-KR" altLang="en-US" sz="1400"/>
              <a:t>파악해야</a:t>
            </a:r>
            <a:r>
              <a:rPr lang="en-US" altLang="zh-CN" sz="1400"/>
              <a:t> </a:t>
            </a:r>
            <a:r>
              <a:rPr lang="ko-KR" altLang="en-US" sz="1400"/>
              <a:t>합니다</a:t>
            </a:r>
            <a:r>
              <a:rPr lang="en-US" altLang="zh-CN" sz="1400"/>
              <a:t>. '</a:t>
            </a:r>
            <a:r>
              <a:rPr lang="ko-KR" altLang="en-US" sz="1400"/>
              <a:t>고감독</a:t>
            </a:r>
            <a:r>
              <a:rPr lang="en-US" altLang="zh-CN" sz="1400"/>
              <a:t> </a:t>
            </a:r>
            <a:r>
              <a:rPr lang="ko-KR" altLang="en-US" sz="1400"/>
              <a:t>구역</a:t>
            </a:r>
            <a:r>
              <a:rPr lang="en-US" altLang="zh-CN" sz="1400"/>
              <a:t>'</a:t>
            </a:r>
            <a:r>
              <a:rPr lang="ko-KR" altLang="en-US" sz="1400"/>
              <a:t>에서는</a:t>
            </a:r>
            <a:r>
              <a:rPr lang="en-US" altLang="zh-CN" sz="1400"/>
              <a:t> </a:t>
            </a:r>
            <a:r>
              <a:rPr lang="ko-KR" altLang="en-US" sz="1400"/>
              <a:t>규정을</a:t>
            </a:r>
            <a:r>
              <a:rPr lang="en-US" altLang="zh-CN" sz="1400"/>
              <a:t> </a:t>
            </a:r>
            <a:r>
              <a:rPr lang="ko-KR" altLang="en-US" sz="1400"/>
              <a:t>엄격히</a:t>
            </a:r>
            <a:r>
              <a:rPr lang="en-US" altLang="zh-CN" sz="1400"/>
              <a:t> </a:t>
            </a:r>
            <a:r>
              <a:rPr lang="ko-KR" altLang="en-US" sz="1400"/>
              <a:t>준수해야</a:t>
            </a:r>
            <a:r>
              <a:rPr lang="en-US" altLang="zh-CN" sz="1400"/>
              <a:t> </a:t>
            </a:r>
            <a:r>
              <a:rPr lang="ko-KR" altLang="en-US" sz="1400"/>
              <a:t>하며</a:t>
            </a:r>
            <a:r>
              <a:rPr lang="en-US" altLang="zh-CN" sz="1400"/>
              <a:t>, </a:t>
            </a:r>
            <a:r>
              <a:rPr lang="ko-KR" altLang="en-US" sz="1400"/>
              <a:t>특히</a:t>
            </a:r>
            <a:r>
              <a:rPr lang="en-US" altLang="zh-CN" sz="1400"/>
              <a:t> </a:t>
            </a:r>
            <a:r>
              <a:rPr lang="ko-KR" altLang="en-US" sz="1400"/>
              <a:t>위생</a:t>
            </a:r>
            <a:r>
              <a:rPr lang="en-US" altLang="zh-CN" sz="1400"/>
              <a:t>, </a:t>
            </a:r>
            <a:r>
              <a:rPr lang="ko-KR" altLang="en-US" sz="1400"/>
              <a:t>허가</a:t>
            </a:r>
            <a:r>
              <a:rPr lang="en-US" altLang="zh-CN" sz="1400"/>
              <a:t>, </a:t>
            </a:r>
            <a:r>
              <a:rPr lang="ko-KR" altLang="en-US" sz="1400"/>
              <a:t>배기</a:t>
            </a:r>
            <a:r>
              <a:rPr lang="en-US" altLang="zh-CN" sz="1400"/>
              <a:t> </a:t>
            </a:r>
            <a:r>
              <a:rPr lang="ko-KR" altLang="en-US" sz="1400"/>
              <a:t>가스</a:t>
            </a:r>
            <a:r>
              <a:rPr lang="en-US" altLang="zh-CN" sz="1400"/>
              <a:t> </a:t>
            </a:r>
            <a:r>
              <a:rPr lang="ko-KR" altLang="en-US" sz="1400"/>
              <a:t>배출</a:t>
            </a:r>
            <a:r>
              <a:rPr lang="en-US" altLang="zh-CN" sz="1400"/>
              <a:t>, </a:t>
            </a:r>
            <a:r>
              <a:rPr lang="ko-KR" altLang="en-US" sz="1400"/>
              <a:t>식재료</a:t>
            </a:r>
            <a:r>
              <a:rPr lang="en-US" altLang="zh-CN" sz="1400"/>
              <a:t> </a:t>
            </a:r>
            <a:r>
              <a:rPr lang="ko-KR" altLang="en-US" sz="1400"/>
              <a:t>보관</a:t>
            </a:r>
            <a:r>
              <a:rPr lang="en-US" altLang="zh-CN" sz="1400"/>
              <a:t> </a:t>
            </a:r>
            <a:r>
              <a:rPr lang="ko-KR" altLang="en-US" sz="1400"/>
              <a:t>등에</a:t>
            </a:r>
            <a:r>
              <a:rPr lang="en-US" altLang="zh-CN" sz="1400"/>
              <a:t> </a:t>
            </a:r>
            <a:r>
              <a:rPr lang="ko-KR" altLang="en-US" sz="1400"/>
              <a:t>각별히</a:t>
            </a:r>
            <a:r>
              <a:rPr lang="en-US" altLang="zh-CN" sz="1400"/>
              <a:t> </a:t>
            </a:r>
            <a:r>
              <a:rPr lang="ko-KR" altLang="en-US" sz="1400"/>
              <a:t>주의해야</a:t>
            </a:r>
            <a:r>
              <a:rPr lang="en-US" altLang="zh-CN" sz="1400"/>
              <a:t> </a:t>
            </a:r>
            <a:r>
              <a:rPr lang="ko-KR" altLang="en-US" sz="1400"/>
              <a:t>합니다</a:t>
            </a:r>
            <a:r>
              <a:rPr lang="en-US" altLang="zh-CN" sz="1400"/>
              <a:t>.</a:t>
            </a:r>
            <a:endParaRPr lang="en-US" altLang="zh-CN" sz="1400"/>
          </a:p>
          <a:p>
            <a:endParaRPr lang="en-US" altLang="zh-CN" sz="1400"/>
          </a:p>
          <a:p>
            <a:r>
              <a:rPr lang="en-US" altLang="zh-CN" sz="1400"/>
              <a:t>2.</a:t>
            </a:r>
            <a:r>
              <a:rPr lang="zh-CN" altLang="en-US" sz="1400"/>
              <a:t>地区差异明显某些区是</a:t>
            </a:r>
            <a:r>
              <a:rPr lang="en-US" altLang="zh-CN" sz="1400"/>
              <a:t>“</a:t>
            </a:r>
            <a:r>
              <a:rPr lang="zh-CN" altLang="en-US" sz="1400"/>
              <a:t>高风险地带</a:t>
            </a:r>
            <a:r>
              <a:rPr lang="en-US" altLang="zh-CN" sz="1400"/>
              <a:t>”</a:t>
            </a:r>
            <a:endParaRPr lang="en-US" altLang="zh-CN" sz="1400"/>
          </a:p>
          <a:p>
            <a:pPr marL="342900" indent="-342900">
              <a:buFont typeface="+mj-ea"/>
              <a:buAutoNum type="circleNumDbPlain"/>
            </a:pPr>
            <a:r>
              <a:rPr lang="zh-CN" altLang="en-US" sz="1400"/>
              <a:t>部分行政区处罚记录量明显更高</a:t>
            </a:r>
            <a:endParaRPr lang="zh-CN" altLang="en-US" sz="1400"/>
          </a:p>
          <a:p>
            <a:pPr marL="342900" indent="-342900">
              <a:buFont typeface="+mj-ea"/>
              <a:buAutoNum type="circleNumDbPlain"/>
            </a:pPr>
            <a:r>
              <a:rPr lang="zh-CN" altLang="en-US" sz="1400"/>
              <a:t>另一些区域违规模式稀疏</a:t>
            </a:r>
            <a:r>
              <a:rPr lang="en-US" altLang="zh-CN" sz="1400"/>
              <a:t> </a:t>
            </a:r>
            <a:endParaRPr lang="en-US" altLang="zh-CN" sz="1400"/>
          </a:p>
          <a:p>
            <a:pPr marL="342900" indent="-342900">
              <a:buFont typeface="+mj-ea"/>
              <a:buAutoNum type="circleNumDbPlain"/>
            </a:pPr>
            <a:r>
              <a:rPr lang="zh-CN" altLang="en-US" sz="1400"/>
              <a:t>商业密度高（店多</a:t>
            </a:r>
            <a:r>
              <a:rPr lang="en-US" altLang="zh-CN" sz="1400"/>
              <a:t> </a:t>
            </a:r>
            <a:r>
              <a:rPr lang="en-US" altLang="en-US" sz="1400"/>
              <a:t>→</a:t>
            </a:r>
            <a:r>
              <a:rPr lang="en-US" altLang="zh-CN" sz="1400"/>
              <a:t> </a:t>
            </a:r>
            <a:r>
              <a:rPr lang="zh-CN" altLang="en-US" sz="1400"/>
              <a:t>检查多）</a:t>
            </a:r>
            <a:endParaRPr lang="zh-CN" altLang="en-US" sz="1400"/>
          </a:p>
          <a:p>
            <a:pPr marL="342900" indent="-342900">
              <a:buFont typeface="+mj-ea"/>
              <a:buAutoNum type="circleNumDbPlain"/>
            </a:pPr>
            <a:r>
              <a:rPr lang="zh-CN" altLang="en-US" sz="1400"/>
              <a:t>针对性监管力度强</a:t>
            </a:r>
            <a:endParaRPr lang="zh-CN" altLang="en-US" sz="1400"/>
          </a:p>
          <a:p>
            <a:pPr marL="342900" indent="-342900">
              <a:buFont typeface="+mj-ea"/>
              <a:buAutoNum type="circleNumDbPlain"/>
            </a:pPr>
            <a:r>
              <a:rPr lang="zh-CN" altLang="en-US" sz="1400"/>
              <a:t>人流密集区容易发生卫生问题</a:t>
            </a:r>
            <a:endParaRPr lang="zh-CN" altLang="en-US" sz="1400"/>
          </a:p>
          <a:p>
            <a:pPr indent="0">
              <a:buFont typeface="+mj-ea"/>
              <a:buNone/>
            </a:pPr>
            <a:endParaRPr lang="zh-CN" altLang="en-US" sz="1400"/>
          </a:p>
          <a:p>
            <a:pPr indent="0">
              <a:buFont typeface="+mj-ea"/>
              <a:buNone/>
            </a:pPr>
            <a:r>
              <a:rPr lang="zh-CN" altLang="en-US" sz="1400"/>
              <a:t>分析：开店需要了解目标行政区的监管频率与历史处罚情况。在</a:t>
            </a:r>
            <a:r>
              <a:rPr lang="en-US" altLang="zh-CN" sz="1400"/>
              <a:t>“</a:t>
            </a:r>
            <a:r>
              <a:rPr lang="zh-CN" altLang="en-US" sz="1400"/>
              <a:t>高监管区</a:t>
            </a:r>
            <a:r>
              <a:rPr lang="en-US" altLang="zh-CN" sz="1400"/>
              <a:t>”</a:t>
            </a:r>
            <a:r>
              <a:rPr lang="zh-CN" altLang="en-US" sz="1400"/>
              <a:t>，必须严格遵守规范，尤其注意卫生、许可、油烟排放、食材储存等项目。</a:t>
            </a:r>
            <a:endParaRPr lang="zh-CN" altLang="en-US" sz="1400"/>
          </a:p>
          <a:p>
            <a:endParaRPr lang="zh-CN"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rPr lang="en-US" altLang="zh-CN"/>
              <a:t> </a:t>
            </a:r>
            <a:r>
              <a:rPr lang="ko-KR" altLang="en-US"/>
              <a:t>결과</a:t>
            </a:r>
            <a:r>
              <a:t> / </a:t>
            </a:r>
            <a:r>
              <a:rPr lang="zh-CN"/>
              <a:t>数据分析</a:t>
            </a:r>
            <a:r>
              <a:rPr lang="zh-CN">
                <a:sym typeface="+mn-ea"/>
              </a:rPr>
              <a:t>结果</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850900" y="2091690"/>
            <a:ext cx="7755255" cy="2912110"/>
          </a:xfrm>
          <a:prstGeom prst="rect">
            <a:avLst/>
          </a:prstGeom>
          <a:noFill/>
        </p:spPr>
        <p:txBody>
          <a:bodyPr wrap="square" rtlCol="0">
            <a:noAutofit/>
          </a:bodyPr>
          <a:p>
            <a:r>
              <a:rPr lang="en-US" altLang="zh-CN" sz="1400"/>
              <a:t>3. </a:t>
            </a:r>
            <a:r>
              <a:rPr lang="ko-KR" altLang="en-US" sz="1400"/>
              <a:t>위험</a:t>
            </a:r>
            <a:r>
              <a:rPr lang="en-US" altLang="zh-CN" sz="1400"/>
              <a:t> </a:t>
            </a:r>
            <a:r>
              <a:rPr lang="ko-KR" altLang="en-US" sz="1400"/>
              <a:t>등급</a:t>
            </a:r>
            <a:r>
              <a:rPr lang="en-US" altLang="zh-CN" sz="1400"/>
              <a:t> </a:t>
            </a:r>
            <a:r>
              <a:rPr lang="ko-KR" altLang="en-US" sz="1400"/>
              <a:t>분포가</a:t>
            </a:r>
            <a:r>
              <a:rPr lang="en-US" altLang="zh-CN" sz="1400"/>
              <a:t> </a:t>
            </a:r>
            <a:r>
              <a:rPr lang="ko-KR" altLang="en-US" sz="1400"/>
              <a:t>집중되어</a:t>
            </a:r>
            <a:r>
              <a:rPr lang="en-US" altLang="zh-CN" sz="1400"/>
              <a:t> </a:t>
            </a:r>
            <a:r>
              <a:rPr lang="ko-KR" altLang="en-US" sz="1400"/>
              <a:t>있으며</a:t>
            </a:r>
            <a:r>
              <a:rPr lang="en-US" altLang="zh-CN" sz="1400"/>
              <a:t>, </a:t>
            </a:r>
            <a:r>
              <a:rPr lang="ko-KR" altLang="en-US" sz="1400"/>
              <a:t>극고위험</a:t>
            </a:r>
            <a:r>
              <a:rPr lang="en-US" altLang="zh-CN" sz="1400"/>
              <a:t> </a:t>
            </a:r>
            <a:r>
              <a:rPr lang="ko-KR" altLang="en-US" sz="1400"/>
              <a:t>지역은</a:t>
            </a:r>
            <a:r>
              <a:rPr lang="en-US" altLang="zh-CN" sz="1400"/>
              <a:t> </a:t>
            </a:r>
            <a:r>
              <a:rPr lang="ko-KR" altLang="en-US" sz="1400"/>
              <a:t>적지만</a:t>
            </a:r>
            <a:r>
              <a:rPr lang="en-US" altLang="zh-CN" sz="1400"/>
              <a:t> </a:t>
            </a:r>
            <a:r>
              <a:rPr lang="ko-KR" altLang="en-US" sz="1400"/>
              <a:t>경계해야</a:t>
            </a:r>
            <a:r>
              <a:rPr lang="en-US" altLang="zh-CN" sz="1400"/>
              <a:t> </a:t>
            </a:r>
            <a:r>
              <a:rPr lang="ko-KR" altLang="en-US" sz="1400"/>
              <a:t>합니다</a:t>
            </a:r>
            <a:r>
              <a:rPr lang="en-US" altLang="zh-CN" sz="1400"/>
              <a:t>.</a:t>
            </a:r>
            <a:endParaRPr lang="en-US" altLang="zh-CN" sz="1400"/>
          </a:p>
          <a:p>
            <a:endParaRPr lang="en-US" altLang="zh-CN" sz="1400"/>
          </a:p>
          <a:p>
            <a:r>
              <a:rPr lang="ko-KR" altLang="en-US" sz="1400"/>
              <a:t>분석</a:t>
            </a:r>
            <a:r>
              <a:rPr lang="en-US" altLang="zh-CN" sz="1400"/>
              <a:t>: </a:t>
            </a:r>
            <a:r>
              <a:rPr lang="ko-KR" altLang="en-US" sz="1400"/>
              <a:t>음식</a:t>
            </a:r>
            <a:r>
              <a:rPr lang="en-US" altLang="zh-CN" sz="1400"/>
              <a:t> </a:t>
            </a:r>
            <a:r>
              <a:rPr lang="ko-KR" altLang="en-US" sz="1400"/>
              <a:t>종류가</a:t>
            </a:r>
            <a:r>
              <a:rPr lang="en-US" altLang="zh-CN" sz="1400"/>
              <a:t> </a:t>
            </a:r>
            <a:r>
              <a:rPr lang="ko-KR" altLang="en-US" sz="1400"/>
              <a:t>고위험군</a:t>
            </a:r>
            <a:r>
              <a:rPr lang="en-US" altLang="zh-CN" sz="1400"/>
              <a:t>(</a:t>
            </a:r>
            <a:r>
              <a:rPr lang="ko-KR" altLang="en-US" sz="1400"/>
              <a:t>해산물</a:t>
            </a:r>
            <a:r>
              <a:rPr lang="en-US" altLang="zh-CN" sz="1400"/>
              <a:t>, </a:t>
            </a:r>
            <a:r>
              <a:rPr lang="ko-KR" altLang="en-US" sz="1400"/>
              <a:t>생식</a:t>
            </a:r>
            <a:r>
              <a:rPr lang="en-US" altLang="zh-CN" sz="1400"/>
              <a:t>, </a:t>
            </a:r>
            <a:r>
              <a:rPr lang="ko-KR" altLang="en-US" sz="1400"/>
              <a:t>육류</a:t>
            </a:r>
            <a:r>
              <a:rPr lang="en-US" altLang="zh-CN" sz="1400"/>
              <a:t> </a:t>
            </a:r>
            <a:r>
              <a:rPr lang="ko-KR" altLang="en-US" sz="1400"/>
              <a:t>가공품</a:t>
            </a:r>
            <a:r>
              <a:rPr lang="en-US" altLang="zh-CN" sz="1400"/>
              <a:t> </a:t>
            </a:r>
            <a:r>
              <a:rPr lang="ko-KR" altLang="en-US" sz="1400"/>
              <a:t>등</a:t>
            </a:r>
            <a:r>
              <a:rPr lang="en-US" altLang="zh-CN" sz="1400"/>
              <a:t>)</a:t>
            </a:r>
            <a:r>
              <a:rPr lang="ko-KR" altLang="en-US" sz="1400"/>
              <a:t>에</a:t>
            </a:r>
            <a:r>
              <a:rPr lang="en-US" altLang="zh-CN" sz="1400"/>
              <a:t> </a:t>
            </a:r>
            <a:r>
              <a:rPr lang="ko-KR" altLang="en-US" sz="1400"/>
              <a:t>속할</a:t>
            </a:r>
            <a:r>
              <a:rPr lang="en-US" altLang="zh-CN" sz="1400"/>
              <a:t> </a:t>
            </a:r>
            <a:r>
              <a:rPr lang="ko-KR" altLang="en-US" sz="1400"/>
              <a:t>경우</a:t>
            </a:r>
            <a:r>
              <a:rPr lang="en-US" altLang="zh-CN" sz="1400"/>
              <a:t> </a:t>
            </a:r>
            <a:r>
              <a:rPr lang="ko-KR" altLang="en-US" sz="1400"/>
              <a:t>더욱</a:t>
            </a:r>
            <a:r>
              <a:rPr lang="en-US" altLang="zh-CN" sz="1400"/>
              <a:t> </a:t>
            </a:r>
            <a:r>
              <a:rPr lang="ko-KR" altLang="en-US" sz="1400"/>
              <a:t>엄격한</a:t>
            </a:r>
            <a:r>
              <a:rPr lang="en-US" altLang="zh-CN" sz="1400"/>
              <a:t> </a:t>
            </a:r>
            <a:r>
              <a:rPr lang="ko-KR" altLang="en-US" sz="1400"/>
              <a:t>내부</a:t>
            </a:r>
            <a:r>
              <a:rPr lang="en-US" altLang="zh-CN" sz="1400"/>
              <a:t> </a:t>
            </a:r>
            <a:r>
              <a:rPr lang="ko-KR" altLang="en-US" sz="1400"/>
              <a:t>관리가</a:t>
            </a:r>
            <a:r>
              <a:rPr lang="en-US" altLang="zh-CN" sz="1400"/>
              <a:t> </a:t>
            </a:r>
            <a:r>
              <a:rPr lang="ko-KR" altLang="en-US" sz="1400"/>
              <a:t>필요합니다</a:t>
            </a:r>
            <a:r>
              <a:rPr lang="en-US" altLang="zh-CN" sz="1400"/>
              <a:t>. </a:t>
            </a:r>
            <a:r>
              <a:rPr lang="ko-KR" altLang="en-US" sz="1400"/>
              <a:t>대상</a:t>
            </a:r>
            <a:r>
              <a:rPr lang="en-US" altLang="zh-CN" sz="1400"/>
              <a:t> </a:t>
            </a:r>
            <a:r>
              <a:rPr lang="ko-KR" altLang="en-US" sz="1400"/>
              <a:t>지역</a:t>
            </a:r>
            <a:r>
              <a:rPr lang="en-US" altLang="zh-CN" sz="1400"/>
              <a:t> </a:t>
            </a:r>
            <a:r>
              <a:rPr lang="ko-KR" altLang="en-US" sz="1400"/>
              <a:t>자체가</a:t>
            </a:r>
            <a:r>
              <a:rPr lang="en-US" altLang="zh-CN" sz="1400"/>
              <a:t> </a:t>
            </a:r>
            <a:r>
              <a:rPr lang="ko-KR" altLang="en-US" sz="1400"/>
              <a:t>고위험</a:t>
            </a:r>
            <a:r>
              <a:rPr lang="en-US" altLang="zh-CN" sz="1400"/>
              <a:t> </a:t>
            </a:r>
            <a:r>
              <a:rPr lang="ko-KR" altLang="en-US" sz="1400"/>
              <a:t>지역일</a:t>
            </a:r>
            <a:r>
              <a:rPr lang="en-US" altLang="zh-CN" sz="1400"/>
              <a:t> </a:t>
            </a:r>
            <a:r>
              <a:rPr lang="ko-KR" altLang="en-US" sz="1400"/>
              <a:t>경우</a:t>
            </a:r>
            <a:r>
              <a:rPr lang="en-US" altLang="zh-CN" sz="1400"/>
              <a:t> </a:t>
            </a:r>
            <a:r>
              <a:rPr lang="ko-KR" altLang="en-US" sz="1400"/>
              <a:t>더</a:t>
            </a:r>
            <a:r>
              <a:rPr lang="en-US" altLang="zh-CN" sz="1400"/>
              <a:t> </a:t>
            </a:r>
            <a:r>
              <a:rPr lang="ko-KR" altLang="en-US" sz="1400"/>
              <a:t>빈번한</a:t>
            </a:r>
            <a:r>
              <a:rPr lang="en-US" altLang="zh-CN" sz="1400"/>
              <a:t> </a:t>
            </a:r>
            <a:r>
              <a:rPr lang="ko-KR" altLang="en-US" sz="1400"/>
              <a:t>불시</a:t>
            </a:r>
            <a:r>
              <a:rPr lang="en-US" altLang="zh-CN" sz="1400"/>
              <a:t> </a:t>
            </a:r>
            <a:r>
              <a:rPr lang="ko-KR" altLang="en-US" sz="1400"/>
              <a:t>점검에</a:t>
            </a:r>
            <a:r>
              <a:rPr lang="en-US" altLang="zh-CN" sz="1400"/>
              <a:t> </a:t>
            </a:r>
            <a:r>
              <a:rPr lang="ko-KR" altLang="en-US" sz="1400"/>
              <a:t>직면하게</a:t>
            </a:r>
            <a:r>
              <a:rPr lang="en-US" altLang="zh-CN" sz="1400"/>
              <a:t> </a:t>
            </a:r>
            <a:r>
              <a:rPr lang="ko-KR" altLang="en-US" sz="1400"/>
              <a:t>됩니다</a:t>
            </a:r>
            <a:r>
              <a:rPr lang="en-US" altLang="zh-CN" sz="1400"/>
              <a:t>.</a:t>
            </a:r>
            <a:endParaRPr lang="en-US" altLang="zh-CN" sz="1400"/>
          </a:p>
          <a:p>
            <a:endParaRPr lang="en-US" altLang="zh-CN" sz="1400"/>
          </a:p>
          <a:p>
            <a:r>
              <a:rPr lang="en-US" sz="1400"/>
              <a:t>3.</a:t>
            </a:r>
            <a:r>
              <a:rPr lang="zh-CN" altLang="en-US" sz="1400"/>
              <a:t>危险等级分布集中，极高风险区虽少但要警惕</a:t>
            </a:r>
            <a:endParaRPr lang="zh-CN" altLang="en-US" sz="1400"/>
          </a:p>
          <a:p>
            <a:endParaRPr lang="zh-CN" altLang="en-US" sz="1400"/>
          </a:p>
          <a:p>
            <a:r>
              <a:rPr lang="zh-CN" altLang="en-US" sz="1400"/>
              <a:t>分析：如果餐饮品类属于高风险（如海鲜、生食、肉类加工），更需要严格的内部管理。如果目标地区本身是高风险区，会面临更频繁的抽查。</a:t>
            </a:r>
            <a:endParaRPr lang="zh-CN" altLang="en-US" sz="1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데이터</a:t>
            </a:r>
            <a:r>
              <a:rPr lang="en-US" altLang="zh-CN"/>
              <a:t> </a:t>
            </a:r>
            <a:r>
              <a:rPr lang="ko-KR" altLang="en-US"/>
              <a:t>분석</a:t>
            </a:r>
            <a:r>
              <a:rPr lang="en-US" altLang="zh-CN"/>
              <a:t> </a:t>
            </a:r>
            <a:r>
              <a:rPr lang="ko-KR" altLang="en-US"/>
              <a:t>결과</a:t>
            </a:r>
            <a:r>
              <a:t> / </a:t>
            </a:r>
            <a:r>
              <a:rPr lang="zh-CN"/>
              <a:t>数据分析</a:t>
            </a:r>
            <a:r>
              <a:rPr lang="zh-CN">
                <a:sym typeface="+mn-ea"/>
              </a:rPr>
              <a:t>结果</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2" name="文本框 1"/>
          <p:cNvSpPr txBox="1"/>
          <p:nvPr/>
        </p:nvSpPr>
        <p:spPr>
          <a:xfrm>
            <a:off x="795655" y="2070735"/>
            <a:ext cx="7755255" cy="4075430"/>
          </a:xfrm>
          <a:prstGeom prst="rect">
            <a:avLst/>
          </a:prstGeom>
          <a:noFill/>
        </p:spPr>
        <p:txBody>
          <a:bodyPr wrap="square" rtlCol="0">
            <a:noAutofit/>
          </a:bodyPr>
          <a:p>
            <a:r>
              <a:rPr lang="en-US" altLang="zh-CN" sz="1400"/>
              <a:t>4. </a:t>
            </a:r>
            <a:r>
              <a:rPr lang="ko-KR" altLang="en-US" sz="1400"/>
              <a:t>차트는</a:t>
            </a:r>
            <a:r>
              <a:rPr lang="en-US" altLang="zh-CN" sz="1400"/>
              <a:t> </a:t>
            </a:r>
            <a:r>
              <a:rPr lang="ko-KR" altLang="en-US" sz="1400"/>
              <a:t>수치</a:t>
            </a:r>
            <a:r>
              <a:rPr lang="en-US" altLang="zh-CN" sz="1400"/>
              <a:t> </a:t>
            </a:r>
            <a:r>
              <a:rPr lang="ko-KR" altLang="en-US" sz="1400"/>
              <a:t>변수가</a:t>
            </a:r>
            <a:r>
              <a:rPr lang="en-US" altLang="zh-CN" sz="1400"/>
              <a:t> </a:t>
            </a:r>
            <a:r>
              <a:rPr lang="ko-KR" altLang="en-US" sz="1400"/>
              <a:t>긴</a:t>
            </a:r>
            <a:r>
              <a:rPr lang="en-US" altLang="zh-CN" sz="1400"/>
              <a:t> </a:t>
            </a:r>
            <a:r>
              <a:rPr lang="ko-KR" altLang="en-US" sz="1400"/>
              <a:t>꼬리를</a:t>
            </a:r>
            <a:r>
              <a:rPr lang="en-US" altLang="zh-CN" sz="1400"/>
              <a:t> </a:t>
            </a:r>
            <a:r>
              <a:rPr lang="ko-KR" altLang="en-US" sz="1400"/>
              <a:t>보인다는</a:t>
            </a:r>
            <a:r>
              <a:rPr lang="en-US" altLang="zh-CN" sz="1400"/>
              <a:t> </a:t>
            </a:r>
            <a:r>
              <a:rPr lang="ko-KR" altLang="en-US" sz="1400"/>
              <a:t>것을</a:t>
            </a:r>
            <a:r>
              <a:rPr lang="en-US" altLang="zh-CN" sz="1400"/>
              <a:t> </a:t>
            </a:r>
            <a:r>
              <a:rPr lang="ko-KR" altLang="en-US" sz="1400"/>
              <a:t>보여줍니다</a:t>
            </a:r>
            <a:r>
              <a:rPr lang="en-US" altLang="zh-CN" sz="1400"/>
              <a:t>: </a:t>
            </a:r>
            <a:r>
              <a:rPr lang="ko-KR" altLang="en-US" sz="1400"/>
              <a:t>이는</a:t>
            </a:r>
            <a:r>
              <a:rPr lang="en-US" altLang="zh-CN" sz="1400"/>
              <a:t> “</a:t>
            </a:r>
            <a:r>
              <a:rPr lang="ko-KR" altLang="en-US" sz="1400"/>
              <a:t>소수의</a:t>
            </a:r>
            <a:r>
              <a:rPr lang="en-US" altLang="zh-CN" sz="1400"/>
              <a:t> </a:t>
            </a:r>
            <a:r>
              <a:rPr lang="ko-KR" altLang="en-US" sz="1400"/>
              <a:t>중대한</a:t>
            </a:r>
            <a:r>
              <a:rPr lang="en-US" altLang="zh-CN" sz="1400"/>
              <a:t> </a:t>
            </a:r>
            <a:r>
              <a:rPr lang="ko-KR" altLang="en-US" sz="1400"/>
              <a:t>위반</a:t>
            </a:r>
            <a:r>
              <a:rPr lang="en-US" altLang="zh-CN" sz="1400"/>
              <a:t>”</a:t>
            </a:r>
            <a:r>
              <a:rPr lang="ko-KR" altLang="en-US" sz="1400"/>
              <a:t>이</a:t>
            </a:r>
            <a:r>
              <a:rPr lang="en-US" altLang="zh-CN" sz="1400"/>
              <a:t> </a:t>
            </a:r>
            <a:r>
              <a:rPr lang="ko-KR" altLang="en-US" sz="1400"/>
              <a:t>막대한</a:t>
            </a:r>
            <a:r>
              <a:rPr lang="en-US" altLang="zh-CN" sz="1400"/>
              <a:t> </a:t>
            </a:r>
            <a:r>
              <a:rPr lang="ko-KR" altLang="en-US" sz="1400"/>
              <a:t>손실을</a:t>
            </a:r>
            <a:r>
              <a:rPr lang="en-US" altLang="zh-CN" sz="1400"/>
              <a:t> </a:t>
            </a:r>
            <a:r>
              <a:rPr lang="ko-KR" altLang="en-US" sz="1400"/>
              <a:t>초래할</a:t>
            </a:r>
            <a:r>
              <a:rPr lang="en-US" altLang="zh-CN" sz="1400"/>
              <a:t> </a:t>
            </a:r>
            <a:r>
              <a:rPr lang="ko-KR" altLang="en-US" sz="1400"/>
              <a:t>수</a:t>
            </a:r>
            <a:r>
              <a:rPr lang="en-US" altLang="zh-CN" sz="1400"/>
              <a:t> </a:t>
            </a:r>
            <a:r>
              <a:rPr lang="ko-KR" altLang="en-US" sz="1400"/>
              <a:t>있음을</a:t>
            </a:r>
            <a:r>
              <a:rPr lang="en-US" altLang="zh-CN" sz="1400"/>
              <a:t> </a:t>
            </a:r>
            <a:r>
              <a:rPr lang="ko-KR" altLang="en-US" sz="1400"/>
              <a:t>의미합니다</a:t>
            </a:r>
            <a:r>
              <a:rPr lang="en-US" altLang="zh-CN" sz="1400"/>
              <a:t>.</a:t>
            </a:r>
            <a:endParaRPr lang="en-US" altLang="zh-CN" sz="1400"/>
          </a:p>
          <a:p>
            <a:pPr marL="342900" indent="-342900">
              <a:buFont typeface="+mj-ea"/>
              <a:buAutoNum type="circleNumDbPlain"/>
            </a:pPr>
            <a:r>
              <a:rPr lang="ko-KR" altLang="en-US" sz="1400"/>
              <a:t>많은</a:t>
            </a:r>
            <a:r>
              <a:rPr lang="en-US" altLang="zh-CN" sz="1400"/>
              <a:t> </a:t>
            </a:r>
            <a:r>
              <a:rPr lang="ko-KR" altLang="en-US" sz="1400"/>
              <a:t>금액과</a:t>
            </a:r>
            <a:r>
              <a:rPr lang="en-US" altLang="zh-CN" sz="1400"/>
              <a:t> </a:t>
            </a:r>
            <a:r>
              <a:rPr lang="ko-KR" altLang="en-US" sz="1400"/>
              <a:t>위반</a:t>
            </a:r>
            <a:r>
              <a:rPr lang="en-US" altLang="zh-CN" sz="1400"/>
              <a:t> </a:t>
            </a:r>
            <a:r>
              <a:rPr lang="ko-KR" altLang="en-US" sz="1400"/>
              <a:t>지표는</a:t>
            </a:r>
            <a:r>
              <a:rPr lang="en-US" altLang="zh-CN" sz="1400"/>
              <a:t> </a:t>
            </a:r>
            <a:r>
              <a:rPr lang="ko-KR" altLang="en-US" sz="1400"/>
              <a:t>편태</a:t>
            </a:r>
            <a:r>
              <a:rPr lang="en-US" altLang="zh-CN" sz="1400"/>
              <a:t> </a:t>
            </a:r>
            <a:r>
              <a:rPr lang="ko-KR" altLang="en-US" sz="1400"/>
              <a:t>분포를</a:t>
            </a:r>
            <a:r>
              <a:rPr lang="en-US" altLang="zh-CN" sz="1400"/>
              <a:t> </a:t>
            </a:r>
            <a:r>
              <a:rPr lang="ko-KR" altLang="en-US" sz="1400"/>
              <a:t>보이며</a:t>
            </a:r>
            <a:endParaRPr lang="en-US" altLang="zh-CN" sz="1400"/>
          </a:p>
          <a:p>
            <a:pPr marL="342900" indent="-342900">
              <a:buFont typeface="+mj-ea"/>
              <a:buAutoNum type="circleNumDbPlain"/>
            </a:pPr>
            <a:r>
              <a:rPr lang="ko-KR" altLang="en-US" sz="1400"/>
              <a:t>소수의</a:t>
            </a:r>
            <a:r>
              <a:rPr lang="en-US" altLang="zh-CN" sz="1400"/>
              <a:t> </a:t>
            </a:r>
            <a:r>
              <a:rPr lang="ko-KR" altLang="en-US" sz="1400"/>
              <a:t>심각한</a:t>
            </a:r>
            <a:r>
              <a:rPr lang="en-US" altLang="zh-CN" sz="1400"/>
              <a:t> </a:t>
            </a:r>
            <a:r>
              <a:rPr lang="ko-KR" altLang="en-US" sz="1400"/>
              <a:t>위반이</a:t>
            </a:r>
            <a:r>
              <a:rPr lang="en-US" altLang="zh-CN" sz="1400"/>
              <a:t> </a:t>
            </a:r>
            <a:r>
              <a:rPr lang="ko-KR" altLang="en-US" sz="1400"/>
              <a:t>극단적으로</a:t>
            </a:r>
            <a:r>
              <a:rPr lang="en-US" altLang="zh-CN" sz="1400"/>
              <a:t> </a:t>
            </a:r>
            <a:r>
              <a:rPr lang="ko-KR" altLang="en-US" sz="1400"/>
              <a:t>높은</a:t>
            </a:r>
            <a:r>
              <a:rPr lang="en-US" altLang="zh-CN" sz="1400"/>
              <a:t> </a:t>
            </a:r>
            <a:r>
              <a:rPr lang="ko-KR" altLang="en-US" sz="1400"/>
              <a:t>벌금이나</a:t>
            </a:r>
            <a:r>
              <a:rPr lang="en-US" altLang="zh-CN" sz="1400"/>
              <a:t> </a:t>
            </a:r>
            <a:r>
              <a:rPr lang="ko-KR" altLang="en-US" sz="1400"/>
              <a:t>강제</a:t>
            </a:r>
            <a:r>
              <a:rPr lang="en-US" altLang="zh-CN" sz="1400"/>
              <a:t> </a:t>
            </a:r>
            <a:r>
              <a:rPr lang="ko-KR" altLang="en-US" sz="1400"/>
              <a:t>폐쇄로</a:t>
            </a:r>
            <a:r>
              <a:rPr lang="en-US" altLang="zh-CN" sz="1400"/>
              <a:t> </a:t>
            </a:r>
            <a:r>
              <a:rPr lang="ko-KR" altLang="en-US" sz="1400"/>
              <a:t>이어집니다</a:t>
            </a:r>
            <a:endParaRPr lang="en-US" altLang="zh-CN" sz="1400"/>
          </a:p>
          <a:p>
            <a:endParaRPr lang="en-US" altLang="zh-CN" sz="1400"/>
          </a:p>
          <a:p>
            <a:r>
              <a:rPr lang="ko-KR" altLang="en-US" sz="1400"/>
              <a:t>분석</a:t>
            </a:r>
            <a:r>
              <a:rPr lang="en-US" altLang="zh-CN" sz="1400"/>
              <a:t>: </a:t>
            </a:r>
            <a:r>
              <a:rPr lang="ko-KR" altLang="en-US" sz="1400"/>
              <a:t>예산의</a:t>
            </a:r>
            <a:r>
              <a:rPr lang="en-US" altLang="zh-CN" sz="1400"/>
              <a:t> </a:t>
            </a:r>
            <a:r>
              <a:rPr lang="ko-KR" altLang="en-US" sz="1400"/>
              <a:t>일부를</a:t>
            </a:r>
            <a:r>
              <a:rPr lang="en-US" altLang="zh-CN" sz="1400"/>
              <a:t> </a:t>
            </a:r>
            <a:r>
              <a:rPr lang="ko-KR" altLang="en-US" sz="1400"/>
              <a:t>투입하여</a:t>
            </a:r>
            <a:r>
              <a:rPr lang="en-US" altLang="zh-CN" sz="1400"/>
              <a:t> “</a:t>
            </a:r>
            <a:r>
              <a:rPr lang="ko-KR" altLang="en-US" sz="1400"/>
              <a:t>위험</a:t>
            </a:r>
            <a:r>
              <a:rPr lang="en-US" altLang="zh-CN" sz="1400"/>
              <a:t> </a:t>
            </a:r>
            <a:r>
              <a:rPr lang="ko-KR" altLang="en-US" sz="1400"/>
              <a:t>대비금</a:t>
            </a:r>
            <a:r>
              <a:rPr lang="en-US" altLang="zh-CN" sz="1400"/>
              <a:t>”</a:t>
            </a:r>
            <a:r>
              <a:rPr lang="ko-KR" altLang="en-US" sz="1400"/>
              <a:t>과</a:t>
            </a:r>
            <a:r>
              <a:rPr lang="en-US" altLang="zh-CN" sz="1400"/>
              <a:t> “</a:t>
            </a:r>
            <a:r>
              <a:rPr lang="ko-KR" altLang="en-US" sz="1400"/>
              <a:t>위생</a:t>
            </a:r>
            <a:r>
              <a:rPr lang="en-US" altLang="zh-CN" sz="1400"/>
              <a:t> </a:t>
            </a:r>
            <a:r>
              <a:rPr lang="ko-KR" altLang="en-US" sz="1400"/>
              <a:t>설비</a:t>
            </a:r>
            <a:r>
              <a:rPr lang="en-US" altLang="zh-CN" sz="1400"/>
              <a:t> </a:t>
            </a:r>
            <a:r>
              <a:rPr lang="ko-KR" altLang="en-US" sz="1400"/>
              <a:t>예산</a:t>
            </a:r>
            <a:r>
              <a:rPr lang="en-US" altLang="zh-CN" sz="1400"/>
              <a:t>”</a:t>
            </a:r>
            <a:r>
              <a:rPr lang="ko-KR" altLang="en-US" sz="1400"/>
              <a:t>을</a:t>
            </a:r>
            <a:r>
              <a:rPr lang="en-US" altLang="zh-CN" sz="1400"/>
              <a:t> </a:t>
            </a:r>
            <a:r>
              <a:rPr lang="ko-KR" altLang="en-US" sz="1400"/>
              <a:t>마련하는</a:t>
            </a:r>
            <a:r>
              <a:rPr lang="en-US" altLang="zh-CN" sz="1400"/>
              <a:t> </a:t>
            </a:r>
            <a:r>
              <a:rPr lang="ko-KR" altLang="en-US" sz="1400"/>
              <a:t>것이</a:t>
            </a:r>
            <a:r>
              <a:rPr lang="en-US" altLang="zh-CN" sz="1400"/>
              <a:t> </a:t>
            </a:r>
            <a:r>
              <a:rPr lang="ko-KR" altLang="en-US" sz="1400"/>
              <a:t>필요합니다</a:t>
            </a:r>
            <a:r>
              <a:rPr lang="en-US" altLang="zh-CN" sz="1400"/>
              <a:t>. </a:t>
            </a:r>
            <a:r>
              <a:rPr lang="ko-KR" altLang="en-US" sz="1400"/>
              <a:t>자동화</a:t>
            </a:r>
            <a:r>
              <a:rPr lang="en-US" altLang="zh-CN" sz="1400"/>
              <a:t> </a:t>
            </a:r>
            <a:r>
              <a:rPr lang="ko-KR" altLang="en-US" sz="1400"/>
              <a:t>및</a:t>
            </a:r>
            <a:r>
              <a:rPr lang="en-US" altLang="zh-CN" sz="1400"/>
              <a:t> </a:t>
            </a:r>
            <a:r>
              <a:rPr lang="ko-KR" altLang="en-US" sz="1400"/>
              <a:t>지능형</a:t>
            </a:r>
            <a:r>
              <a:rPr lang="en-US" altLang="zh-CN" sz="1400"/>
              <a:t> </a:t>
            </a:r>
            <a:r>
              <a:rPr lang="ko-KR" altLang="en-US" sz="1400"/>
              <a:t>위생</a:t>
            </a:r>
            <a:r>
              <a:rPr lang="en-US" altLang="zh-CN" sz="1400"/>
              <a:t> </a:t>
            </a:r>
            <a:r>
              <a:rPr lang="ko-KR" altLang="en-US" sz="1400"/>
              <a:t>모니터링</a:t>
            </a:r>
            <a:r>
              <a:rPr lang="en-US" altLang="zh-CN" sz="1400"/>
              <a:t> </a:t>
            </a:r>
            <a:r>
              <a:rPr lang="ko-KR" altLang="en-US" sz="1400"/>
              <a:t>장비</a:t>
            </a:r>
            <a:r>
              <a:rPr lang="en-US" altLang="zh-CN" sz="1400"/>
              <a:t>(</a:t>
            </a:r>
            <a:r>
              <a:rPr lang="ko-KR" altLang="en-US" sz="1400"/>
              <a:t>예</a:t>
            </a:r>
            <a:r>
              <a:rPr lang="en-US" altLang="zh-CN" sz="1400"/>
              <a:t>: </a:t>
            </a:r>
            <a:r>
              <a:rPr lang="ko-KR" altLang="en-US" sz="1400"/>
              <a:t>온도</a:t>
            </a:r>
            <a:r>
              <a:rPr lang="en-US" altLang="zh-CN" sz="1400"/>
              <a:t> </a:t>
            </a:r>
            <a:r>
              <a:rPr lang="ko-KR" altLang="en-US" sz="1400"/>
              <a:t>기록기</a:t>
            </a:r>
            <a:r>
              <a:rPr lang="en-US" altLang="zh-CN" sz="1400"/>
              <a:t>, </a:t>
            </a:r>
            <a:r>
              <a:rPr lang="ko-KR" altLang="en-US" sz="1400"/>
              <a:t>자동</a:t>
            </a:r>
            <a:r>
              <a:rPr lang="en-US" altLang="zh-CN" sz="1400"/>
              <a:t> </a:t>
            </a:r>
            <a:r>
              <a:rPr lang="ko-KR" altLang="en-US" sz="1400"/>
              <a:t>연기</a:t>
            </a:r>
            <a:r>
              <a:rPr lang="en-US" altLang="zh-CN" sz="1400"/>
              <a:t> </a:t>
            </a:r>
            <a:r>
              <a:rPr lang="ko-KR" altLang="en-US" sz="1400"/>
              <a:t>감지기</a:t>
            </a:r>
            <a:r>
              <a:rPr lang="en-US" altLang="zh-CN" sz="1400"/>
              <a:t> </a:t>
            </a:r>
            <a:r>
              <a:rPr lang="ko-KR" altLang="en-US" sz="1400"/>
              <a:t>등</a:t>
            </a:r>
            <a:r>
              <a:rPr lang="en-US" altLang="zh-CN" sz="1400"/>
              <a:t>) </a:t>
            </a:r>
            <a:r>
              <a:rPr lang="ko-KR" altLang="en-US" sz="1400"/>
              <a:t>설치를</a:t>
            </a:r>
            <a:r>
              <a:rPr lang="en-US" altLang="zh-CN" sz="1400"/>
              <a:t> </a:t>
            </a:r>
            <a:r>
              <a:rPr lang="ko-KR" altLang="en-US" sz="1400"/>
              <a:t>고려하십시오</a:t>
            </a:r>
            <a:r>
              <a:rPr lang="en-US" altLang="zh-CN" sz="1400"/>
              <a:t>.</a:t>
            </a:r>
            <a:endParaRPr lang="en-US" altLang="zh-CN" sz="1400"/>
          </a:p>
          <a:p>
            <a:endParaRPr lang="en-US" altLang="zh-CN" sz="1400"/>
          </a:p>
          <a:p>
            <a:r>
              <a:rPr lang="en-US" sz="1400"/>
              <a:t>4.</a:t>
            </a:r>
            <a:r>
              <a:rPr lang="zh-CN" altLang="en-US" sz="1400"/>
              <a:t>图表显示数值变量呈长尾：意味着</a:t>
            </a:r>
            <a:r>
              <a:rPr lang="en-US" altLang="zh-CN" sz="1400"/>
              <a:t>“</a:t>
            </a:r>
            <a:r>
              <a:rPr lang="zh-CN" altLang="en-US" sz="1400"/>
              <a:t>少数重大违规</a:t>
            </a:r>
            <a:r>
              <a:rPr lang="en-US" altLang="zh-CN" sz="1400"/>
              <a:t>”</a:t>
            </a:r>
            <a:r>
              <a:rPr lang="zh-CN" altLang="en-US" sz="1400"/>
              <a:t>会带来巨大损失</a:t>
            </a:r>
            <a:endParaRPr lang="zh-CN" altLang="en-US" sz="1400"/>
          </a:p>
          <a:p>
            <a:pPr marL="342900" indent="-342900">
              <a:buFont typeface="+mj-ea"/>
              <a:buAutoNum type="circleNumDbPlain"/>
            </a:pPr>
            <a:r>
              <a:rPr lang="zh-CN" altLang="en-US" sz="1400"/>
              <a:t>不少金额与违规指标是偏态分布</a:t>
            </a:r>
            <a:endParaRPr lang="zh-CN" altLang="en-US" sz="1400"/>
          </a:p>
          <a:p>
            <a:pPr marL="342900" indent="-342900">
              <a:buFont typeface="+mj-ea"/>
              <a:buAutoNum type="circleNumDbPlain"/>
            </a:pPr>
            <a:r>
              <a:rPr lang="zh-CN" altLang="en-US" sz="1400"/>
              <a:t>少数严重违规导致极端高额罚金或强制关停</a:t>
            </a:r>
            <a:endParaRPr lang="zh-CN" altLang="en-US" sz="1400"/>
          </a:p>
          <a:p>
            <a:endParaRPr lang="zh-CN" altLang="en-US" sz="1400"/>
          </a:p>
          <a:p>
            <a:r>
              <a:rPr lang="zh-CN" altLang="en-US" sz="1400"/>
              <a:t>分析：投入一部分预算建立</a:t>
            </a:r>
            <a:r>
              <a:rPr lang="en-US" altLang="zh-CN" sz="1400"/>
              <a:t>“</a:t>
            </a:r>
            <a:r>
              <a:rPr lang="zh-CN" altLang="en-US" sz="1400"/>
              <a:t>风险留存金</a:t>
            </a:r>
            <a:r>
              <a:rPr lang="en-US" altLang="zh-CN" sz="1400"/>
              <a:t>”</a:t>
            </a:r>
            <a:r>
              <a:rPr lang="zh-CN" altLang="en-US" sz="1400"/>
              <a:t>与</a:t>
            </a:r>
            <a:r>
              <a:rPr lang="en-US" altLang="zh-CN" sz="1400"/>
              <a:t>“</a:t>
            </a:r>
            <a:r>
              <a:rPr lang="zh-CN" altLang="en-US" sz="1400"/>
              <a:t>卫生设备预算</a:t>
            </a:r>
            <a:r>
              <a:rPr lang="en-US" altLang="zh-CN" sz="1400"/>
              <a:t>”</a:t>
            </a:r>
            <a:r>
              <a:rPr lang="zh-CN" altLang="en-US" sz="1400"/>
              <a:t>是必要的。考虑安装自动化、智能化卫生监控设备（例如温度记录仪、自动油烟监测等）</a:t>
            </a:r>
            <a:endParaRPr lang="zh-CN" altLang="en-US"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경영</a:t>
            </a:r>
            <a:r>
              <a:rPr lang="en-US" altLang="zh-CN"/>
              <a:t> </a:t>
            </a:r>
            <a:r>
              <a:rPr lang="ko-KR" altLang="en-US"/>
              <a:t>리스크</a:t>
            </a:r>
            <a:r>
              <a:rPr lang="en-US" altLang="zh-CN"/>
              <a:t> </a:t>
            </a:r>
            <a:r>
              <a:rPr lang="ko-KR" altLang="en-US"/>
              <a:t>방어</a:t>
            </a:r>
            <a:r>
              <a:rPr lang="en-US" altLang="zh-CN"/>
              <a:t> </a:t>
            </a:r>
            <a:r>
              <a:rPr lang="ko-KR" altLang="en-US"/>
              <a:t>메커니즘</a:t>
            </a:r>
            <a:r>
              <a:rPr lang="en-US" altLang="zh-CN"/>
              <a:t> </a:t>
            </a:r>
            <a:r>
              <a:rPr lang="ko-KR" altLang="en-US"/>
              <a:t>연구</a:t>
            </a:r>
            <a:r>
              <a:t> / </a:t>
            </a:r>
            <a:r>
              <a:rPr lang="zh-CN" altLang="en-US" dirty="0">
                <a:sym typeface="+mn-ea"/>
              </a:rPr>
              <a:t>经营风险防控机制研究</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914400" y="2244725"/>
            <a:ext cx="7654290" cy="4084955"/>
          </a:xfrm>
          <a:prstGeom prst="rect">
            <a:avLst/>
          </a:prstGeom>
          <a:noFill/>
        </p:spPr>
        <p:txBody>
          <a:bodyPr wrap="square" rtlCol="0">
            <a:noAutofit/>
          </a:bodyPr>
          <a:p>
            <a:r>
              <a:rPr lang="en-US" altLang="zh-CN" sz="1600"/>
              <a:t>  1. </a:t>
            </a:r>
            <a:r>
              <a:rPr lang="ko-KR" altLang="en-US" sz="1600"/>
              <a:t>허가증</a:t>
            </a:r>
            <a:r>
              <a:rPr lang="en-US" altLang="zh-CN" sz="1600"/>
              <a:t> </a:t>
            </a:r>
            <a:r>
              <a:rPr lang="ko-KR" altLang="en-US" sz="1600"/>
              <a:t>및</a:t>
            </a:r>
            <a:r>
              <a:rPr lang="en-US" altLang="zh-CN" sz="1600"/>
              <a:t> </a:t>
            </a:r>
            <a:r>
              <a:rPr lang="ko-KR" altLang="en-US" sz="1600"/>
              <a:t>등록</a:t>
            </a:r>
            <a:r>
              <a:rPr lang="en-US" altLang="zh-CN" sz="1600"/>
              <a:t> </a:t>
            </a:r>
            <a:r>
              <a:rPr lang="ko-KR" altLang="en-US" sz="1600"/>
              <a:t>절차는</a:t>
            </a:r>
            <a:r>
              <a:rPr lang="en-US" altLang="zh-CN" sz="1600"/>
              <a:t> </a:t>
            </a:r>
            <a:r>
              <a:rPr lang="ko-KR" altLang="en-US" sz="1600"/>
              <a:t>완전히</a:t>
            </a:r>
            <a:r>
              <a:rPr lang="en-US" altLang="zh-CN" sz="1600"/>
              <a:t> </a:t>
            </a:r>
            <a:r>
              <a:rPr lang="ko-KR" altLang="en-US" sz="1600"/>
              <a:t>규정</a:t>
            </a:r>
            <a:r>
              <a:rPr lang="en-US" altLang="zh-CN" sz="1600"/>
              <a:t> </a:t>
            </a:r>
            <a:r>
              <a:rPr lang="ko-KR" altLang="en-US" sz="1600"/>
              <a:t>준수해야</a:t>
            </a:r>
            <a:r>
              <a:rPr lang="en-US" altLang="zh-CN" sz="1600"/>
              <a:t> </a:t>
            </a:r>
            <a:r>
              <a:rPr lang="ko-KR" altLang="en-US" sz="1600"/>
              <a:t>합니다</a:t>
            </a:r>
            <a:r>
              <a:rPr lang="en-US" altLang="zh-CN" sz="1600"/>
              <a:t>. “</a:t>
            </a:r>
            <a:r>
              <a:rPr lang="ko-KR" altLang="en-US" sz="1600"/>
              <a:t>직권</a:t>
            </a:r>
            <a:r>
              <a:rPr lang="en-US" altLang="zh-CN" sz="1600"/>
              <a:t> </a:t>
            </a:r>
            <a:r>
              <a:rPr lang="ko-KR" altLang="en-US" sz="1600"/>
              <a:t>취소</a:t>
            </a:r>
            <a:r>
              <a:rPr lang="en-US" altLang="zh-CN" sz="1600"/>
              <a:t>” </a:t>
            </a:r>
            <a:r>
              <a:rPr lang="ko-KR" altLang="en-US" sz="1600"/>
              <a:t>및</a:t>
            </a:r>
            <a:r>
              <a:rPr lang="en-US" altLang="zh-CN" sz="1600"/>
              <a:t> “</a:t>
            </a:r>
            <a:r>
              <a:rPr lang="ko-KR" altLang="en-US" sz="1600"/>
              <a:t>영업</a:t>
            </a:r>
            <a:r>
              <a:rPr lang="en-US" altLang="zh-CN" sz="1600"/>
              <a:t> </a:t>
            </a:r>
            <a:r>
              <a:rPr lang="ko-KR" altLang="en-US" sz="1600"/>
              <a:t>정지</a:t>
            </a:r>
            <a:r>
              <a:rPr lang="en-US" altLang="zh-CN" sz="1600"/>
              <a:t>” </a:t>
            </a:r>
            <a:r>
              <a:rPr lang="ko-KR" altLang="en-US" sz="1600"/>
              <a:t>발생률이</a:t>
            </a:r>
            <a:r>
              <a:rPr lang="en-US" altLang="zh-CN" sz="1600"/>
              <a:t> </a:t>
            </a:r>
            <a:r>
              <a:rPr lang="ko-KR" altLang="en-US" sz="1600"/>
              <a:t>매우</a:t>
            </a:r>
            <a:r>
              <a:rPr lang="en-US" altLang="zh-CN" sz="1600"/>
              <a:t> </a:t>
            </a:r>
            <a:r>
              <a:rPr lang="ko-KR" altLang="en-US" sz="1600"/>
              <a:t>높은</a:t>
            </a:r>
            <a:r>
              <a:rPr lang="en-US" altLang="zh-CN" sz="1600"/>
              <a:t> </a:t>
            </a:r>
            <a:r>
              <a:rPr lang="ko-KR" altLang="en-US" sz="1600"/>
              <a:t>것은</a:t>
            </a:r>
            <a:r>
              <a:rPr lang="en-US" altLang="zh-CN" sz="1600"/>
              <a:t> </a:t>
            </a:r>
            <a:r>
              <a:rPr lang="ko-KR" altLang="en-US" sz="1600"/>
              <a:t>많은</a:t>
            </a:r>
            <a:r>
              <a:rPr lang="en-US" altLang="zh-CN" sz="1600"/>
              <a:t> </a:t>
            </a:r>
            <a:r>
              <a:rPr lang="ko-KR" altLang="en-US" sz="1600"/>
              <a:t>처벌이</a:t>
            </a:r>
            <a:r>
              <a:rPr lang="en-US" altLang="zh-CN" sz="1600"/>
              <a:t> </a:t>
            </a:r>
            <a:r>
              <a:rPr lang="ko-KR" altLang="en-US" sz="1600"/>
              <a:t>사소한</a:t>
            </a:r>
            <a:r>
              <a:rPr lang="en-US" altLang="zh-CN" sz="1600"/>
              <a:t> </a:t>
            </a:r>
            <a:r>
              <a:rPr lang="ko-KR" altLang="en-US" sz="1600"/>
              <a:t>문제가</a:t>
            </a:r>
            <a:r>
              <a:rPr lang="en-US" altLang="zh-CN" sz="1600"/>
              <a:t> </a:t>
            </a:r>
            <a:r>
              <a:rPr lang="ko-KR" altLang="en-US" sz="1600"/>
              <a:t>아니라</a:t>
            </a:r>
            <a:r>
              <a:rPr lang="en-US" altLang="zh-CN" sz="1600"/>
              <a:t> </a:t>
            </a:r>
            <a:r>
              <a:rPr lang="ko-KR" altLang="en-US" sz="1600"/>
              <a:t>허가증</a:t>
            </a:r>
            <a:r>
              <a:rPr lang="en-US" altLang="zh-CN" sz="1600"/>
              <a:t>, </a:t>
            </a:r>
            <a:r>
              <a:rPr lang="ko-KR" altLang="en-US" sz="1600"/>
              <a:t>신고</a:t>
            </a:r>
            <a:r>
              <a:rPr lang="en-US" altLang="zh-CN" sz="1600"/>
              <a:t>, </a:t>
            </a:r>
            <a:r>
              <a:rPr lang="ko-KR" altLang="en-US" sz="1600"/>
              <a:t>등록</a:t>
            </a:r>
            <a:r>
              <a:rPr lang="en-US" altLang="zh-CN" sz="1600"/>
              <a:t> </a:t>
            </a:r>
            <a:r>
              <a:rPr lang="ko-KR" altLang="en-US" sz="1600"/>
              <a:t>관련</a:t>
            </a:r>
            <a:r>
              <a:rPr lang="en-US" altLang="zh-CN" sz="1600"/>
              <a:t> </a:t>
            </a:r>
            <a:r>
              <a:rPr lang="ko-KR" altLang="en-US" sz="1600"/>
              <a:t>규정</a:t>
            </a:r>
            <a:r>
              <a:rPr lang="en-US" altLang="zh-CN" sz="1600"/>
              <a:t> </a:t>
            </a:r>
            <a:r>
              <a:rPr lang="ko-KR" altLang="en-US" sz="1600"/>
              <a:t>미준수로</a:t>
            </a:r>
            <a:r>
              <a:rPr lang="en-US" altLang="zh-CN" sz="1600"/>
              <a:t> </a:t>
            </a:r>
            <a:r>
              <a:rPr lang="ko-KR" altLang="en-US" sz="1600"/>
              <a:t>인한</a:t>
            </a:r>
            <a:r>
              <a:rPr lang="en-US" altLang="zh-CN" sz="1600"/>
              <a:t> </a:t>
            </a:r>
            <a:r>
              <a:rPr lang="ko-KR" altLang="en-US" sz="1600"/>
              <a:t>것임을</a:t>
            </a:r>
            <a:r>
              <a:rPr lang="en-US" altLang="zh-CN" sz="1600"/>
              <a:t> </a:t>
            </a:r>
            <a:r>
              <a:rPr lang="ko-KR" altLang="en-US" sz="1600"/>
              <a:t>시사합니다</a:t>
            </a:r>
            <a:r>
              <a:rPr lang="en-US" altLang="zh-CN" sz="1600"/>
              <a:t>.</a:t>
            </a:r>
            <a:endParaRPr lang="en-US" altLang="zh-CN" sz="1600"/>
          </a:p>
          <a:p>
            <a:r>
              <a:rPr lang="en-US" altLang="en-US" sz="1600"/>
              <a:t>✔</a:t>
            </a:r>
            <a:r>
              <a:rPr lang="en-US" altLang="zh-CN" sz="1600"/>
              <a:t> </a:t>
            </a:r>
            <a:r>
              <a:rPr lang="ko-KR" altLang="en-US" sz="1600"/>
              <a:t>규정에</a:t>
            </a:r>
            <a:r>
              <a:rPr lang="en-US" altLang="zh-CN" sz="1600"/>
              <a:t> </a:t>
            </a:r>
            <a:r>
              <a:rPr lang="ko-KR" altLang="en-US" sz="1600"/>
              <a:t>따라</a:t>
            </a:r>
            <a:r>
              <a:rPr lang="en-US" altLang="zh-CN" sz="1600"/>
              <a:t> </a:t>
            </a:r>
            <a:r>
              <a:rPr lang="ko-KR" altLang="en-US" sz="1600"/>
              <a:t>개업</a:t>
            </a:r>
            <a:r>
              <a:rPr lang="en-US" altLang="zh-CN" sz="1600"/>
              <a:t> </a:t>
            </a:r>
            <a:r>
              <a:rPr lang="ko-KR" altLang="en-US" sz="1600"/>
              <a:t>등록</a:t>
            </a:r>
            <a:r>
              <a:rPr lang="en-US" altLang="zh-CN" sz="1600"/>
              <a:t> </a:t>
            </a:r>
            <a:r>
              <a:rPr lang="ko-KR" altLang="en-US" sz="1600"/>
              <a:t>완료</a:t>
            </a:r>
            <a:endParaRPr lang="ko-KR" altLang="en-US" sz="1600"/>
          </a:p>
          <a:p>
            <a:r>
              <a:rPr lang="en-US" altLang="en-US" sz="1600"/>
              <a:t>✔</a:t>
            </a:r>
            <a:r>
              <a:rPr lang="en-US" altLang="zh-CN" sz="1600"/>
              <a:t> </a:t>
            </a:r>
            <a:r>
              <a:rPr lang="ko-KR" altLang="en-US" sz="1600"/>
              <a:t>필수</a:t>
            </a:r>
            <a:r>
              <a:rPr lang="en-US" altLang="zh-CN" sz="1600"/>
              <a:t> </a:t>
            </a:r>
            <a:r>
              <a:rPr lang="ko-KR" altLang="en-US" sz="1600"/>
              <a:t>서류</a:t>
            </a:r>
            <a:r>
              <a:rPr lang="en-US" altLang="zh-CN" sz="1600"/>
              <a:t> </a:t>
            </a:r>
            <a:r>
              <a:rPr lang="ko-KR" altLang="en-US" sz="1600"/>
              <a:t>누락</a:t>
            </a:r>
            <a:r>
              <a:rPr lang="en-US" altLang="zh-CN" sz="1600"/>
              <a:t> </a:t>
            </a:r>
            <a:r>
              <a:rPr lang="ko-KR" altLang="en-US" sz="1600"/>
              <a:t>없이</a:t>
            </a:r>
            <a:r>
              <a:rPr lang="en-US" altLang="zh-CN" sz="1600"/>
              <a:t> </a:t>
            </a:r>
            <a:r>
              <a:rPr lang="ko-KR" altLang="en-US" sz="1600"/>
              <a:t>제출</a:t>
            </a:r>
            <a:endParaRPr lang="ko-KR" altLang="en-US" sz="1600"/>
          </a:p>
          <a:p>
            <a:r>
              <a:rPr lang="en-US" altLang="en-US" sz="1600"/>
              <a:t>✔</a:t>
            </a:r>
            <a:r>
              <a:rPr lang="en-US" altLang="zh-CN" sz="1600"/>
              <a:t> </a:t>
            </a:r>
            <a:r>
              <a:rPr lang="ko-KR" altLang="en-US" sz="1600"/>
              <a:t>미신고</a:t>
            </a:r>
            <a:r>
              <a:rPr lang="en-US" altLang="zh-CN" sz="1600"/>
              <a:t> </a:t>
            </a:r>
            <a:r>
              <a:rPr lang="ko-KR" altLang="en-US" sz="1600"/>
              <a:t>확장</a:t>
            </a:r>
            <a:r>
              <a:rPr lang="en-US" altLang="zh-CN" sz="1600"/>
              <a:t> </a:t>
            </a:r>
            <a:r>
              <a:rPr lang="ko-KR" altLang="en-US" sz="1600"/>
              <a:t>금지</a:t>
            </a:r>
            <a:r>
              <a:rPr lang="en-US" altLang="zh-CN" sz="1600"/>
              <a:t>(</a:t>
            </a:r>
            <a:r>
              <a:rPr lang="ko-KR" altLang="en-US" sz="1600"/>
              <a:t>예</a:t>
            </a:r>
            <a:r>
              <a:rPr lang="en-US" altLang="zh-CN" sz="1600"/>
              <a:t>: </a:t>
            </a:r>
            <a:r>
              <a:rPr lang="ko-KR" altLang="en-US" sz="1600"/>
              <a:t>허가</a:t>
            </a:r>
            <a:r>
              <a:rPr lang="en-US" altLang="zh-CN" sz="1600"/>
              <a:t> </a:t>
            </a:r>
            <a:r>
              <a:rPr lang="ko-KR" altLang="en-US" sz="1600"/>
              <a:t>없는</a:t>
            </a:r>
            <a:r>
              <a:rPr lang="en-US" altLang="zh-CN" sz="1600"/>
              <a:t> </a:t>
            </a:r>
            <a:r>
              <a:rPr lang="ko-KR" altLang="en-US" sz="1600"/>
              <a:t>좌석</a:t>
            </a:r>
            <a:r>
              <a:rPr lang="en-US" altLang="zh-CN" sz="1600"/>
              <a:t> </a:t>
            </a:r>
            <a:r>
              <a:rPr lang="ko-KR" altLang="en-US" sz="1600"/>
              <a:t>구역</a:t>
            </a:r>
            <a:r>
              <a:rPr lang="en-US" altLang="zh-CN" sz="1600"/>
              <a:t> </a:t>
            </a:r>
            <a:r>
              <a:rPr lang="ko-KR" altLang="en-US" sz="1600"/>
              <a:t>추가</a:t>
            </a:r>
            <a:r>
              <a:rPr lang="en-US" altLang="zh-CN" sz="1600"/>
              <a:t> </a:t>
            </a:r>
            <a:r>
              <a:rPr lang="ko-KR" altLang="en-US" sz="1600"/>
              <a:t>등</a:t>
            </a:r>
            <a:r>
              <a:rPr lang="en-US" altLang="zh-CN" sz="1600"/>
              <a:t>)</a:t>
            </a:r>
            <a:endParaRPr lang="en-US" altLang="zh-CN" sz="1600"/>
          </a:p>
          <a:p>
            <a:r>
              <a:rPr lang="en-US" altLang="en-US" sz="1600"/>
              <a:t>✔</a:t>
            </a:r>
            <a:r>
              <a:rPr lang="en-US" altLang="zh-CN" sz="1600"/>
              <a:t> </a:t>
            </a:r>
            <a:r>
              <a:rPr lang="ko-KR" altLang="en-US" sz="1600"/>
              <a:t>식품위생허가증</a:t>
            </a:r>
            <a:r>
              <a:rPr lang="en-US" altLang="zh-CN" sz="1600"/>
              <a:t> </a:t>
            </a:r>
            <a:r>
              <a:rPr lang="ko-KR" altLang="en-US" sz="1600"/>
              <a:t>정기적</a:t>
            </a:r>
            <a:r>
              <a:rPr lang="en-US" altLang="zh-CN" sz="1600"/>
              <a:t> </a:t>
            </a:r>
            <a:r>
              <a:rPr lang="ko-KR" altLang="en-US" sz="1600"/>
              <a:t>갱신</a:t>
            </a:r>
            <a:endParaRPr lang="ko-KR" altLang="en-US" sz="1600"/>
          </a:p>
          <a:p>
            <a:endParaRPr lang="en-US" altLang="zh-CN" sz="1600"/>
          </a:p>
          <a:p>
            <a:r>
              <a:rPr lang="en-US" altLang="zh-CN" sz="1600"/>
              <a:t>1.</a:t>
            </a:r>
            <a:r>
              <a:rPr lang="zh-CN" altLang="en-US" sz="1600"/>
              <a:t>许可证与登记手续要完全合规</a:t>
            </a:r>
            <a:endParaRPr lang="zh-CN" altLang="en-US" sz="1600"/>
          </a:p>
          <a:p>
            <a:r>
              <a:rPr lang="zh-CN" altLang="en-US" sz="1600"/>
              <a:t>因为</a:t>
            </a:r>
            <a:r>
              <a:rPr lang="en-US" altLang="zh-CN" sz="1600"/>
              <a:t>“</a:t>
            </a:r>
            <a:r>
              <a:rPr lang="zh-CN" altLang="en-US" sz="1600"/>
              <a:t>职权注销</a:t>
            </a:r>
            <a:r>
              <a:rPr lang="en-US" altLang="zh-CN" sz="1600"/>
              <a:t>”“</a:t>
            </a:r>
            <a:r>
              <a:rPr lang="zh-CN" altLang="en-US" sz="1600"/>
              <a:t>营业停止</a:t>
            </a:r>
            <a:r>
              <a:rPr lang="en-US" altLang="zh-CN" sz="1600"/>
              <a:t>”</a:t>
            </a:r>
            <a:r>
              <a:rPr lang="zh-CN" altLang="en-US" sz="1600"/>
              <a:t>出现率极高，说明很多处罚不是小问题，而是许可证、申报、登记类不合规导致的。</a:t>
            </a:r>
            <a:endParaRPr lang="zh-CN" altLang="en-US" sz="1600"/>
          </a:p>
          <a:p>
            <a:endParaRPr lang="zh-CN" altLang="en-US" sz="1600"/>
          </a:p>
          <a:p>
            <a:r>
              <a:rPr lang="en-US" altLang="en-US" sz="1600"/>
              <a:t>✔</a:t>
            </a:r>
            <a:r>
              <a:rPr lang="en-US" altLang="zh-CN" sz="1600"/>
              <a:t> </a:t>
            </a:r>
            <a:r>
              <a:rPr lang="zh-CN" altLang="en-US" sz="1600"/>
              <a:t>按规定完成开业登记</a:t>
            </a:r>
            <a:endParaRPr lang="zh-CN" altLang="en-US" sz="1600"/>
          </a:p>
          <a:p>
            <a:r>
              <a:rPr lang="en-US" altLang="en-US" sz="1600"/>
              <a:t>✔</a:t>
            </a:r>
            <a:r>
              <a:rPr lang="en-US" altLang="zh-CN" sz="1600"/>
              <a:t> </a:t>
            </a:r>
            <a:r>
              <a:rPr lang="zh-CN" altLang="en-US" sz="1600"/>
              <a:t>不漏交必需文件</a:t>
            </a:r>
            <a:endParaRPr lang="zh-CN" altLang="en-US" sz="1600"/>
          </a:p>
          <a:p>
            <a:r>
              <a:rPr lang="en-US" altLang="en-US" sz="1600"/>
              <a:t>✔</a:t>
            </a:r>
            <a:r>
              <a:rPr lang="en-US" altLang="zh-CN" sz="1600"/>
              <a:t> </a:t>
            </a:r>
            <a:r>
              <a:rPr lang="zh-CN" altLang="en-US" sz="1600"/>
              <a:t>不做未申报扩张（如增加无许可座位区等）</a:t>
            </a:r>
            <a:endParaRPr lang="zh-CN" altLang="en-US" sz="1600"/>
          </a:p>
          <a:p>
            <a:r>
              <a:rPr lang="en-US" altLang="en-US" sz="1600"/>
              <a:t>✔</a:t>
            </a:r>
            <a:r>
              <a:rPr lang="en-US" altLang="zh-CN" sz="1600"/>
              <a:t> </a:t>
            </a:r>
            <a:r>
              <a:rPr lang="zh-CN" altLang="en-US" sz="1600"/>
              <a:t>及时更新食品卫生许可证</a:t>
            </a:r>
            <a:endParaRPr lang="zh-CN" altLang="en-US" sz="1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경영</a:t>
            </a:r>
            <a:r>
              <a:rPr lang="en-US" altLang="zh-CN"/>
              <a:t> </a:t>
            </a:r>
            <a:r>
              <a:rPr lang="ko-KR" altLang="en-US"/>
              <a:t>리스크</a:t>
            </a:r>
            <a:r>
              <a:rPr lang="en-US" altLang="zh-CN"/>
              <a:t> </a:t>
            </a:r>
            <a:r>
              <a:rPr lang="ko-KR" altLang="en-US"/>
              <a:t>방어</a:t>
            </a:r>
            <a:r>
              <a:rPr lang="en-US" altLang="zh-CN"/>
              <a:t> </a:t>
            </a:r>
            <a:r>
              <a:rPr lang="ko-KR" altLang="en-US"/>
              <a:t>메커니즘</a:t>
            </a:r>
            <a:r>
              <a:rPr lang="en-US" altLang="zh-CN"/>
              <a:t> </a:t>
            </a:r>
            <a:r>
              <a:rPr lang="ko-KR" altLang="en-US"/>
              <a:t>연구</a:t>
            </a:r>
            <a:r>
              <a:t> / </a:t>
            </a:r>
            <a:r>
              <a:rPr lang="zh-CN" altLang="en-US" dirty="0">
                <a:sym typeface="+mn-ea"/>
              </a:rPr>
              <a:t>经营风险防控机制研究</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7" name="文本框 6"/>
          <p:cNvSpPr txBox="1"/>
          <p:nvPr/>
        </p:nvSpPr>
        <p:spPr>
          <a:xfrm>
            <a:off x="914400" y="2244725"/>
            <a:ext cx="7654290" cy="4111625"/>
          </a:xfrm>
          <a:prstGeom prst="rect">
            <a:avLst/>
          </a:prstGeom>
          <a:noFill/>
        </p:spPr>
        <p:txBody>
          <a:bodyPr wrap="square" rtlCol="0">
            <a:noAutofit/>
          </a:bodyPr>
          <a:p>
            <a:r>
              <a:rPr lang="en-US" altLang="zh-CN" sz="1600"/>
              <a:t>  2. </a:t>
            </a:r>
            <a:r>
              <a:rPr lang="ko-KR" altLang="en-US" sz="1600"/>
              <a:t>위생</a:t>
            </a:r>
            <a:r>
              <a:rPr lang="en-US" altLang="zh-CN" sz="1600"/>
              <a:t> </a:t>
            </a:r>
            <a:r>
              <a:rPr lang="ko-KR" altLang="en-US" sz="1600"/>
              <a:t>및</a:t>
            </a:r>
            <a:r>
              <a:rPr lang="en-US" altLang="zh-CN" sz="1600"/>
              <a:t> </a:t>
            </a:r>
            <a:r>
              <a:rPr lang="ko-KR" altLang="en-US" sz="1600"/>
              <a:t>식품</a:t>
            </a:r>
            <a:r>
              <a:rPr lang="en-US" altLang="zh-CN" sz="1600"/>
              <a:t> </a:t>
            </a:r>
            <a:r>
              <a:rPr lang="ko-KR" altLang="en-US" sz="1600"/>
              <a:t>안전은</a:t>
            </a:r>
            <a:r>
              <a:rPr lang="en-US" altLang="zh-CN" sz="1600"/>
              <a:t> </a:t>
            </a:r>
            <a:r>
              <a:rPr lang="ko-KR" altLang="en-US" sz="1600"/>
              <a:t>반드시</a:t>
            </a:r>
            <a:r>
              <a:rPr lang="en-US" altLang="zh-CN" sz="1600"/>
              <a:t> “</a:t>
            </a:r>
            <a:r>
              <a:rPr lang="ko-KR" altLang="en-US" sz="1600"/>
              <a:t>핵심</a:t>
            </a:r>
            <a:r>
              <a:rPr lang="en-US" altLang="zh-CN" sz="1600"/>
              <a:t> </a:t>
            </a:r>
            <a:r>
              <a:rPr lang="ko-KR" altLang="en-US" sz="1600"/>
              <a:t>운영</a:t>
            </a:r>
            <a:r>
              <a:rPr lang="en-US" altLang="zh-CN" sz="1600"/>
              <a:t> </a:t>
            </a:r>
            <a:r>
              <a:rPr lang="ko-KR" altLang="en-US" sz="1600"/>
              <a:t>비용</a:t>
            </a:r>
            <a:r>
              <a:rPr lang="en-US" altLang="zh-CN" sz="1600"/>
              <a:t>”</a:t>
            </a:r>
            <a:r>
              <a:rPr lang="ko-KR" altLang="en-US" sz="1600"/>
              <a:t>으로</a:t>
            </a:r>
            <a:r>
              <a:rPr lang="en-US" altLang="zh-CN" sz="1600"/>
              <a:t> </a:t>
            </a:r>
            <a:r>
              <a:rPr lang="ko-KR" altLang="en-US" sz="1600"/>
              <a:t>취급해야</a:t>
            </a:r>
            <a:r>
              <a:rPr lang="en-US" altLang="zh-CN" sz="1600"/>
              <a:t> </a:t>
            </a:r>
            <a:r>
              <a:rPr lang="ko-KR" altLang="en-US" sz="1600"/>
              <a:t>합니다</a:t>
            </a:r>
            <a:r>
              <a:rPr lang="en-US" altLang="zh-CN" sz="1600"/>
              <a:t>.</a:t>
            </a:r>
            <a:endParaRPr lang="en-US" altLang="zh-CN" sz="1600"/>
          </a:p>
          <a:p>
            <a:r>
              <a:rPr lang="ko-KR" altLang="en-US" sz="1600"/>
              <a:t>처벌</a:t>
            </a:r>
            <a:r>
              <a:rPr lang="en-US" altLang="zh-CN" sz="1600"/>
              <a:t> </a:t>
            </a:r>
            <a:r>
              <a:rPr lang="ko-KR" altLang="en-US" sz="1600"/>
              <a:t>현황도에서</a:t>
            </a:r>
            <a:r>
              <a:rPr lang="en-US" altLang="zh-CN" sz="1600"/>
              <a:t> </a:t>
            </a:r>
            <a:r>
              <a:rPr lang="ko-KR" altLang="en-US" sz="1600"/>
              <a:t>보듯이</a:t>
            </a:r>
            <a:r>
              <a:rPr lang="en-US" altLang="zh-CN" sz="1600"/>
              <a:t>: </a:t>
            </a:r>
            <a:r>
              <a:rPr lang="ko-KR" altLang="en-US" sz="1600"/>
              <a:t>영업</a:t>
            </a:r>
            <a:r>
              <a:rPr lang="en-US" altLang="zh-CN" sz="1600"/>
              <a:t> </a:t>
            </a:r>
            <a:r>
              <a:rPr lang="ko-KR" altLang="en-US" sz="1600"/>
              <a:t>정지</a:t>
            </a:r>
            <a:r>
              <a:rPr lang="en-US" altLang="zh-CN" sz="1600"/>
              <a:t> </a:t>
            </a:r>
            <a:r>
              <a:rPr lang="ko-KR" altLang="en-US" sz="1600"/>
              <a:t>및</a:t>
            </a:r>
            <a:r>
              <a:rPr lang="en-US" altLang="zh-CN" sz="1600"/>
              <a:t> </a:t>
            </a:r>
            <a:r>
              <a:rPr lang="ko-KR" altLang="en-US" sz="1600"/>
              <a:t>폐쇄가</a:t>
            </a:r>
            <a:r>
              <a:rPr lang="en-US" altLang="zh-CN" sz="1600"/>
              <a:t> </a:t>
            </a:r>
            <a:r>
              <a:rPr lang="ko-KR" altLang="en-US" sz="1600"/>
              <a:t>주된</a:t>
            </a:r>
            <a:r>
              <a:rPr lang="en-US" altLang="zh-CN" sz="1600"/>
              <a:t> </a:t>
            </a:r>
            <a:r>
              <a:rPr lang="ko-KR" altLang="en-US" sz="1600"/>
              <a:t>처벌</a:t>
            </a:r>
            <a:r>
              <a:rPr lang="en-US" altLang="zh-CN" sz="1600"/>
              <a:t> </a:t>
            </a:r>
            <a:r>
              <a:rPr lang="ko-KR" altLang="en-US" sz="1600"/>
              <a:t>수단으로</a:t>
            </a:r>
            <a:r>
              <a:rPr lang="en-US" altLang="zh-CN" sz="1600"/>
              <a:t> </a:t>
            </a:r>
            <a:r>
              <a:rPr lang="ko-KR" altLang="en-US" sz="1600"/>
              <a:t>나타났으며</a:t>
            </a:r>
            <a:r>
              <a:rPr lang="en-US" altLang="zh-CN" sz="1600"/>
              <a:t>, </a:t>
            </a:r>
            <a:r>
              <a:rPr lang="ko-KR" altLang="en-US" sz="1600"/>
              <a:t>이는</a:t>
            </a:r>
            <a:r>
              <a:rPr lang="en-US" altLang="zh-CN" sz="1600"/>
              <a:t> </a:t>
            </a:r>
            <a:r>
              <a:rPr lang="ko-KR" altLang="en-US" sz="1600"/>
              <a:t>위생</a:t>
            </a:r>
            <a:r>
              <a:rPr lang="en-US" altLang="zh-CN" sz="1600"/>
              <a:t> </a:t>
            </a:r>
            <a:r>
              <a:rPr lang="ko-KR" altLang="en-US" sz="1600"/>
              <a:t>문제가</a:t>
            </a:r>
            <a:r>
              <a:rPr lang="en-US" altLang="zh-CN" sz="1600"/>
              <a:t> </a:t>
            </a:r>
            <a:r>
              <a:rPr lang="ko-KR" altLang="en-US" sz="1600"/>
              <a:t>주요</a:t>
            </a:r>
            <a:r>
              <a:rPr lang="en-US" altLang="zh-CN" sz="1600"/>
              <a:t> </a:t>
            </a:r>
            <a:r>
              <a:rPr lang="ko-KR" altLang="en-US" sz="1600"/>
              <a:t>유발</a:t>
            </a:r>
            <a:r>
              <a:rPr lang="en-US" altLang="zh-CN" sz="1600"/>
              <a:t> </a:t>
            </a:r>
            <a:r>
              <a:rPr lang="ko-KR" altLang="en-US" sz="1600"/>
              <a:t>요인</a:t>
            </a:r>
            <a:r>
              <a:rPr lang="en-US" altLang="zh-CN" sz="1600"/>
              <a:t> </a:t>
            </a:r>
            <a:r>
              <a:rPr lang="ko-KR" altLang="en-US" sz="1600"/>
              <a:t>중</a:t>
            </a:r>
            <a:r>
              <a:rPr lang="en-US" altLang="zh-CN" sz="1600"/>
              <a:t> </a:t>
            </a:r>
            <a:r>
              <a:rPr lang="ko-KR" altLang="en-US" sz="1600"/>
              <a:t>하나임을</a:t>
            </a:r>
            <a:r>
              <a:rPr lang="en-US" altLang="zh-CN" sz="1600"/>
              <a:t> </a:t>
            </a:r>
            <a:r>
              <a:rPr lang="ko-KR" altLang="en-US" sz="1600"/>
              <a:t>시사합니다</a:t>
            </a:r>
            <a:r>
              <a:rPr lang="en-US" altLang="zh-CN" sz="1600"/>
              <a:t>.</a:t>
            </a:r>
            <a:endParaRPr lang="en-US" altLang="zh-CN" sz="1600"/>
          </a:p>
          <a:p>
            <a:r>
              <a:rPr lang="en-US" altLang="en-US" sz="1600"/>
              <a:t>✔</a:t>
            </a:r>
            <a:r>
              <a:rPr lang="en-US" altLang="zh-CN" sz="1600"/>
              <a:t> </a:t>
            </a:r>
            <a:r>
              <a:rPr lang="ko-KR" altLang="en-US" sz="1600"/>
              <a:t>표준화된</a:t>
            </a:r>
            <a:r>
              <a:rPr lang="en-US" altLang="zh-CN" sz="1600"/>
              <a:t> </a:t>
            </a:r>
            <a:r>
              <a:rPr lang="ko-KR" altLang="en-US" sz="1600"/>
              <a:t>청소</a:t>
            </a:r>
            <a:r>
              <a:rPr lang="en-US" altLang="zh-CN" sz="1600"/>
              <a:t> </a:t>
            </a:r>
            <a:r>
              <a:rPr lang="ko-KR" altLang="en-US" sz="1600"/>
              <a:t>절차</a:t>
            </a:r>
            <a:r>
              <a:rPr lang="en-US" altLang="zh-CN" sz="1600"/>
              <a:t> </a:t>
            </a:r>
            <a:r>
              <a:rPr lang="ko-KR" altLang="en-US" sz="1600"/>
              <a:t>도입</a:t>
            </a:r>
            <a:endParaRPr lang="ko-KR" altLang="en-US" sz="1600"/>
          </a:p>
          <a:p>
            <a:r>
              <a:rPr lang="en-US" altLang="en-US" sz="1600"/>
              <a:t>✔</a:t>
            </a:r>
            <a:r>
              <a:rPr lang="en-US" altLang="zh-CN" sz="1600"/>
              <a:t> </a:t>
            </a:r>
            <a:r>
              <a:rPr lang="ko-KR" altLang="en-US" sz="1600"/>
              <a:t>냉장</a:t>
            </a:r>
            <a:r>
              <a:rPr lang="en-US" altLang="zh-CN" sz="1600"/>
              <a:t> </a:t>
            </a:r>
            <a:r>
              <a:rPr lang="ko-KR" altLang="en-US" sz="1600"/>
              <a:t>온도</a:t>
            </a:r>
            <a:r>
              <a:rPr lang="en-US" altLang="zh-CN" sz="1600"/>
              <a:t> </a:t>
            </a:r>
            <a:r>
              <a:rPr lang="ko-KR" altLang="en-US" sz="1600"/>
              <a:t>기록</a:t>
            </a:r>
            <a:r>
              <a:rPr lang="en-US" altLang="zh-CN" sz="1600"/>
              <a:t> </a:t>
            </a:r>
            <a:r>
              <a:rPr lang="ko-KR" altLang="en-US" sz="1600"/>
              <a:t>관리</a:t>
            </a:r>
            <a:endParaRPr lang="ko-KR" altLang="en-US" sz="1600"/>
          </a:p>
          <a:p>
            <a:r>
              <a:rPr lang="en-US" altLang="en-US" sz="1600"/>
              <a:t>✔</a:t>
            </a:r>
            <a:r>
              <a:rPr lang="en-US" altLang="zh-CN" sz="1600"/>
              <a:t> </a:t>
            </a:r>
            <a:r>
              <a:rPr lang="ko-KR" altLang="en-US" sz="1600"/>
              <a:t>주방</a:t>
            </a:r>
            <a:r>
              <a:rPr lang="en-US" altLang="zh-CN" sz="1600"/>
              <a:t> </a:t>
            </a:r>
            <a:r>
              <a:rPr lang="ko-KR" altLang="en-US" sz="1600"/>
              <a:t>위생</a:t>
            </a:r>
            <a:r>
              <a:rPr lang="en-US" altLang="zh-CN" sz="1600"/>
              <a:t> </a:t>
            </a:r>
            <a:r>
              <a:rPr lang="ko-KR" altLang="en-US" sz="1600"/>
              <a:t>구역</a:t>
            </a:r>
            <a:r>
              <a:rPr lang="en-US" altLang="zh-CN" sz="1600"/>
              <a:t> </a:t>
            </a:r>
            <a:r>
              <a:rPr lang="ko-KR" altLang="en-US" sz="1600"/>
              <a:t>구분</a:t>
            </a:r>
            <a:endParaRPr lang="ko-KR" altLang="en-US" sz="1600"/>
          </a:p>
          <a:p>
            <a:r>
              <a:rPr lang="en-US" altLang="en-US" sz="1600"/>
              <a:t>✔</a:t>
            </a:r>
            <a:r>
              <a:rPr lang="en-US" altLang="zh-CN" sz="1600"/>
              <a:t> </a:t>
            </a:r>
            <a:r>
              <a:rPr lang="ko-KR" altLang="en-US" sz="1600"/>
              <a:t>해충</a:t>
            </a:r>
            <a:r>
              <a:rPr lang="en-US" altLang="zh-CN" sz="1600"/>
              <a:t> </a:t>
            </a:r>
            <a:r>
              <a:rPr lang="ko-KR" altLang="en-US" sz="1600"/>
              <a:t>및</a:t>
            </a:r>
            <a:r>
              <a:rPr lang="en-US" altLang="zh-CN" sz="1600"/>
              <a:t> </a:t>
            </a:r>
            <a:r>
              <a:rPr lang="ko-KR" altLang="en-US" sz="1600"/>
              <a:t>쥐</a:t>
            </a:r>
            <a:r>
              <a:rPr lang="en-US" altLang="zh-CN" sz="1600"/>
              <a:t> </a:t>
            </a:r>
            <a:r>
              <a:rPr lang="ko-KR" altLang="en-US" sz="1600"/>
              <a:t>방지</a:t>
            </a:r>
            <a:r>
              <a:rPr lang="en-US" altLang="zh-CN" sz="1600"/>
              <a:t> </a:t>
            </a:r>
            <a:r>
              <a:rPr lang="ko-KR" altLang="en-US" sz="1600"/>
              <a:t>대책</a:t>
            </a:r>
            <a:endParaRPr lang="ko-KR" altLang="en-US" sz="1600"/>
          </a:p>
          <a:p>
            <a:r>
              <a:rPr lang="en-US" altLang="en-US" sz="1600"/>
              <a:t>✔</a:t>
            </a:r>
            <a:r>
              <a:rPr lang="en-US" altLang="zh-CN" sz="1600"/>
              <a:t> </a:t>
            </a:r>
            <a:r>
              <a:rPr lang="ko-KR" altLang="en-US" sz="1600"/>
              <a:t>원재료</a:t>
            </a:r>
            <a:r>
              <a:rPr lang="en-US" altLang="zh-CN" sz="1600"/>
              <a:t> </a:t>
            </a:r>
            <a:r>
              <a:rPr lang="ko-KR" altLang="en-US" sz="1600"/>
              <a:t>입고</a:t>
            </a:r>
            <a:r>
              <a:rPr lang="en-US" altLang="zh-CN" sz="1600"/>
              <a:t> </a:t>
            </a:r>
            <a:r>
              <a:rPr lang="ko-KR" altLang="en-US" sz="1600"/>
              <a:t>증빙</a:t>
            </a:r>
            <a:r>
              <a:rPr lang="en-US" altLang="zh-CN" sz="1600"/>
              <a:t> </a:t>
            </a:r>
            <a:r>
              <a:rPr lang="ko-KR" altLang="en-US" sz="1600"/>
              <a:t>서류</a:t>
            </a:r>
            <a:r>
              <a:rPr lang="en-US" altLang="zh-CN" sz="1600"/>
              <a:t> </a:t>
            </a:r>
            <a:r>
              <a:rPr lang="ko-KR" altLang="en-US" sz="1600"/>
              <a:t>보관</a:t>
            </a:r>
            <a:endParaRPr lang="ko-KR" altLang="en-US" sz="1600"/>
          </a:p>
          <a:p>
            <a:endParaRPr lang="en-US" altLang="zh-CN" sz="1600"/>
          </a:p>
          <a:p>
            <a:r>
              <a:rPr lang="en-US" altLang="zh-CN" sz="1600"/>
              <a:t>2.</a:t>
            </a:r>
            <a:r>
              <a:rPr lang="zh-CN" altLang="en-US" sz="1600"/>
              <a:t>卫生与食品安全必须作为</a:t>
            </a:r>
            <a:r>
              <a:rPr lang="en-US" altLang="zh-CN" sz="1600"/>
              <a:t>“</a:t>
            </a:r>
            <a:r>
              <a:rPr lang="zh-CN" altLang="en-US" sz="1600"/>
              <a:t>核心运营成本</a:t>
            </a:r>
            <a:r>
              <a:rPr lang="en-US" altLang="zh-CN" sz="1600"/>
              <a:t>”</a:t>
            </a:r>
            <a:r>
              <a:rPr lang="zh-CN" altLang="en-US" sz="1600"/>
              <a:t>对待</a:t>
            </a:r>
            <a:endParaRPr lang="zh-CN" altLang="en-US" sz="1600"/>
          </a:p>
          <a:p>
            <a:r>
              <a:rPr lang="zh-CN" altLang="en-US" sz="1600"/>
              <a:t>处罚图显示：执法以营业停止、关停为主，说明卫生问题是主要触发点之一。</a:t>
            </a:r>
            <a:endParaRPr lang="zh-CN" altLang="en-US" sz="1600"/>
          </a:p>
          <a:p>
            <a:r>
              <a:rPr lang="en-US" altLang="en-US" sz="1600"/>
              <a:t>✔</a:t>
            </a:r>
            <a:r>
              <a:rPr lang="en-US" altLang="zh-CN" sz="1600"/>
              <a:t> </a:t>
            </a:r>
            <a:r>
              <a:rPr lang="zh-CN" altLang="en-US" sz="1600"/>
              <a:t>引入标准化清洁流程</a:t>
            </a:r>
            <a:endParaRPr lang="zh-CN" altLang="en-US" sz="1600"/>
          </a:p>
          <a:p>
            <a:r>
              <a:rPr lang="en-US" altLang="en-US" sz="1600"/>
              <a:t>✔</a:t>
            </a:r>
            <a:r>
              <a:rPr lang="en-US" altLang="zh-CN" sz="1600"/>
              <a:t> </a:t>
            </a:r>
            <a:r>
              <a:rPr lang="zh-CN" altLang="en-US" sz="1600"/>
              <a:t>冷藏温度记录</a:t>
            </a:r>
            <a:endParaRPr lang="zh-CN" altLang="en-US" sz="1600"/>
          </a:p>
          <a:p>
            <a:r>
              <a:rPr lang="en-US" altLang="en-US" sz="1600"/>
              <a:t>✔</a:t>
            </a:r>
            <a:r>
              <a:rPr lang="en-US" altLang="zh-CN" sz="1600"/>
              <a:t> </a:t>
            </a:r>
            <a:r>
              <a:rPr lang="zh-CN" altLang="en-US" sz="1600"/>
              <a:t>厨房卫生分区</a:t>
            </a:r>
            <a:endParaRPr lang="zh-CN" altLang="en-US" sz="1600"/>
          </a:p>
          <a:p>
            <a:r>
              <a:rPr lang="en-US" altLang="en-US" sz="1600"/>
              <a:t>✔</a:t>
            </a:r>
            <a:r>
              <a:rPr lang="en-US" altLang="zh-CN" sz="1600"/>
              <a:t> </a:t>
            </a:r>
            <a:r>
              <a:rPr lang="zh-CN" altLang="en-US" sz="1600"/>
              <a:t>防虫防鼠措施</a:t>
            </a:r>
            <a:endParaRPr lang="zh-CN" altLang="en-US" sz="1600"/>
          </a:p>
          <a:p>
            <a:r>
              <a:rPr lang="en-US" altLang="en-US" sz="1600"/>
              <a:t>✔</a:t>
            </a:r>
            <a:r>
              <a:rPr lang="en-US" altLang="zh-CN" sz="1600"/>
              <a:t> </a:t>
            </a:r>
            <a:r>
              <a:rPr lang="zh-CN" altLang="en-US" sz="1600"/>
              <a:t>原料进货凭证留档</a:t>
            </a:r>
            <a:endParaRPr lang="zh-CN" altLang="en-US" sz="16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경영</a:t>
            </a:r>
            <a:r>
              <a:rPr lang="en-US" altLang="zh-CN"/>
              <a:t> </a:t>
            </a:r>
            <a:r>
              <a:rPr lang="ko-KR" altLang="en-US"/>
              <a:t>리스크</a:t>
            </a:r>
            <a:r>
              <a:rPr lang="en-US" altLang="zh-CN"/>
              <a:t> </a:t>
            </a:r>
            <a:r>
              <a:rPr lang="ko-KR" altLang="en-US"/>
              <a:t>방어</a:t>
            </a:r>
            <a:r>
              <a:rPr lang="en-US" altLang="zh-CN"/>
              <a:t> </a:t>
            </a:r>
            <a:r>
              <a:rPr lang="ko-KR" altLang="en-US"/>
              <a:t>메커니즘</a:t>
            </a:r>
            <a:r>
              <a:rPr lang="en-US" altLang="zh-CN"/>
              <a:t> </a:t>
            </a:r>
            <a:r>
              <a:rPr lang="ko-KR" altLang="en-US"/>
              <a:t>연구</a:t>
            </a:r>
            <a:r>
              <a:t> / </a:t>
            </a:r>
            <a:r>
              <a:rPr lang="zh-CN" altLang="en-US" dirty="0">
                <a:sym typeface="+mn-ea"/>
              </a:rPr>
              <a:t>经营风险防控机制研究</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2" name="文本框 1"/>
          <p:cNvSpPr txBox="1"/>
          <p:nvPr/>
        </p:nvSpPr>
        <p:spPr>
          <a:xfrm>
            <a:off x="914400" y="2244725"/>
            <a:ext cx="7654290" cy="4111625"/>
          </a:xfrm>
          <a:prstGeom prst="rect">
            <a:avLst/>
          </a:prstGeom>
          <a:noFill/>
        </p:spPr>
        <p:txBody>
          <a:bodyPr wrap="square" rtlCol="0">
            <a:noAutofit/>
          </a:bodyPr>
          <a:p>
            <a:r>
              <a:rPr lang="en-US" altLang="zh-CN" sz="1600"/>
              <a:t>  </a:t>
            </a:r>
            <a:r>
              <a:rPr lang="en-US" altLang="ko-KR" sz="1600"/>
              <a:t>3.</a:t>
            </a:r>
            <a:r>
              <a:rPr lang="ko-KR" altLang="en-US" sz="1600"/>
              <a:t>규제</a:t>
            </a:r>
            <a:r>
              <a:rPr lang="en-US" altLang="zh-CN" sz="1600"/>
              <a:t> </a:t>
            </a:r>
            <a:r>
              <a:rPr lang="ko-KR" altLang="en-US" sz="1600"/>
              <a:t>강도</a:t>
            </a:r>
            <a:r>
              <a:rPr lang="en-US" altLang="zh-CN" sz="1600"/>
              <a:t> </a:t>
            </a:r>
            <a:r>
              <a:rPr lang="ko-KR" altLang="en-US" sz="1600"/>
              <a:t>높은</a:t>
            </a:r>
            <a:r>
              <a:rPr lang="en-US" altLang="zh-CN" sz="1600"/>
              <a:t> </a:t>
            </a:r>
            <a:r>
              <a:rPr lang="ko-KR" altLang="en-US" sz="1600"/>
              <a:t>지역에서는</a:t>
            </a:r>
            <a:r>
              <a:rPr lang="en-US" altLang="zh-CN" sz="1600"/>
              <a:t> </a:t>
            </a:r>
            <a:r>
              <a:rPr lang="ko-KR" altLang="en-US" sz="1600"/>
              <a:t>특히</a:t>
            </a:r>
            <a:r>
              <a:rPr lang="en-US" altLang="zh-CN" sz="1600"/>
              <a:t> </a:t>
            </a:r>
            <a:r>
              <a:rPr lang="ko-KR" altLang="en-US" sz="1600"/>
              <a:t>규정</a:t>
            </a:r>
            <a:r>
              <a:rPr lang="en-US" altLang="zh-CN" sz="1600"/>
              <a:t> </a:t>
            </a:r>
            <a:r>
              <a:rPr lang="ko-KR" altLang="en-US" sz="1600"/>
              <a:t>준수</a:t>
            </a:r>
            <a:r>
              <a:rPr lang="en-US" altLang="zh-CN" sz="1600"/>
              <a:t> </a:t>
            </a:r>
            <a:r>
              <a:rPr lang="ko-KR" altLang="en-US" sz="1600"/>
              <a:t>비용에</a:t>
            </a:r>
            <a:r>
              <a:rPr lang="en-US" altLang="zh-CN" sz="1600"/>
              <a:t> </a:t>
            </a:r>
            <a:r>
              <a:rPr lang="ko-KR" altLang="en-US" sz="1600"/>
              <a:t>유의해야</a:t>
            </a:r>
            <a:r>
              <a:rPr lang="en-US" altLang="zh-CN" sz="1600"/>
              <a:t> </a:t>
            </a:r>
            <a:r>
              <a:rPr lang="ko-KR" altLang="en-US" sz="1600"/>
              <a:t>합니다</a:t>
            </a:r>
            <a:endParaRPr lang="ko-KR" altLang="en-US" sz="1600"/>
          </a:p>
          <a:p>
            <a:r>
              <a:rPr lang="ko-KR" altLang="en-US" sz="1600"/>
              <a:t>지역별</a:t>
            </a:r>
            <a:r>
              <a:rPr lang="en-US" altLang="zh-CN" sz="1600"/>
              <a:t> </a:t>
            </a:r>
            <a:r>
              <a:rPr lang="ko-KR" altLang="en-US" sz="1600"/>
              <a:t>분포도에서</a:t>
            </a:r>
            <a:r>
              <a:rPr lang="en-US" altLang="zh-CN" sz="1600"/>
              <a:t> </a:t>
            </a:r>
            <a:r>
              <a:rPr lang="ko-KR" altLang="en-US" sz="1600"/>
              <a:t>확인</a:t>
            </a:r>
            <a:r>
              <a:rPr lang="en-US" altLang="zh-CN" sz="1600"/>
              <a:t>:</a:t>
            </a:r>
            <a:endParaRPr lang="en-US" altLang="zh-CN" sz="1600"/>
          </a:p>
          <a:p>
            <a:r>
              <a:rPr lang="en-US" altLang="en-US" sz="1600"/>
              <a:t>✔</a:t>
            </a:r>
            <a:r>
              <a:rPr lang="en-US" altLang="zh-CN" sz="1600"/>
              <a:t> </a:t>
            </a:r>
            <a:r>
              <a:rPr lang="ko-KR" altLang="en-US" sz="1600"/>
              <a:t>개점</a:t>
            </a:r>
            <a:r>
              <a:rPr lang="en-US" altLang="zh-CN" sz="1600"/>
              <a:t> </a:t>
            </a:r>
            <a:r>
              <a:rPr lang="ko-KR" altLang="en-US" sz="1600"/>
              <a:t>전</a:t>
            </a:r>
            <a:r>
              <a:rPr lang="en-US" altLang="zh-CN" sz="1600"/>
              <a:t> </a:t>
            </a:r>
            <a:r>
              <a:rPr lang="ko-KR" altLang="en-US" sz="1600"/>
              <a:t>해당</a:t>
            </a:r>
            <a:r>
              <a:rPr lang="en-US" altLang="zh-CN" sz="1600"/>
              <a:t> </a:t>
            </a:r>
            <a:r>
              <a:rPr lang="ko-KR" altLang="en-US" sz="1600"/>
              <a:t>지역의</a:t>
            </a:r>
            <a:r>
              <a:rPr lang="en-US" altLang="zh-CN" sz="1600"/>
              <a:t> </a:t>
            </a:r>
            <a:r>
              <a:rPr lang="ko-KR" altLang="en-US" sz="1600"/>
              <a:t>최근</a:t>
            </a:r>
            <a:r>
              <a:rPr lang="en-US" altLang="zh-CN" sz="1600"/>
              <a:t> </a:t>
            </a:r>
            <a:r>
              <a:rPr lang="ko-KR" altLang="en-US" sz="1600"/>
              <a:t>몇</a:t>
            </a:r>
            <a:r>
              <a:rPr lang="en-US" altLang="zh-CN" sz="1600"/>
              <a:t> </a:t>
            </a:r>
            <a:r>
              <a:rPr lang="ko-KR" altLang="en-US" sz="1600"/>
              <a:t>년간</a:t>
            </a:r>
            <a:r>
              <a:rPr lang="en-US" altLang="zh-CN" sz="1600"/>
              <a:t> </a:t>
            </a:r>
            <a:r>
              <a:rPr lang="ko-KR" altLang="en-US" sz="1600"/>
              <a:t>처벌</a:t>
            </a:r>
            <a:r>
              <a:rPr lang="en-US" altLang="zh-CN" sz="1600"/>
              <a:t> </a:t>
            </a:r>
            <a:r>
              <a:rPr lang="ko-KR" altLang="en-US" sz="1600"/>
              <a:t>기록</a:t>
            </a:r>
            <a:r>
              <a:rPr lang="en-US" altLang="zh-CN" sz="1600"/>
              <a:t> </a:t>
            </a:r>
            <a:r>
              <a:rPr lang="ko-KR" altLang="en-US" sz="1600"/>
              <a:t>조사</a:t>
            </a:r>
            <a:endParaRPr lang="ko-KR" altLang="en-US" sz="1600"/>
          </a:p>
          <a:p>
            <a:r>
              <a:rPr lang="en-US" altLang="en-US" sz="1600"/>
              <a:t>✔</a:t>
            </a:r>
            <a:r>
              <a:rPr lang="en-US" altLang="zh-CN" sz="1600"/>
              <a:t> </a:t>
            </a:r>
            <a:r>
              <a:rPr lang="ko-KR" altLang="en-US" sz="1600"/>
              <a:t>유동인구가</a:t>
            </a:r>
            <a:r>
              <a:rPr lang="en-US" altLang="zh-CN" sz="1600"/>
              <a:t> </a:t>
            </a:r>
            <a:r>
              <a:rPr lang="ko-KR" altLang="en-US" sz="1600"/>
              <a:t>많은</a:t>
            </a:r>
            <a:r>
              <a:rPr lang="en-US" altLang="zh-CN" sz="1600"/>
              <a:t> </a:t>
            </a:r>
            <a:r>
              <a:rPr lang="ko-KR" altLang="en-US" sz="1600"/>
              <a:t>지역</a:t>
            </a:r>
            <a:r>
              <a:rPr lang="en-US" altLang="zh-CN" sz="1600"/>
              <a:t> </a:t>
            </a:r>
            <a:r>
              <a:rPr lang="ko-KR" altLang="en-US" sz="1600"/>
              <a:t>선택</a:t>
            </a:r>
            <a:r>
              <a:rPr lang="en-US" altLang="zh-CN" sz="1600"/>
              <a:t> </a:t>
            </a:r>
            <a:r>
              <a:rPr lang="ko-KR" altLang="en-US" sz="1600"/>
              <a:t>시</a:t>
            </a:r>
            <a:r>
              <a:rPr lang="en-US" altLang="zh-CN" sz="1600"/>
              <a:t> </a:t>
            </a:r>
            <a:r>
              <a:rPr lang="en-US" altLang="en-US" sz="1600"/>
              <a:t>→</a:t>
            </a:r>
            <a:r>
              <a:rPr lang="en-US" altLang="zh-CN" sz="1600"/>
              <a:t> </a:t>
            </a:r>
            <a:r>
              <a:rPr lang="ko-KR" altLang="en-US" sz="1600"/>
              <a:t>예상</a:t>
            </a:r>
            <a:r>
              <a:rPr lang="en-US" altLang="zh-CN" sz="1600"/>
              <a:t> </a:t>
            </a:r>
            <a:r>
              <a:rPr lang="ko-KR" altLang="en-US" sz="1600"/>
              <a:t>점검</a:t>
            </a:r>
            <a:r>
              <a:rPr lang="en-US" altLang="zh-CN" sz="1600"/>
              <a:t> </a:t>
            </a:r>
            <a:r>
              <a:rPr lang="ko-KR" altLang="en-US" sz="1600"/>
              <a:t>빈도</a:t>
            </a:r>
            <a:r>
              <a:rPr lang="en-US" altLang="zh-CN" sz="1600"/>
              <a:t> </a:t>
            </a:r>
            <a:r>
              <a:rPr lang="ko-KR" altLang="en-US" sz="1600"/>
              <a:t>증가</a:t>
            </a:r>
            <a:endParaRPr lang="ko-KR" altLang="en-US" sz="1600"/>
          </a:p>
          <a:p>
            <a:r>
              <a:rPr lang="en-US" altLang="en-US" sz="1600"/>
              <a:t>✔</a:t>
            </a:r>
            <a:r>
              <a:rPr lang="en-US" altLang="zh-CN" sz="1600"/>
              <a:t> </a:t>
            </a:r>
            <a:r>
              <a:rPr lang="ko-KR" altLang="en-US" sz="1600"/>
              <a:t>쓰레기</a:t>
            </a:r>
            <a:r>
              <a:rPr lang="en-US" altLang="zh-CN" sz="1600"/>
              <a:t> </a:t>
            </a:r>
            <a:r>
              <a:rPr lang="ko-KR" altLang="en-US" sz="1600"/>
              <a:t>보관</a:t>
            </a:r>
            <a:r>
              <a:rPr lang="en-US" altLang="zh-CN" sz="1600"/>
              <a:t>, </a:t>
            </a:r>
            <a:r>
              <a:rPr lang="ko-KR" altLang="en-US" sz="1600"/>
              <a:t>기름</a:t>
            </a:r>
            <a:r>
              <a:rPr lang="en-US" altLang="zh-CN" sz="1600"/>
              <a:t> </a:t>
            </a:r>
            <a:r>
              <a:rPr lang="ko-KR" altLang="en-US" sz="1600"/>
              <a:t>연기</a:t>
            </a:r>
            <a:r>
              <a:rPr lang="en-US" altLang="zh-CN" sz="1600"/>
              <a:t> </a:t>
            </a:r>
            <a:r>
              <a:rPr lang="ko-KR" altLang="en-US" sz="1600"/>
              <a:t>배출</a:t>
            </a:r>
            <a:r>
              <a:rPr lang="en-US" altLang="zh-CN" sz="1600"/>
              <a:t>, </a:t>
            </a:r>
            <a:r>
              <a:rPr lang="ko-KR" altLang="en-US" sz="1600"/>
              <a:t>악취</a:t>
            </a:r>
            <a:r>
              <a:rPr lang="en-US" altLang="zh-CN" sz="1600"/>
              <a:t> </a:t>
            </a:r>
            <a:r>
              <a:rPr lang="ko-KR" altLang="en-US" sz="1600"/>
              <a:t>문제는</a:t>
            </a:r>
            <a:r>
              <a:rPr lang="en-US" altLang="zh-CN" sz="1600"/>
              <a:t> </a:t>
            </a:r>
            <a:r>
              <a:rPr lang="ko-KR" altLang="en-US" sz="1600"/>
              <a:t>사전에</a:t>
            </a:r>
            <a:r>
              <a:rPr lang="en-US" altLang="zh-CN" sz="1600"/>
              <a:t> </a:t>
            </a:r>
            <a:r>
              <a:rPr lang="ko-KR" altLang="en-US" sz="1600"/>
              <a:t>처리해야</a:t>
            </a:r>
            <a:r>
              <a:rPr lang="en-US" altLang="zh-CN" sz="1600"/>
              <a:t> </a:t>
            </a:r>
            <a:r>
              <a:rPr lang="ko-KR" altLang="en-US" sz="1600"/>
              <a:t>함</a:t>
            </a:r>
            <a:r>
              <a:rPr lang="en-US" altLang="ko-KR" sz="1600"/>
              <a:t>3.</a:t>
            </a:r>
            <a:endParaRPr lang="ko-KR" altLang="en-US" sz="1600"/>
          </a:p>
          <a:p>
            <a:endParaRPr lang="en-US" altLang="zh-CN" sz="1600"/>
          </a:p>
          <a:p>
            <a:r>
              <a:rPr lang="en-US" altLang="zh-CN" sz="1600"/>
              <a:t>3.</a:t>
            </a:r>
            <a:r>
              <a:rPr lang="zh-CN" altLang="en-US" sz="1600"/>
              <a:t>在监管高频地区需特别注意合规成本</a:t>
            </a:r>
            <a:endParaRPr lang="zh-CN" altLang="en-US" sz="1600"/>
          </a:p>
          <a:p>
            <a:r>
              <a:rPr lang="zh-CN" altLang="en-US" sz="1600"/>
              <a:t>来自地区分布图：</a:t>
            </a:r>
            <a:endParaRPr lang="zh-CN" altLang="en-US" sz="1600"/>
          </a:p>
          <a:p>
            <a:r>
              <a:rPr lang="en-US" altLang="en-US" sz="1600"/>
              <a:t>✔</a:t>
            </a:r>
            <a:r>
              <a:rPr lang="en-US" altLang="zh-CN" sz="1600"/>
              <a:t> </a:t>
            </a:r>
            <a:r>
              <a:rPr lang="zh-CN" altLang="en-US" sz="1600"/>
              <a:t>开店前考察该区近几年处罚记录</a:t>
            </a:r>
            <a:endParaRPr lang="zh-CN" altLang="en-US" sz="1600"/>
          </a:p>
          <a:p>
            <a:r>
              <a:rPr lang="en-US" altLang="en-US" sz="1600"/>
              <a:t>✔</a:t>
            </a:r>
            <a:r>
              <a:rPr lang="en-US" altLang="zh-CN" sz="1600"/>
              <a:t> </a:t>
            </a:r>
            <a:r>
              <a:rPr lang="zh-CN" altLang="en-US" sz="1600"/>
              <a:t>若选在人流密集区</a:t>
            </a:r>
            <a:r>
              <a:rPr lang="en-US" altLang="zh-CN" sz="1600"/>
              <a:t> </a:t>
            </a:r>
            <a:r>
              <a:rPr lang="en-US" altLang="en-US" sz="1600"/>
              <a:t>→</a:t>
            </a:r>
            <a:r>
              <a:rPr lang="en-US" altLang="zh-CN" sz="1600"/>
              <a:t> </a:t>
            </a:r>
            <a:r>
              <a:rPr lang="zh-CN" altLang="en-US" sz="1600"/>
              <a:t>预期抽查频率更高</a:t>
            </a:r>
            <a:endParaRPr lang="zh-CN" altLang="en-US" sz="1600"/>
          </a:p>
          <a:p>
            <a:r>
              <a:rPr lang="en-US" altLang="en-US" sz="1600"/>
              <a:t>✔</a:t>
            </a:r>
            <a:r>
              <a:rPr lang="en-US" altLang="zh-CN" sz="1600"/>
              <a:t> </a:t>
            </a:r>
            <a:r>
              <a:rPr lang="zh-CN" altLang="en-US" sz="1600"/>
              <a:t>垃圾储存、油烟排放、气味问题要提前处理</a:t>
            </a:r>
            <a:endParaRPr lang="zh-CN" altLang="en-US" sz="1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경영</a:t>
            </a:r>
            <a:r>
              <a:rPr lang="en-US" altLang="zh-CN"/>
              <a:t> </a:t>
            </a:r>
            <a:r>
              <a:rPr lang="ko-KR" altLang="en-US"/>
              <a:t>리스크</a:t>
            </a:r>
            <a:r>
              <a:rPr lang="en-US" altLang="zh-CN"/>
              <a:t> </a:t>
            </a:r>
            <a:r>
              <a:rPr lang="ko-KR" altLang="en-US"/>
              <a:t>방어</a:t>
            </a:r>
            <a:r>
              <a:rPr lang="en-US" altLang="zh-CN"/>
              <a:t> </a:t>
            </a:r>
            <a:r>
              <a:rPr lang="ko-KR" altLang="en-US"/>
              <a:t>메커니즘</a:t>
            </a:r>
            <a:r>
              <a:rPr lang="en-US" altLang="zh-CN"/>
              <a:t> </a:t>
            </a:r>
            <a:r>
              <a:rPr lang="ko-KR" altLang="en-US"/>
              <a:t>연구</a:t>
            </a:r>
            <a:r>
              <a:t> / </a:t>
            </a:r>
            <a:r>
              <a:rPr lang="zh-CN" altLang="en-US" dirty="0">
                <a:sym typeface="+mn-ea"/>
              </a:rPr>
              <a:t>经营风险防控机制研究</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2" name="文本框 1"/>
          <p:cNvSpPr txBox="1"/>
          <p:nvPr/>
        </p:nvSpPr>
        <p:spPr>
          <a:xfrm>
            <a:off x="914400" y="1997075"/>
            <a:ext cx="7654290" cy="4678680"/>
          </a:xfrm>
          <a:prstGeom prst="rect">
            <a:avLst/>
          </a:prstGeom>
          <a:noFill/>
        </p:spPr>
        <p:txBody>
          <a:bodyPr wrap="square" rtlCol="0">
            <a:noAutofit/>
          </a:bodyPr>
          <a:p>
            <a:r>
              <a:rPr lang="en-US" altLang="zh-CN" sz="1600"/>
              <a:t> 4. “</a:t>
            </a:r>
            <a:r>
              <a:rPr lang="ko-KR" altLang="en-US" sz="1600"/>
              <a:t>고액</a:t>
            </a:r>
            <a:r>
              <a:rPr lang="en-US" altLang="zh-CN" sz="1600"/>
              <a:t> </a:t>
            </a:r>
            <a:r>
              <a:rPr lang="ko-KR" altLang="en-US" sz="1600"/>
              <a:t>벌금</a:t>
            </a:r>
            <a:r>
              <a:rPr lang="en-US" altLang="zh-CN" sz="1600"/>
              <a:t> + </a:t>
            </a:r>
            <a:r>
              <a:rPr lang="ko-KR" altLang="en-US" sz="1600"/>
              <a:t>영업정지</a:t>
            </a:r>
            <a:r>
              <a:rPr lang="en-US" altLang="zh-CN" sz="1600"/>
              <a:t> </a:t>
            </a:r>
            <a:r>
              <a:rPr lang="ko-KR" altLang="en-US" sz="1600"/>
              <a:t>위험</a:t>
            </a:r>
            <a:r>
              <a:rPr lang="en-US" altLang="zh-CN" sz="1600"/>
              <a:t>”</a:t>
            </a:r>
            <a:r>
              <a:rPr lang="ko-KR" altLang="en-US" sz="1600"/>
              <a:t>을</a:t>
            </a:r>
            <a:r>
              <a:rPr lang="en-US" altLang="zh-CN" sz="1600"/>
              <a:t> </a:t>
            </a:r>
            <a:r>
              <a:rPr lang="ko-KR" altLang="en-US" sz="1600"/>
              <a:t>피하는</a:t>
            </a:r>
            <a:r>
              <a:rPr lang="en-US" altLang="zh-CN" sz="1600"/>
              <a:t> </a:t>
            </a:r>
            <a:r>
              <a:rPr lang="ko-KR" altLang="en-US" sz="1600"/>
              <a:t>일반적</a:t>
            </a:r>
            <a:r>
              <a:rPr lang="en-US" altLang="zh-CN" sz="1600"/>
              <a:t> </a:t>
            </a:r>
            <a:r>
              <a:rPr lang="ko-KR" altLang="en-US" sz="1600"/>
              <a:t>위반</a:t>
            </a:r>
            <a:r>
              <a:rPr lang="en-US" altLang="zh-CN" sz="1600"/>
              <a:t> </a:t>
            </a:r>
            <a:r>
              <a:rPr lang="ko-KR" altLang="en-US" sz="1600"/>
              <a:t>사항</a:t>
            </a:r>
            <a:endParaRPr lang="ko-KR" altLang="en-US" sz="1600"/>
          </a:p>
          <a:p>
            <a:r>
              <a:rPr lang="ko-KR" altLang="en-US" sz="1600"/>
              <a:t>다음</a:t>
            </a:r>
            <a:r>
              <a:rPr lang="en-US" altLang="zh-CN" sz="1600"/>
              <a:t> </a:t>
            </a:r>
            <a:r>
              <a:rPr lang="ko-KR" altLang="en-US" sz="1600"/>
              <a:t>행위는</a:t>
            </a:r>
            <a:r>
              <a:rPr lang="en-US" altLang="zh-CN" sz="1600"/>
              <a:t> “</a:t>
            </a:r>
            <a:r>
              <a:rPr lang="ko-KR" altLang="en-US" sz="1600"/>
              <a:t>위반</a:t>
            </a:r>
            <a:r>
              <a:rPr lang="en-US" altLang="zh-CN" sz="1600"/>
              <a:t> </a:t>
            </a:r>
            <a:r>
              <a:rPr lang="ko-KR" altLang="en-US" sz="1600"/>
              <a:t>시</a:t>
            </a:r>
            <a:r>
              <a:rPr lang="en-US" altLang="zh-CN" sz="1600"/>
              <a:t> </a:t>
            </a:r>
            <a:r>
              <a:rPr lang="ko-KR" altLang="en-US" sz="1600"/>
              <a:t>중징계</a:t>
            </a:r>
            <a:r>
              <a:rPr lang="en-US" altLang="zh-CN" sz="1600"/>
              <a:t>” </a:t>
            </a:r>
            <a:r>
              <a:rPr lang="ko-KR" altLang="en-US" sz="1600"/>
              <a:t>대상입니다</a:t>
            </a:r>
            <a:r>
              <a:rPr lang="en-US" altLang="zh-CN" sz="1600"/>
              <a:t>:</a:t>
            </a:r>
            <a:endParaRPr lang="en-US" altLang="zh-CN" sz="1600"/>
          </a:p>
          <a:p>
            <a:pPr marL="342900" indent="-342900">
              <a:buFont typeface="+mj-ea"/>
              <a:buAutoNum type="circleNumDbPlain"/>
            </a:pPr>
            <a:r>
              <a:rPr lang="ko-KR" altLang="en-US" sz="1600"/>
              <a:t>규정</a:t>
            </a:r>
            <a:r>
              <a:rPr lang="en-US" altLang="zh-CN" sz="1600"/>
              <a:t> </a:t>
            </a:r>
            <a:r>
              <a:rPr lang="ko-KR" altLang="en-US" sz="1600"/>
              <a:t>미준수</a:t>
            </a:r>
            <a:r>
              <a:rPr lang="en-US" altLang="zh-CN" sz="1600"/>
              <a:t> </a:t>
            </a:r>
            <a:r>
              <a:rPr lang="ko-KR" altLang="en-US" sz="1600"/>
              <a:t>식재료</a:t>
            </a:r>
            <a:r>
              <a:rPr lang="en-US" altLang="zh-CN" sz="1600"/>
              <a:t> </a:t>
            </a:r>
            <a:r>
              <a:rPr lang="ko-KR" altLang="en-US" sz="1600"/>
              <a:t>보관</a:t>
            </a:r>
            <a:endParaRPr lang="ko-KR" altLang="en-US" sz="1600"/>
          </a:p>
          <a:p>
            <a:pPr marL="342900" indent="-342900">
              <a:buFont typeface="+mj-ea"/>
              <a:buAutoNum type="circleNumDbPlain"/>
            </a:pPr>
            <a:r>
              <a:rPr lang="ko-KR" altLang="en-US" sz="1600"/>
              <a:t>유통기한</a:t>
            </a:r>
            <a:r>
              <a:rPr lang="en-US" altLang="zh-CN" sz="1600"/>
              <a:t> </a:t>
            </a:r>
            <a:r>
              <a:rPr lang="ko-KR" altLang="en-US" sz="1600"/>
              <a:t>지난</a:t>
            </a:r>
            <a:r>
              <a:rPr lang="en-US" altLang="zh-CN" sz="1600"/>
              <a:t> </a:t>
            </a:r>
            <a:r>
              <a:rPr lang="ko-KR" altLang="en-US" sz="1600"/>
              <a:t>원재료</a:t>
            </a:r>
            <a:r>
              <a:rPr lang="en-US" altLang="zh-CN" sz="1600"/>
              <a:t> </a:t>
            </a:r>
            <a:r>
              <a:rPr lang="ko-KR" altLang="en-US" sz="1600"/>
              <a:t>사용</a:t>
            </a:r>
            <a:endParaRPr lang="ko-KR" altLang="en-US" sz="1600"/>
          </a:p>
          <a:p>
            <a:pPr marL="342900" indent="-342900">
              <a:buFont typeface="+mj-ea"/>
              <a:buAutoNum type="circleNumDbPlain"/>
            </a:pPr>
            <a:r>
              <a:rPr lang="ko-KR" altLang="en-US" sz="1600"/>
              <a:t>위생</a:t>
            </a:r>
            <a:r>
              <a:rPr lang="en-US" altLang="zh-CN" sz="1600"/>
              <a:t> </a:t>
            </a:r>
            <a:r>
              <a:rPr lang="ko-KR" altLang="en-US" sz="1600"/>
              <a:t>기준</a:t>
            </a:r>
            <a:r>
              <a:rPr lang="en-US" altLang="zh-CN" sz="1600"/>
              <a:t> </a:t>
            </a:r>
            <a:r>
              <a:rPr lang="ko-KR" altLang="en-US" sz="1600"/>
              <a:t>미달</a:t>
            </a:r>
            <a:endParaRPr lang="ko-KR" altLang="en-US" sz="1600"/>
          </a:p>
          <a:p>
            <a:pPr marL="342900" indent="-342900">
              <a:buFont typeface="+mj-ea"/>
              <a:buAutoNum type="circleNumDbPlain"/>
            </a:pPr>
            <a:r>
              <a:rPr lang="ko-KR" altLang="en-US" sz="1600"/>
              <a:t>무허가</a:t>
            </a:r>
            <a:r>
              <a:rPr lang="en-US" altLang="zh-CN" sz="1600"/>
              <a:t> </a:t>
            </a:r>
            <a:r>
              <a:rPr lang="ko-KR" altLang="en-US" sz="1600"/>
              <a:t>영업</a:t>
            </a:r>
            <a:endParaRPr lang="ko-KR" altLang="en-US" sz="1600"/>
          </a:p>
          <a:p>
            <a:pPr marL="342900" indent="-342900">
              <a:buFont typeface="+mj-ea"/>
              <a:buAutoNum type="circleNumDbPlain"/>
            </a:pPr>
            <a:r>
              <a:rPr lang="ko-KR" altLang="en-US" sz="1600"/>
              <a:t>무자격</a:t>
            </a:r>
            <a:r>
              <a:rPr lang="en-US" altLang="zh-CN" sz="1600"/>
              <a:t> </a:t>
            </a:r>
            <a:r>
              <a:rPr lang="ko-KR" altLang="en-US" sz="1600"/>
              <a:t>직원</a:t>
            </a:r>
            <a:r>
              <a:rPr lang="en-US" altLang="zh-CN" sz="1600"/>
              <a:t> </a:t>
            </a:r>
            <a:r>
              <a:rPr lang="ko-KR" altLang="en-US" sz="1600"/>
              <a:t>작업</a:t>
            </a:r>
            <a:endParaRPr lang="ko-KR" altLang="en-US" sz="1600"/>
          </a:p>
          <a:p>
            <a:pPr marL="342900" indent="-342900">
              <a:buFont typeface="+mj-ea"/>
              <a:buAutoNum type="circleNumDbPlain"/>
            </a:pPr>
            <a:r>
              <a:rPr lang="ko-KR" altLang="en-US" sz="1600"/>
              <a:t>불법</a:t>
            </a:r>
            <a:r>
              <a:rPr lang="en-US" altLang="zh-CN" sz="1600"/>
              <a:t> </a:t>
            </a:r>
            <a:r>
              <a:rPr lang="ko-KR" altLang="en-US" sz="1600"/>
              <a:t>배기</a:t>
            </a:r>
            <a:r>
              <a:rPr lang="en-US" altLang="zh-CN" sz="1600"/>
              <a:t> </a:t>
            </a:r>
            <a:r>
              <a:rPr lang="ko-KR" altLang="en-US" sz="1600"/>
              <a:t>가스</a:t>
            </a:r>
            <a:r>
              <a:rPr lang="en-US" altLang="zh-CN" sz="1600"/>
              <a:t> </a:t>
            </a:r>
            <a:r>
              <a:rPr lang="ko-KR" altLang="en-US" sz="1600"/>
              <a:t>또는</a:t>
            </a:r>
            <a:r>
              <a:rPr lang="en-US" altLang="zh-CN" sz="1600"/>
              <a:t> </a:t>
            </a:r>
            <a:r>
              <a:rPr lang="ko-KR" altLang="en-US" sz="1600"/>
              <a:t>폐수</a:t>
            </a:r>
            <a:r>
              <a:rPr lang="en-US" altLang="zh-CN" sz="1600"/>
              <a:t> </a:t>
            </a:r>
            <a:r>
              <a:rPr lang="ko-KR" altLang="en-US" sz="1600"/>
              <a:t>배출</a:t>
            </a:r>
            <a:endParaRPr lang="ko-KR" altLang="en-US" sz="1600"/>
          </a:p>
          <a:p>
            <a:r>
              <a:rPr lang="ko-KR" altLang="en-US" sz="1600"/>
              <a:t>이러한</a:t>
            </a:r>
            <a:r>
              <a:rPr lang="en-US" altLang="zh-CN" sz="1600"/>
              <a:t> </a:t>
            </a:r>
            <a:r>
              <a:rPr lang="ko-KR" altLang="en-US" sz="1600"/>
              <a:t>위반은</a:t>
            </a:r>
            <a:r>
              <a:rPr lang="en-US" altLang="zh-CN" sz="1600"/>
              <a:t> </a:t>
            </a:r>
            <a:r>
              <a:rPr lang="ko-KR" altLang="en-US" sz="1600"/>
              <a:t>서울</a:t>
            </a:r>
            <a:r>
              <a:rPr lang="en-US" altLang="zh-CN" sz="1600"/>
              <a:t> </a:t>
            </a:r>
            <a:r>
              <a:rPr lang="ko-KR" altLang="en-US" sz="1600"/>
              <a:t>지역에서</a:t>
            </a:r>
            <a:r>
              <a:rPr lang="en-US" altLang="zh-CN" sz="1600"/>
              <a:t> </a:t>
            </a:r>
            <a:r>
              <a:rPr lang="ko-KR" altLang="en-US" sz="1600"/>
              <a:t>경미한</a:t>
            </a:r>
            <a:r>
              <a:rPr lang="en-US" altLang="zh-CN" sz="1600"/>
              <a:t> </a:t>
            </a:r>
            <a:r>
              <a:rPr lang="ko-KR" altLang="en-US" sz="1600"/>
              <a:t>처벌을</a:t>
            </a:r>
            <a:r>
              <a:rPr lang="en-US" altLang="zh-CN" sz="1600"/>
              <a:t> </a:t>
            </a:r>
            <a:r>
              <a:rPr lang="ko-KR" altLang="en-US" sz="1600"/>
              <a:t>받기</a:t>
            </a:r>
            <a:r>
              <a:rPr lang="en-US" altLang="zh-CN" sz="1600"/>
              <a:t> </a:t>
            </a:r>
            <a:r>
              <a:rPr lang="ko-KR" altLang="en-US" sz="1600"/>
              <a:t>거의</a:t>
            </a:r>
            <a:r>
              <a:rPr lang="en-US" altLang="zh-CN" sz="1600"/>
              <a:t> </a:t>
            </a:r>
            <a:r>
              <a:rPr lang="ko-KR" altLang="en-US" sz="1600"/>
              <a:t>불가능합니다</a:t>
            </a:r>
            <a:r>
              <a:rPr lang="en-US" altLang="zh-CN" sz="1600"/>
              <a:t>.</a:t>
            </a:r>
            <a:endParaRPr lang="en-US" altLang="zh-CN" sz="1600"/>
          </a:p>
          <a:p>
            <a:endParaRPr lang="en-US" altLang="zh-CN" sz="1600"/>
          </a:p>
          <a:p>
            <a:r>
              <a:rPr lang="en-US" altLang="zh-CN" sz="1600"/>
              <a:t>4.</a:t>
            </a:r>
            <a:r>
              <a:rPr lang="zh-CN" altLang="en-US" sz="1600"/>
              <a:t>避免</a:t>
            </a:r>
            <a:r>
              <a:rPr lang="en-US" altLang="zh-CN" sz="1600"/>
              <a:t>“</a:t>
            </a:r>
            <a:r>
              <a:rPr lang="zh-CN" altLang="en-US" sz="1600"/>
              <a:t>高罚金</a:t>
            </a:r>
            <a:r>
              <a:rPr lang="en-US" altLang="zh-CN" sz="1600"/>
              <a:t>+</a:t>
            </a:r>
            <a:r>
              <a:rPr lang="zh-CN" altLang="en-US" sz="1600"/>
              <a:t>停业风险</a:t>
            </a:r>
            <a:r>
              <a:rPr lang="en-US" altLang="zh-CN" sz="1600"/>
              <a:t>”</a:t>
            </a:r>
            <a:r>
              <a:rPr lang="zh-CN" altLang="en-US" sz="1600"/>
              <a:t>的常见违规</a:t>
            </a:r>
            <a:endParaRPr lang="zh-CN" altLang="en-US" sz="1600"/>
          </a:p>
          <a:p>
            <a:r>
              <a:rPr lang="zh-CN" altLang="en-US" sz="1600"/>
              <a:t>以下行为属于</a:t>
            </a:r>
            <a:r>
              <a:rPr lang="en-US" altLang="zh-CN" sz="1600"/>
              <a:t>“</a:t>
            </a:r>
            <a:r>
              <a:rPr lang="zh-CN" altLang="en-US" sz="1600"/>
              <a:t>一旦违规就是重罚</a:t>
            </a:r>
            <a:r>
              <a:rPr lang="en-US" altLang="zh-CN" sz="1600"/>
              <a:t>”</a:t>
            </a:r>
            <a:r>
              <a:rPr lang="zh-CN" altLang="en-US" sz="1600"/>
              <a:t>：</a:t>
            </a:r>
            <a:endParaRPr lang="zh-CN" altLang="en-US" sz="1600"/>
          </a:p>
          <a:p>
            <a:pPr marL="342900" indent="-342900">
              <a:buFont typeface="+mj-ea"/>
              <a:buAutoNum type="circleNumDbPlain"/>
            </a:pPr>
            <a:r>
              <a:rPr lang="zh-CN" altLang="en-US" sz="1600"/>
              <a:t>未按规定储存食材</a:t>
            </a:r>
            <a:endParaRPr lang="zh-CN" altLang="en-US" sz="1600"/>
          </a:p>
          <a:p>
            <a:pPr marL="342900" indent="-342900">
              <a:buFont typeface="+mj-ea"/>
              <a:buAutoNum type="circleNumDbPlain"/>
            </a:pPr>
            <a:r>
              <a:rPr lang="zh-CN" altLang="en-US" sz="1600"/>
              <a:t>使用过期原料</a:t>
            </a:r>
            <a:endParaRPr lang="zh-CN" altLang="en-US" sz="1600"/>
          </a:p>
          <a:p>
            <a:pPr marL="342900" indent="-342900">
              <a:buFont typeface="+mj-ea"/>
              <a:buAutoNum type="circleNumDbPlain"/>
            </a:pPr>
            <a:r>
              <a:rPr lang="zh-CN" altLang="en-US" sz="1600"/>
              <a:t>卫生条件未达标</a:t>
            </a:r>
            <a:endParaRPr lang="zh-CN" altLang="en-US" sz="1600"/>
          </a:p>
          <a:p>
            <a:pPr marL="342900" indent="-342900">
              <a:buFont typeface="+mj-ea"/>
              <a:buAutoNum type="circleNumDbPlain"/>
            </a:pPr>
            <a:r>
              <a:rPr lang="zh-CN" altLang="en-US" sz="1600"/>
              <a:t>未经许可经营</a:t>
            </a:r>
            <a:endParaRPr lang="zh-CN" altLang="en-US" sz="1600"/>
          </a:p>
          <a:p>
            <a:pPr marL="342900" indent="-342900">
              <a:buFont typeface="+mj-ea"/>
              <a:buAutoNum type="circleNumDbPlain"/>
            </a:pPr>
            <a:r>
              <a:rPr lang="zh-CN" altLang="en-US" sz="1600"/>
              <a:t>无证员工操作</a:t>
            </a:r>
            <a:endParaRPr lang="zh-CN" altLang="en-US" sz="1600"/>
          </a:p>
          <a:p>
            <a:pPr marL="342900" indent="-342900">
              <a:buFont typeface="+mj-ea"/>
              <a:buAutoNum type="circleNumDbPlain"/>
            </a:pPr>
            <a:r>
              <a:rPr lang="zh-CN" altLang="en-US" sz="1600"/>
              <a:t>非法排放油烟或污水</a:t>
            </a:r>
            <a:endParaRPr lang="zh-CN" altLang="en-US" sz="1600"/>
          </a:p>
          <a:p>
            <a:r>
              <a:rPr lang="zh-CN" altLang="en-US" sz="1600"/>
              <a:t>这些在首尔地区几乎不会得到轻微处罚。</a:t>
            </a:r>
            <a:endParaRPr lang="zh-CN" altLang="en-US"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5648325" cy="521970"/>
          </a:xfrm>
          <a:prstGeom prst="rect">
            <a:avLst/>
          </a:prstGeom>
          <a:noFill/>
        </p:spPr>
        <p:txBody>
          <a:bodyPr wrap="none">
            <a:spAutoFit/>
          </a:bodyPr>
          <a:lstStyle/>
          <a:p>
            <a:pPr algn="l">
              <a:defRPr sz="2800" b="1">
                <a:solidFill>
                  <a:srgbClr val="0066CC"/>
                </a:solidFill>
              </a:defRPr>
            </a:pPr>
            <a:r>
              <a:rPr lang="ko-KR" altLang="en-US"/>
              <a:t>프로젝트</a:t>
            </a:r>
            <a:r>
              <a:rPr lang="en-US" altLang="zh-CN"/>
              <a:t> </a:t>
            </a:r>
            <a:r>
              <a:rPr lang="ko-KR" altLang="en-US"/>
              <a:t>성과</a:t>
            </a:r>
            <a:r>
              <a:rPr lang="en-US" altLang="zh-CN"/>
              <a:t> </a:t>
            </a:r>
            <a:r>
              <a:rPr lang="ko-KR" altLang="en-US"/>
              <a:t>전시</a:t>
            </a:r>
            <a:r>
              <a:t> / 项目</a:t>
            </a:r>
            <a:r>
              <a:rPr lang="zh-CN"/>
              <a:t>成果展示</a:t>
            </a:r>
            <a:endParaRPr lang="zh-CN"/>
          </a:p>
        </p:txBody>
      </p:sp>
      <p:sp>
        <p:nvSpPr>
          <p:cNvPr id="4" name="TextBox 3"/>
          <p:cNvSpPr txBox="1"/>
          <p:nvPr/>
        </p:nvSpPr>
        <p:spPr>
          <a:xfrm>
            <a:off x="795655" y="1353820"/>
            <a:ext cx="7315200" cy="445770"/>
          </a:xfrm>
          <a:prstGeom prst="rect">
            <a:avLst/>
          </a:prstGeom>
          <a:noFill/>
        </p:spPr>
        <p:txBody>
          <a:bodyPr wrap="none">
            <a:noAutofit/>
          </a:bodyPr>
          <a:lstStyle/>
          <a:p>
            <a:pPr algn="l">
              <a:defRPr sz="2000">
                <a:solidFill>
                  <a:srgbClr val="3C3C3C"/>
                </a:solidFill>
              </a:defRPr>
            </a:pPr>
            <a:r>
              <a:t>- </a:t>
            </a:r>
            <a:r>
              <a:rPr lang="ko-KR" altLang="en-US"/>
              <a:t>경영</a:t>
            </a:r>
            <a:r>
              <a:rPr lang="en-US" altLang="zh-CN"/>
              <a:t> </a:t>
            </a:r>
            <a:r>
              <a:rPr lang="ko-KR" altLang="en-US"/>
              <a:t>리스크</a:t>
            </a:r>
            <a:r>
              <a:rPr lang="en-US" altLang="zh-CN"/>
              <a:t> </a:t>
            </a:r>
            <a:r>
              <a:rPr lang="ko-KR" altLang="en-US"/>
              <a:t>방어</a:t>
            </a:r>
            <a:r>
              <a:rPr lang="en-US" altLang="zh-CN"/>
              <a:t> </a:t>
            </a:r>
            <a:r>
              <a:rPr lang="ko-KR" altLang="en-US"/>
              <a:t>메커니즘</a:t>
            </a:r>
            <a:r>
              <a:rPr lang="en-US" altLang="zh-CN"/>
              <a:t> </a:t>
            </a:r>
            <a:r>
              <a:rPr lang="ko-KR" altLang="en-US"/>
              <a:t>연구</a:t>
            </a:r>
            <a:r>
              <a:t> / </a:t>
            </a:r>
            <a:r>
              <a:rPr lang="zh-CN" altLang="en-US" dirty="0">
                <a:sym typeface="+mn-ea"/>
              </a:rPr>
              <a:t>经营风险防控机制研究</a:t>
            </a:r>
            <a:endParaRPr lang="zh-CN"/>
          </a:p>
        </p:txBody>
      </p:sp>
      <p:pic>
        <p:nvPicPr>
          <p:cNvPr id="5" name="图片 4" descr="logo(1)"/>
          <p:cNvPicPr>
            <a:picLocks noChangeAspect="1"/>
          </p:cNvPicPr>
          <p:nvPr/>
        </p:nvPicPr>
        <p:blipFill>
          <a:blip r:embed="rId1"/>
          <a:stretch>
            <a:fillRect/>
          </a:stretch>
        </p:blipFill>
        <p:spPr>
          <a:xfrm>
            <a:off x="6212205" y="0"/>
            <a:ext cx="2931795" cy="631190"/>
          </a:xfrm>
          <a:prstGeom prst="rect">
            <a:avLst/>
          </a:prstGeom>
        </p:spPr>
      </p:pic>
      <p:sp>
        <p:nvSpPr>
          <p:cNvPr id="2" name="文本框 1"/>
          <p:cNvSpPr txBox="1"/>
          <p:nvPr/>
        </p:nvSpPr>
        <p:spPr>
          <a:xfrm>
            <a:off x="914400" y="1997075"/>
            <a:ext cx="7654290" cy="4678680"/>
          </a:xfrm>
          <a:prstGeom prst="rect">
            <a:avLst/>
          </a:prstGeom>
          <a:noFill/>
        </p:spPr>
        <p:txBody>
          <a:bodyPr wrap="square" rtlCol="0">
            <a:noAutofit/>
          </a:bodyPr>
          <a:p>
            <a:r>
              <a:rPr lang="en-US" altLang="zh-CN" sz="1600"/>
              <a:t>5. </a:t>
            </a:r>
            <a:r>
              <a:rPr lang="ko-KR" altLang="en-US" sz="1600"/>
              <a:t>정기적인</a:t>
            </a:r>
            <a:r>
              <a:rPr lang="en-US" altLang="zh-CN" sz="1600"/>
              <a:t> </a:t>
            </a:r>
            <a:r>
              <a:rPr lang="ko-KR" altLang="en-US" sz="1600"/>
              <a:t>내부</a:t>
            </a:r>
            <a:r>
              <a:rPr lang="en-US" altLang="zh-CN" sz="1600"/>
              <a:t> </a:t>
            </a:r>
            <a:r>
              <a:rPr lang="ko-KR" altLang="en-US" sz="1600"/>
              <a:t>점검</a:t>
            </a:r>
            <a:r>
              <a:rPr lang="en-US" altLang="zh-CN" sz="1600"/>
              <a:t> </a:t>
            </a:r>
            <a:r>
              <a:rPr lang="ko-KR" altLang="en-US" sz="1600"/>
              <a:t>실시</a:t>
            </a:r>
            <a:r>
              <a:rPr lang="en-US" altLang="zh-CN" sz="1600"/>
              <a:t> </a:t>
            </a:r>
            <a:r>
              <a:rPr lang="ko-KR" altLang="en-US" sz="1600"/>
              <a:t>및</a:t>
            </a:r>
            <a:r>
              <a:rPr lang="en-US" altLang="zh-CN" sz="1600"/>
              <a:t> </a:t>
            </a:r>
            <a:r>
              <a:rPr lang="ko-KR" altLang="en-US" sz="1600"/>
              <a:t>간단한</a:t>
            </a:r>
            <a:r>
              <a:rPr lang="en-US" altLang="zh-CN" sz="1600"/>
              <a:t> ‘</a:t>
            </a:r>
            <a:r>
              <a:rPr lang="ko-KR" altLang="en-US" sz="1600"/>
              <a:t>자체</a:t>
            </a:r>
            <a:r>
              <a:rPr lang="en-US" altLang="zh-CN" sz="1600"/>
              <a:t> </a:t>
            </a:r>
            <a:r>
              <a:rPr lang="ko-KR" altLang="en-US" sz="1600"/>
              <a:t>점검표</a:t>
            </a:r>
            <a:r>
              <a:rPr lang="en-US" altLang="zh-CN" sz="1600"/>
              <a:t>’ </a:t>
            </a:r>
            <a:r>
              <a:rPr lang="ko-KR" altLang="en-US" sz="1600"/>
              <a:t>마련</a:t>
            </a:r>
            <a:endParaRPr lang="ko-KR" altLang="en-US" sz="1600"/>
          </a:p>
          <a:p>
            <a:r>
              <a:rPr lang="ko-KR" altLang="en-US" sz="1600"/>
              <a:t>고빈도</a:t>
            </a:r>
            <a:r>
              <a:rPr lang="en-US" altLang="zh-CN" sz="1600"/>
              <a:t> </a:t>
            </a:r>
            <a:r>
              <a:rPr lang="ko-KR" altLang="en-US" sz="1600"/>
              <a:t>처벌이</a:t>
            </a:r>
            <a:r>
              <a:rPr lang="en-US" altLang="zh-CN" sz="1600"/>
              <a:t> </a:t>
            </a:r>
            <a:r>
              <a:rPr lang="ko-KR" altLang="en-US" sz="1600"/>
              <a:t>집중된다는</a:t>
            </a:r>
            <a:r>
              <a:rPr lang="en-US" altLang="zh-CN" sz="1600"/>
              <a:t> </a:t>
            </a:r>
            <a:r>
              <a:rPr lang="ko-KR" altLang="en-US" sz="1600"/>
              <a:t>것은</a:t>
            </a:r>
            <a:r>
              <a:rPr lang="en-US" altLang="zh-CN" sz="1600"/>
              <a:t> </a:t>
            </a:r>
            <a:r>
              <a:rPr lang="ko-KR" altLang="en-US" sz="1600"/>
              <a:t>위반</a:t>
            </a:r>
            <a:r>
              <a:rPr lang="en-US" altLang="zh-CN" sz="1600"/>
              <a:t> </a:t>
            </a:r>
            <a:r>
              <a:rPr lang="ko-KR" altLang="en-US" sz="1600"/>
              <a:t>유형이</a:t>
            </a:r>
            <a:r>
              <a:rPr lang="en-US" altLang="zh-CN" sz="1600"/>
              <a:t> </a:t>
            </a:r>
            <a:r>
              <a:rPr lang="ko-KR" altLang="en-US" sz="1600"/>
              <a:t>비교적</a:t>
            </a:r>
            <a:r>
              <a:rPr lang="en-US" altLang="zh-CN" sz="1600"/>
              <a:t> </a:t>
            </a:r>
            <a:r>
              <a:rPr lang="ko-KR" altLang="en-US" sz="1600"/>
              <a:t>예측</a:t>
            </a:r>
            <a:r>
              <a:rPr lang="en-US" altLang="zh-CN" sz="1600"/>
              <a:t> </a:t>
            </a:r>
            <a:r>
              <a:rPr lang="ko-KR" altLang="en-US" sz="1600"/>
              <a:t>가능함을</a:t>
            </a:r>
            <a:r>
              <a:rPr lang="en-US" altLang="zh-CN" sz="1600"/>
              <a:t> </a:t>
            </a:r>
            <a:r>
              <a:rPr lang="ko-KR" altLang="en-US" sz="1600"/>
              <a:t>의미합니다</a:t>
            </a:r>
            <a:r>
              <a:rPr lang="en-US" altLang="zh-CN" sz="1600"/>
              <a:t>. </a:t>
            </a:r>
            <a:r>
              <a:rPr lang="ko-KR" altLang="en-US" sz="1600"/>
              <a:t>업체에서는</a:t>
            </a:r>
            <a:r>
              <a:rPr lang="en-US" altLang="zh-CN" sz="1600"/>
              <a:t> </a:t>
            </a:r>
            <a:r>
              <a:rPr lang="ko-KR" altLang="en-US" sz="1600"/>
              <a:t>다음을</a:t>
            </a:r>
            <a:r>
              <a:rPr lang="en-US" altLang="zh-CN" sz="1600"/>
              <a:t> </a:t>
            </a:r>
            <a:r>
              <a:rPr lang="ko-KR" altLang="en-US" sz="1600"/>
              <a:t>준비할</a:t>
            </a:r>
            <a:r>
              <a:rPr lang="en-US" altLang="zh-CN" sz="1600"/>
              <a:t> </a:t>
            </a:r>
            <a:r>
              <a:rPr lang="ko-KR" altLang="en-US" sz="1600"/>
              <a:t>것을</a:t>
            </a:r>
            <a:r>
              <a:rPr lang="en-US" altLang="zh-CN" sz="1600"/>
              <a:t> </a:t>
            </a:r>
            <a:r>
              <a:rPr lang="ko-KR" altLang="en-US" sz="1600"/>
              <a:t>권장합니다</a:t>
            </a:r>
            <a:r>
              <a:rPr lang="en-US" altLang="zh-CN" sz="1600"/>
              <a:t>:</a:t>
            </a:r>
            <a:endParaRPr lang="en-US" altLang="zh-CN" sz="1600"/>
          </a:p>
          <a:p>
            <a:pPr marL="342900" indent="-342900">
              <a:buFont typeface="+mj-ea"/>
              <a:buAutoNum type="circleNumDbPlain"/>
            </a:pPr>
            <a:r>
              <a:rPr lang="ko-KR" altLang="en-US" sz="1600"/>
              <a:t>매일</a:t>
            </a:r>
            <a:r>
              <a:rPr lang="en-US" altLang="zh-CN" sz="1600"/>
              <a:t> </a:t>
            </a:r>
            <a:r>
              <a:rPr lang="ko-KR" altLang="en-US" sz="1600"/>
              <a:t>영업</a:t>
            </a:r>
            <a:r>
              <a:rPr lang="en-US" altLang="zh-CN" sz="1600"/>
              <a:t> </a:t>
            </a:r>
            <a:r>
              <a:rPr lang="ko-KR" altLang="en-US" sz="1600"/>
              <a:t>시작</a:t>
            </a:r>
            <a:r>
              <a:rPr lang="en-US" altLang="zh-CN" sz="1600"/>
              <a:t> </a:t>
            </a:r>
            <a:r>
              <a:rPr lang="ko-KR" altLang="en-US" sz="1600"/>
              <a:t>전</a:t>
            </a:r>
            <a:r>
              <a:rPr lang="en-US" altLang="zh-CN" sz="1600"/>
              <a:t> </a:t>
            </a:r>
            <a:r>
              <a:rPr lang="ko-KR" altLang="en-US" sz="1600"/>
              <a:t>점검표</a:t>
            </a:r>
            <a:endParaRPr lang="ko-KR" altLang="en-US" sz="1600"/>
          </a:p>
          <a:p>
            <a:pPr marL="342900" indent="-342900">
              <a:buFont typeface="+mj-ea"/>
              <a:buAutoNum type="circleNumDbPlain"/>
            </a:pPr>
            <a:r>
              <a:rPr lang="ko-KR" altLang="en-US" sz="1600"/>
              <a:t>주방</a:t>
            </a:r>
            <a:r>
              <a:rPr lang="en-US" altLang="zh-CN" sz="1600"/>
              <a:t> </a:t>
            </a:r>
            <a:r>
              <a:rPr lang="ko-KR" altLang="en-US" sz="1600"/>
              <a:t>위생</a:t>
            </a:r>
            <a:r>
              <a:rPr lang="en-US" altLang="zh-CN" sz="1600"/>
              <a:t> </a:t>
            </a:r>
            <a:r>
              <a:rPr lang="ko-KR" altLang="en-US" sz="1600"/>
              <a:t>자체</a:t>
            </a:r>
            <a:r>
              <a:rPr lang="en-US" altLang="zh-CN" sz="1600"/>
              <a:t> </a:t>
            </a:r>
            <a:r>
              <a:rPr lang="ko-KR" altLang="en-US" sz="1600"/>
              <a:t>점검</a:t>
            </a:r>
            <a:r>
              <a:rPr lang="en-US" altLang="zh-CN" sz="1600"/>
              <a:t> </a:t>
            </a:r>
            <a:r>
              <a:rPr lang="ko-KR" altLang="en-US" sz="1600"/>
              <a:t>목록</a:t>
            </a:r>
            <a:endParaRPr lang="ko-KR" altLang="en-US" sz="1600"/>
          </a:p>
          <a:p>
            <a:pPr marL="342900" indent="-342900">
              <a:buFont typeface="+mj-ea"/>
              <a:buAutoNum type="circleNumDbPlain"/>
            </a:pPr>
            <a:r>
              <a:rPr lang="ko-KR" altLang="en-US" sz="1600"/>
              <a:t>냉장</a:t>
            </a:r>
            <a:r>
              <a:rPr lang="en-US" altLang="zh-CN" sz="1600"/>
              <a:t> </a:t>
            </a:r>
            <a:r>
              <a:rPr lang="ko-KR" altLang="en-US" sz="1600"/>
              <a:t>온도</a:t>
            </a:r>
            <a:r>
              <a:rPr lang="en-US" altLang="zh-CN" sz="1600"/>
              <a:t> </a:t>
            </a:r>
            <a:r>
              <a:rPr lang="ko-KR" altLang="en-US" sz="1600"/>
              <a:t>기록표</a:t>
            </a:r>
            <a:endParaRPr lang="ko-KR" altLang="en-US" sz="1600"/>
          </a:p>
          <a:p>
            <a:pPr marL="342900" indent="-342900">
              <a:buFont typeface="+mj-ea"/>
              <a:buAutoNum type="circleNumDbPlain"/>
            </a:pPr>
            <a:r>
              <a:rPr lang="ko-KR" altLang="en-US" sz="1600"/>
              <a:t>식재료</a:t>
            </a:r>
            <a:r>
              <a:rPr lang="en-US" altLang="zh-CN" sz="1600"/>
              <a:t> </a:t>
            </a:r>
            <a:r>
              <a:rPr lang="ko-KR" altLang="en-US" sz="1600"/>
              <a:t>배치</a:t>
            </a:r>
            <a:r>
              <a:rPr lang="en-US" altLang="zh-CN" sz="1600"/>
              <a:t> </a:t>
            </a:r>
            <a:r>
              <a:rPr lang="ko-KR" altLang="en-US" sz="1600"/>
              <a:t>추적</a:t>
            </a:r>
            <a:r>
              <a:rPr lang="en-US" altLang="zh-CN" sz="1600"/>
              <a:t> </a:t>
            </a:r>
            <a:r>
              <a:rPr lang="ko-KR" altLang="en-US" sz="1600"/>
              <a:t>기록</a:t>
            </a:r>
            <a:endParaRPr lang="ko-KR" altLang="en-US" sz="1600"/>
          </a:p>
          <a:p>
            <a:r>
              <a:rPr lang="ko-KR" altLang="en-US" sz="1600"/>
              <a:t>이러한</a:t>
            </a:r>
            <a:r>
              <a:rPr lang="en-US" altLang="zh-CN" sz="1600"/>
              <a:t> </a:t>
            </a:r>
            <a:r>
              <a:rPr lang="ko-KR" altLang="en-US" sz="1600"/>
              <a:t>자체</a:t>
            </a:r>
            <a:r>
              <a:rPr lang="en-US" altLang="zh-CN" sz="1600"/>
              <a:t> </a:t>
            </a:r>
            <a:r>
              <a:rPr lang="ko-KR" altLang="en-US" sz="1600"/>
              <a:t>점검</a:t>
            </a:r>
            <a:r>
              <a:rPr lang="en-US" altLang="zh-CN" sz="1600"/>
              <a:t> </a:t>
            </a:r>
            <a:r>
              <a:rPr lang="ko-KR" altLang="en-US" sz="1600"/>
              <a:t>체계는</a:t>
            </a:r>
            <a:r>
              <a:rPr lang="en-US" altLang="zh-CN" sz="1600"/>
              <a:t> </a:t>
            </a:r>
            <a:r>
              <a:rPr lang="ko-KR" altLang="en-US" sz="1600"/>
              <a:t>영업</a:t>
            </a:r>
            <a:r>
              <a:rPr lang="en-US" altLang="zh-CN" sz="1600"/>
              <a:t> </a:t>
            </a:r>
            <a:r>
              <a:rPr lang="ko-KR" altLang="en-US" sz="1600"/>
              <a:t>정지</a:t>
            </a:r>
            <a:r>
              <a:rPr lang="en-US" altLang="zh-CN" sz="1600"/>
              <a:t> </a:t>
            </a:r>
            <a:r>
              <a:rPr lang="ko-KR" altLang="en-US" sz="1600"/>
              <a:t>위험을</a:t>
            </a:r>
            <a:r>
              <a:rPr lang="en-US" altLang="zh-CN" sz="1600"/>
              <a:t> </a:t>
            </a:r>
            <a:r>
              <a:rPr lang="ko-KR" altLang="en-US" sz="1600"/>
              <a:t>크게</a:t>
            </a:r>
            <a:r>
              <a:rPr lang="en-US" altLang="zh-CN" sz="1600"/>
              <a:t> </a:t>
            </a:r>
            <a:r>
              <a:rPr lang="ko-KR" altLang="en-US" sz="1600"/>
              <a:t>낮출</a:t>
            </a:r>
            <a:r>
              <a:rPr lang="en-US" altLang="zh-CN" sz="1600"/>
              <a:t> </a:t>
            </a:r>
            <a:r>
              <a:rPr lang="ko-KR" altLang="en-US" sz="1600"/>
              <a:t>수</a:t>
            </a:r>
            <a:r>
              <a:rPr lang="en-US" altLang="zh-CN" sz="1600"/>
              <a:t> </a:t>
            </a:r>
            <a:r>
              <a:rPr lang="ko-KR" altLang="en-US" sz="1600"/>
              <a:t>있습니다</a:t>
            </a:r>
            <a:r>
              <a:rPr lang="en-US" altLang="zh-CN" sz="1600"/>
              <a:t>.</a:t>
            </a:r>
            <a:endParaRPr lang="en-US" altLang="zh-CN" sz="1600"/>
          </a:p>
          <a:p>
            <a:endParaRPr lang="en-US" altLang="zh-CN" sz="1600"/>
          </a:p>
          <a:p>
            <a:r>
              <a:rPr lang="en-US" altLang="zh-CN" sz="1600"/>
              <a:t>5.</a:t>
            </a:r>
            <a:r>
              <a:rPr lang="zh-CN" altLang="en-US" sz="1600"/>
              <a:t>进行定期内部检查，建立简单的</a:t>
            </a:r>
            <a:r>
              <a:rPr lang="en-US" altLang="zh-CN" sz="1600"/>
              <a:t>“</a:t>
            </a:r>
            <a:r>
              <a:rPr lang="zh-CN" altLang="en-US" sz="1600"/>
              <a:t>自检表</a:t>
            </a:r>
            <a:r>
              <a:rPr lang="en-US" altLang="zh-CN" sz="1600"/>
              <a:t>”</a:t>
            </a:r>
            <a:endParaRPr lang="en-US" altLang="zh-CN" sz="1600"/>
          </a:p>
          <a:p>
            <a:r>
              <a:rPr lang="zh-CN" altLang="en-US" sz="1600"/>
              <a:t>因为高频处罚集中，说明违规类型比较可预测。建议商家准备：</a:t>
            </a:r>
            <a:endParaRPr lang="zh-CN" altLang="en-US" sz="1600"/>
          </a:p>
          <a:p>
            <a:pPr marL="342900" indent="-342900">
              <a:buFont typeface="+mj-ea"/>
              <a:buAutoNum type="circleNumDbPlain"/>
            </a:pPr>
            <a:r>
              <a:rPr lang="zh-CN" altLang="en-US" sz="1600"/>
              <a:t>每日开店检查表</a:t>
            </a:r>
            <a:endParaRPr lang="zh-CN" altLang="en-US" sz="1600"/>
          </a:p>
          <a:p>
            <a:pPr marL="342900" indent="-342900">
              <a:buFont typeface="+mj-ea"/>
              <a:buAutoNum type="circleNumDbPlain"/>
            </a:pPr>
            <a:r>
              <a:rPr lang="zh-CN" altLang="en-US" sz="1600"/>
              <a:t>厨房卫生自检清单</a:t>
            </a:r>
            <a:endParaRPr lang="zh-CN" altLang="en-US" sz="1600"/>
          </a:p>
          <a:p>
            <a:pPr marL="342900" indent="-342900">
              <a:buFont typeface="+mj-ea"/>
              <a:buAutoNum type="circleNumDbPlain"/>
            </a:pPr>
            <a:r>
              <a:rPr lang="zh-CN" altLang="en-US" sz="1600"/>
              <a:t>冷藏温度记录表</a:t>
            </a:r>
            <a:endParaRPr lang="zh-CN" altLang="en-US" sz="1600"/>
          </a:p>
          <a:p>
            <a:pPr marL="342900" indent="-342900">
              <a:buFont typeface="+mj-ea"/>
              <a:buAutoNum type="circleNumDbPlain"/>
            </a:pPr>
            <a:r>
              <a:rPr lang="zh-CN" altLang="en-US" sz="1600"/>
              <a:t>食材批次追溯记录</a:t>
            </a:r>
            <a:endParaRPr lang="zh-CN" altLang="en-US" sz="1600"/>
          </a:p>
          <a:p>
            <a:r>
              <a:rPr lang="zh-CN" altLang="en-US" sz="1600"/>
              <a:t>这种自检机制能极大降低触发停业的风险。</a:t>
            </a:r>
            <a:endParaRPr lang="zh-CN" altLang="en-US"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ogo(1)"/>
          <p:cNvPicPr>
            <a:picLocks noChangeAspect="1"/>
          </p:cNvPicPr>
          <p:nvPr/>
        </p:nvPicPr>
        <p:blipFill>
          <a:blip r:embed="rId1"/>
          <a:stretch>
            <a:fillRect/>
          </a:stretch>
        </p:blipFill>
        <p:spPr>
          <a:xfrm>
            <a:off x="6212205" y="0"/>
            <a:ext cx="2931795" cy="631190"/>
          </a:xfrm>
          <a:prstGeom prst="rect">
            <a:avLst/>
          </a:prstGeom>
        </p:spPr>
      </p:pic>
      <p:sp>
        <p:nvSpPr>
          <p:cNvPr id="12" name="Title 1"/>
          <p:cNvSpPr>
            <a:spLocks noGrp="1"/>
          </p:cNvSpPr>
          <p:nvPr>
            <p:ph type="title"/>
          </p:nvPr>
        </p:nvSpPr>
        <p:spPr>
          <a:xfrm>
            <a:off x="457200" y="2608898"/>
            <a:ext cx="8229600" cy="1143000"/>
          </a:xfrm>
        </p:spPr>
        <p:txBody>
          <a:bodyPr>
            <a:normAutofit fontScale="90000"/>
          </a:bodyPr>
          <a:lstStyle/>
          <a:p>
            <a:r>
              <a:rPr lang="ko-KR" altLang="en-US" dirty="0"/>
              <a:t>요약 </a:t>
            </a:r>
            <a:br>
              <a:rPr lang="ko-KR" altLang="en-US" dirty="0"/>
            </a:br>
            <a:br>
              <a:rPr lang="en-US" altLang="ko-KR" dirty="0"/>
            </a:br>
            <a:r>
              <a:rPr lang="zh-CN" dirty="0"/>
              <a:t>总结</a:t>
            </a:r>
            <a:endParaRPr 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
        <p:nvSpPr>
          <p:cNvPr id="6" name="TextBox 2"/>
          <p:cNvSpPr txBox="1"/>
          <p:nvPr/>
        </p:nvSpPr>
        <p:spPr>
          <a:xfrm>
            <a:off x="389255" y="1781175"/>
            <a:ext cx="8364855" cy="3716020"/>
          </a:xfrm>
          <a:prstGeom prst="rect">
            <a:avLst/>
          </a:prstGeom>
          <a:noFill/>
        </p:spPr>
        <p:txBody>
          <a:bodyPr wrap="none">
            <a:noAutofit/>
          </a:bodyPr>
          <a:lstStyle/>
          <a:p>
            <a:pPr algn="l">
              <a:defRPr sz="2800" b="1">
                <a:solidFill>
                  <a:srgbClr val="0066CC"/>
                </a:solidFill>
              </a:defRPr>
            </a:pPr>
            <a:r>
              <a:rPr lang="en-US" altLang="zh-CN" sz="1600">
                <a:solidFill>
                  <a:schemeClr val="tx1"/>
                </a:solidFill>
              </a:rPr>
              <a:t> </a:t>
            </a:r>
            <a:r>
              <a:rPr lang="ko-KR" altLang="en-US" sz="1600">
                <a:solidFill>
                  <a:schemeClr val="tx1"/>
                </a:solidFill>
              </a:rPr>
              <a:t>모든</a:t>
            </a:r>
            <a:r>
              <a:rPr lang="en-US" altLang="zh-CN" sz="1600">
                <a:solidFill>
                  <a:schemeClr val="tx1"/>
                </a:solidFill>
              </a:rPr>
              <a:t> </a:t>
            </a:r>
            <a:r>
              <a:rPr lang="ko-KR" altLang="en-US" sz="1600">
                <a:solidFill>
                  <a:schemeClr val="tx1"/>
                </a:solidFill>
              </a:rPr>
              <a:t>차트와</a:t>
            </a:r>
            <a:r>
              <a:rPr lang="en-US" altLang="zh-CN" sz="1600">
                <a:solidFill>
                  <a:schemeClr val="tx1"/>
                </a:solidFill>
              </a:rPr>
              <a:t> </a:t>
            </a:r>
            <a:r>
              <a:rPr lang="ko-KR" altLang="en-US" sz="1600">
                <a:solidFill>
                  <a:schemeClr val="tx1"/>
                </a:solidFill>
              </a:rPr>
              <a:t>분석을</a:t>
            </a:r>
            <a:r>
              <a:rPr lang="en-US" altLang="zh-CN" sz="1600">
                <a:solidFill>
                  <a:schemeClr val="tx1"/>
                </a:solidFill>
              </a:rPr>
              <a:t> </a:t>
            </a:r>
            <a:r>
              <a:rPr lang="ko-KR" altLang="en-US" sz="1600">
                <a:solidFill>
                  <a:schemeClr val="tx1"/>
                </a:solidFill>
              </a:rPr>
              <a:t>종합하면</a:t>
            </a:r>
            <a:endParaRPr lang="ko-KR" altLang="en-US" sz="1600">
              <a:solidFill>
                <a:schemeClr val="tx1"/>
              </a:solidFill>
            </a:endParaRPr>
          </a:p>
          <a:p>
            <a:pPr algn="l">
              <a:defRPr sz="2800" b="1">
                <a:solidFill>
                  <a:srgbClr val="0066CC"/>
                </a:solidFill>
              </a:defRPr>
            </a:pPr>
            <a:r>
              <a:rPr lang="ko-KR" altLang="en-US" sz="1600">
                <a:solidFill>
                  <a:schemeClr val="tx1"/>
                </a:solidFill>
              </a:rPr>
              <a:t>서울</a:t>
            </a:r>
            <a:r>
              <a:rPr lang="en-US" altLang="zh-CN" sz="1600">
                <a:solidFill>
                  <a:schemeClr val="tx1"/>
                </a:solidFill>
              </a:rPr>
              <a:t> </a:t>
            </a:r>
            <a:r>
              <a:rPr lang="ko-KR" altLang="en-US" sz="1600">
                <a:solidFill>
                  <a:schemeClr val="tx1"/>
                </a:solidFill>
              </a:rPr>
              <a:t>음식점의</a:t>
            </a:r>
            <a:r>
              <a:rPr lang="en-US" altLang="zh-CN" sz="1600">
                <a:solidFill>
                  <a:schemeClr val="tx1"/>
                </a:solidFill>
              </a:rPr>
              <a:t> </a:t>
            </a:r>
            <a:r>
              <a:rPr lang="ko-KR" altLang="en-US" sz="1600">
                <a:solidFill>
                  <a:schemeClr val="tx1"/>
                </a:solidFill>
              </a:rPr>
              <a:t>생존</a:t>
            </a:r>
            <a:r>
              <a:rPr lang="en-US" altLang="zh-CN" sz="1600">
                <a:solidFill>
                  <a:schemeClr val="tx1"/>
                </a:solidFill>
              </a:rPr>
              <a:t> </a:t>
            </a:r>
            <a:r>
              <a:rPr lang="ko-KR" altLang="en-US" sz="1600">
                <a:solidFill>
                  <a:schemeClr val="tx1"/>
                </a:solidFill>
              </a:rPr>
              <a:t>핵심은</a:t>
            </a:r>
            <a:r>
              <a:rPr lang="en-US" altLang="zh-CN" sz="1600">
                <a:solidFill>
                  <a:schemeClr val="tx1"/>
                </a:solidFill>
              </a:rPr>
              <a:t> </a:t>
            </a:r>
            <a:r>
              <a:rPr lang="ko-KR" altLang="en-US" sz="1600">
                <a:solidFill>
                  <a:schemeClr val="tx1"/>
                </a:solidFill>
              </a:rPr>
              <a:t>다음과</a:t>
            </a:r>
            <a:r>
              <a:rPr lang="en-US" altLang="zh-CN" sz="1600">
                <a:solidFill>
                  <a:schemeClr val="tx1"/>
                </a:solidFill>
              </a:rPr>
              <a:t> </a:t>
            </a:r>
            <a:r>
              <a:rPr lang="ko-KR" altLang="en-US" sz="1600">
                <a:solidFill>
                  <a:schemeClr val="tx1"/>
                </a:solidFill>
              </a:rPr>
              <a:t>같다</a:t>
            </a:r>
            <a:r>
              <a:rPr lang="en-US" altLang="zh-CN" sz="1600">
                <a:solidFill>
                  <a:schemeClr val="tx1"/>
                </a:solidFill>
              </a:rPr>
              <a:t>: </a:t>
            </a:r>
            <a:endParaRPr lang="en-US" altLang="zh-CN" sz="1600">
              <a:solidFill>
                <a:schemeClr val="tx1"/>
              </a:solidFill>
            </a:endParaRPr>
          </a:p>
          <a:p>
            <a:pPr algn="l">
              <a:defRPr sz="2800" b="1">
                <a:solidFill>
                  <a:srgbClr val="0066CC"/>
                </a:solidFill>
              </a:defRPr>
            </a:pPr>
            <a:r>
              <a:rPr lang="ko-KR" altLang="en-US" sz="1600">
                <a:solidFill>
                  <a:schemeClr val="tx1"/>
                </a:solidFill>
              </a:rPr>
              <a:t>고빈도</a:t>
            </a:r>
            <a:r>
              <a:rPr lang="en-US" altLang="zh-CN" sz="1600">
                <a:solidFill>
                  <a:schemeClr val="tx1"/>
                </a:solidFill>
              </a:rPr>
              <a:t> </a:t>
            </a:r>
            <a:r>
              <a:rPr lang="ko-KR" altLang="en-US" sz="1600">
                <a:solidFill>
                  <a:schemeClr val="tx1"/>
                </a:solidFill>
              </a:rPr>
              <a:t>중징계</a:t>
            </a:r>
            <a:r>
              <a:rPr lang="en-US" altLang="zh-CN" sz="1600">
                <a:solidFill>
                  <a:schemeClr val="tx1"/>
                </a:solidFill>
              </a:rPr>
              <a:t> </a:t>
            </a:r>
            <a:r>
              <a:rPr lang="ko-KR" altLang="en-US" sz="1600">
                <a:solidFill>
                  <a:schemeClr val="tx1"/>
                </a:solidFill>
              </a:rPr>
              <a:t>회피</a:t>
            </a:r>
            <a:r>
              <a:rPr lang="en-US" altLang="zh-CN" sz="1600">
                <a:solidFill>
                  <a:schemeClr val="tx1"/>
                </a:solidFill>
              </a:rPr>
              <a:t> + </a:t>
            </a:r>
            <a:r>
              <a:rPr lang="ko-KR" altLang="en-US" sz="1600">
                <a:solidFill>
                  <a:schemeClr val="tx1"/>
                </a:solidFill>
              </a:rPr>
              <a:t>규제</a:t>
            </a:r>
            <a:r>
              <a:rPr lang="en-US" altLang="zh-CN" sz="1600">
                <a:solidFill>
                  <a:schemeClr val="tx1"/>
                </a:solidFill>
              </a:rPr>
              <a:t> </a:t>
            </a:r>
            <a:r>
              <a:rPr lang="ko-KR" altLang="en-US" sz="1600">
                <a:solidFill>
                  <a:schemeClr val="tx1"/>
                </a:solidFill>
              </a:rPr>
              <a:t>압력이</a:t>
            </a:r>
            <a:r>
              <a:rPr lang="en-US" altLang="zh-CN" sz="1600">
                <a:solidFill>
                  <a:schemeClr val="tx1"/>
                </a:solidFill>
              </a:rPr>
              <a:t> </a:t>
            </a:r>
            <a:r>
              <a:rPr lang="ko-KR" altLang="en-US" sz="1600">
                <a:solidFill>
                  <a:schemeClr val="tx1"/>
                </a:solidFill>
              </a:rPr>
              <a:t>적절한</a:t>
            </a:r>
            <a:r>
              <a:rPr lang="en-US" altLang="zh-CN" sz="1600">
                <a:solidFill>
                  <a:schemeClr val="tx1"/>
                </a:solidFill>
              </a:rPr>
              <a:t> </a:t>
            </a:r>
            <a:r>
              <a:rPr lang="ko-KR" altLang="en-US" sz="1600">
                <a:solidFill>
                  <a:schemeClr val="tx1"/>
                </a:solidFill>
              </a:rPr>
              <a:t>지역</a:t>
            </a:r>
            <a:r>
              <a:rPr lang="en-US" altLang="zh-CN" sz="1600">
                <a:solidFill>
                  <a:schemeClr val="tx1"/>
                </a:solidFill>
              </a:rPr>
              <a:t> </a:t>
            </a:r>
            <a:r>
              <a:rPr lang="ko-KR" altLang="en-US" sz="1600">
                <a:solidFill>
                  <a:schemeClr val="tx1"/>
                </a:solidFill>
              </a:rPr>
              <a:t>선택</a:t>
            </a:r>
            <a:r>
              <a:rPr lang="en-US" altLang="zh-CN" sz="1600">
                <a:solidFill>
                  <a:schemeClr val="tx1"/>
                </a:solidFill>
              </a:rPr>
              <a:t> + </a:t>
            </a:r>
            <a:r>
              <a:rPr lang="ko-KR" altLang="en-US" sz="1600">
                <a:solidFill>
                  <a:schemeClr val="tx1"/>
                </a:solidFill>
              </a:rPr>
              <a:t>지속적인</a:t>
            </a:r>
            <a:r>
              <a:rPr lang="en-US" altLang="zh-CN" sz="1600">
                <a:solidFill>
                  <a:schemeClr val="tx1"/>
                </a:solidFill>
              </a:rPr>
              <a:t> </a:t>
            </a:r>
            <a:r>
              <a:rPr lang="ko-KR" altLang="en-US" sz="1600">
                <a:solidFill>
                  <a:schemeClr val="tx1"/>
                </a:solidFill>
              </a:rPr>
              <a:t>규정</a:t>
            </a:r>
            <a:r>
              <a:rPr lang="en-US" altLang="zh-CN" sz="1600">
                <a:solidFill>
                  <a:schemeClr val="tx1"/>
                </a:solidFill>
              </a:rPr>
              <a:t> </a:t>
            </a:r>
            <a:r>
              <a:rPr lang="ko-KR" altLang="en-US" sz="1600">
                <a:solidFill>
                  <a:schemeClr val="tx1"/>
                </a:solidFill>
              </a:rPr>
              <a:t>준수</a:t>
            </a:r>
            <a:r>
              <a:rPr lang="en-US" altLang="zh-CN" sz="1600">
                <a:solidFill>
                  <a:schemeClr val="tx1"/>
                </a:solidFill>
              </a:rPr>
              <a:t> </a:t>
            </a:r>
            <a:r>
              <a:rPr lang="ko-KR" altLang="en-US" sz="1600">
                <a:solidFill>
                  <a:schemeClr val="tx1"/>
                </a:solidFill>
              </a:rPr>
              <a:t>관리</a:t>
            </a:r>
            <a:r>
              <a:rPr lang="en-US" altLang="zh-CN" sz="1600">
                <a:solidFill>
                  <a:schemeClr val="tx1"/>
                </a:solidFill>
              </a:rPr>
              <a:t> </a:t>
            </a:r>
            <a:r>
              <a:rPr lang="ko-KR" altLang="en-US" sz="1600">
                <a:solidFill>
                  <a:schemeClr val="tx1"/>
                </a:solidFill>
              </a:rPr>
              <a:t>구축</a:t>
            </a:r>
            <a:r>
              <a:rPr lang="en-US" altLang="zh-CN" sz="1600">
                <a:solidFill>
                  <a:schemeClr val="tx1"/>
                </a:solidFill>
              </a:rPr>
              <a:t>.</a:t>
            </a:r>
            <a:endParaRPr lang="en-US" altLang="zh-CN" sz="1600">
              <a:solidFill>
                <a:schemeClr val="tx1"/>
              </a:solidFill>
            </a:endParaRPr>
          </a:p>
          <a:p>
            <a:pPr algn="l">
              <a:defRPr sz="2800" b="1">
                <a:solidFill>
                  <a:srgbClr val="0066CC"/>
                </a:solidFill>
              </a:defRPr>
            </a:pPr>
            <a:endParaRPr lang="en-US" altLang="zh-CN" sz="1600">
              <a:solidFill>
                <a:schemeClr val="tx1"/>
              </a:solidFill>
            </a:endParaRPr>
          </a:p>
          <a:p>
            <a:pPr algn="l">
              <a:defRPr sz="2800" b="1">
                <a:solidFill>
                  <a:srgbClr val="0066CC"/>
                </a:solidFill>
              </a:defRPr>
            </a:pPr>
            <a:r>
              <a:rPr lang="ko-KR" altLang="en-US" sz="1600">
                <a:solidFill>
                  <a:schemeClr val="tx1"/>
                </a:solidFill>
              </a:rPr>
              <a:t>이것이</a:t>
            </a:r>
            <a:r>
              <a:rPr lang="en-US" altLang="zh-CN" sz="1600">
                <a:solidFill>
                  <a:schemeClr val="tx1"/>
                </a:solidFill>
              </a:rPr>
              <a:t> </a:t>
            </a:r>
            <a:r>
              <a:rPr lang="ko-KR" altLang="en-US" sz="1600">
                <a:solidFill>
                  <a:schemeClr val="tx1"/>
                </a:solidFill>
              </a:rPr>
              <a:t>데이터가</a:t>
            </a:r>
            <a:r>
              <a:rPr lang="en-US" altLang="zh-CN" sz="1600">
                <a:solidFill>
                  <a:schemeClr val="tx1"/>
                </a:solidFill>
              </a:rPr>
              <a:t> </a:t>
            </a:r>
            <a:r>
              <a:rPr lang="ko-KR" altLang="en-US" sz="1600">
                <a:solidFill>
                  <a:schemeClr val="tx1"/>
                </a:solidFill>
              </a:rPr>
              <a:t>제시하는</a:t>
            </a:r>
            <a:r>
              <a:rPr lang="en-US" altLang="zh-CN" sz="1600">
                <a:solidFill>
                  <a:schemeClr val="tx1"/>
                </a:solidFill>
              </a:rPr>
              <a:t> </a:t>
            </a:r>
            <a:r>
              <a:rPr lang="ko-KR" altLang="en-US" sz="1600">
                <a:solidFill>
                  <a:schemeClr val="tx1"/>
                </a:solidFill>
              </a:rPr>
              <a:t>가장</a:t>
            </a:r>
            <a:r>
              <a:rPr lang="en-US" altLang="zh-CN" sz="1600">
                <a:solidFill>
                  <a:schemeClr val="tx1"/>
                </a:solidFill>
              </a:rPr>
              <a:t> </a:t>
            </a:r>
            <a:r>
              <a:rPr lang="ko-KR" altLang="en-US" sz="1600">
                <a:solidFill>
                  <a:schemeClr val="tx1"/>
                </a:solidFill>
              </a:rPr>
              <a:t>명확한</a:t>
            </a:r>
            <a:r>
              <a:rPr lang="en-US" altLang="zh-CN" sz="1600">
                <a:solidFill>
                  <a:schemeClr val="tx1"/>
                </a:solidFill>
              </a:rPr>
              <a:t> </a:t>
            </a:r>
            <a:r>
              <a:rPr lang="ko-KR" altLang="en-US" sz="1600">
                <a:solidFill>
                  <a:schemeClr val="tx1"/>
                </a:solidFill>
              </a:rPr>
              <a:t>답이다</a:t>
            </a:r>
            <a:r>
              <a:rPr lang="en-US" altLang="zh-CN" sz="1600">
                <a:solidFill>
                  <a:schemeClr val="tx1"/>
                </a:solidFill>
              </a:rPr>
              <a:t>.</a:t>
            </a:r>
            <a:endParaRPr lang="en-US" altLang="zh-CN" sz="1600">
              <a:solidFill>
                <a:schemeClr val="tx1"/>
              </a:solidFill>
            </a:endParaRPr>
          </a:p>
          <a:p>
            <a:pPr algn="l">
              <a:defRPr sz="2800" b="1">
                <a:solidFill>
                  <a:srgbClr val="0066CC"/>
                </a:solidFill>
              </a:defRPr>
            </a:pPr>
            <a:endParaRPr lang="en-US" altLang="zh-CN" sz="1600">
              <a:solidFill>
                <a:schemeClr val="tx1"/>
              </a:solidFill>
            </a:endParaRPr>
          </a:p>
          <a:p>
            <a:pPr algn="l">
              <a:defRPr sz="2800" b="1">
                <a:solidFill>
                  <a:srgbClr val="0066CC"/>
                </a:solidFill>
              </a:defRPr>
            </a:pPr>
            <a:endParaRPr lang="en-US" altLang="zh-CN" sz="1600">
              <a:solidFill>
                <a:schemeClr val="tx1"/>
              </a:solidFill>
            </a:endParaRPr>
          </a:p>
          <a:p>
            <a:pPr algn="l">
              <a:defRPr sz="2800" b="1">
                <a:solidFill>
                  <a:srgbClr val="0066CC"/>
                </a:solidFill>
              </a:defRPr>
            </a:pPr>
            <a:endParaRPr lang="ko-KR" altLang="en-US" sz="1600">
              <a:solidFill>
                <a:schemeClr val="tx1"/>
              </a:solidFill>
            </a:endParaRPr>
          </a:p>
          <a:p>
            <a:pPr algn="l">
              <a:defRPr sz="2800" b="1">
                <a:solidFill>
                  <a:srgbClr val="0066CC"/>
                </a:solidFill>
              </a:defRPr>
            </a:pPr>
            <a:r>
              <a:rPr sz="1600">
                <a:solidFill>
                  <a:schemeClr val="tx1"/>
                </a:solidFill>
              </a:rPr>
              <a:t> </a:t>
            </a:r>
            <a:r>
              <a:rPr lang="zh-CN" altLang="en-US" sz="1600">
                <a:solidFill>
                  <a:schemeClr val="tx1"/>
                </a:solidFill>
              </a:rPr>
              <a:t>综合所有图表和分析</a:t>
            </a:r>
            <a:endParaRPr lang="zh-CN" altLang="en-US" sz="1600">
              <a:solidFill>
                <a:schemeClr val="tx1"/>
              </a:solidFill>
            </a:endParaRPr>
          </a:p>
          <a:p>
            <a:pPr algn="l">
              <a:defRPr sz="2800" b="1">
                <a:solidFill>
                  <a:srgbClr val="0066CC"/>
                </a:solidFill>
              </a:defRPr>
            </a:pPr>
            <a:r>
              <a:rPr lang="zh-CN" altLang="en-US" sz="1600">
                <a:solidFill>
                  <a:schemeClr val="tx1"/>
                </a:solidFill>
              </a:rPr>
              <a:t>首尔餐饮店的生存关键在于：</a:t>
            </a:r>
            <a:endParaRPr lang="zh-CN" altLang="en-US" sz="1600">
              <a:solidFill>
                <a:schemeClr val="tx1"/>
              </a:solidFill>
            </a:endParaRPr>
          </a:p>
          <a:p>
            <a:pPr algn="l">
              <a:defRPr sz="2800" b="1">
                <a:solidFill>
                  <a:srgbClr val="0066CC"/>
                </a:solidFill>
              </a:defRPr>
            </a:pPr>
            <a:r>
              <a:rPr lang="zh-CN" altLang="en-US" sz="1600">
                <a:solidFill>
                  <a:schemeClr val="tx1"/>
                </a:solidFill>
              </a:rPr>
              <a:t>避免高频重罚</a:t>
            </a:r>
            <a:r>
              <a:rPr lang="en-US" altLang="zh-CN" sz="1600">
                <a:solidFill>
                  <a:schemeClr val="tx1"/>
                </a:solidFill>
              </a:rPr>
              <a:t> + </a:t>
            </a:r>
            <a:r>
              <a:rPr lang="zh-CN" altLang="en-US" sz="1600">
                <a:solidFill>
                  <a:schemeClr val="tx1"/>
                </a:solidFill>
              </a:rPr>
              <a:t>选择监管压力合适的地区</a:t>
            </a:r>
            <a:r>
              <a:rPr lang="en-US" altLang="zh-CN" sz="1600">
                <a:solidFill>
                  <a:schemeClr val="tx1"/>
                </a:solidFill>
              </a:rPr>
              <a:t> + </a:t>
            </a:r>
            <a:r>
              <a:rPr lang="zh-CN" altLang="en-US" sz="1600">
                <a:solidFill>
                  <a:schemeClr val="tx1"/>
                </a:solidFill>
              </a:rPr>
              <a:t>建立持续的合规管理。</a:t>
            </a:r>
            <a:endParaRPr lang="zh-CN" altLang="en-US" sz="1600">
              <a:solidFill>
                <a:schemeClr val="tx1"/>
              </a:solidFill>
            </a:endParaRPr>
          </a:p>
          <a:p>
            <a:pPr algn="l">
              <a:defRPr sz="2800" b="1">
                <a:solidFill>
                  <a:srgbClr val="0066CC"/>
                </a:solidFill>
              </a:defRPr>
            </a:pPr>
            <a:endParaRPr lang="zh-CN" altLang="en-US" sz="1600">
              <a:solidFill>
                <a:schemeClr val="tx1"/>
              </a:solidFill>
            </a:endParaRPr>
          </a:p>
          <a:p>
            <a:pPr algn="l">
              <a:defRPr sz="2800" b="1">
                <a:solidFill>
                  <a:srgbClr val="0066CC"/>
                </a:solidFill>
              </a:defRPr>
            </a:pPr>
            <a:r>
              <a:rPr lang="zh-CN" altLang="en-US" sz="1600">
                <a:solidFill>
                  <a:schemeClr val="tx1"/>
                </a:solidFill>
              </a:rPr>
              <a:t>这是数据给我们的最清晰的答案。</a:t>
            </a:r>
            <a:endParaRPr lang="zh-CN" altLang="en-US" sz="1600">
              <a:solidFill>
                <a:schemeClr val="tx1"/>
              </a:solidFill>
            </a:endParaRPr>
          </a:p>
          <a:p>
            <a:pPr algn="l">
              <a:defRPr sz="2800" b="1">
                <a:solidFill>
                  <a:srgbClr val="0066CC"/>
                </a:solidFill>
              </a:defRPr>
            </a:pPr>
            <a:endParaRPr lang="zh-CN" altLang="en-US" sz="160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731520"/>
            <a:ext cx="7315200" cy="914400"/>
          </a:xfrm>
          <a:prstGeom prst="rect">
            <a:avLst/>
          </a:prstGeom>
          <a:noFill/>
        </p:spPr>
        <p:txBody>
          <a:bodyPr wrap="none">
            <a:spAutoFit/>
          </a:bodyPr>
          <a:lstStyle/>
          <a:p>
            <a:pPr>
              <a:defRPr sz="2800" b="1">
                <a:solidFill>
                  <a:srgbClr val="0066CC"/>
                </a:solidFill>
              </a:defRPr>
            </a:pPr>
            <a:r>
              <a:t>참고자료 / 参考资料</a:t>
            </a:r>
          </a:p>
        </p:txBody>
      </p:sp>
      <p:sp>
        <p:nvSpPr>
          <p:cNvPr id="4" name="TextBox 3"/>
          <p:cNvSpPr txBox="1"/>
          <p:nvPr/>
        </p:nvSpPr>
        <p:spPr>
          <a:xfrm>
            <a:off x="914400" y="1828800"/>
            <a:ext cx="7745095" cy="3370580"/>
          </a:xfrm>
          <a:prstGeom prst="rect">
            <a:avLst/>
          </a:prstGeom>
          <a:noFill/>
        </p:spPr>
        <p:txBody>
          <a:bodyPr wrap="square">
            <a:noAutofit/>
          </a:bodyPr>
          <a:lstStyle/>
          <a:p>
            <a:pPr algn="l">
              <a:defRPr sz="2000">
                <a:solidFill>
                  <a:srgbClr val="3C3C3C"/>
                </a:solidFill>
              </a:defRPr>
            </a:pPr>
            <a:r>
              <a:t>- 데이터 출처 / 数据来源</a:t>
            </a:r>
          </a:p>
          <a:p>
            <a:pPr algn="l"/>
            <a:r>
              <a:t>- 참고문헌 및 링크 / 参考文献与链接</a:t>
            </a:r>
          </a:p>
          <a:p>
            <a:pPr algn="l"/>
          </a:p>
          <a:p>
            <a:pPr marL="342900" indent="-342900" algn="l">
              <a:buAutoNum type="arabicPeriod"/>
            </a:pPr>
            <a:r>
              <a:rPr lang="ko-KR" altLang="en-US"/>
              <a:t>서울열린데이터광장</a:t>
            </a:r>
            <a:r>
              <a:rPr lang="en-US" altLang="ko-KR"/>
              <a:t>/</a:t>
            </a:r>
            <a:r>
              <a:rPr lang="zh-CN" altLang="en-US"/>
              <a:t>首尔开放数据广场</a:t>
            </a:r>
            <a:r>
              <a:rPr lang="en-US" altLang="zh-CN"/>
              <a:t>: https://data.seoul.go.kr</a:t>
            </a:r>
            <a:endParaRPr lang="en-US" altLang="zh-CN"/>
          </a:p>
          <a:p>
            <a:pPr marL="342900" indent="-342900" algn="l">
              <a:buAutoNum type="arabicPeriod"/>
            </a:pPr>
            <a:r>
              <a:rPr lang="ko-KR" altLang="en-US"/>
              <a:t>식품위생법</a:t>
            </a:r>
            <a:r>
              <a:rPr lang="en-US" altLang="zh-CN"/>
              <a:t> /</a:t>
            </a:r>
            <a:r>
              <a:rPr lang="zh-CN" altLang="en-US"/>
              <a:t>食品卫生法</a:t>
            </a:r>
            <a:r>
              <a:rPr lang="en-US" altLang="zh-CN"/>
              <a:t>(Food Sanitation Act of Korea)</a:t>
            </a:r>
            <a:endParaRPr lang="en-US" altLang="zh-CN"/>
          </a:p>
          <a:p>
            <a:pPr marL="342900" indent="-342900" algn="l">
              <a:buAutoNum type="arabicPeriod"/>
            </a:pPr>
            <a:r>
              <a:rPr lang="ko-KR" altLang="en-US"/>
              <a:t>서울특별시</a:t>
            </a:r>
            <a:r>
              <a:rPr lang="en-US" altLang="zh-CN"/>
              <a:t> </a:t>
            </a:r>
            <a:r>
              <a:rPr lang="ko-KR" altLang="en-US"/>
              <a:t>행정처분</a:t>
            </a:r>
            <a:r>
              <a:rPr lang="en-US" altLang="zh-CN"/>
              <a:t> </a:t>
            </a:r>
            <a:r>
              <a:rPr lang="ko-KR" altLang="en-US"/>
              <a:t>조례</a:t>
            </a:r>
            <a:r>
              <a:rPr lang="en-US" altLang="ko-KR"/>
              <a:t>/</a:t>
            </a:r>
            <a:r>
              <a:rPr lang="zh-CN" altLang="en-US"/>
              <a:t>《首尔特别市行政处分条例》</a:t>
            </a:r>
            <a:endParaRPr lang="zh-CN" altLang="en-US"/>
          </a:p>
          <a:p>
            <a:pPr marL="342900" indent="-342900" algn="l">
              <a:buAutoNum type="arabicPeriod"/>
            </a:pPr>
            <a:r>
              <a:rPr lang="en-US" altLang="zh-CN"/>
              <a:t>Python Data Analysis Library Documentation/Python</a:t>
            </a:r>
            <a:r>
              <a:rPr lang="zh-CN" altLang="en-US"/>
              <a:t>数据分析库文档</a:t>
            </a:r>
            <a:endParaRPr lang="zh-CN" altLang="en-US"/>
          </a:p>
          <a:p>
            <a:pPr marL="342900" indent="-342900" algn="l">
              <a:buAutoNum type="arabicPeriod"/>
            </a:pPr>
            <a:r>
              <a:rPr lang="ko-KR" altLang="en-US"/>
              <a:t>공공데이터포털</a:t>
            </a:r>
            <a:r>
              <a:rPr lang="en-US" altLang="ko-KR"/>
              <a:t>/</a:t>
            </a:r>
            <a:r>
              <a:rPr lang="zh-CN" altLang="en-US"/>
              <a:t>公共数据门户</a:t>
            </a:r>
            <a:r>
              <a:rPr lang="en-US" altLang="zh-CN"/>
              <a:t> (data.go.kr)</a:t>
            </a:r>
            <a:endParaRPr lang="en-US" altLang="zh-CN"/>
          </a:p>
        </p:txBody>
      </p:sp>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logo(1)"/>
          <p:cNvPicPr>
            <a:picLocks noChangeAspect="1"/>
          </p:cNvPicPr>
          <p:nvPr/>
        </p:nvPicPr>
        <p:blipFill>
          <a:blip r:embed="rId1"/>
          <a:stretch>
            <a:fillRect/>
          </a:stretch>
        </p:blipFill>
        <p:spPr>
          <a:xfrm>
            <a:off x="6212205" y="0"/>
            <a:ext cx="2931795" cy="631190"/>
          </a:xfrm>
          <a:prstGeom prst="rect">
            <a:avLst/>
          </a:prstGeom>
        </p:spPr>
      </p:pic>
      <p:sp>
        <p:nvSpPr>
          <p:cNvPr id="6" name="TextBox 2"/>
          <p:cNvSpPr txBox="1"/>
          <p:nvPr/>
        </p:nvSpPr>
        <p:spPr>
          <a:xfrm>
            <a:off x="613728" y="2773680"/>
            <a:ext cx="7960995" cy="1476375"/>
          </a:xfrm>
          <a:prstGeom prst="rect">
            <a:avLst/>
          </a:prstGeom>
          <a:noFill/>
        </p:spPr>
        <p:txBody>
          <a:bodyPr wrap="none">
            <a:spAutoFit/>
          </a:bodyPr>
          <a:lstStyle/>
          <a:p>
            <a:pPr algn="ctr">
              <a:defRPr sz="2800" b="1">
                <a:solidFill>
                  <a:srgbClr val="0066CC"/>
                </a:solidFill>
              </a:defRPr>
            </a:pPr>
            <a:r>
              <a:rPr lang="ko-KR" altLang="en-US" sz="1800"/>
              <a:t>이번</a:t>
            </a:r>
            <a:r>
              <a:rPr lang="en-US" altLang="zh-CN" sz="1800"/>
              <a:t> </a:t>
            </a:r>
            <a:r>
              <a:rPr lang="ko-KR" altLang="en-US" sz="1800"/>
              <a:t>학기</a:t>
            </a:r>
            <a:r>
              <a:rPr lang="en-US" altLang="zh-CN" sz="1800"/>
              <a:t> </a:t>
            </a:r>
            <a:r>
              <a:rPr lang="ko-KR" altLang="en-US" sz="1800"/>
              <a:t>노</a:t>
            </a:r>
            <a:r>
              <a:rPr lang="en-US" altLang="zh-CN" sz="1800"/>
              <a:t> </a:t>
            </a:r>
            <a:r>
              <a:rPr lang="ko-KR" altLang="en-US" sz="1800"/>
              <a:t>교수님의</a:t>
            </a:r>
            <a:r>
              <a:rPr lang="en-US" altLang="zh-CN" sz="1800"/>
              <a:t> </a:t>
            </a:r>
            <a:r>
              <a:rPr lang="ko-KR" altLang="en-US" sz="1800"/>
              <a:t>세심한</a:t>
            </a:r>
            <a:r>
              <a:rPr lang="en-US" altLang="zh-CN" sz="1800"/>
              <a:t> </a:t>
            </a:r>
            <a:r>
              <a:rPr lang="ko-KR" altLang="en-US" sz="1800"/>
              <a:t>강의와</a:t>
            </a:r>
            <a:r>
              <a:rPr lang="en-US" altLang="zh-CN" sz="1800"/>
              <a:t> </a:t>
            </a:r>
            <a:r>
              <a:rPr lang="ko-KR" altLang="en-US" sz="1800"/>
              <a:t>열정적인</a:t>
            </a:r>
            <a:r>
              <a:rPr lang="en-US" altLang="zh-CN" sz="1800"/>
              <a:t> </a:t>
            </a:r>
            <a:r>
              <a:rPr lang="ko-KR" altLang="en-US" sz="1800"/>
              <a:t>지도에</a:t>
            </a:r>
            <a:r>
              <a:rPr lang="en-US" altLang="zh-CN" sz="1800"/>
              <a:t> </a:t>
            </a:r>
            <a:r>
              <a:rPr lang="ko-KR" altLang="en-US" sz="1800"/>
              <a:t>진심으로</a:t>
            </a:r>
            <a:r>
              <a:rPr lang="en-US" altLang="zh-CN" sz="1800"/>
              <a:t> </a:t>
            </a:r>
            <a:r>
              <a:rPr lang="ko-KR" altLang="en-US" sz="1800"/>
              <a:t>감사드립니다</a:t>
            </a:r>
            <a:endParaRPr lang="ko-KR" altLang="en-US" sz="1800"/>
          </a:p>
          <a:p>
            <a:pPr algn="ctr">
              <a:defRPr sz="2800" b="1">
                <a:solidFill>
                  <a:srgbClr val="0066CC"/>
                </a:solidFill>
              </a:defRPr>
            </a:pPr>
            <a:endParaRPr lang="ko-KR" altLang="en-US" sz="1800"/>
          </a:p>
          <a:p>
            <a:pPr algn="ctr">
              <a:defRPr sz="2800" b="1">
                <a:solidFill>
                  <a:srgbClr val="0066CC"/>
                </a:solidFill>
              </a:defRPr>
            </a:pPr>
            <a:endParaRPr lang="ko-KR" altLang="en-US" sz="1800"/>
          </a:p>
          <a:p>
            <a:pPr algn="ctr">
              <a:defRPr sz="2800" b="1">
                <a:solidFill>
                  <a:srgbClr val="0066CC"/>
                </a:solidFill>
              </a:defRPr>
            </a:pPr>
            <a:endParaRPr lang="ko-KR" altLang="en-US" sz="1800"/>
          </a:p>
          <a:p>
            <a:pPr algn="ctr">
              <a:defRPr sz="2800" b="1">
                <a:solidFill>
                  <a:srgbClr val="0066CC"/>
                </a:solidFill>
              </a:defRPr>
            </a:pPr>
            <a:r>
              <a:rPr sz="1800"/>
              <a:t> </a:t>
            </a:r>
            <a:r>
              <a:rPr lang="zh-CN" altLang="en-US" sz="1800"/>
              <a:t>衷心感谢卢教授本学期的悉心授课与热情指导</a:t>
            </a:r>
            <a:endParaRPr lang="zh-CN" altLang="en-US" sz="1800"/>
          </a:p>
        </p:txBody>
      </p:sp>
    </p:spTree>
  </p:cSld>
  <p:clrMapOvr>
    <a:masterClrMapping/>
  </p:clrMapOvr>
</p:sld>
</file>

<file path=ppt/tags/tag1.xml><?xml version="1.0" encoding="utf-8"?>
<p:tagLst xmlns:p="http://schemas.openxmlformats.org/presentationml/2006/main">
  <p:tag name="TABLE_ENDDRAG_ORIGIN_RECT" val="510*156"/>
  <p:tag name="TABLE_ENDDRAG_RECT" val="77*361*510*156"/>
</p:tagLst>
</file>

<file path=ppt/tags/tag2.xml><?xml version="1.0" encoding="utf-8"?>
<p:tagLst xmlns:p="http://schemas.openxmlformats.org/presentationml/2006/main">
  <p:tag name="TABLE_ENDDRAG_ORIGIN_RECT" val="564*249"/>
  <p:tag name="TABLE_ENDDRAG_RECT" val="82*177*564*249"/>
</p:tagLst>
</file>

<file path=ppt/tags/tag3.xml><?xml version="1.0" encoding="utf-8"?>
<p:tagLst xmlns:p="http://schemas.openxmlformats.org/presentationml/2006/main">
  <p:tag name="TABLE_ENDDRAG_ORIGIN_RECT" val="618*374"/>
  <p:tag name="TABLE_ENDDRAG_RECT" val="48*151*618*374"/>
</p:tagLst>
</file>

<file path=ppt/tags/tag4.xml><?xml version="1.0" encoding="utf-8"?>
<p:tagLst xmlns:p="http://schemas.openxmlformats.org/presentationml/2006/main">
  <p:tag name="TABLE_ENDDRAG_ORIGIN_RECT" val="536*200"/>
  <p:tag name="TABLE_ENDDRAG_RECT" val="89*180*536*200"/>
</p:tagLst>
</file>

<file path=ppt/tags/tag5.xml><?xml version="1.0" encoding="utf-8"?>
<p:tagLst xmlns:p="http://schemas.openxmlformats.org/presentationml/2006/main">
  <p:tag name="TABLE_ENDDRAG_ORIGIN_RECT" val="526*237"/>
  <p:tag name="TABLE_ENDDRAG_RECT" val="88*175*526*238"/>
</p:tagLst>
</file>

<file path=ppt/tags/tag6.xml><?xml version="1.0" encoding="utf-8"?>
<p:tagLst xmlns:p="http://schemas.openxmlformats.org/presentationml/2006/main">
  <p:tag name="TABLE_ENDDRAG_ORIGIN_RECT" val="533*226"/>
  <p:tag name="TABLE_ENDDRAG_RECT" val="90*163*533*226"/>
</p:tagLst>
</file>

<file path=ppt/tags/tag7.xml><?xml version="1.0" encoding="utf-8"?>
<p:tagLst xmlns:p="http://schemas.openxmlformats.org/presentationml/2006/main">
  <p:tag name="TABLE_ENDDRAG_ORIGIN_RECT" val="568*204"/>
  <p:tag name="TABLE_ENDDRAG_RECT" val="75*212*569*204"/>
</p:tagLst>
</file>

<file path=ppt/tags/tag8.xml><?xml version="1.0" encoding="utf-8"?>
<p:tagLst xmlns:p="http://schemas.openxmlformats.org/presentationml/2006/main">
  <p:tag name="TABLE_ENDDRAG_ORIGIN_RECT" val="577*317"/>
  <p:tag name="TABLE_ENDDRAG_RECT" val="99*178*577*317"/>
</p:tagLst>
</file>

<file path=ppt/tags/tag9.xml><?xml version="1.0" encoding="utf-8"?>
<p:tagLst xmlns:p="http://schemas.openxmlformats.org/presentationml/2006/main">
  <p:tag name="TABLE_ENDDRAG_ORIGIN_RECT" val="577*317"/>
  <p:tag name="TABLE_ENDDRAG_RECT" val="99*178*577*31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c0MzIyMzUxMzQ2IiwKCSJHcm91cElkIiA6ICI0ODgzNzQ0MzMiLAoJIkltYWdlIiA6ICJpVkJPUncwS0dnb0FBQUFOU1VoRVVnQUFCTnNBQUFJU0NBSUFBQUI2UUY3QUFBQUFBWE5TUjBJQXJzNGM2UUFBSUFCSlJFRlVlSnpzM1hsNFZPWGRQLzdQZldiUFNpQVFJQ0ZBSUVCWWxVMFFFUkZCUk1FZFhGcWx0V3JWYmo1OTJ2N2FwNHZhcDlYNjFKKzFXclhXSFdSVDJXUkhGa0ZCMmZjOUlaQ2RyTE92NTl6ZlAwN0lUQ2JMVEpLWk9XZVM5K3ZTNjRMSnlYQlBjdVk5OStlY2UyR2Njd0lBQUFBQUFBQ0lPVUhwQmdBQUFBQUFBRUFYaFlvVUFBQUFBQUFBbElHS0ZBQUFBQUFBQUpTQmloUUFBQUFBQUFDVWdZb1VBQUFBQUFBQWxJR0tGQUFBQUFBQUFKU0JpaFFBQUFBQUFBQ1VnWW9VQUFBQUFBQUFsSUdLRkFBQUFBQUFBSlNCaWhRQUFBQUFBQUNVZ1lvVUFBQUFBQUFBbElHS0ZBQUFBQUFBQUpTQmloUUFBQUFBQUFDVWdZb1VBQUFBQUFBQWxJR0tGQUFBQUFBQUFKU0JpaFFBQUFBQUFBQ1VnWW9VQUFBQUFBQUFsSUdLRkFBQUFBQUFBSlNCaWhRQUFBQUFBQUNVZ1lvVUFBQUFBQUFBbElHS0ZBQUFBQUFBQUpTQmloUUFBQUFBQUFDVWdZb1VBQUFBQUFBQWxJR0tGQUFBQUFBQUFKU0JpaFFBQUFBQUFBQ1VnWW9VQUFBQUFBQUFsSUdLRkFBQUFBQUFBSlNCaWhRQUFBQUFBQUNVZ1lvVUFBQUFBQUFBbElHS0ZBQUFBQUFBQUpTQmloUUFBQUFBQUFDVWdZb1VBQUFBQUFBQWxJR0tGQUFBQUFBQUFKU0JpaFFBQUFBQUFBQ1VnWW9VQUFBQUFBQUFsSUdLRkFBQUFBQUFBSlNCaWhRQUFBQUFBQUNVZ1lvVW9QMGtpWi9NOTVaY0VaVnVDQUJBYXhCV0FLQmFWcnUwZlovVDQrVktOd1FVZzRvVW9DUFl1VXVlRDllYXI5U2dud2NBYW9hd0FnQ1Y0cHlXYmJMdU91VDArbENVZGxHb1NBRTZoSE02WGVCOWN3WDZlUUNnYWdnckFGQXRoNHQvdHRXKy80UmI2WWFBTWxDUkFrVEFoY3ZlRDlaWUttdlJ6d01BVlVOWUFZQTYyUnpTMjUrWjl4MTNpY2lucmdjVktVQmtuTGpnV2JUT1dtZEZqZ0tBcWlHc0FFQ2RKSWsrL01MNjNYR1hKQ25kRklndFZLUUFrY0U1SFRydC9zY241am9yY2hRQTFBdGhCUUNxWmJGSkg2K3puaW4wS3QwUWlDbFVwQUNSbEYvay9XaXRCZjA4QUZBNWhCVUFxSlBOSWYzOW85b1RGenk0VTlwMW9DSUZpQ1RPNmVCcDk1SU5Wb2NUNjhVQmdIb2hyQUJBdFR4ZS9wL1B6VWZPdWlYa1U5ZUFpaFFnd2lTSjloNXp2YktvMXVGQ2pnS0FlaUdzQUVDMXFzM1MrNnN0bDBveGZMZExRRVVLRUhtYzA3bEwzc1hyTEZZSFJwd0FnSG9ockFCQXRlcXMwc3NmMXVZWGVYR250Tk5EUlFvUUZaelQzbVB1ejdiYVBGN2tLQUNvRjhJS0FGVExhdWR2ZjJvK1UrRGh5S2RPRFJVcFFMUjRmWHpIZnVmclM4M281d0dBbWlHc0FFQzF5cXJFZDFlWnI5Umd3NnJPREJVcFFCUkpFaDA5NjE2KzJlWjBvNThIQU9xRnNBSUExYnBTSTczNGZtMXBwY2h4cTdTVFFrVUtFRjBTcDUwSG5HdDIyRVJjM1FNQUZVTllBWUJxVmRXSy8xcFdWMUNNZU9xY1VKRUNSSjNid3pkOTQzeDNsVm5FMGlFQW9HSUlLd0JRcmN2bHZuZFgxdFZhRUUrZEVDcFNnRmp3aWZ5Ykk2N1YyKzBlTEdNT0FDcUdzQUlBZGVLY2lpckV2MzlVVzEySG9yU3pRVVVLRUNPU1JKdjIyTmZ1dEdFU0JBQ29HY0lLQUZUclVwbnZuMHZyaXNwOVNqY0VJZ2tWS1VEc09GMTgvVzdIc28xV3BSc0NBTkFhaEJVQXFGWkJzZmZqTHl4V08rNlVkaDZvU0FGaXl1dmptL1k0MXV5MGUzMjQrd0FBNm9Xd0FnQjE0cHhPWC9TK3ZzeHN0cUVvN1NSUWtRTEVtaWpSaHQzMnJkODZsVzRJQUVCckVGWUFvRnFuOGoxdnJUQ1hWMkg0Ym1lQWloUkFBWFluLy94TDI0YXY3VW8zQkFDZ05RZ3JBRkN0VS9tZXBadHNEaGZ1bE1ZOVZLUUF5bkI3K0lyTnRoMzduVDRSSStJQVFMMFFWZ0NnVGhLbmc2ZmNIMzloc3p0UmxNWTNWS1FBaXZHSjlPbFcyN2ZIM0VvM0JBQ2dOUWdyQUZDdHJ3ODdQMWh0cmJXSVNqY0UyZzhWS1lDU0xEYnBvN1dXZlNkY1NqY0VBS0ExQ0NzQVVLMTlKMTJydHR2ZFhvemppRmRhcFJzQTBOVTUzZnl0RlJhZmp5YU9NbWcxVE9ubUFBQTBEMkVGQU9va1NiUjluMU1qc1B0bUppYWFjTDh0L3VCM0JxQThyNDh2MjJ3OWZ0NnJkRU1BQUZxRHNBSUExZHI2cldQWkpwdmRpVHVsOFFjVktZQXExSmlsZHo0MzV4ZGpFWE1BVURXRUZRQ28xcTVEenZXN3NZdHkvRUZGQ3FBV1ZydjAwbnZWUjgrNVJRbEpDZ0RxaGJBQ0FIVVNSVnEzeTc1K3Q4UHRRVHJGRTFTa0FDcmlkTlBpZGJaVEJSZ1JCd0NxaHJBQ0FIV1NKRnE1emJaK3Q4UGxSbEVhTjFDUkFxaExXWlh2bmM4c0ZkVll4QndBVkExaEJRRHFKRW0wYnBkOTIzZE9FZHVVeGdsVXBBQ3FVMnNSWC9oM3pibExYbzZyZXdDZ1lnZ3JBRkFuajVkLzlxVjErejZuRHhmTjRnRXFVZ0ExTXR1a0Q5ZFlMaFJoUkJ3QXFCckNDZ0RVeWV1akpSdXRXL2M2dkZpSVRmVlFrUUtvVkZHRjc5K2ZtUzAyM0hvQUFGVkRXQUdBT25tOWZOVjIyKzVERGduTHNLa2JLbElBbGVLY3lxdkU1OTZ1dmxUbXc0ZzRBRkF0aEJVQXFKYkR4WmRzdE8wNTZwSXdwMVRGVUpFQ3FGcGxyZlRoR2t0UkJVYWNBSUNxSWF3QVFKMWNidjdSRjlaZEI1MmlpR3RtS29XS0ZFRFZPT2ZuTDN2ZldGcm53czVhQUtCaUNDc0FVQzJuaXkvWlpOdDd6STF4SE9xRWloUWdEcFJXaW4vK2QwMTVGVzQrQUlDcUlhd0FRSjBjVHVtVERkYkRaMUNVcWhFcVVvRDRjTG5jOStGYWEza1ZWakVIQUZWRFdBR0FPbG50MHJzckxkK2RjS0VvVlJ0VXBBRHhnWE02bWU5NTYxT3ppRzRlQUtnWXdnb0FWTXRpbHo3K3ducm90RnZwaGtBanFFZ0I0Z2JubEYva2ZlR2RtaG96Rm93REFQVkNXQUdBYWxsczBxTDFWdXlpckNxb1NBSGlUSDZSOStOMWxxbzYzSDBBQUZWRFdBR0FPbFhWaXY5YVpqNTJ6cU4wUTZBZUtsS0ErSFBvdE9mOTFSYWxXd0VBRUFMQ0NnRFVxYkpXZkcrVitXUStpbEpWUUVVS0VIOGtpUjg3NTNubDR6cUxEU1BpQUVDOUVGWUFvRnJWWnVuakw2eEY1VmdiWEhtb1NBSGkxZUV6N2tYcnJEVm1qSWdEQUZWRFdBR0FPcFZjOGIzMlNSM3VsQ29PRlNsQUhQdnV1T3ZUclhhbFd3RUFFQUxDQ2dEVXFieGEvSEN0dGFBWUN4MHBDUlVwUUJ5VE9PMCs1UHhndGNYdXhOWmFBS0JlQ0NzQVVLMnlTdC9pOWJZck5SakhvUmhVcEFCeGI5cys1NmRiclZZSHBta0JnS29ockFCQW5jNWQ4cnl4ekh3WmMwb1Znb29Vb0RQWS9wMXp3eTZIMHEwQUFBZ0JZUVVBNmxSUTdIM25NMHRsTGU2VUtnQVZLVUJuSUhGYXQ5disrVGFiMDQwUmNRQ2dYZ2dyQUZDdHdsTHY0dlhXV2d2R2NjUWFLbEtBVG9KeldyM2Qvdm1YTnFjTC9Ud0FVQytFRlFDbzFzRlQ3amRYbUs5VTQwNXBUS0VpQmVnOE9LZXQzenEyN2NPSU9BQlFOWVFWQUtqVzZRTFAyNStiemRoRk9ZWlFrUUowS3FKSW4yNnhiZDNyOEhoeDh3RUExQXRoQlFDcWRmNlNkOWxHTE1NV082aElBVG9iVWFKRjY2MWZmR1ZIUHc4QTFBeGhCUURxeERsOWM4VDF6bWNXM0NtTkRWU2tBSjJRSk5HNlhmWnZqcmlVYmdnQVFHc1FWZ0NnVGhLbncyZmM3M3htY1dER2UvU2hJZ1hvbkx3Kyt2Z0x5NDc5VGkvMjFnSUFGVU5ZQVlCcUhiL2dXYnJSNm5DaUtJMHVWS1FBblpiY3o5djZyZDNuUTVJQ2dIb2hyQUJBblNTSjd6cm8vSGlkMWVIQzhOMG9Ra1VLMEpsNWZiUnltLzNRR1kvU0RRRUFhQTNDQ2dEVVNaVG9teVBPRDFaYlBWNmxtOUo1b1NJRjZPUmNidjd1U3ZOM3g5MGk5dFlDQUJWRFdBR0FPbkZPKzA2NlB0MXFkWGt3amlNcVVKRUNkSDRPRi8vUFN2T3VRMDRKUTA0QVFNVVFWZ0NnVHFKSVgzN3JYTDdKNXNYa2dpaEFSUXJRSmJqY2ZQbG02NkhUYnFVYkFnRFFHb1FWQUtpVDE4ZTNmZWY0YktzZGw4d2lUcXQwQTlUTEo1TEhLNGtpK1VRdVNlUnc4Nm9hc2JKT3FqSDdyQTd1Y0hHSFUzSzR1ZFBGN1U3UjV1QkVsSlRBRW94Q2dsRklNRktDVVRBWldVcWkwRDFWazk1TjI3TzdrR0JnZ2tCYURkTm9tRjdIdEJxbFh5RjBNVFlILzNDdDFXUmt3M1AwakNuZEd1Z0FwQk4wYmdpclRnYVJCWjJHeEduYlBtZUNrZDArTlVHclJUeEZEQ3JTUm53aVZkV0taVlcrc2twZldaVjRwVVkwMnlTSFU3Szd1RHVNZ2VOV083ZmFSYUxtWjhEb2RTelJ4SklTaE9RRUlhT0h0azlQVFo5MFRlOTBiYzgwRGNJVVlxUE9LcjY1M1B6bzNPUUpJNDNvNThVWHBCTjBLUWlyZUlmSWdzN0s1WmJXN2JLTEV0MDFQVkhBWU5NSVFVVktSR1MyU2VjdmU4OWM5T1FYZWV1c2t0UE5YVzdKRittVkZUeGU3dkh5V290RVJLY0tQQm9ObVF3c3dTaWtKZ2s1V2JwaEEvUkRCK3BURXZIQkM5Rmx0a2tmcmJPYWpNS29YTDNTYllIUWtFN1FaU0dzNGhFaUM3b0NwNXV2M0daampOODFQUW1YekNLQ2NkNUZwK2U2UE56aDR1Y0t2YnNPT1U3bGV5SWVsKzJnMWRDd2dmcHA0MHhEQitnVFRjeWd4em11ZHBKRXEzZllWMjZ6S2QyUU51dlZYZk9UQjdybFpPR2FsQm9oblNEaUVGWVFQWWdzNkNDTFRYcjZyNVZLdDZMTkVrM0N2YmNrM25KZEF1NlVkbHlYcTBoRmlRcUt2ZWN1ZVM5Yzlsd284dFZaUlJYK0FOSlNoRUg5ZElPeWRNTUc2Z2RtYXJVYUpLbEt4VzhuajRoNnBtbCtlSGZLcU1HNCthQVdTQ2VJSG9RVlJCd2lDeUlsVGl0U0lrcE9GTzZhbm5qcjlRbEtOeVR1ZGFHSzFDZlNrYlB1N2Q4NWlpcEVxMTN5aVdwLzRScUJwU1FKbWIwME02NUx1R2FvWG9mNTArb1QxNTA4SWtwUDB6eXpJRFUzVzZkMFE3bzZwQk5FRzhJS0lnaVJCWkVWdnhXcGJPR2RLYmRjWjFLNkZmR3Q4dytEOGZxNHc4V1BudldzMzIwcnJWVGpCYnlXaUJLdnRZaTFGdkhFQlU5V2htYjJsTVJyaGhvU1RReEpDcEZTVlN0K3NOcnk5SUxVckl6T0h3VXFoSFFDQ0JQQ1NnMFFXUUROV3JYTlp0Q3hLZGNhQlp4UTdkV1o3NUdLSXAzTTkrdy81VHAremxOVnA0SnBEUjNXSTFVelpxaGhiSjUrNUdBOVJwNm9RYnpmZHBCbFpXaC9kRS9LNEg2NCtSQTdTQ2VJTVlRVmRBUWlDNklxM3UrUkVsSDNWTTBEczVPdUgyTlV1aUh4cW5OV3BKenpnaExmNnUyMi9DS2YxU0YxcHBmSUdDVWxDRGxaMm50bkpBM00xR0dCTDJWMWprNmUzTS83eVFPNCtSQUxTQ2RRQk1JSzJnZVJCVEhRQ1NwUzJiUGY2elp1dUVIcFZzUWx6WFBQUGFkMEd5TEo2K08xRnI1eW0vM2pMNndsVjBTM3R4Tmw1MVVlTDYrb0Z2Y2NkZFZheGN4ZU9vT2VZWTB2cFhCT1p3cTlweTk2bEc1SVIxbnNVc2tWWDI1L2ZYSUNUcVpvUVRxQmdoQlcwRmFJTElnWnQ0ZXYzKzFRdWhVUmNPR3lwMWQzVForZXVHVFdacDJuSXVXY3psLzJiUGphOGNrRzY4bDhqeWdwM2FBb0UwVXFLUGJ0UGVxcXRVaEdBK3VScXNIbHZkanJOSjA4SXFxcWt3cUt2Y01HNkpNVDhZRWNZVWducEpQaUVGWVFQa1FXSWl2R09rMUY2bkR4Z2hKZlRxYXVSemVOMG0ySk01MmtJclU1K0xKTnR0VTdIS2NMUEM1M0o3eU0xeEszbHhlVWVJK2U4NVJYaVVQNjYvVTZoR2hNZGFaT0hoSFZXcVNDRXUvSXdmcEVFL3A1RVlOMFFqcXBBY0lLd29USVFtVEZYcWVwU0luSTd1UzdEamxIRE5hbm95aHRpN2kvcmV3VGVVVzErTy9QTEFYRjNvZy91VTVMQmgzVGFwbE9TOTFUTmIyNmEzcjEwUFR1cnUzUlRXUFFrMTdMZERxbTB6SzlqaG4weEloY0h2SjR1Yy9IUFY3dThYR1BoNnJxeElvYThVcTFyN3hhckxWSVhoLzMrYmpIeHoyUmF5em5WR2VWZHV4M1hpNzMvZkN1bE14ZVdpM2VBdEJlK1VYZVJldXNqODVONmRFTi9ieU9Ram9oblNCNkVGWVJoOGhDWkVGRWNFN3ZmbTc1d1YwcHczT3dpM0s0NG50bG80cHFjY2QrNTQ3OURyc3pZcThpS1lGbGROZjBUdGRtOU5CazlORDBUZGVtcFdxNkpVZmdBMCtVeUdhWHFzMWllYld2b2xvc3J4SXJxbjBWTmFMVkhySEdKNXJZdFBFSnQxeG42dFVkSVJvTG5XYXhrQ0NEczNVL2VTQVZsL2M2QXVrVUJPbWtMSVFWdEE2UkZRU1JGVXVkWm1XalFMM1ROVDk3S0RXN045WUdEMHNjVjZSbkN6MkwxdG1LeXIwUm1lR2cxZENvWFAza01hYnMzdG9FSXpNWm1VSFBoS2pOSk9DY3V6emM2ZVpPRnk4czhYMTMzSG5zdk1jWGlRWFZCWUd5ZTJzZnZDMTV4Q0JjbUltNnp0ckpJNklSZy9UUExPaVdrb1JoUysyQmRHb1cwa2xCQ0N0b0JTS3JXWWlzbU9tVUZhazhOT0F2UDBudjJ3c1hOVUtMeTRyVTdlSGI5am1XYnJSMXNPMkNRQ1lEeStpdW1Uck9OR20wVWRtRit4d3UvczFoNXpkSG5lVlZvc1BGcFk1OUtqQkdEOHhPdm1XU3lZQ0pFTkhVaVR0NUFxTkpvNDNmdXlNNUJXdUh0QVhTS1NTa2t5SVFWdEFzUkZaSWlLd1k2S3dWS1JIMTc2Tjk3TzZVbkN6Y0tRMGgvaXJTV291MGJKTjEzd21YMTlmK0o5RnFLYmVmYnRRUXc0Z2MvY0JNblhvVys1WWtLaXp6bmpqdk9aSHZQbi9KMjZIWHFHR1R4eGp2bVpIWU13M1hacUtsRTNmeTVIN2U4RUg2cCtlbnBpU3A1aDJpYmtpbk1DR2RZZzloQlUwaHNzS0V5SXEyVGx5Uk1rYjlNclMvZkNRTk05NWJGMmNWYWNrVjMxc3J6RVVWb2lpMnM5bGFEVjAzeWpoOWdxbDN1aVk1VWRBSWFyemlKVXJjNXBBcXFxVXZ2M1BzNzhCSGhVYWdyQXp0VS9PN1pXVWdRNk9pYzNmeVpPUHlERS9lbjVKZ1JKS0dnSFJxRTZSVGpDR3NJQWdpcTAwUVdWSFZpU3RTV2FLSnZmano5TzRwU0tjV3hVMUZLa2wwK0t6Ny9WVVdzNjA5d3k4RVJ0MVRoWWtqamJmZGtKQ1dFazlwVW1zUk4rOXg3RDNtcXJWSTdSdDVrbUJpVDkzZmJmUVF2UVp2aEVqckNwMDhqVUEzVFRBdHVEVUovYnlXSUoyUVR1cUhzSUlHaUN4RWx0cDArb3FVaUliMDF6MTJkMHBtcjdqZjVTUks0bU0vVWxHaWpWL2JsMisyV2V6dGlaQStQVFczVGs1NGFFN0tkYU9NcG5qN29ESVpoQkdEREdQempDbEp6R3lWMnJHT25OZEhKeTk0T0tmQjJYcFZYc0dNWTUxc2k3OW1jVTZYeTN6bFZlTG9YSU5PaXhNb0dOSUo2UlFYRUZZZ1EyUWhzbFNvTSsxSDJwSmFpMVJZNmh1WFp6RG9jZW8wSXc0cVVwL0lQOTFpVzdmTDdtejdUczFhRGMyYWJIcG9UdkxZNFlia2hPaXQ5QlpkakZGU2dwQ2JyUnVkYTJCRVJlVyt0cTZHNS9ieTg1ZTlWcnMwTXRlQURJMmdydERKazE5bXlSV3h2RW9jbTJmUWFIQUMrU0dka0U3eEFtRUZpQ3hFbG1wMWhZcVVFOVdZcFgwbjNGUEhtdlJZSmFzSnRWZWtQaDlmdTh1KzhXdEhXNGYrYXdUcWs2NTVla0hxTFpNU2t4T0ZlTTNPQUFKalNRbkNtS0dHb1FQMEY0cThEbGZiQmx5TEVsMHE5MmtFR3BTbFUrZGtqM2pVUlRwNXNvb2FuOVBGaHczUWE5SFBJMEk2QlVJNnFSL0NDaEJaRFJCWmF0TVZLbEtadzhVTFNyeERCK2dUVFhFMnhDRGFWRjJSK2tSYXU4dStmcGZENDIzYk42WWtzcm5URWgrWm05S3ZNKzVMbTU2bW1UVGFxTmV6c2tyUjVXbERpRW9TRlJSN2ZUNGFPa0FuSUVNam9VdDE4amlub25KZnJWVWFsYXZIWnpEU3FWbElKOVZDV0hWeGlLeG1JYkpVb3V0VXBFUlVZNUVxcXNYeHd6R09veEgxVnFRK2taWnV0RzcrcHMzcG1aZWplMnArNnJqaHhrNjh0b0ZCendiMzA0M0sxVitwRWEvVXRHRWZhSjlJQmNWZWkwMGFtV3RRenhMdDhhdExkZkxrQzhPRnBUNnpWUm96Uk4rVlA0T1JUcTFBT3FrVHdxb3JRMlMxQXBHbEJsMnFJdVdjeXF2RW8rZmNVOGVhY01tc2dVb3JVcStQMXV5d2I5bmJ0ckVsUmdPYmUxUGl3bmtwNmQwMG5mNTNyQkZZdDJUTmRhT01qUGpsY2wvNFB5aEpva3RsUGlJMnVKOWVFMCtMNUtsUlYrdmt5VXF1aUQ2Umh2VHZvcU9Wa0U0aElaMVVDR0dsZEZzVWc4Z0tDWkdsdUM1VmtjcnFyRkp4aFcvWUFMM0owTW5mWDJGU1kwVXFjVnE3MDc1K3Q5M3JhOE1JaXV6ZTJvZm5KTjg4MGRTbFZ0alRDR3pvUUgxV0wyMVpwUmorTXU2Y1UyR0oxK09WUmd3eXhQOThFQ1YxelU2ZS9CbnNjdFBJd2ZxdWR2NGduY0tIZEZJVmhGWFhQSjBRV2VGRFpDbW9DMWFrUkZSWks5VmF4SEY1UnB3NUtxMUl0KzUxck54dTkzamJrSjRqQnVzZXV5c2xMOGZRQlFmbkNJejFTZGNPejlHWFZ2b3FhOFBOVUo5SUYwdThCb01tTjdzVHpneUptYTdaeVpQUG4vT1h2VjRmNzJxZndVaW5Oa0U2cVFmQ3FxdUZsUXlSMVNhSUxLVjB6WXBVa3FpbzNGZFE0cDA4MnRRRjB5bUk2aXJTay9tZVR6Wlk3YzV3MDFNajBQQWMzZFB6VTN2MTBIYlpYeWRqbEp3b2pCeXNMNzNpcTZvVncxd3lUcElvdjlnenFKOHV2WnVteS83b09xakxkdkprbCtzWEc5UjNrU2swU0tkMlFEcXBCTUtxUzRXVkRKSFZEb2dzUlhUTmlsUldVUzFXMW9wREIraTcrRDZsNnFwSWE4elNCMnNzcFpYaHppdzNHZGh0TnlROE9pOGxLUUhqOThsa0VNYmxHVFFhS2l6MStjTDdFWHA5VkZZcERzL1JKeVYwcFUvcHlPbmluVHg1WFFkQlEwUDc2NVZ1UzlRaG5Ub0M2YVE0aEZYWENTc1pJcXNqRUZreDFwVXJVaUlxcXhLZEhuN05VSVBTRFZHU2lpcFNpZE8vbHRXZHZSanVYQWVOaHU2NE1YSHV0RVNqQVcvK2Vsb3RHOXhQTDNHNlVPU1Z3aHR2VW1mbDVWWGk1REVZeGQ0ZVhieVRKMzhHbjd6Z01lcUYzUDZkZWJRUzBxbmprRTdLUWxoMWtiQ1NJYkk2RHBFVlMxMjhJcFUzRTZxMVNHUHp1bTVScXBhSzFDZnlaWnZzWHg5MmhabWVXZzFOSDIrYVB5dEpwME42TnFMUnNOeitPb2RMS2l6MVNXSDhORGxSUmJYb2NFa2pjckJFZnB1aGt5ZkxML2JxdEN3blM4czY0K2N3MGlsU2tFNEtRbGpKT25kWXlSQlprWUxJaXBrdVhwSEtDa3Q5SGk4TnpOVHFkVjN4NUdFOHpESHkwU1J4Mm4zSXVYaWQxZWtPcXpFSlJuYjcxSVE3cGlWMitoWEoyMDBVK2VZOWp0VTc3STd3UHBJRWdmWHJyZW1SS25UaUQrbG9rRGVWS3Exc3k1cjZuVlJ5b3ZEd25PUWJyalVxM1pBSVF6cEZITkpKRVFpckJwMDFyR1NJckloRFpNV0FUNlNqWjkxS3QwSjVKZ09iTXpYeDdwc1RsVzZJQXJSS040Q0l5T2FRTm43dENETTl0UnE2NDhhRTJWT1FucTNSYU5qTXlRbGVIMSt6MHg3T2p0aWl5QXRMZllVbEhBRUs3V08xUzI5L2F1YWNicmkyVXcxWVFqcEZITklKbE5WWncwcUd5SW80UkJiRWpOUE5QLy9TSmpDNjQ4WUVqYVpyblQvS2o5cmxuTmJ1dE84L0dkYWxFY1pvOG1qamc3Y2xkNms5c3RwSEk3RGNiRjExblhpcE5QUkZjY2FJRVJFeCtjOEE3WE9oeUp1V3JNbk0wSFNPVDJLa1U1UWduVUJ4blN5c1pJaXNLRUZrUVN5ZEt2QWttSVRzUGxwdFZ5cEtsYTlJajV6MUxGNW5DV2VBUGhGZFA4Ynd3N3RTOUpqcUVCNUJZTU56OU5WbXNhZzhyS1hpNU9oRWdFSzd1VDI4b05qWHI3YzJvN3NxeGw5MEVOSXBlcEJPb0t4T0ZsWXlSRmIwSUxJZ2xpNlcrSklUaFp6TXpyOE1Xd09GazZqR0luMytwVFhNbGJXSDUram16MHJHUW5CdFlqUUlEOHhPSHA0VC9qbk5sSjlZRFBHczJpeSsvRUhkaVFzZUZVeFI3eENrVTdRaG5VQlpuU2FzWklpc2FFTmtRY3pZSE5JSHF5MTdqcm82UnpxRlE4a3draVMrWTUranFEeXNoUlpTa3RoZE55ZWxwMkdickRaTFM5SGNPVDJ4ZTJwNHYydkdpVk9YT2Y4aEtqaW4vNncwSHowWHgvMDhwRk5zSUoxQVdaMGdyR1NJck5oQVpFRXN2YlhDdlB1UTA5czFGcVJUc2lJdHVTSitkZEFsaHJITGsxRlAzNXVUbkRld0M5MjhqcXpoT2ZvSFp5Y1p3dGdZbkJFeHhuQlpEenFvdWs1YXRNNVNXQnJHS2hDcWhIU0tHYVFUS0N2ZXcwcUd5SW9aUkJiRURPZTBZb3Z0d0VtWDBnMkpCU1VyMHMrMjJtck1ZWTB2dVdkRzBxVFJ4czYwL0VDTU1jYXVHMldjUHlzcG5JTTU1N2lvQngxWFVTMis4TythaTZXK2VMejVnSFNLR2FRVEtDNnV3MHFHeUlvWlJCYkVVcDFWK3ZkbjVwUDVjVCtPSXlURkt0SnpsN3dIVDRlMUhGemVRTjMxMXhpeDEzQUhDUUs3NFZyVHNBR2hMNHN5Um95eFRuL3FRd3g0ZmZUbWN2UFpRbzhhOWowT0g5SXB4cEJPb0xnNERTc1pJaXZHRUZrUVN6NlIvdStqdWdNblhUNnhNNTlKeWxTa2JpOWZzOE1XenBGR1BidnRob1RVSkV5K2o0QUVJNXM5SlNISkZONUhFY1AwQjRpQXNrcmZ1NnNzNVZWaERDWlRCNlNUSXBCT29MaTRDeXNaSWtzUmlDeUlKWitQTDFwbk8zcldvM1JEb2tpWllEcFQ0Q2tvQ1d1aTdyVjUrbEc1Qmd3dmlRakcySmloaG5IRERXRWVUaHcvZG9pQThpcnh1WDlYVjFTSHR3U2swcEJPaWtBNmdSckVWMWpKRUZtS1FHUkJqTlZZeExjK05SZVZ4L0hrZ3RZcFVKSDZSSDd3dE1kcUQzMFpNaVZKZUhRdTltNk9KSjJXUFhoYlVtcHlHTDkzenZHeEJaRmlkL0RYbDlaZExGRjdraUtkRklSMEFqV0lsN0NTSWJJVWhNaUNHSE81K2Q4K3FEMXh3U1BGMlVpT3NDaFFrVmJXU29kT2gxNDJ5bWhnajg1TlRrckE2dVFSbHBTZ2VmeWVGSk1oUkRveVJweFRYSHdrUTF5NFZPWjdiNVdsWE4wM0g1Qk95a0k2Z1JyRVJWakpFRm5LUW1SQmpOVlpwUS9YV2s5ZjdJVERkeFdvU0wvY2E2K3pocTd1cnhtcUg1VWJ4dXJhMEhaNUEvVmpodUJuQ3pIRk9SV1dlbDk2dnphY3Q3OVNrRTZLUXpxQjR1SWlyR1NJTE1VaHNpREdLcXA5LzFwdXJxcFZlenExVmF3clVvZUxiOXZuREhtWVhrZmpoeHNUakpoL0h4VUdQUnMzd2hqT1ZUMWl1S29Ia1ZSZEo3NitwSzdraWhwdlBpQ2QxQURwQkNxaDVyQ1NJYkxVQUpFRnNXZXhTWDk5citiOFpXOW5PcU5pblZDN0RqcDlZY1I3bjNRdHJ1ZEYxYWhjZlZidjBBTjRXUDMvQUJGejdyTDMvZFhtV292cUx1OGhuVlFDNlFRcW9kcXdraUd5VkFLUkJiRjNwVVo4YjVXbG9OaXJkRU1pSnFZVnFjZkh2ejBlZXNJREVjMlptcEJvd3ZXOEtFb3lDYk1tSjRaMUtOWXNoNGppbk00V2VsLytvTmJoVXRHWmhYUlNENlFUcUlRNncwcUd5RklQUkJZb29yakM5OVlLaTlYZVNjNnBtSWJVeFdKdmRSampudnYyMGx3L3hoaVRGblZwazBZWittV0VzODRCUTRKQ3hCVlYrUDYxM0h5bFJpMGo0cEJPcW9KMEF2VlFXMWpKRUZtcWdzZ0NSWlJYKzE1OHYrWlNXVmo3UDZsYzdDcFNpZk16aFY2ckkwU0FhclYwNzR3azdKY1ZBNHl4K2JjbWFVTkdLT05FaUZDSXZCUG5QUit0dFlTemIwRzBJWjNVQnVrRXFxS2VzSkloc3RRR2tRVktLU29YMzE5bExpcVArNkkwZGhXcDIwUG5Mbmw5WW9oMzRvQSt1dHhzWGF3YTFkVU43cWZQN3FOdC9SaFd2N1V6SWhRaVRKVDQwWE9lMTVlYVBWNkZ6eTZra3dvaG5VQTkxQk5XTWtTV0NpR3lRQkdjOC94aTN6dWZtOTJlK0Q2dllsZVJXdTNTdWNMUSsrY01HNmhMVGNLRWh4aEpNTEtoQThKWThJQXhqdm40RUIybkNqeHZyVEJYMWlvNUlnN3BwRUpJSjFBYk5ZU1ZESkdsUW9nc1VOREZFdDlMNzljV1ZjVHhuZExZUmRXaDAyNm5PMFQ1YnRDejNHeTlSb1AzYW94b05HeElmMTJpS1l3ZmVIeGZlUUZWTzNUR3ZXS3p6YW5jMmlGSUp4VkNPb0VLS1I1VzljMUFaS2tQSWd1VWRhSEl1M2lkdGNhc2xza0ZiUlc3aXZUd0dYZklZeEtNYkVoL2pEQ0pxU0hadXBURTBLY0JCcGxBOUlnaTdUM21lbisxeGV0VDVqUkRPcWtUMGduVVJ2R3draUd5MUFtUkJRcmluRTdtZTk1ZmJWSEo1SUsyaWxGRjZ2WFIyVEJHbUl3Y3JFOE80ODBNRVpTYXJNbkxDVDNPaERQR085Tkd2S0ErZTQrNS9yUFNVbWVOOWVVOXBKTnFJWjFBblpRS0t4a2lTN1VRV2FDNEkyZmRyeTJwVTl2YTRPR0lVVnFkTG5DSHM0L3pMWk1TWXRFYWFHemF1TkJMdzJOblo0aUI3NDY3MXU2MHUyTjdlUS81Z3JzV0FBQWdBRWxFUVZUcHBHWklKMUFuUmNKS2hzaFNNMFFXS083WU9jK3lUVGFMYXRZR0QxT01LdEpURjcwaGorbVRyaG5ZTjhReVpSQU5BekoxdmRQRDJFZUxJMEVodWtTUnR1eDFyTmxoRDdtR1pBUWhuZFFNNlFUcXBFaFl5UkJaYW9iSUFzVnhUdnRPdUQ3LzBpN0cxWTNTV0ZTa25OUHBndEFqVFBKeTlJS0F0NmdDTkFJYk9UajBPQk9HMmZnUUUydDMycGR1dE5tZHNUamRrRTRxaDNRQ05ZdGxXTWtRV1NxSHlBS1YyUGFkNDkxVmxqcEwzRlNsc2FoSXk2dDk0ZXdyUFhKUUdLdG1RM1NNR1dJSWVReEhna0tzYk4vdjNQaU5QUWF6ODVGTzZvZDBBaldMV1ZqSkVGbnFoOGdDbGZqNnNIUEZWcHZkR1IvRGQyTlJrWlplRVIyaGxrcFBOTEcrdmNJWTV3RFIwUzlEbTJERTlWUlFDNitYcjlsaDM3ekhFZTBGTFpGTzZvZDBBaldMV1ZqSkVGbnFoOGdDbGVDY2RoMTByZDFwOThiRDZydXhxRWpMS24wT1Y0Z0N2VSs2SnNHSVJlRVVZelN3MERNZk9IYlJndGpobkZac3NYM3hsZDNsaWVKWmgzUlNQNlFUcUZ4c3drcUd5RkkvUkJhb3lvYXZIY3UzMkd3T3RkOHBqWHBtaVJMVldDUXAxTThoTTBNYjFyYkNFQjE2SGN2c0ZXSVZCTWFJRVVPQ1FzeHdUdXQzTzdidmMwUnBkajdTS1M0Z25VRDlvaDFXTWtSV1hFQmtnYXB3VGx2M09sYnZzTHVqZjhtc0k2SmVrZnA4M0d3TEVaOENvejdwV3IwT0Fhb1luWmI2cEd0RHJvUEE1Vk1iSUZiY0hyNThrMjNYWVdjMEZyUkVPc1VGcEJQRWhhaUdsUXlSRlJjUVdhQTJva1JiOWpvMjc0M3VKYk1PaXZyaTRENlJtMjBoZmdCYUxhV25hUmpyNUFGNit2VHBrcElTK2MvRGhnM0x5c3BTdWtWK2pMR2VhUnFEbmpuZHJlWWpkdEdDbUJNbCtuQ054ZTNtTjA4MFJiYWJoWFNLQzBnbmlCZlJDeXNaSWlzdUlMSkFoU1NKUHYvUzd2UHhPVk1UalhvMW5uZ3hxRWpKYkF0eEVVaXJZZDJTMURYbndldjE3dDI3ZDh1V0xlZk9uYXVzckhTNVhPbnA2Wm1abVRmZGROUE1tVE43OU9qUjFtZDc4ODAzRnkxYXhLOWVEL3Z0YjM5NzMzMzNSYWZ0N1pTYUxPaDFvUUpVL3FJYXoyVG96RVNSVm02ek1VWXpKeVVJa1l1S09FMG5JaW9wS2RtOGVmT2VQWHZLeXNxcXE2c1RFeE43OXV3NWF0U29XYk5talI4L1Bwek82T1hMbDNmczJISDgrUEVMRnk2WXpXYTczVzR5bWRMUzB2THk4aVpObW5UcnJiY2FqYUgzZVk4WnBCUEVpeWlGbFN4T0k2dURIU3F2MTd0djM3NjllL2VlUFh2Mjh1WExOcHZONi9VbUppYW1wNmNQR3pic2hodHV1T21tbXd5RzBNdmJ4bEs4UkZabVQxWmR4MTB0YkhDYm1raG1lNnliQk5Faml2eUxyK3c2TFpzOUpVR25WZDJIWmRRclVsRWlzelhVSlQwTlMxRlRnQjQ5ZXZSUGYvcFRVVkZSNElPbHBhV2xwYVg3OSs5LzQ0MDNmdkdMWDRSZlQyN2Z2djJmLy94bjBMT3BVR3FTb0F0NU9xanVCTzZRUVpuc3JtbjFMK245ZFZLdEpaSlBidEF4SXU0T3RaUDVnek9GMU1UNlAzKzBRWEtHM21ldWkzSzQrUExOdHU0cHdyamhoa2p0c3hlUDZlUjJ1Ly8xcjM4dFdiS0VCd3ozcXF1cnE2dXJPMy8rL01xVkt5ZE1tUENuUC8ycFQ1OCtMVDNETjk5ODgrNjc3eDQ3ZGl6b2Nadk5aclBaaW9xS3Rtelo4bzkvL09QWlo1K2ROMjllTkY5S0c4UWduZnIzWmorNnMvNFhiWGZ3bHhiVmo0M3NuMEhqODRUVnV5VTFEM1lDVllsR1dNbmlNYkk2MktIYXZuMzczLzcydDZxcXFxREhMUmFMeFdJcEtDallzR0ZEV2xyYXozLys4N2x6NTBidFJiU1p5anRVU1FrMElZOU5HczR5ZTdIOXAvbEhHNW9aQ2o1NUZIdDRsbUMyOGFJS0tycEMzNTdrMWViV0N1d3BvOWoxbzltKzAvelFHYkk2V2p6eWhqRnN6dVQ2VjM3a1BGK3hEZU9XWThycm81WGI3UWxHTm4xQzVDK1pkVkRVSzFLUGg0ZGNxVnlqb1ZUVkJPaWFOV3YrL09jLzg1WUg5enVkemhkZmZQSGl4WXUvK3RXdldua2VuOCszYmR1MnhZc1huenAxS2pvdGpiRFVKQ0gwS0NOT3hEazEvb2h0NVp5V0pKb3pXY2diMk9iR3ZQR3AxRkRMTVViNkNKeW56TjFrOFd1amdRYjJxWDh0OGoveDRFd2hiMEF6UDRSWGw0dEQrZ2tQM05MaXo4Zm1vai84Mjk5UnVIWUl1K2Ntb2JDTXYvZEZpRGsvUTdLcFo3ZjZweFUwUkVUcDNkZ1A3aEErM1NZVmxpR3BHL0Y0K2I4L3QzemZsVHpsR3FNMkVwZjM0aTZkYkRiYjQ0OC9mdTdjdVZhTzJiOS8vOE1QUC96aGh4OW1aMmMzL2Vyenp6Ky9kdTNha1ArUXhXSjUvdm5uejU0OTIzckt4VXk3MHlsOGpGRmFVdjJmZFFJam9oNnBiTjVVTm5ZSVk0eVNUTUpIRzRQZnk4TUhzTWZtZHZROFhMbVRmM084MFVtWWxreS9YeGlaVSs3TVpmclBta2JOVGtxZ25xa2RiYlBaVGpVV3BGTnJJaDVXOVU4YmI1SFY4UTdWMGFOSG01YWpRV3ByYTU5NzdyblRwMC8vK3RlLzduQ1RJeU1Ha2RVUmVmM1p2VGZWbnlRVDh0aTVJcmEzY1FyMVNHWDMzc1NJS0RXSnBTWlJhaEp0MlJlaU16TnRMT3VienZyM1p2ZE1vODkzOEYxSG1qL2VvS09VeFBxWGJESmd3V0VGZUwxOHlRYWJWNlJicmt2UXFtbVhxS2hYcEVYbHZwREhKSnFZU3ZadTJyTm56MS8rOHBkVzByUEJzbVhMQmd3WWNQLzk5emY5MHZIang3ZHUzYnA1OCthUU1hb3FpU2FXYUJLSVdydit5cGo4djkrTjF3anpaN1Q0dS92Tm0yTFBOSC9WRjc3QUt2ZWFYUGJZM0k1K3Z0cWQ5SnMzUTkvalNFNmc3aW5OUEs0VlNDUHdWZ1k1NksrK3F4bWpIOThsak1oaFJKU1d6S2FOWlY4ZGFrUGdacVRSVCtjTDNaTG9aL2NMSDZ5WGp1Y2pyQnR4dWZueXpUWkJZRGRjYSt6NFBLbjRTaWVmei9mTFgvNnk5WEpVWmphYmYvclRuMzd5eVNkSlNVbEJYeW9vS0FqL1gxeTJiRm4vL3Yzbno1L2Y5c1pHV1B2U3FVMjhBYXZSTkR6TjBINzFJNkFuREdlbDFXenJ2a2J2UnlhUW9jT3pjVFNhNEQ0Wlk2empUeXZUYVlNRFpQUWc5dENzanNicHJpUFNpbTBkZkk3T0w3SmhKWXV2eUlwSWh5cDh5NWN2SHp4NDhEMzMzTk9SSjRtVUdFUldSK3cvelNjTzV3M1gzKytiemdxS2VVV3R2MkdQM01ZYXBocmFIUFRPV3RIYjZxazNOSnYxVGE4LzNpZnlZeGZVdnRGSUYrZjI4ayszMkhRYU5uMkNTVDEzU3FQZWtMS3EwQUhhTzEycmhsbjRUcWZ6dWVlZUV4dVB6VXBLU3BveFk4YTBhZE4wT2wzUThXKzg4WWJGRWp6UTArRndMRnk0OEpOUFBvbXZjbFR1QnZYcUVmcDhDT2ZUcFN2am5NcHEvSCs5NTBaaFFGc0s4aHV2WWQyU2lJajBPbnA4bm5EOUtPWGZGMnBqc1V1TDExdk9YUFIwL0V5TW8zUWlvcVZMbHg0NGNDRG93Ynk4dkRsejVnd2NHRHdPb2JpNCtKTlBQZ241bkRxZHJrK2ZQcm01dWFtcHFjMGU4TlpiYjlsc3RnNjBPakppa0U1U1FQQXpnWWlvMnN6Lzg0WC9BMkhlRFVKV3IzWS9QWFJGRVF3cldSeEZWa1E2VklHTVJ1TzRjZVBtekpremQrN2M4ZVBITjMwR09hOUVkUXl2VjMrSGF0bVh2R0hnbUVISFprNzBuek96cm1PRE11di9La2xoeldtYU1jSC83ZHNQVUoyTmlLaFBEeG8zakFYOWw5WExmMlJhY2pNSFhEc2tzaThVbXVmMjhPV2JyZnRQdXRYVHFZLzZQZElhUytnckpYMTdScjBaNFZpMGFGRjFkWFhnSTBPSERuM3p6VGU3ZGV0R1JJV0ZoVC82MFk5cWEyc2J2bXF6MlJZdlh2ejAwMDhyMGRpbzZOTkRTK1FPZFZUYlB1cHFyYncwb0RiWENDeWp1Lyt2TlJacWRrdHhydlQxdGY5YkxKYlgwQzhXYVBwbDFEOXkraEovNStyNHR6R0QyWFVqNm44T2l6ZExEaGVKQVRkWTFuOGpqYzdSOU9wTzhnMlFIOXpPWHZxWWh6bEI5Tk1kM0NOS015Y0k4bzNpZTI5aXB5L3lXdVVyQW5XeE8vbnJ5OHlQM1pWeWJaNmhJeU9lNGlpZHJGYnIrKysvSC9UZzczLy8rN3Z2dnB1SUpFbDY5ZFZYbHl4WkV2alZ4WXNYUC9qZ2d5a3B6ZHowMTJnMHQ5OSsrK3paczhlTkc2ZlYxci9BdzRjUHYvRENDNWN2WHc0ODBtS3g3TnExYTg2Y09WRjRUVzNUN25ReU5OTnhiZTQ3QXpyeEF1UHlkeFZYMExwditKMDNzcElxdm5ZM3I2d2xqVUJpYzJmTmlYeStZVytqTC94c3Z0QndrK0hWNWFJM1lFcjVsTkhDbE5GaG5iaE9EMzBRYXVSL2tKNXBkUC9OcXJubzNlVkZLcXhrY1JSWkVleFE1ZWJtTGx5NGNNYU1HWUZWYUcxdDdSLy8rTWM5ZS9ZRUhsbFRVM1B5NU1uUm8wZEg1elcxVFRRNlZCMlVrMG5YNXZyRG9kYktlbmNuSXNvdjRVNTMvVEJkUWVBM2pQWWZVMjNtb3dheFVZUHEyM240dkZSUUV2eTAvWHV6NFZkdnQ1cHQ5T1grK3U3UTZGdzJkMHByV1RRNGl3M09DdjRKZUgxMCtKd3FMaXQwZWc0WC8yQ054U2NtVHg1alZHTHdlTENvSjVlcjlhWEdpSWlvZHcvbEJ6TDdmTDZsUzVjR1BxTFJhRjUrK1dVNVBZbG93SUFCdi9yVnIzNzN1OThGSHJOeDQ4YVFGYW5SYU96ZnYvL1pzMmVqME9vSTY5azk4citJdGJ2NTJ0MytjeUNuTC91dkIvMEo5ZlpxcWJTeURkZG52RDY2VWhQdThYb2Q5VXhyNWsxbTB0T2pjd1FpU2s3MFAvakFMVUo1dGYrWnZTSnpleHRkdnF5ejFwL01MZzlsZFBjLzdiRUwzT0VLYnVRblc4VmZ6TmZJWGR3ZXFleUJtY0lINjhQdFZxN1p4V3ZNMHYwM0MyNGZ2YjFLUWpuYUxJdE4rbUNOeFNlbVhEZXEvVXNzeGtzNnlkT3hnbTRnekpzM1R5NUhpVWdRaEdlZmZYYnYzcjBYTDE1c09NRGhjT3phdGV1T08rNEllcXB4NDhiOXovLzhULy8rL1lNZXYvYmFhMTkvL2ZWNzc3M1g1MnQwSCtiUW9VTnFxRWpibDA0bUEvM2ZUOXI4alVZOWUrVm5qYjRyTTUwOWRUY2pvczkzU2pzT05uUGEyRjEwdWFMUkl4TDNwMFJ4QlFVdWNqWXk3RGUxSk5LcHdyWmR3YzUydHZaVlVhS09iNUx1OVRITS9ncGZSTUpLRmkrUkZjRU8xZDEzMy8yem4vMU1vd2wrVVdscGFTKzk5Tkx0dDk5dXRWb0RIeThwS1ZGSlJScU5EbFVIWmZVVXBvOXJwbE0wS0pNTnltejRXNk1EZXFheDZlUDhmNjJzRXdwS2dqc3p0MDN5ZjhzWDMwaE4xK3dBMWJJNXBBL1hXRVNSVHgxclVueG9SUXdxMHRBZDhVU1QwajhHb2dNSERnUjErR2JNbUJHMFplak1tVE5mZWVXVndNdCtwYVdsNTgrZno4M05iZlk1R1dNelo4NTgrdW1uVjYxYUZSY1ZhWUlwbkN2clBEQ3dkaDJSZGgwaEl2cmxRMExEZk5IL2Y1blk5Q3FhTEhEQWh0ZEhnVVZnT0dvczlPS2ljRXU3bkV6NnJ3ZWErVWdRTkRSeVVQQXBsOXVQSlpxb3FxN0ZaeHMra0o2NlcwTkVmM3BYRWdUL0Q2SFp5Ulg1eGZUZFNXblNTRUZlcjcrMG1tZG4wS056bW1sTTkyVC9uLy83UWFHaEYrc1ZPWEgyMEV5Tnc4VmZXYXIwTFdOVnFyTktpOWRiZTNYWERNeHNaNDdGU3pvUjBiWnR3ZlAySG4zMDBjQy9Db0t3WU1HQ2wxNTZLZkRCblR0M0JsV2tEei84OEl3Wk01cDI3MlJaV1ZuWFhITk4wTmpneXNyS0RqYy9BdHFSVHJFME9wZjlvVStqbjZwSjcvL3pyNy9YNkV0SnBqWThjNWozZUJzME41alI3N3VUL0x1VDZDL0dXc2ZEU2hZdmtSWEJEdFdBQVFOYStsY1NFeE92dWVhYTNidDNCejRZZEVGTlFTcVByRWpKN2NjYU9sUVhpdm0zSnpnUlBYMnZZTEdwWnpRb3RNYnA1c3MzMjFLVE5HT0c2c000UElxaVhwR0cySTZKU0w0Z0hlMW1oTFJ6NTg2Z1I2WlBueDcwaUNBSVU2Wk1DVnFwOHNDQkEwRUJxdFZxYzNOenAwK2ZQbnYyN016TVRJb2Z4akIyOUc3ckJKWHA0NWhXNC8rV1VZUDhYM0s1K1l6eHdaSHQ5bEJMUzdURjB2ZG5DeDRmNzlYZC8ybVJrbEQvQjZlYkczU042dXBtcmQ3TlJ3K21pbHErWkxOVVZrMDVtUlE0WExsWmplL29NdmtPajkycC9MdER0V290NGorWDFQM29ucFFSZzlxVHBQR1NUdFhWMVVHYnRRd1lNS0JwUjIzcTFLbEJGV25UZWFlelpzMXEvZC9LeU1nSWVzVGpVY1dXUk5GSXB3Z3k2Y25VOGhzODVIdS9KWWttQ3JwYkMzR3FnMkVsaTVmSWltQ0hxblZOdDAzdTJiTm5HeHNiTFNxUHJJaGdqTzZiWHY4U1JKR1dmOG1KYVBSZ2VSQXZrOGNETDk0c0JZNm9tRHlLelpwWTMvRTdkb0d2K2lxNHZ4YzR1Z1JpdzJ5VDNsdHQvdEhkcWFPSEtGbVVxcU1pTlNvLzZlWGt5Wk5CanpRNzhDTXZMeThvUUFzTEN3UC9haktadnY3NjYyYm4zS3RmT0FzOGNzN2JsS0czVFJZU1doaXBsSnpJN3B3YS9LREZ6dVdicmkwMk11d2ZyYjZGcFhFNUo0ZWJpRWlub1lZZHc1d2VjZ1YwdlB0bEJJOWRrWWY0Y2s1T054bXVmcGVuNWUxR2JRNzZ4M0twckJwTFFVVlhaYTM0N2tyTHdqdVR4d3hwODRpNGVFbW4wNmRQQnozU2JEcjE3dDI3VzdkdWRYWCtHLzFXcTdXbXBxWjc5emJVUTAwWEYyblR0MGRQeDlPcDFrYTdEcmYyRzU5M2cvKzd2L2hhYXJaamxGK005ek8wVTBmQ1NoWXZrUldwRGxYck9PZEIyYWpWYWtlTUdOSEd4a1pMTkRwVUVXUjMwblB2aFRWZDg3bkhOSWt0RE91WVBZbGw5cXh2LzdhRFVsazExd2gwOTQzK1YzVHFJcStzYmZRdDlvQnBCVzR2VlRZek1BMFpxNEFhcy9TZmxaWkg1aVpOR0JGOGxTZG1vbDZSaGpObFJmRkxlcHp6d1BsWDhtaVEzcjE3TnoyeTZacVdRUUhLR0l2VGNqVE1Yd1JYYXJWeUl2bFdROGZ2R0RoYzlPczNSQ0o2Yks1dzdaRDZWL1AzVDhTS0ducml6aFkveTFNVGlJaGNYdUtjRXE3ZUw3WFlHNTNlZ3RCb1BKN055Wk1UeU9zanA1dXNEbW82V0M2N04rdlR3Ly9YQTJkNDAyVUNtMTM1Q1FKVjFvcUwxOWxTRnJSNVJGeGNwRk96VzdZTUdqU28yU01IRGh4NCtQRGh3RWNLQ3d2REx5bTlYbS9RelZnaWFqcmpWQkVkVHllcmpiYTJ1cVhlcklrYTA5Vks0YXZEdk9HdHh4aUZ2SzUwdm9qdk90TG9vTy9OWmcyREtUN2FJUGtDM3RyWERxR3hROE1xR3lTSnltdjh6ZWpUby80SlhSNWVFM0RwSUQyVjZYVlV2OVozd0ZTSTZvQmpzb052ZmtkQWNTVkp5bzlvaVNmdERpdFpYRVJXQkR0VXJYdi8vZmVMaTRzREg1azFhMVp5Y25MTDN4RlQ2dTlRT1VPdXU5U3F0Q1NhUGNtZll4UHloTWtqdU5IQUdpNzBGMVhRMXYzb3dNU05Xb3U0ZElNdEpWRXpkSUF5Vll3cVZqWXlHUlFPMElxS0NxZXowWElRTFEzODZOR2pSOUFqNWVYbDBXeGFUSVZ6U1kreHVKLzIwR0J3Vm90ZmFycldia29TSXlLbmk0Z28rV3JaYWJZMStsSDBTYWZmZmorNFlENVZ5Ti84WEtxc3BVV2JHdlhkMHBMb2R3c2JIZnpwZHNuZTZxb2swSkt5S3QvYm41cWZ1RGRsVUw4MkpHbGNwQk1SQlhYdmlLaFhyK2IzSWVsZ1FLMWF0Y3BzTmdjOWVNTU5ONFQvRE5FVGczUnl1SGpEcjl1b3J4ODBrZG1MbnBnbmJEdEEzNTZVV2hrVFVXT2h3K2NhblU0UEJtejdlZXdDRDF6WnFFOFkyMExJN0M3KzE0L3FjME9ucFZkL1hwOFlCYVgwNXVmK1BHbVl4dThUcWVINFFEcHQ4RnpXaVBqZDI2TEZIdkZuN2VUYUYxYXl1SWlzcUhhbzNHNTNaV1hscVZPbjFxNWR1M2Z2M3NBdnBhZW4vL3puUDI5dnF5T3YwM2VvNnV6a2NQSGtxeGZvMDVJYmpTenppYlI0c3pScUVPdmYrRnBFNEg1NG1UMXAzdFRnbDcvNTIwWnBDYkYwcFZaOGQ1WGxpWHRTY3ZzclVKU3FZdFN1UWVrQURWeUNYTmJTWFlXMHRMU2dSNEtTTjY2RjlZdmdBckYyWHZUNjdkdVNwN2xMdkFrbSt2UGpzWjRyMVRlZE5TUXBFU1VsVUVYQVBxSk4xOXBOVGlBaWNybzRFZlc0dXFGR25hMzkxLysrZDV0Z2FqSjBLenVEUnVTd2pYdHhXYkhOU3E3NC92MlorVWYzcEE0Sk8wbmpJcDFpRmxDRmhZVnZ2UEZHMElONWVYbkRodzhQdTZWUjFQRjBZcXpGTWY5eUI4amhZajJ1YnN0cU1qRDUzVDM3T3FGSEtwcy9nK1pNMW55MlF6cHdwdm5uVHpUUndNWTdEd3NCZmMzczNpeHd2WlZ1cmQ3RjBXZ0MvZ251YjdNMjRPTmFhUHhhQWhmdUQzcU42TnVwVUR2Q1NoWVhrUldOdlBydGIzKzdaY3VXVnY3UlFZTUd2Znp5eStucDZXMXNiQlJGdTBPbE9NN3AyQVdhMHNMQ3hodjNTaVdWZk5xMXJXMnIzamVkOVUwUC91ck9ReUpTUzBGbGxiNjNQalgvOEs2VWtZTmpQYWNVOTBoSjNpWWg2SkdtMCtWbGVuM3diNmpwOThZdlF4Z1Q4VHN5eE4vajRXNHZhVFQrQldaZFhtYTFjMjNZcDZIYnc4OFhoWHV3eVVnTnV6dzNOV0pnb3k4OWRiZXdiR3RyTHkwMWtZZ29MWlg5OUg2aGUycjk5K1prc1ovZVgzKzc0L1ZQMnpCODdmYnJoYUhad1cwYlBaamRONTBaZEV5bmtkWitIYStmVWdvcXJSUS8vc0x5MVB6VXpGNWhuVkp4a1U2eENhalMwdEpubm5uR2JnKys0ZlhNTTgrMHBhVlIxUEYwNnBmUjRwai81OThUSyt2STZ2VFhrQWttTGs4VHVDYTMvcEdrQkxLMi9MTWNtY05HNXJUWXdwL1BiOFBVdm9DVjRDZzVNWGdmR3Rtdy9zMC9ydE1HdjhZLy9rZXFzU0JNVktldFlTV0xpOGlLY1lkcXhJZ1JkOTExMTl5NWM5VTJZU3JhSGFxT2ErczYzazBkUE1QNzlXSTFWbTV4VUZaUHl1bGIvNUlMeS9pV2ZZaWRlSFdsUmx5ODN2cmtmU2tETTJQNm5vcDZSY29ZRC9tT2swUVNGTjNTdVdrSU5nM0tsaDUzdXpzMkVsOU53cHJRME9FUHUrd005c3VyVzVKK2UwSmF2TGtOMzF0blkyK3ZEbmZyNUpaMmY1R055R24wVjZPZUxieWROZXlqOWV5REF1ZGtESGd6eWlzYkpSZ29zSkpNUzZLMEpQOWZIYzc2eWFKNkhUWE1VRzFxNG5CMjIrUm12cnBnaHFEVkVCSE51azd3aWhMdWxMWkRZYWx2MHplT3grNU9DZVBZK0VpbkdBVFU2ZE9uZi9HTFgxUlZWUVU5L3NBREQweWVQTG1OalkyV3FLYVRQQnpYWXZOWHBNa21Sc1RuVEJZYS90MkxaZnpzNVZpOEpUVlJPTjg0RDJzS29sYkxORmRyWjg3SkUycGZRYzZ4TVduN3RTbXNaSEVSV2JIc1VPbDBPcVBSV0ZWVmRlWEtGYlZ0YlJDYkRsVzdSV1FkNzNORi9PVlBSQ0pLUzZIZlBsTC9iRzR2LzNpakpBOHg4NG5jM2NiRjJwRXFhbEJjNGR1OHgvSGorMVBET0RaaW9wNWJKZ096T1VPY1d5NFBUMnBoV2RUWWFMcUJWVXVybjRsTlZwNHhHRHE2NTdWNmhMV0lUb2RuUFFTV2VUYVhNdEdUbHR6ODdWT25tOGxYRFUyTlB5aDFPaGJPS2dXMTF2ckpvdDFUV0VzVjZZZ2M5dERWQ1dieXJOR0dWZXlXYnBVZW5pVUlBc2szVVgwaWIzMGhGbWdxcTVmMjVvbmg3dllZRitrVTdZQmF0MjdkWC8vNjE2WWR3VW1USmozNzdMTnRiMnkwUkRXZFBENGlvc0Fwa1NtSmJGQVdIemZNLzNTYjlnYS9HYm5VV3BrWE9JdXNsY05FTWZoTHhzYWJTMVhXdFg5bG80Ym45NG4weTlkRGg4bWpjNFFKZVZmdmNwVHpWNVlnZjZLb1RXRWxpNHZJaW1XSHl1djFIang0OE9EQmcrKzk5OTdDaFF1ZmZQTEorazlRRlloTmgwb05OQUw5NEhiL3JncXJkdklyVndkdXI5akdWMnhEZVJsLytxUnJwMDlvV3pwMVhOUXJVa000QWVybVNRblJia2hyVEtiZ24zdExXL0I1dmNIRDJ4TVRFNlBXcmxnTFowUVFZeDJ0SVFPWEViZTNmY2h6eDNkL0lhTHhlVUxRUjZURFRVNFhMNm1rYm9PWnZNUmxJQTNqMjY0dUdYZnRVTlk5aGVSNlV0NE1PbnpqaHJKSGJoTTBHcEw3amg5dmt1NmJ6aG8yTkQ5UndGZHNreDZZV2YrQmV1ZFU1aFBaam9OSTgzQ2xkeE8rZjBkeStPTk00aUtkb2hkUUxwZnJwWmRlK3VLTEw1cCs2ZWFiYi83Zi8vMWZiZmpqNmFPdmZlbWtDM2dGZFRiYWM4ei8xWmtUL1d0Q3lyc0sxMWo5QjZlbjBwVFIvcTd0K1NKK01uaDVLVHBWeUgvNWVvdXRldmtubW9ZdTJ1L2Vsc0tmR2FVUE9IK3YxUEFYRjBWZ1phT21yc2xsWHBGT0ZvUWJMeU56Mk5uTHZLWHRsNkd0MmhwV3NyaUlyR2prMVlRSkUrU245WGc4ZFhWMUJRVUZGUlVWZ1FmNGZMNTMzMzIzckt6c2hSZGU2Rmp6SXlZMkhTbzF1SGM2YXhpdmUvUTgvL3BZM0wraUxxNWJpdWJoT1VsREIzUzZlYVJHZzBBVTRnTlM4ZjB0RWhLQzg3dWw2ZlZONTFrMS9kNzRGYzZ3TGtuaUhid0UyU2RnSXJ2WjNyWmZmVVIyZjJHTXJoOFYvT0RTTFZKNk4vL2FKQzh0a2txck9HUFV2emNyTE9ORVZIU2wvalFlbnlmSVZ6WFBGZkZWdTlwd0QySGFXSGJmVGY1S2VPdCs2V1FCYjloZFd2YjFNZDQ5VldyWVAvcmVtd1NmVDlwOUZQa2VXa1ozelEvdmJ0dnU4M0dSVGxFS3FQTHk4bWVmZmZiY3VYTk52L1RFRTA4ODhjUVRhdHU2dlgzcFpBZzRIYXJOZkVQQWZjNmJ4d3M2cXIvOEpHL05Fcmh2M3ZXai9aczNjRTVCMjdnYmRHM3JSK3IxSVkvM1R4bElETGhMNVBGMWRHV2p3R2R1a0p6SUhwb2xKQmdwdjRTdi9WcktMNlpXSkNYUWdobkN0VVBZdmxQODQ0MjRheG9CN1FncldWeEVWalR5NnA1Nzdybm5ubnNDSHpsNzl1dzc3N3l6YytmT3dBZlhyMTgvWWNLRXVYUG50cXZoRVJhYkRsV2JsRlJKdTQ2MEdPeGpCclBVSkhZaW45ZFlXMng1U1ZYd2wyNGF5MjY4cHY0MWlCSVZsdk41TjdCdXlTdzFpVGJ0NVY2UnBvNXB3MGRKV1JYLzhvRHluN2xkV2M4MFRVZjJUTzZJNkZla1lVUnVPTXZIUlZWU1VsTFFJOVhWMWMwZTJYU3FWYk83Yk1XcDhDN3BkWFNVU1ZiQXZoVVh5eFQ0MVkvTVlUMjdNYm1IMnVQcUdrV2xWZnp3T1hyaVR2OUx5ODZnQjI3UjlPMUpMMzBzbGw5ZGhyZHZPa3U5T25IVWJLUE1YbFJXRlhwSFBvT09IcG9sQkk0QXZGRE0xMzNUL0d0ZnU1dW5wZkFKVncrZVAwTVFKV25QY1dSMGEzcW1hUjYvTjNYWXdMYmRjSWlMZElwR1FPWG41ei85OU5OTkQrN1JvOGNMTDd3d2FkS2tqclUzS3RxWFRvSGxtYS94Q0VIdDFSV0UzRmZ2KzEycDgvOFRnYVAwdnowcFhXNTBQNGIrL0tSL2lGbzRYdnh4aUY2bjEwZlB2bGJmdnNTQVB2bkF2aDFkMmNqdGFlWkc3bjNUV1lLUmlHaFFKbnQyZ2VaZm4wbW5MelgvNCsyYnpuNTZmLzJ5NUJPSHMwdmw3S3ZEeXI4ajRscjd3a29XRjVFVm13N1YwS0ZEWDNubGxiLy8vZTlMbHk0TmZQemRkOTlWU1VVYW13NVZtK1FYVTM1eDg2MjZhV3g5MzZaM0QxcTZsWnZEMjlWcHltaDI3MDMrY05NSWRPZFUvMTgzN0pWNnBMTHJSclRoQlo2OVRLaElGZFE5VmJGeWxJaWlmbkhHWkFqOVQ0UnpKU21xTWpNemcyNElWRlJVOE9iMlJHKzZXVlpPVGs3VHcrSlVCSDhSZ2tBNWZWblRzVU9tZ0pXQnpEWmVHYnhLZkN3MDdMbHlJcisxMTd0d2ppYTdOMmsxamZZVmJGaDRVMDd3MzM1Zmt4VEdTUHRSZzlqWW9mNXZMS3VtLzZ5VldxbGpGMitTemhmNTI2WlJ5N3dZbFVwTkZoNitQYmtkUGJ5NFNDY2k2dGV2WDlBakxlM2FGMDVBbFphV1B2bmtrMDM3Z3BNbVRWcTJiSms2eTlGMi95SVNBdFlkZFFWTWxUWHBTWHUxY0d2WUpyN1dRczRtb3d2dFRscTlLNmJuUUdwd2Z6N0NSdVRRdUlBNHlpK21sc3BSSXFxbzRYVlcvOEgzVEJOYVdjQWNRbXAzV01uaUlySmkyYUY2NXBsbmdoYnlMUzR1TGk1dTlhWi9yQ2oraXdnU09HR3FUdzgyWTN6OWY0T3lLRHVER2dyTDlHN3M2ZnVhMlpxdVFlQlVpUFJ1clMzZzVIUWhLK0pKVW9Md3dLMUpTcFdqc2FoSXcxbi8ydVZSZUNDUXdXQUlXcVhONVhJVkZUV3p6VWpUUVc2REJnMktjdXRpSjd6UlBxRi9vZmZlSlB6dEdjMS9QU2cwN1ZwTkhNNGFPb0xsTlUyL05RUzNoNS9JRC9lLy9KTG1YMDVSQlNjaWg0dk90YnFSek1idjZrL0xRWmxzeWlnbUQvZWROTEk5Q1h2Z0RIOTNyU1JQd2FxcTQyOThLdHBiM1NSU0ZPbWROVkpaTmZkNDZaMDFHTFhibXJRVXpRL3VUQm1YMTU0TWpZdDBhcmFYMXV4b1c3ZmJmZW5TcGNCSDB0UFRVMUlhcmVUcDhYaCsvZXRmTjkwdzhMSEhIbnY5OWRkYjJqWlFEZHFYVHIwQ1hwRGQ1Zjl6V3FyL1NFZkF4THppaXVCL1plVlhrdDFKVDl3cFhBUHNNYzBBQUNBQVNVUkJWRHNrdk1Vek95d3RPYUNLOXZCYUc1a0Q5ajBXUmFxMWtUVmd2b1BkU2JXMlJ2L0o2OFY0ZlZScm96cGIwRTFqdG1DRy95YXFUNlNsVzF0YnZWeVU2S01Ob3VmcWREK05objU0aDVEYWVSWlBpS21PaEpVc0xpSXJsaDBxazhrMFlNQ0FvQWVEcHBncUpWSWRxa2o1MFZ6Tjh6OFM3cnlSOWN1ZzdON3M3bW1DL04rSWdleHlCWDE5MUgvYVpLYXpKKzZzWC9DaVFWb1N6WndvL005Q3pRTzMrQXVIL2FlYi83ZEVrV29zWkc4ODUxa1V5ZTNoVGYvellQZFJGVWhORWhiT1M1NDhwdm1ObW1JaittdnRHa08vMyt3TzVUdmN1Ym01UWRmVkRodzRrSjJkSFhUWXZuMzdnaDZaT0hGaTlGc1hJM1puR0o5a2pRZVpHSFNVM1pzTjdFdnBBV3RFOSs5ZGYwRFFrbnNKQnJwdGtqL0xobWF6cCs0V2xuMHB1YjNVVUtFRjlocWJpc2p1TCtVMTVQYnlveGU0ci9XWEczQld6cHNxSEQ0dkRzMnVYOU1vaUVIWHpFeXRJRWN2OExkV1N2TnZFZDc4UEt6eE1FNDN2YmxTU2syc244VUt6VXBKRXA2YW41STNVTisrVWlHTzBpbm9rUU1IRG5ET2cyNUVIRHAwS0dqdHlxYnA5UDc3NzU4KzNhZ1R3Umo3NHgvL09HL2V2RWkzT3NMYWtVNUVsSkhtLzZ2TnlYUDZzbW96MTJqWTdRSGJMOVhaS09DWVJzOTM5RHlYOTNNYW5NVkdEOVpVMWZGdEIybjNFZW5iNDF6WHd2ako0ZjJwUjJyejU1WFhSMGZPY1Zkeml3TkpBU3Z1OXU3dS8vYk4zOUhXZldKYUV2MzV5Zm9vSzYvbUx5NlNOQUw5ZjQ4STh0SzdsWFg4WDU5Sjh0M2R0R1M2NjBiL0JJRTNQNU9DbHQ2OS8yWUtETEhOMzBraHJ3eVcxOURxWFh6K2pQcm5URTJpUjI4WFh2OVVhdTZtRjdTb2cyRWxpNlBJaWxtSHF1a2tWWlhzZ05DK3lJcVMxRVFhbkVXTXNaa1QyUFVqYWUzWFV0Qy91M3diTnhwNHcxTGJ1ZjNZOVNOWnc5WHd0Q1I2L25HTlBPVTFQWld0L0txK3oxWmF5WXV2Y01hb3RJckthM2gxTFZWYnFNYlNmQ2ZubStOU3MrdnVadmFpMzM2L28rdURRRWNrSmJCSDVpWlBIR2xVZHZtSUdNd2pEZjM2cnRTR1cyTkV6NDAzM3Joang0N0FSOWF0V3hjMGs3NjR1UGo0OGVPQmp3d1pNaVFyS3l0V2JZeTZxcm93ZmhHY0JlYlkvQmxDSzVNRVJJbTkrSkVvOTV0MUd2NjkyNFNnY2J3amN0anZGbXJXN3BKKzgyYnN6Z0hPcWF5S3ZqM0pXems1NzU3RzhnYjR2NXBvb3JrM0NJTmEyTzFzeWhqcTMxdFl1VU5xU09IQXRRb2FudVZjRWYvTGgyTDQzYmhhQzlWaWEvdVdKWm5ZZzdPVE85TERpNWQweXMzTjdkT25UMWxaV2NNalZWVlYrL2J0dSs2NjZ3SVAyN2h4WTlBM3pwZ3hJL0N2VlZWVml4WXRDanJtcWFlZVVuODUycjUwSXFLK1BRT2ZnWjY2VnpBMXFTUWJhcmJiSmpmYXRNbnJveVZiSlhuREtubldaWG8zZHRPMXRQc0lyZnlxbWI1bWFpTGRkN1BRVWprcWozWWJrazBiOXZJOXg1c2R3MGh5ZEdRRTNOZXRyRzMrT0ZHaVpWdjVMeFl3eG1oQUgvYnpCY0lINjZWeFE0VmJKckNHcFhwMVducjRWdmIzSmY1bnVHNkVFRGpLbytRSzMvSmRXQW16NjRnMElrY1lNYkQrZTRmMFk3TW5NV3lZSEw2T2g1VXNYaUlyVWgwcXA5UFpkT1hlUUVWRlJVRURRNGlvWjgrZUxSd2VVKzJMckNnWk84eC9BZlBRV2Nrbk52T3ZMdDRrcFNRSzhyeXFMZDlKdTQveXJGN1VQNFB0UGNscmJaUmZ3blA3TVRsWXJoOHBiTjFmbjRGL1c5ejh4YW5VUkdyWVJ3RFV6S0JuOTkyU05FSHBjalFXbzNiVFVrSmYrU2lyVkg1RitSdHZ2RkhUZUl6QzBhTkh0MnpaMHZCWHp2bXJyNzRhOUYyMzNYWmJyQm9ZQ3hYVllRUm80M08ydUxLMVRnbm5WR3VsR2d2bkVwOS9pOUF3ZzFUdVVjbE1lbHB3aS9Ec0FrM1BidTF1ZUpzZFBNdWJYVjdTZEhYV1dXQTVLcHM2aHZXOXVrcXdyZkdtTlRvdGpSdktwbDVkYnE1YkV2M2dEdjg3YTFoL05tTzhmOUZPaUloRUUzdjRqdVFwMTNRb1ErTWxuWWhvK3ZUcFFZLzg4NS8vRE54RTlOU3BVMEVWYWJkdTNTWlBuaHo0eUtaTm0xeXVSb01RVWxKU0ZpNWNHSjBtUjFnNzBzbWdhN1R0Y0ZrMWxWeHA1aDE0b29BVDBleEo3UGJyRzMwZzZyVFV1d2NSVWM4MC80UE5sb2hweVhUL3pleFBqMmthQ3RyVGwzamdMTEl2dnE3dnRLVW1zUWRuQ3M4L3JwazVVVWhzcnFlZG1kNW85NWVLbWhZakk3K0VyNzY2MW5kV0wvYUhIMmptWE84dlIrMU8ydlF0Ly9kcS83ZjNUV2NMWmdRa3NFaUxOa3RpMkFNOGwyeVdIQUhuem0yVGhFR2Q1MkpzZEVVa3JHVHhFbG1SNmxDOSt1cXIvL3puUHkwV0N6WEhaclA5NFE5L0NIb3dLeXNySXlPalk4MlBqSFpFVnZSTUdPWVB0MzB0RGJXVjZEOXJwS0lLK21TenRQWnJMdDhwZlhDVzhEK1Bhc1lQWTk4RXpCNmFNdHIvWFZvTlphUlIzZ0EyZFRTNzgwYjIrRHpodDQ4SXIveE0rTXVQTmZkT1Y3ckVnVkFTak95QjJVazNUMHdRVlBDN2l2bzkwcjY5UXY4VFpaVmkweEZvTWRhdFc3Yzc3cmhqelpvMWdRLys2VTkvS2k4dm56WnRtc1BoK1Bqamo0UFdHVTlQVDU4L2YzN01XeG90blBOd0FwUTEzc09ndU1sOERhdWRueS9tNTRyb1FoR3ZOcE5SVDFQSENET3ZZNEZMVTI0L3dBK2U1UXR2cjEvemxvZ0daZEZ2dmkrczNNbGJYMVMyVnhxOTh0TndMNk8wY2tZMXUxeWtUa3RaalQvSVNxcjRnZE44K2xoV1dlZnYycFpXOGJPWGFQbzQvNU9ubUlpSTVJRzdBL3F3eCtjMW1rRExHTjA5VFJnL2pMWWRrRTVmNGtFelNMZnM0d21HK3NaZ05rV1lFb3pDay9lbFhEUE0wTUVNalpkMElxSUZDeGFzV0xFaWNPdjVNMmZPUFBQTU16Lys4WTk3OSs1OTVNaVJWMTk5TldpeHJNY2VleXhvOUZwUWdoR1J4V0lKdVpUUjBLRkRGeTllSElrWDBYN3RTNmRoL2YyejFpV0p5aXA1WlMwYjNMaU8ybjFFeWkrbXVUY0l0MTdYeks5NDNoVE5xOHZGaG1rSVJGUmM2ZitxUVVlakI3UHhlU3l2UHdzY0Z2SDFVYjVpdS9UUzAvNGUrYzVEdkxSS1dqaUhHZlNNaUxvbjA1MVQyUjNYYTg0VjgyUG4rZG5ML2czbGgvWDNQNUhkU1dYVjlTK3NxWXcwOGtsMHFZTDZOMDR0VWFSMWU2UmRoeWx3S29GQlI0L05GUUpyM1hWN2VQR1Y0T2RzdEpScjQ0dzAyMm5WTHVuaHE4dThDUUl0dkYzejBzY2hwc1JEcE1KS0ZpK1JGYWtPbGMvbisraWpqNVl0VzNienpUZVBIejkreUpBaHFhbXBHbzJtb3FMaXdJRURLMWFzYUxwQzIrMjMzeDYxbDlVRzdZdXNLQm5ZaDJWZlhjTzRzbzVmTE9XOUFxWXpCSjRwTGcrOS9JbC9KSmNjZlJuZGFlSHR3dGI5a3RYT2t4T1pQRnBrYURZN1Y4U2ZmMXlUbHRSaVdSMjRtQndSRGV3anpKdmF6RFd3NU02emhXS2NNUm5ZUTNPU3A0MHpLZDNCcVJmMWlqU3paK2hMZW5hbjVIVHpoREFtU0VUVlUwODl0WG56NXNCN0NCNlA1N1hYWG52dHRkZWFQYjdwSW05eHplSGlkbGZvQythY04wb2YrUjZwMTBmNUpmeFVJVDk5a2N0ZEtJT09EY2xtTjQ5blk0Y0dEelE2VmNoWDdaSTRwNzk5ekJmY0lrd1lYdjlWbzU0OU5JdU55T0ZMdGtndDlYSVlJME1ZdzVaQ2FuYWQyOW5YTlJyUnQrOFVYN3BWOHZxbzJreVB6aEVhWHY2eUw2WFJnd09XTzlkUXY5Nk1pQ3gyUnNTRHl0RUcvVEpvNGUwQzUxUlpTMVlIT2R3OGNDOEt4b2dSRGNwazhoOFlJMEZER29FRVJqb2Rxekh6OTc1UWZuMGRsVWcwQ1F0dVRZcElEeStPMGlrcksydisvUGxMbGl3SmZQRHc0Y05QUHZsa3M4ZG5aMmZmZi8vOVFROWV2SGl4NlpHdExmcE1KSGNLMjk3ZUNHdGZPbDAvS3FDU3ZFSXVMNVhYY0ovSUdKSGJTelVXdnY4MDMzT2MvL2d1WWVTZzVuKy9nN0xveWJ1RVBqMzhqMXdza3hKTk5PMGFZV2cyRzlDSGdoYi9zRHZwc3gzUy90UE45REtQNS9PWEZ2T0haZ3J5eURjNU92TDZzN3oraklnY2JscjNOZDkxUkJvVE1HVzRZVzAyVThDS3dRa21OdjhXWWNTQSt0bXFIMjJRdXFmUzNDbU5FdW0yU1VKT1gzN3lJcFZWODdJcWNyaG9TRFlMSElSeW9ZaSszQytsSnRLQVBzenE1RzRQNDBRRGU5UHdnTEVodmliZDZiM0grY1E4M3REK0pDTU56bVJITDJEZ1I0c2lHRmF5T0lxc0NIYW8zRzczeG8wYm04NUthQ296TS9PUlJ4N3BRS3NqcG4yUkZTVTNYaHV3bDlVSitRM3JuNzg2c0xmQW1MOEtiZmhEMzNRMkttQ2RxVE9GcE5QUVRXUHIvM3I5S0hiMk1oZDlyVjM3OERUKzZPaVhRZjB5c0hPQVd1aDE3TjVia3FhT1ZVczVHcE41cEVZaDBTUzBQc1BiSjVMRkppVVlGVDVUZS9icytjSUxML3ptTjc5cGNZcFBnQVVMRnNURjVLdndXV3lTTjlROU9zNFpzVVlUNHAxdWV2MVQ2V0paOEdwcGswYlMvVGMzOHd2ZGY1cC9zcmwrQUp2TFN4OXRsTTRXc2Z0dlpnMUxDSTRaekFiMEZ2Nnpsc2QrUlo5VGw2U2J4MnQwV3VLYzF1N204alNKa1RuczRWdFp3LzRybTc3bEJTV1UxOS8vWGIrWVh6OXpyTHlhRTlIUmZIN2oxZjJnenhmeEdnc0Z6ck5sakhwMWw5Zi9iRU1HSEVPZjd5cURqdTY5SlhIcVdHTkVlbmh4bEU1eWorMzQ4ZU5CTTYrYWxacWErdHBycitsMGpYYVk4UGw4ZFhWMTBXeGdGTFVqbmZwbDBJZ2MvMWtpYjNDeTdRRGZkc0JmYWZWTlo3LytudEF3VWtPMmNTOVBTYVFwbytzZkhEV29VWkYyb1lnOFBycDJLQVdXcVhJMzd1QlovdmxPSHJnS2JwREtXbnB0aFRSbE5Kc3oyYit0c2N5b281TVhlYUtKK21YNEh6OStkWHVxbklBWjdHbkpkR1BBanZNU3A4M2Y4dkpxNllFWlRMNTlRVVI2SFkwYXhPU1dWOVh4djM0c0hjL25yeTZYRnM1aFBWS1p6VUVmYlJBNUo0SFI0M2UyZUdJSEx2alVZTWxXNlhlUGFIUmFLaXpqaXplRlhoV3BLNHRzV01uaUtMSmkzNkhxMGFQSGE2KzlwcEw3Qk8zclVFVkRvb2thWmhPSVVuMUZHbmozY25BL2V2NUhtb3JhUnIrb0JBTmxaL2lIZnRUWjZId3hkN241VFdQcnI0bU1Ic3lNT3Fxb2FUU3BvWUU4WTZ1OEdsMFhsZExyMkozVEUyZGNsNkNxelFXalhwRnFOZFF0T1dTQWNyTk42cDBlN2JhRU5tUEdqRC8rOFk5Lys5dmZnbVpiQlhub29ZZWVmZmJaR0xZckZzdzJ5ZU1MRlIrTVU1T1Y0YzVlYnVhN2RoM2gxNC9pbVQzOWg3cTlmTU1ldnEzSjNzZmZudUNYeXZoajh6UzlyNjduSVVxc3NxNzVFMGFTL0pzSGhzUUVhdE11OXZuRnRHaVR0SENPOE1rVy90MUppWWltaldYMzNTUTBYRUE2ZVpGdjJDc1IwWlZhLzA5QkxrZnRUaXErd29sbzM4bjZpalMvbU41ZXhkMWVmcnFRelprczlPckF0aHBIemlIV1NSNVcvWU83VWlhUE1VVXFRK01ybll4RzR6Lys4WS8vL3UvL1BuejRjQ3VIWldWbHZmamlpMDJYdGZSNG1teTFHVC9ha1U0Q1kzYW5md3UrZzJlYitYYXZ5RFZDbzVOcDQxNitmbzlrTWxEZVFFMzM1T0RqVHhad3Q1ZUlhUFV1NmFtNy9YZXJUdVR6TC9aSUpVMEd3VGJybTJOODN5aythYVF3YzRKLzdlN0Q1M2kxbVJQUmlpOGxlUU5rZVdGZSthczlVbHQ4TmtuaThwckFGNHI1M1RleWljT0Z3QmZFT1MzYUxNbVhDeStXOHI4dDVvL2NKbngxaU5mYWlJaHFiVlJWeDlPN05kOGhQdFBjSnFXVnRiVCtHMG1qcFMzZmhWTm9kRjBSRHl0WmZFVldMRHRVRXlkTy9QM3ZmeCswNjR5QzJ0Mmhpamk3ay82eFhKbytsbDB6aEowc3FGOEY5M0lGRDd3OTJ6MkZ1cWUwMW83ZFJ5Ukpva3NWZEtXR21NRDNuZUxmbnVRdUw1WFgwa2dpcDRldTFQRHlhaXF2cGl1MS9Fb3RWZGJWandKcldQY2IvbDk3OXgwZlZaWDQvLy9lTzcybVF4SUNoRTdvSUZXa041RW0xWVlDb3RnUUN3cnJxcXVmWFR1NHF6L0ZqMnQzcmF0K0FKRmRGUkVzcUloUkJKUU9BZ0ltQkJJZ1BWUHU3NC9yZDNZMkpKUEpaR2J1blpuWDg3R1BmY3dNVTI1aThzNTkzM3Z1T2RwaDBBc3p4OWpIRExMcU5UYkRjUlFhcVpoa2x3TC9xZlo0aGJQbFdobVVPSG55NUQ1OStqejk5Tk5mZlBHRi84UWh5bldKZmZ2Mm5UOS9mcjkrL2RUYndFZzVXKzUxTmJTRWlTZ0VlM0pQbG9YM3Y1QnZuUDc3azdmdmw5L2Q2QzJwZTNvQzRiZFR3dkxYUFZkY0tQWHVLTHJjd2d0cjZyMDJxZWkwOEplWG03cjZTd0EvN0pHUEYzbDhCLzROa3VEMi9MNGU5TEVUOHNzZi9INTJkK2NodWFybXY2YnEvZUpIV1prajVOQnZja0d4VUZFbFA3UFNxK3k4NXUrVzgzZDd1dVNLblZ1TGJiS0Y1cW1peGRTSWdUcW56c2lGbklnUUJMTlJuRHJLUHFpSE9ZeDdlREdYVHNuSnljOC8vL3g3NzczMzl0dHZIenAwcU5hL3BxV2xUWmd3WWNHQ0JZRm5wNHhGSWFUVDRRSjUyWnZlRzZaS3pWT0ZBOGZrNDNYTndWWlVJdnp0TGM4dGwwanB5YUlzQ3lzLzkyNzhYbGFHZmp5NzBudlQ5UDg2aytuMkNQL2UvUHRQd3M4SGhWMkg1TnhzTVgrM3ZPbEgrVmpBQ2Q3TzVYSUxYLzdvL1dxNzBMbVYyRGRQN041ZTNMVDk5M2Y0YW9lY25lRWQxbHY2ZnZmdkM3b0lndkRGVm5ua2VZTHZKNy9hSmUvL1ZkajdxN3ozMS85Y0MxcGVLYnorc2Z6aFp1K1lmbUsvdk4rdmJ0aVEvMTlUdUZWVUNjK3UrcThmNWw5K0U5THJtbEx1cHdQeWxwMTFmMUhyenptcWlGb2lFVmFLbUl1c0p1NVEzWERERGFtcHFaOTg4a210dFdSODlIcjkrZWVmUDIzYXRDRkRoa1JnODBNWDNoMnFKanIwbS96eXYrU1VMLzR6YTFwSnFmRDFEdGszRWlTd1l5ZmtEZC8vL3JVOCtZN0hmMldYamZuZXozOFFTa3FEMm94TjIrUlZkYzFTbnAwaExyNU1TNmZxNHBwZUowNGFaaDAxd0tLMU9ocU5ScXFUQklldGdSODFsMXMrZFZyOWEvRjljbkp5SG5ua2tjckt5cTFidHhZV0ZwYVVsTmp0OW95TWpHN2R1b1UycS9paVJZc1dMVm9VZ1MwTkcxbVdUNTcyVkRlOG9MTlllNzZMK3UwOEpPODZKQmVmRlQ3N1FmNnRvY0ViVlM3aHhRKzhZL3FMWlpYQ0VWVlh0L1lmaDdZK1g5NTV5RHQzZ3VqeGlFLy9uN2ZxL3czQ0thOFVYbDdyblRGU1NrOFNxMXpDbHArOUgyMyt6eGU0NWt2djNpTy9uMHZ4MlhsSTNubm9QOCt4R0FXcG5qaVE1ZC8vSjhpQ1I2N2phcTRFcE5PSms0YlpSZyt3NkhUaGpJaFlUQ2RSRkdmT25EbHo1c3lEQncvdTI3ZnYxS2xUTHBjclBUMjlSWXNXM2J0M3J6Vy9wVCtyMWZyOTk5OUhkMlBESStSME9ubGFYdjZtNTVySjB2cnY2bjF0U1pud3pFcnZqZE9rZHpkNmZ6NzRuOGVQbjVRZmVWMjRhSkRRbzUxb01RbEhDb1ExWDNuOG04QnJIM2xyYW9TcUpzeEc1dlgrSGdzR3ZlRHl1K0JxNWVkeXEwejVZNzkxV1VwS2hSLzN5bTFiaU52M2ViY2ZFQTRjayt1TGhWTm41TGZYeXlzL0Y3cTJFVHUyRXRkKzNVQXpPVndnOThzVHZWN0I0eFZxWEVKbHRWeFNLdnl3Vy83cUowNkJoaWhDWWZYN204ZGdaRFZsaHlvakkyUGh3b1VMRnk0c0tDZzRjT0RBOGVQSEt5b3FYQzZYMVdwMU9CeTV1Ym1kT25VeUd1dFpHbGc5a2RpaGFycGF2Zkh0OWQ3Q0VuRkFGekVqV1RRYTZuaCtlYVZRZEZyZXVrZitlb2ZzQzZoYUM0MEdzN2k2ajFldXZWK2thUGhrTXNKRUp3bmp6cmRlZElITmFOQkVPTlFpUnZyUGpzY2p2L2xoMmNkZlZ3Uisyb2grbHRrVEhTWk5mbzhTZ2NzdHY3cm03R2Y1Z1liV0NJSWd5S0lzeW9uMkg4bWdGM1NTVUJYRFl4NWptMDRTTHIvSU1iSy8xUkR1QTJpa1UweG9ZanFKWXNPckxrbFMzYk9kcWNWa0VLdi8rd1NMeFNoVXVWZytTdXNpRjFZS0lpc21zRU1GRFpJa1lmSncyNVRoOWdpbFU5TkYvRVM1VGllbUpra05qbDA1WHVTdURHSmVNa1JJalVzK1h0VEF5VGhaRUdRaEVkUFQ1YWFPcXNhZ0Y2YVB0by9xYjRsRWhwSk9NYUdKNlJSTWk5TlVIZlV0SmVXdnNvWTZxblVSRFNzRmtSVVQyS0dDMWtpU01LS2ZaZUlRbTJicmFEUWFxU0FJV2VsNlMwTVRrZjlXNUM2djVPK3RhcXBxNUlhWDFaYWpkTTBEb0JCRllld2c2NWhCVnIwK1VqOTRwSlAya1U3UXZpaUVsWUxJMGo0aUM1b2lpc0t3OHl3enhqak1KazMveUVXamtXWTMwemM0RWZuWmN2bDRnNy9BaUpqamhlN1NpbUQrZ1BGSERsRWlpc0xGSSt4VFI5a3RrY3hRMGtuN1NDZG9YSFRDU2tGa2FSK1JCVTBaUGRCNnhVVU9oMVhUZFRSS2piUlppaTdKMGZBM1l0ZEJSa2FxWnZ1K2hyLzVNdW1KYU5IcnhBbERiSk9IVy8wbk5JNEUwa243U0Nkb1dkVENTa0ZrYVIrUkJZMlFSR0ZRVC9PTTBUYU5ueDFWUktPUlNwTFFzWFhENjBMdVBGRGo1VUlaTlhobGVjZitobGY1RkFXTlROMkgrRGVrajNuQ0VLc2h3dVBmU0NmdEk1MmdjVkVMS3dXUnBYRkVGclNqWHpmelpSYzZiSmJZV0Z3blNsdlpyVjNEMDNNZk8rRTVkSXh4SmlvNGZOeDl0RENJTlVaSVQwVEYrQXVzc3ljNEdsemtJRnhJSnkwam5hQmxVUTRyQlpHbFpVUVdOR0pZWDh1QzZjN1VwTmlvbzlGcnBCMWJHK3BmSis5M3NpQnMvSzZCT2MwUkNWOThYeG5NMDFpZkRwR21rNFFSL1N3elJ0dE5VUm4vcGlDZHRJeDBnamFwRWxZS0lrdkxpQ3lvVGhTRlhwMU1zOGFva0U1TkVhVkdhaktLSFZvMmZGVHZ4ejAxWlJWTVdSNVZwZVhlbnc0RWM4MkRLREhFQkJIV0o4OTA4VWhibERPVWROSXMwZ21hcFVwWUtZZ3N6U0t5b0FWZDJob3ZIMjlQY3NUTTJWRkY5RGIzdkM0TlgvbFFVU1h2L29YTDhhTnE1OEdhTTZWQi9OSGllQjRpckY5WDA3WFRuV2xKRFIzOGp3RFNTWnRJSjJpVGltR2xJTEswaWNpQzZycTNOeTY2UENtN21ZWVhIcTFIOUJwcDc4N0dCaWRHcjY2Ujl4MXh1VDM4cmthSjJ5UHZPK3lxcUdyZ0d5NExURk9PQ05KSll0OHVwbXVuSnpXNHFrR0VrRTRhUkRwQmcxUVBLd1dScFVGRUZ0UWxpbUxIMW9iNVU1MnhNcFZSTGRIYjZDUzdybDFMUTROUDIzT281bXdaNDB5aXBMSkszbnM0aUdPb01zTkxFRUhkT3hndUcrK3dOclRzZStTUVRocEVPa0dEVkE4ckJaR2xRVVFXMUpXYnJiOXlrak05UmJXeEcwMFV2VVpxTW9sNWJZMTZYUU8vaW9lT3V4bG5Falc3ZjZrNS9Gc0QwL0g5Zmp5UGF4NFFHWjF5alRmTVNtcWVwbWFHa2s0YVJEcEJhN1FRVmdvaVM0T0lMS2lvZGJiaHpybkpiYkpqYjdDdVQvUWFxU1FLSFZzYmJKWUdmZy9kSG1ITlorVmVMME1hSXM3cmxkLzlwTXpUMFBGVDBlLy9nVENTSkxGTFc4T3RWeVNwUHNLRWROSWEwZ21hb3Ayd1VoQlpXa05rUVVXdHN3MExwanVkMFYyR0t1eWl1dlh0Y2d4cHlRMGZYRHg2d3ZQMXRxcW9iRkhpa21YNTYrMVZ4NHNhWGpWTGxtV3VlVUFrZEdscm1IZHhVcFNYOHFzUDZhUWRwQk8wUmxOaHBTQ3l0SVBJZ29weW11dXZudUpvblJYRFowY1ZVWTFYbzBFYzFLUGhDZUlFUWZqWGwrV2x6Rm9lU2FYbDhycXZnMTJzVEdTRUNjS3RSVFBkOVRPVHN0TFZILyttSUoyMGczU0NwbWd0ckJSRWxuWVFXVkJMUm9ydWpxdVNnN21xWFB1aWZjQnZTQityUG9oVUx6enAyYkczT2hvYmxLaTI3YTArZGlLSTQza0NBMHdRWnBJb3RtbWhYem92TlZsamkyV1JUaHBCT2tFak5CdFdDaUpMSTRnc3FDSXpUWGZEcktUWW5jcW9sbWlIck4wcUR1OXJhZkJwTlc3aCsxM1ZGWlVjMVl1SXFtcnY5N3VxcTJzYW1xTmNGa1NCSy9BUlptMXk5TmRNUzBwTjB0d2VIdW1rQmFRVHRFT3pZYVVnc3JTQXlJSXEwcE4xVjA5MWRtZ1ZEMmRIRlNyazdQZ0xiQ25PaGd2OXRqMDEyemlxRnhrNzl0Y0VkY1JVRkdXTzV5R3NVcE9rbXk1SjF1d0ZENlNUNmtnbmFJVEd3MHBCWkttT3lFTDBPZTNTblhOVDh0b1k0K2tZaHdxTk5DMVoxN3V6c2NHblZkWEliMzlVVmxiUjhFQUlORXBaaGZlMUQwcXJYUTA4VFpZRlFmYUtYSUtQTUJGRm9VVXovZEo1S2MxU05YckNnWFJTSGVrRUxZaUpzRklRV2VvaXNoQjlhVW02NjJja3RXaW1pNmM2cWs0ajFldUU4N3FZSExhR3Y1R256bmhmLzFlWng4UHZjTmk0UGZJYi95NHRQdHZ3NkIwdXZrZDQ1VFRYejUvcXlNN1E5QWtIMGtsRnBCTTBJaWJDU2tGa3FZaklRdlE1YmVLY3lZNXU3UnMrRGhWejFEbitsOWZHMkNrM3FPOW0vcy9WMi9aV3l6SVpHZ2F5TEcvZFZmM0RycUNHN3NnQzE1d2diR3dXOFlhWlNSMWF4Y0FJRTlKSkZhUVROQ0tHd2twQlpLbUN5RUwwbVkzQzdWZW05T3Bza3JRK2VpTVU2bnhOUm9ONDhRaGJNTStzcXBIWGI2NHNMZWVYT1F3cXErVDEzMWFXVndiMTEwaVdPYXFIOEVoUGx1NWRrTm9xU3g4VFAxQ2treXBJSjJoQmJJV1Znc2hTQlpHRktIUGFwV3VuSjdWdlpaRGk5RWRKdFphZG0yMEljaW10N2Z0cThuZHlWSytwdkxLY3Y3UDY1d00xRFQ1VGxnVlpFQ1RTRStIUUxGVTNmMnBTaTJZeE1QN05oM1NLTXRJSldoQ0xZYVVnc3FLTXlFS1U2WFRDN0lzYzUrVUY5V3NlbzlRODd6dDl0TDFaYWxDcjZMejFVZG0zTzZySTBKREpzcHovYy9WcmEwdlYzaEFrRnIxT3VIWmFVdGYyTVRQK3pZZDBpaHJTQ1ZvUXUyR2xJTEtpaHNoQ2xPa2s0YVpaU1FON21QWDYySXluNEtqWlNKdWw2b2Iyc2VpQ2lOREtLdm10RDhzT0huVkhZN1BpMGY1ZlhmLzh1S3l5T29pL1FMTElDczRJaTlRazZZL1hwT2ExamNrUkpxUlQxSkJPVUYxTWg1V0N5SW9hSWd2UlpMZEtWMS9zN04vZEhKZlhqdnBUOCt1VEpIRjRQMHZMNWtHdDducnFqSGYxeHJMVHBjeGQzbWlsRmQ3Vkc4b0xUd1gxclpNRlFSQzlKQ2lhS01VcFhYR1JJM2JYYmlhZG9vTjBndXBpUGF3VVJGWjBFRm1Jc21tamJJTjZXdFRlaW1oUXVYRW5PNlRMeDl0TmhxQitZWC9jVS9QT3VySWFGME5OR3FIR0piL3pjZW4ydlExZjdmQjdlZ3F5eUNFOU5JMG9DbGRPY3ZUdGFvclI4VzhLMGluU1NDZW9MajdDU2tGa1JScVJoV2dTUldIT1pNZklmaFpqYkI4dUM1YnUvdnZ2VjNjTDBsTjBibyt3KzVlZ2ZzTi9MWFJYVlh1N2R6QXlhMWt3dkY3NTNVL0sxbjliR2VRRkk2SXNLTDhEUU1pY2R1bkdXVW45dXByallDNEgwaWx5U0Nlb0xwN0NTa0ZrUlE2UmhXaXltTVNaWXh3WERyWktzWHN0UVNPcFB5cFpGSVd4Z3l3dE00T2EzYzdyRlQ3ZFVybisyMHEzbXdON0RmQjQ1UFdiSzlaL1crRU5ZcVozV1Jaa1FaUUZtZlJFVXpoczBxeXg5dDd4TWgwYzZSUWhwQk5VRjJkaHBTQ3lJb1RJUXBSTkdHb2IwVDhoQnV2NnFIK09WRmxOeTJLV2RoMTB1WUtJUmE5WE9IREVwZE1KN1ZzYU9MQlhINDlYL21Senhhb041WlZCcmQ0c0NPTHZRMHo0bHFJcFprOXdETzFqMGFsL3BDdHNTS2V3STUyZ0JmRVhWZ29pSyt5SUxFVFpsT0cyU2NOc1ptTmkvZnlJR3BrQnZNWWxyOXBRL3NIbjVVRSszMlFReHA1dm5USEdya3VZMDluQjgzamsxUnZLL3IycG90b1Y3RXRTazNRWnlWTGlqQTBJRjFtUVQ1MzJGcFV3UDRSZ3MwaXp4dGxIeGVNaFBkSXBqRWdudFJCV1BuRWNWZ29pSzR5SXJPandlT1c5aDRQK0ZzY3ZrMEVjTThoNjZZVjJ0VGRFQlZwWkNkcG9FQzhaWno5MndyMTFkM1V3SGJuYUpYeTRxY0pobGNZTXNocmllbjJleG5KNzVBODNWZnpyeTRxYTRLWjJsMFN4V3dmRGtya3BFZCt5ZU9UMUNxczNscS84dEV6dERWR1oxU3hOSEdvZDBUYys5L0JJcDNBaG5WUkVXQ25pTzZ3VVJGYTRFRmxSYzdiTWUrTkRSV3B2aGZxRzk3Tk1HR3BWZXl2VW9hMEJLOWRNYzNiS0RYWktLYmRIV0wyeC9QMk41WlhWUVl6clR3eFYxZDQxbjVXdCthdzh5UFFVQktGekc4UDhxVW1SM1N6RXV3bERyUmRkWUkzdnhiSklweVlpbmFBRmlSQldDaUtyaVlnc1JObVFQdWJMeHpzYzFnU0lwN3BvNjh0MldNV1pZK3dwem1DM3FxSktYdnRGK1lxM3o3Q3NsaUFJSmFXZTUvN3Y3SnJQS29KYXVGa1FsSVYzczdiMUJBQUFJQUJKUkVGVVo0Mnpwd2I5RFFkcXNaakVxYU5zVTRiYmRMbzRQN0pPT2pVRjZRVFZKVTVZS1lpc3BpQ3lFRTE2blRDc3IrVzZHVWs2bmRxYm9oNXQvZWFJb3RncDEzakpPSWN4dUFXMWxBTjdQKzZwK2Q5M3poNHZjbXZrbXRqb2syWDVSTEg3bVgrZTJmSlR0VHZvUHlWR2czakZCRWY3bGdhdXZVZG9URWJ4b2lHMktjTnRhbTlJTkpCT29TR2RvQVVKRlZZS0lpczBSQmFpcjI5WDg2d3hpWGp0cUQ5TnpMVmJTNnNzdmRrazdUdGNFM3dXRkpWNGZ0cGZZN2RLV1JuNlJMdWEzT1dXdC94VTllTHEwbCtPQlQyeVJCQnNGbW5xU1B2b0FmRjhMVTBVeUxLdys1QnJWM0NMdjhXZk1RT3QwMGZiOUlseHdrRkJPalVLNmFRZGhGV2loWldDeUdvVUlrc3QxVFh5djc2c1VIc3IxTkd0ZzNIaHBVazJpN2JPRVVhZkZodXBJQWk1MlFiWkt4ODQ2dllFZlVWRFdZWDg4NEVhbDF0dW0yUFFKOHlsK1RVdStmM1B5bForV2w1OHBoSFhmdWoxNHFSaHRnc0gyK0p2NHZzb1M5aWRQS05CSE5IUGN1VkVad0xPelVnNkJZbDAwaFRDS2dIRFNrRmtCWW5JVWxGaU5sS2RKUFR0WXJwOWRrcmkvSllGb0pXNWRtdlI2NFFwSSt4bGxmS25XeHF4ZG5ORmxieDZZOFdlUTY2NVU1eVphYnI0dmxiRTdaRlBGSHRlWG4xMjF5K05teTlicnhlSDlqRlBIbVpMaEtrZEVBa0d2VEI2Z0hYR0dGdGlEazhpblJwRU9rRWpFanlzRkVSV2c0Z3NxS0piZTlNVkV4ejg4Q2cwZW81VUVBUlJGTHExTitsMXdzR2pydUJIbXdpQ2NQSzA5OXZ0VlI1WnlNN1FtK0owZWRteUN1K0hYMVc4dXViczBST05tNEhBWWhJbkRiVmVlaUcvQU9HUm1LY2RCdlV3WHpuUkdmeTFTZkdIZEFxQWROSW13aXFSRVZrQkVGbGFrSURuU0Z0bDZ1NllrNUprNTZmbmQ5cHRwSUlnU0tMUU5zZmc4UW9IanJxOWpabVF2TVlsN0R2aSt2bEFUZXNzUTRvejNpYXVPbmkwUnJubXZxS3FjUy9VNjhWSlE2MFRodG9ZSGhBdWliYVRwOWVKL2J1YkYweFBNbWgwZEVYMGtFNTFJcDAwaTdCS2NFUlduWWdzalVpb1JpcEpZcGUyeHJ1dVNiV1krT0g1RDAwM1VrRVFkSkxZS2RkWVd1NDlYTkM0RFBWNmhaS3ozazFiSzEwdXVYbXEzbVFVWS8wQ2ZZOUhMaW4xZnZCNStTdnZseGFkOWpicXUrRWJXM0xwaFE3U000d1NhaWRQcnhPSDlESFBtZXlNMXlQbGpVVTYrWkJPMmtkWWdjanlJYkswSnFFYWFjZld4dmxUbmNrT3pvNytGNjAzVXVYQVhyY09KcU5CUFB5YnU4YlZ1T25JdlY1aHp5SFg5N3VxenBSNW5UYWR3eWFLTVhnMWlWZVdqL3ptWHJlNThxMFB5N2J1cmdsK2NnSWZoMDJhTk14MnlWakdsb1JaUXUzazlleGttbmV4MDJxT3ZkK2d5Q0dkU0tkWVFWaUJ5Q0t5TkN0eEdtbGFzclJrYmtwR1Nyd05OMmc2TVZhV25ISjc1Tzkrcm41OWJlbVpzc2JuaHlDSW9wQ1dKUFhxWkJwN3ZqVTdJNVlHOFJ3LzRmNWtjOFhXM2RYRlo3emVrUDViV2MzU3ZJc2RmYnVZREJ6TUN6ZXZWMWk5c1h6bHAyVnFiMGhrU1pMUXZZUHBwa3VTMk1PckUrbEVPbWtmWVFVZklvdkkwcHF6WmQ0Ykh5cFNleXNpU3hTRjFsbjZKWE5UbkZ3N1dwZVlhYVNLSXdXdS8rK05NeWVLUGFGRmlUTFY4c0NlNXZHRGJjMVNKWXRKbzBmNHZMSmNWUzJmTFBGKzhIblpkenVyM1kxWUZ1dS9TS0tRa2FLNytmTGszT3hZK3BzUlF4SmhKMCtuRXdmM01sOCszbTYza3FHQmtFNk5RanBGR1dHRldvaXNSaUd5SWlvUkdtbTdIUDNWRnp0Ylp4dlUzaENOaXJGR0tnaEN5Vm52MngrVmJmbXB5aFgwSk9ibk11aUZUcm5HYnUyTjdWc2EyclF3YU9kU2srb2ErWmRqTG1VV2dUMkhhbHloUnFkeUljMkE3cVlaWXh3WktmeHRqcFJFMk1ucjJjbDQvWXhraDAwcnZ5TmFSam9GaVhTS1BzSUs1eUt5Z2tSa1JWcmNOMUtyV2Z6elRXbVphUXpXclZmc0hlbEpjVXBYVFhKa3Brc3JQeTBQdVUyNzNNSlArMnQyLzFKanMwckpEcWxQWjlQZ1hwYk1kRFYvVUFwUHViL2NXclZ0VDNYSldXOXBoZGZUdUVuSWF4TkZZZUpRNjBWRGJJeGNRc2hFVVdqZjByQmdXaEo3ZUVFaW5ZSkJPaUhzQ0t2UUVGbkJJTExRUk5rWitqdm5KR2VrVWtjRGliMXpwRDQ3OXRmOFk4M1p3bUp2aUZjRG5LTk50bjVFZjJ2WGRnYXpTVFFhUklOZTFFZHNTV2kzUjNhNVpaZExycW9SZnRwZjgvbjNGUWQrYmNMaE96K1NLRFJQMTgrZTRPalowUmlXTjBRQWNYemFRUlNGdmwxTmN5WXhIVndvU0tjNmtVNHFJcXdRQUpGVkp5SXJhdUw0SEdsT2M5M1ZGeWQxYk0xZzNRYkVjQ01WQktId2xHZmpkNVdmNVZlVVZZVHRxekFhaExSa1hiTlVYYk1VZlhxeTFDeFZsNXFzUzNGSVRydlVsRHgxdStXejVkNlNVdStwMDU2aUVzL0pFcytKRWs5UnNlZmthVStOSzF6YkxsZ3Q0dEErbGpFRHJjMFpHQkFWY2J5VDE3bU44WWFaenJSa2ZwQkNSRHJWUWpxcGk3QkNZRVJXTFVSV05NVnJJelhvaGZ1dVQydWRwZGZrUmRiYUV0dU5WQkNFR3BmOGE0SDc1ZmZQSGpvZW5rTmkvaVJKTUJ0RmsxRTBHVVN6U1d5V3FzdEsxN2Rvcm11V3FqY1pSSU5CTk9vRnZWNDA2a1dqVVJBRm9icEdxSEhMYnJkYzR4SmNIcm1tUmk0ODVUNWU1UG10eUYxNHlsTlZJMWU3NU9vYXVhcEdidXppVjhGbzAwSi94VVdPdGprR280RWYvQ2lKMTUyOGxwbjYyMlluTjJPRVNkT1FUajZraytvSUt6U0l5UEloc3FJc0xodHBlckx1MXRsSnVVeGxGSnlZYjZTSzBuTHZQejh1Kys3bnFvcXErUGlDR2tFVUJZdEo3TlhaTkdlUzAyWWhPcU1xTG5meXVuY3d6cHZpWkE4dlhFZ24wa2tMQ0NzRWljZ2lzcUl2L2hwcDh6VGQzTW5PN2gwWTd4MnMySnZacUU0T216Ui9xbk5ZWDh0WFAxWjl1Nk95dER4UlF0UnVrUWIwTUozZjA5d3BseDk2aEVGdXR2N0tpUTcyOE1LSWRDS2RFQW1FVllRUVdVUVdta2dVaFhrWE83dTI1UWVwRWVLa2tTci8rVHUwTXJUTTFJL29aL24zbHhXYmQxUjVQUEVjb3pxZDBLK3JlZEl3VzJhNjNzU0lBSVJEeTB6RDlUT2RzYlhpZVV3Z25ZRHdJcXdpaXNnQ1FwYVdyTHQraGpPUE90cEk4WmJtWnFQWU9rdC8vVXpuQmIzTjc2d3JQWDdDVSsyS3R4ZzFHY1htYWRMbDQ1MWQyaGtsQnBVZ1REcTBNc3k3MkpuVFBONHlRVHRJSnlBc0NLdm9JTEtBeGtwTmtpNGZiNmVPaGlBK0ExMFVoZTRkakIxejAzN2NYWjIvczJybmdab3paUkc0OGozcW5EYXBXM3RqNzg2bVBsM01ITVpER0xWb3BwOHp5ZGtxTXo0RFFWTklKNkFwQ0tzb0k3S0E0RjArM3RHdm0xbnRyWWhKOFp6cEpvTXdvTHVwUndkalNhbm4rMTNWRzc2dExDcHAyakxKNm1tV3FodDJucVZ2VjFPS1U3S2FXWElONGRROFRUZHZpaU8zUlR5bmdkYVFUa0FJQ0N1MUVGbEFZRTY3ZE1sWSs4QWUxTkVReFgrc1c4eWl4YXpQenRDUEhXak4zMW05N3B1S2dwT2V5bXB2SktZTER5OUpFaXdtc1htYWZ2UkE2OER1SnFZZ1J5UzBhS2EvYm9hemJRNkhpRlZBT2dIQkk2eFVSMlFCZFhMYXBCbWo3VVA2VUVkREYvK04xTWRrRkFmM01nL3NZVDU0MUhYZ1Y5Y3Z4OXo3ZjYwcEt2RjZ2ZHE2TGtJU3hZeFVxVzBMUTVzVytvNnRqYmt0REhxbUVrUmtwQ1hwNWt4MnNJZW5PdElKQ0l5dzBoUWlDL0EzYVpoMWVGK0x4Qm4zSmtpZ1JxclFTVUtIVm9ZT3JReVYxWEpwdWVmWUNjLzNPNnUvMzFXbGhmbk5uWGFwVnlkVDN5Nm1scGw2dTBXeW1EbUdod2hLZGVybVRIRjA0ZnA3elNDZGdEb1JWdHBFWkFGV3N6aHB1RzM4QlRhMU55VG1KVndqOWJHWVJJdEozeXhWMzd1emFZN2JlZmk0NitlRE5UL3RxeWtzOWxUWGVHdGNzc3NkMlEwdzZBV2pRVElhaEt4MGZWNGJROWQyeGpZNVJrUGkvZ2RCVktXbjZLNmJ6dXprR2tVNkFUNkVsZllSV1VoTVZyTTRlYmh0L0dEcWFCancreW9vV2RhK2xhRjlLOE9VNGJiU2NtL2hLYy94SXZlSkVzK1pNdStaVXUvWk11K1pNdStaTW05TkUrWTlOeHBFcDExSzh2M1BJVFZQMVRkUGt6TFQ5VTRicC9rUlZVNmJkT1VFQjN0NE1ZRjBRaUlqckdJT2tZWEVNV2FROWNMQlZoMUR3Y09CUmxxYnd5WTViRkw3VmdaWkZseHV1Y1lsSzRmM2FseHlTYW0zNEpUN3hDbnYyWEpQVmJWY1VlbXRxcEVycXVTS0ttOTVwU3dJZ3MwaVdreVMxU3hhVEtMRkxKbE5ZcEpkeWtqUlpXWG9VeHlTd1NBWTlhTFJJQnIwb3RFZ2lnd2hnUnJzVm1uMkJFZWZQSlBhRzRKR0k1MlFVQWlyV0Vka0lWNlpUZUtvL3RicG8reGNPeG91Tk5KNmlhSmdOSWorRTdLMXpCUjZkT0JJTFdLWTB5Yk5uK3JzazJmaTczZE1JNTBROXdpcmVFSmtJWjZZRE9LNFFkYUxSOXFvbzJGRUl3VVNoY1VzenBuc09LOExKeHdBYUJwaEJVQ3pocDVubmpiS3B0Tnh0Q3ljYUtSQVFqQVp4Um1qN1gyN3NsZ1dBRTBqckFCb2swRXZEdXh1dW15OGd6b2FkalJTSVA1WnpOTHNDWTdCdlV3NlJwZ0EwRERDQ29BMjZYWGlzTDdtUzhZNS9NZWZJMXhvcEVDY014ckVlVk1jNS9ma2hBTUFUU09zQUdoV2o0N0d5eTUwbUl6VTBZaWdrUUx4VEs4VEpnKzM5ZS9HSGg0QVRTT3NBR2lUVGlmMjdtUzhkcnFUT2hvNU5GSWdidW4xd2lYakhLUDZXL1FzbGdWQXd3Z3JBTm9raXNLZ0h1YlpFeHcyQzNVMGdtaWtRSHpTU2NMc2k1eWpCMXJVM2hBQUNJU3dBcUJablhJTlYwMTBXS21qRVVZakJlS1FKQWtYWG1BYmNoN2ozd0JvR21FRlFKdEVVY2hyYTd4eFZoSjFOQXBvcEVDOGtTUmgxbGo3bUlGV0U5UEJBZEF3d2dxQU5vbWlNS0M3K2NxSmppUTdFMzlIQTQwVWlDdWlLRXdmWlo4NDFLYjJoZ0JBSUlRVkFNM0t6ZGJQbm1DbmprWU5qUlNJS3lQNldjWU1zcXE5RlFEUUFNSUtnRGExYTJtNFlXWlNzb09aMXFLSFJnckVqd2xEYlZPRzJheG14cjhCMERUQ0NvQTI5ZXhvbkRmRm1aNUNIWTBxR2lrUUp5NGNiTDNzUXJ2YVd3RUFEU0NzQUdoVGRvWit6bVRxcUFwb3BFQThHTmJYTW5rNGwyTUIwRHJDQ29BMjVUVFhYemZEMlN5Vk9xb0NHaWtRODRiMnNWdzZ6dTZ3Y2YwOUFFMGpyQUJvVTd1V2hnWFRuUzJhMFl6VXdmY2RpRzBEZTVnWHpIQ3F2UlVBMEFEQ0NvQTJwU2ZycnB6b29JNnFpT09VUUF3N3I0dnBzdkVPdGJjQ0FCcEFXQUhRcHZSazNkVlRIZTFiR3RUZWtJVEd3UUFnVm5YdllKd3p5Wm1heEhFbEFKcEdXQUhRcHV3TS9YVXpuTzJvbzJxamtRSXhxWE1idzlKNUtXcHZCUUEwZ0xBQ29FMUpEbW4yUkFkMVZBdG9wRURzNmRYSmROVWt4cjhCMERyQ0NvQTJwU2JwNWt4eTlPaGdWSHRESU5CSWdkaVRtNjIvY3FLRDJja0JhQnhoQlVDYlVwT2s2MmNtZFduTDJWR3RvSkVDc2FSbHB2NS9ia2pUc1lNSFFOc0lLd0RhWkRXTHN5OXlVa2MxaFVZS3hBWlJGRHJsR3VkTmNiS0hCMERMQ0NzQW1tVzNTbGRjWk8vWHphVDJodUMvMEVpQjJOQ2ltWDdPSkVlTFp1emlBZEEwd2dxQU50bXQ0cHhKamdIZHphS285cWJndjlGSWdSaVFucXk3Ny9wVWk0a0VCYUJwaEJVQWJUSVp4VXN2ZEF6c1FSM1ZJaG9wb0hWdFdoaXV2dGpCSGg0QWpTT3NBR2lUMlNUT0dtc2Ywc2RDSGRVbUdpbWdhZW5KMHB4Smp0eHNycjhIb0dtRUZRQnRNaHZGeXk2MEQrOW4xVWxxYndycVFTTUZ0Q3MxU2JyL2hyUmtCd2tLUU5NSUt3RGFaREtLczhiWlIvU3pTdVNUaHRGSUFZMXEwVXczYjBvU2UzZ0FOSTZ3QXFCTmVwMHdlYmh0UkQ4TGRWVGphS1NBRmpsdDBwVVRuUjFiTS80TmdLWVJWZ0MwU2E4VHBvK3hYempJYXRCejhhalcwVWdCemJGWnhIc1hwR1psc0hZQ0FFMGpyQUJvazBFdlRobGhHei9ZcXRkUlIyTUFqUlRRbG94VTNWVVRIZXpoQWRBNHdncUFOa21TTUhhUVpkejUxTkdZUVNNRk5NUmlFcSs0eU5HOWcxSHREUUdBUUFnckFOb2tTY0xFSWJiSkkyeG1JM1UwWnRCSUFhMHdHWVVsODFJNnRPSnlMQUNhUmxnQjBDWkpFaTRjYkowNnltNmc0c1FVL25NQm1wRGlsT1pNZHJLSEIwRGpDQ3NBbW5WK1QvUGtZZFRSMk1OL01VQjlCcjA0YzZ5OVYwZkd2d0hRTk1JS2dHYU42RytaTmNadXR6SllOL2JRU0FHVjZYWEN3a3VTenV0cVVudERBQ0FRd2dxQU5vbUNNS3l2WmZZRWg4bEFIWTFKTkZKQVRRNmJkTm1GRHZid0FHZ2NZUVZBczg3cmFwNDJ5a1lkalYwMFVrQTFlcDA0YzR6OS9GNW10VGNFQUFJaHJBQm8xdUJlNWlzbU9KdzJTZTBOUWVob3BJQTY5RHB4NWxqYnlQNFd0VGNFQUFJaHJBQm9reWdLdlR1YjVreDJXTTNVMGRoR0l3VlVZREZMRTRaWUp3eXhxYjBoQUJBSVlRVkFzenExTmw0NnprNGRqUU0wVWlEYWRKSTRicERsb2d1c2FtOElBQVJDV0FIUXJFNXRqTmZQY0thbjZOVGVFSVFCalJTSUtra1NSdmEzekJoalYzdERBQ0FRd2dxQVpyVnZhYmoxOGlRSDE0N0dDeG9wRUQxbWt6aXl2L1d5QzluREE2QnBoQlVBemNyTjFzK2Q0cUNPeGhNYUtSQWxraVNPSG1DNWVJUk5aSEp5QUJwR1dBSFFySnptK3BzdVNjN0tZTEJ1WEtHUkF0RWdpVUxmTHNaWll4MFNSL1FBYUJoaEJVQ3pNdE4xZDg1TlNVc2ludUlOalJTSU9LTkJITjdYY3NVRTl2QUFhQnBoQlVDeldqYlh6NTNpcEk3R0pSb3BFRm1TS0E3cFk1aysycVlqUWdGb0dHRUZRTFBTa25VTFpqcHpzd3hxYndnaWdrWUtSSkFvQ3AxeTliTW5PQXo4cWdIUU1NSUtnR2FsT0tXbDgxS3l1WFkwZnZHWEI0Z1V2VTRjMU5NOGQ3S1RQVHdBV2taWUFkQ3NacW02T1pNY1dlblUwWGpHSHg4Z0lrUlI2Ti9OZE9tRmRwTlI3VTBCZ1BvUlZnQTB5MjZWcnAzbTdKUnJZT3J2K0VZakJTS2lWYVorem1TbnpVS0NBdEEwd2dxQU5qbXMwaDF6azl2bGNPMW8vS09SQW1FbVNVS2ZQTk0xVTVQWXd3T2daWVFWQU0xS2NVcFhUblMyYVVFZFRRZzBVaUNjUkZIbzFkRTBlNExUYm1VUEQ0QjJFVllBTk11b0YrWk5jZmJvYUpUSXA4UkFJd1hDS2FlNWZ0N0Z6aFFuaXljQTBEVENDb0EybVUzaUxWZWtkRy9QMmRFRVFpTUZ3a01VaGE3dGpBdW1zNGNIUU5NSUt3Q2FaYmVLbDQxM2RHMUxIVTBzTkZJZ1BQTGFHdWRNY3FRbU1UczVBRTBqckFCb2t5UUpzeWM0QjNRM1N4d3VTekEwVWlBTVdtWHE1MS9zYko3R0hoNEFUU09zQUdpVDJTak9tZXk4b0xkWjdRMkJDbWlrUUpPSW90QytwZjY2bWNuczRRSFFNc0lLZ0daWlRPTDAwZllCM1UxcWJ3alVJY3F5clBZMkFMSEs2NVYzN0hjbDJhWGNiQTd1QU5BdXdncUFacFZXeUp0K3FCdzV3R0l5TUxWdWdxS1JBZ0FBQUFEVXdZWERBQUFBQUFCMTBFZ0JBQUFBQU9xZ2tRSUFBQUFBMUVFakJRQUFBQUNvZzBZS0FBQUFBRkFIalJRQUFBQUFvQTRhS1FBQUFBQkFIVFJTQUFBQUFJQTZhS1FBQUFBQUFIWFFTQUVBQUFBQTZxQ1JBZ0FBQUFEVVFTTUZBQUFBQUtpRFJnb0FBQUFBVUFlTkZBQUFBQUNnRGhvcEFBQUFBRUFkTkZJQUFBQUFnRHBvcEFBQUFBQUFkZEJJQVFBQUFBRHFvSkVDQUFBQUFOUkJJd1VBQUFBQXFJTkdDZ0FBQUFCUUI0MFVBQUFBQUtBT0dpa0FBQUFBUUIwMFVnQUFBQUNBT21pa0FBQUFBQUIxMEVnQkFBQUFBT3Fna1FJQUFBQUExRUVqQlFBQUFBQ29nMFlLQUFBQUFGQUhqUlFBQUFBQW9BNGFLUUFBQUFCQUhUUlNBQUFBQUlBNmFLUUFBQUFBQUhYUVNBRUFBQUFBNnFDUkFnQUFBQURVUVNNRkFBQUFBS2lEUmdvQUFBQUFVQWVORkFBQUFBQ2dEaG9wQUFBQUFFQWRORklBQUFBQWdEcG9wQUFBQUFBQWRkQklBUUFBQUFEcW9KRUNBQUFBQU5SQkl3VUFBQUFBcUlOR0NnQUFBQUJRQjQwVUFBQUFBS0FPR2lrQUFBQUFRQjAwVWdBQUFBQ0FPbWlrQUFBQUFBQjEwRWdCQUFBQUFPcWdrUUlBQUFBQTFFRWpCUUFBQUFDb2cwWUtBQUFBQUZBSGpSUUFBQUFBb0E0YUtRQUFBQUJBSFRSU0FBQUFBSUE2YUtRQUFBQUFBSFhRU0FFQUFBQUE2cUNSQWdBQUFBRFVRU01GQUFBQUFLaURSZ29BQUFBQVVBZU5GQUFBQUFDZ0Rob3BBQUFBQUVBZE5GSUFBQUFBZ0Rwb3BBQUFBQUFBZGRCSUFRQUFBQURxb0pFQ0FBQUFBTlJCSXdVQUFBQUFxSU5HQ2dBQUFBQlFCNDBVQUFBQUFLQU9HaWtBQUFBQVFCMDBVZ0FBQUFDQU9taWtBQUFBQUFCMTBFZ0JBQUFBQU9xZ2tRSUFBQUFBMUVFakJRQUFBQUNvZzBZS0FBQUFBRkFIalJRQUFBQUFvQTRhS1FBQUFBQkFIVFJTQUFBQUFJQTZhS1FBQUFBQUFIWFFTQUVBQUFBQTZxQ1JBZ0FBQUFEVVFTTUZBQUFBQUtpRFJnb0FBQUFBVUFlTkZBQUFBQUNnRGhvcEFBQUFBRUFkTkZJQUFBQUFnRHBvcEFBQUFBQUFkZEJJQVFBQUFBRHFvSkVDQUFBQUFOUkJJd1VBQUFBQXFJTkdDZ0FBQUFCUUI0MFVBQUFBQUtBT0dpa0FBQUFBUUIwMFVnQUFBQUNBT21pa0FBQUFBQUIxMEVnQkFBQUFBT3Fna1FJQUFBQUExRUVqQlFBQUFBQ29nMFlLQUFBQUFGQUhqUlFBQUFBQW9BNGFLUUFBQUFCQUhUUlNBQUFBQUlBNmFLUUFBQUFBQUhYUVNBRUFBQUFBNnFDUkFnQUFBQURVUVNNRkFBQUFBS2lEUmdvQUFBQUFVQWVORkFBQUFBQ2dEaG9wQUFBQUFFQWRORklBQUFBQWdEcG9wQUFBQUFBQWRkQklBUUFBQUFEcW9KRUNBQUFBQU5SQkl3VUFBQUFBcUlOR0NnQUFBQUJRQjQwVUFBQUFBS0FPR2lrQUFBQUFRQjAwVWdBQUFBQ0FPbWlrQUFBQUFBQjEwRWdCQUFBQUFPcWdrUUlBQUFBQTFFRWpCUUFBQUFDb2cwWUtBQUFBQUZBSGpSUUFBQUFBb0E0YUtRQUFBQUJBSFRSU0FBQUFBSUE2YUtRQUFBQUFBSFhvMWQ0QUFBQUFBUEZzM2JwMXg0NGRFd1RCYkRaUG5EalI0WENvdlVYUUVCb3BBQUFBZ01aeHU5MTZmYkJWWXMyYU5kOTg4NDN2aFZkZWVXVWtOdzB4aGtZS0FBQUF4SThUSjA0Y1BuejQrUEhqSlNVbHNpeUxvbWcwR3MxbXM4UGh5TW5KYWQyNnRkVnFEZUZ0WFM3WHVuWHJQdjMwMHoxNzloUVZGWGs4SGttU21qVnIxcjE3OTdGanh3NGZQbHlTR3I0ZVVLL1hEeHMyTEtRdkMzR0xSb3FJZVBmZGQ4dkt5Z1JCTUpsTVU2Wk1zZGxzYW05UmxQaC80Yk5telFyKzJDRVF1NHFLaXRhdVhTc0lnaWlLN2RxMUd6SmtTSVErYU5ldVhaczNieFlFd1dnMERoczJMQ2NuSjBJZkZLU29mZUcxUHF0TGx5NzkrL2VQM0djQmlFVm56NTVkdDI3ZGwxOSt1V1BIampObnpnUitjcGN1WFlZT0hUcDkrdlRVMU5RZzMzLzc5dTEvK3RPZmZ2MzFWLzhIdlY1dlFVRkJRVUhCSjU5ODBybHo1NGNlZXFoMTY5YUIzOGZ0ZGg4OWVyUlZxMVpCZmk0U0FidkxhS3B2dnZubTFWZGZWZmFUQmd3WU1IZnVYRUVRWG5ubGxZS0NBdVVKRG9kajBxUkphbTltbUJVVUZLeGJ0MDc1cXJ0MTY5YTdkMi9sY2Y4dlBEczdlL2p3NGFwdUp0Qm9Iby9IN1hicmRMcmdqNmNVRkJROC9mVFR5bTJkVHZmRkYxK1l6ZVpJYk52MjdkdDlIN1IrL2ZxWFgzNDVFcDhTdktoOTRiVSt5MlF5YmRxMEtaaHpFUUFTUVdWbDVYUFBQZmZPTys5VVZWVUYrWktkTzNmdTNMbno1WmRmbmpkdjNqWFhYQ09LWXVEbmYvNzU1MHVXTEhHNzNRR2VzM3YzN25uejVyMzAwa3U1dWJtTjJYeUFSb29tS3lvcSt1Njc3NVRieGNYRlNpUDFNWmxNZ3djUFZtblRJdWpvMGFOUFB2bWtjdHR1dDMvKytlZTFudUIwT3Z2MDZSUENPMGRvcEEwUXBQZmVlKyt4eHg2eldxM3o1czFMVDArZk5HbFNnM3NxL3NhT0hSdTVWdWF2WmN1V1VmaVU0RVh0Q3hjRVlkaXdZZFJSQUlyQ3dzS0ZDeGNlUEhnd2hOZFdWMWMvKyt5emUvZnVmZXl4eHdKRS9jOC8vM3pYWFhmNTExRmxzSzRvaXFkT25hcXBxZkU5ZnViTW1UdnZ2UFBOTjk4MEdBeUJ0L25Rb1VPK3V3NkhJeTB0TFlUdFI5eWdrWWF1dExRMHZHOW9NQmdDN05CczJiSmw0OGFOWWZtZ3BVdVgxdm40Z2dVTDl1elowNmkzdXUrKysvenY5dXpaczlZVHFxdXJ6NTQ5RzJCTVNGbFoyWkVqUnhyMW9mVnAxYXFWM1c0UHkxczF5dFNwVTg5OThPelpzOFhGeFU2bk01aDNpUFJJRzZDeEtpb3FWcXhZSVFqQ2lCRWpHalVqNHY3OSsrdDhYSlpsWlVCN0NJeEdvOGxrcXZWZ1NrcEthTyttbkJ4WXZueDVhSy90MDZmUHdvVUx6MzI4dmkrOFRyZmVlcXN5NTJSU1V0SUREenlRbVpuWnFHMzQ1WmRmR3ZWOEFQR3FwcWJtdHR0dXExVkhrNU9UdTNmdjNycDE2L1QwZEpQSnBKUkRqOGRUV1ZsWldGaDQ4T0RCYmR1MitaOU4zYkJodzZ1dnZscnJqSUtQeCtONThNRUhxNnVybGJ1U0pNMmRPL2VLSzY1SVRrNVdyaXpkc21YTGloVXJmRHVRQnc4ZVhMMTY5Y3laTXdOczlnTVBQT0IvZDlxMGFYZmZmWGNUdmcySWVUVFNFRlZVVklSOVFPYXNXYlBxNjRyS1dJaDMzbmtuTEI5VTM2ZFVWRlEwZHBmUjVYTDUzejE1OG1Sak4yYjc5dTAzMzN4elkxOVZwNmVlZXVyODg4OXY3S3NPSERqdzdMUFBCdm5renAwN3o1OC92OWFEVGRrN2pNSklHeUJrMmRuWjRacWcvOVNwVStQR2pRdnR0VmRmZmZWTk45MFVsczFRbEphV2J0dTJMYlRYS2p0aFRYVGt5SkhEaHc4cnQ3ZHYzOTdZUmdvQWl0V3JWL3VmUzJqYnR1MHR0OXd5YU5BZ25VNFg0RldWbFpWcjE2NWRzV0tGNytUS0s2KzhjdW1sbDlaNVh1VHJyNy8yLzRnbFM1YjR0MDJEd1RCNDhPQytmZnZlZE5OTlc3ZHVWUjVjdFdwVjRFWUsxRUlqUmFJcktTblpzR0ZEa0U4KzkwUk5VMFJocEEzUVdGNnYxM2U3ZmZ2MnFtNUwvSk1rYWNDQUFXcHZCWUJZOWU5Ly85dDN1MlBIamkrKytHSXdsL1pZTEphWk0yZjI3dDM3cXF1dVVrNStscGFXYnQ2OHVjNXpMWjk5OXBudmRsNWVYcDFWMDJReUxWNjhlUGJzMmNyZFBYdjJsSlNVTkdVa0N4SU5qUlQvWWJmYi9RLy9pNkxvOVhwOWcwaEZVVHgzREtyUmFQUU41RWdFWWJ6T0lRb2piWUFRK0YrUEVQY0hPeVJKTXBsTUZvdkZiRGFieldaWmxxTThJTmJyOVJZV0ZpWWxKVVh6UXdIRWpWMjdkdmx1MzNqampZMmFhYUo5Ky9iRGhnMVRwbWtVQkdIdjNyMTFObEwvUzZ0R2poeFozN3ZsNWVXbHA2Zjd4c29kUEhqd3ZQUE9xKy9KZmZyMFNVOVA5OTN0MnJWcjhKdU51RVFqRFpFa1NYbDVlZUY5ejZ5c3JBRC9PbUxFaUtiTTVISEhIWGMwK0p4ekI2OXUzTGpSOTBLcjFWcm51Y1ExYTlhRXZGVzFKQ2NuTjJWSkEvOTBpNURzN094d3ZWVVVSdG9BSWZEZitTZ3NMQXpYMityMStrWmxaa0ZCUVVsSmlYSTc3TVc0VDU4K0d6ZHVOSnZOUnFQUi8vR1BQdnJJZHkxVGFtcnFXMis5ZGU1cnd6dFFRaG52RU40M0JKQWdLaXNyL1djYjZ0aXhZMlBmd2Y4OGhDOXlheWt2TC9mZHpzaklDUEJ1R1JrWnZrWjYrdlRwQU0rY04yOWVDSmRaSVk3UlNFTmtOcHRmZi8xMS8wZE9uanhaV1ZtcDdEeGxaR1RVdDlmaTlYcVZDUzFFVVV4SlNRbCtvYzZXTFZ0R2YyNUpaZWsvUlhsNStlblRwNU9UazArZE91VmZwUm8xbjBkZ2JkdTJmZmpoaDhQMWJrSHExcTNiLy8zZi8vay9vdXorK25hQzc3dnZ2dTNidHl1M3d6aWhlUlJHMmdDTkpjdXk3MElnNWJlN29xTEMveWR6ekpneDU3NHE4SG9BaXVUazVGcVpHZGpERHovODNudnZLYmNEejlrWUFvUEJVT2Q3L3ZiYmI3N2JGUlVWa1R2SXBmeXhVTlM2R2g4QWdtUXltVVJSbEdWWnVWdGNYTnk4ZWZOR3ZjUHUzYnQ5dCt1Ykc5Si9Ob0g2V3F2aTdObXp2dHVCRDY4RHRkQkl3K2JKSjUvMGRZeXNyQ3hsS2ZOekhUMTYxRGMxcThWaStkZS8vcVhsOFZyK2pWUVFoQysrK0dMeTVNbGJ0MjROTUFOVHpER2J6WUY3cG04Q0VxWDZFd1pXQUFBV01FbEVRVlF6aCt0em96RFNCbWlzelpzMyt4YlVWYXJtWjU5OWR0RkZGL2tlS1M0dWpzNlcrQzhuVU90TVp1VDgvUFBQdnR0VlZWV0ZoWVdOM2IwTGt2K1Uydjc3Y0FBUVBFbVNXcmR1N1Z0RzVjVVhYMXkyYkZud2cwbysvZlJUM3dGM1FSRGF0V3RYNTlQYXRtMmJuNSt2M1A3NjY2K3Z1dXFxT3A5V1dGaDQvUGh4MzkwSWhTZmlGWTAwYlB3djRCNDBhRkI5VDFOT2tDb3FLeXVESDJ6NTczLy8rODAzMzJ6YU5qWk9mbjcrMGFOSC9SOVp2WHIxNU1tVEkvZUpSVVZGdnJNaWpkV21UWnNBVnl5RWJOKytmYjU5eDJiTm1nVWVyeEs4Nkl5MEFScnJILy80UjYxSFhubmxsWEhqeGtYL2FMZi85ZEpoUDBkYUo3ZmI3VnRhV2JGdDI3YXhZOGNxdC9mdDIzZk5OZGZVZW9uSDR3bmhnNnFxcXZ4SDZrYXQ1QU9JUHlOSGpuenBwWmVVMnhzM2JyeisrdXR2dlBIR2M1ZmlxK1hFaVJOdnZ2bW0vN2dWaThWUzN6RGFnUU1IK3RaNitPNjc3Nzc2NnFzNjE1bC8vdm5uZldkcnpXWno2OWF0QTJ6QWl5Kyt1R3JWS3QvZFFZTUdUWnMyTGZBMkk3N1JTTVBHdjVINkQvMnF4ZitmQmc0Y0dQd2xTU2RQbnZRL3F4WUY1MTVXdW0zYnRuWHIxa1Z1WmZaZmYvMDE1Rkc3VTZaTWlVUWovZUtMTDN5M2UvVG9FYTYzamM1SUc2QlJQdnp3d3kxYnR0UjY4TUNCQTYrOTlwcHY5cXo2ZnYzOVorZ05DLy9qTE5INUNmL29vNDlxTFgvMTZhZWYraHFwMStzTmVUM1ZXdmJ0MitkL040d1g2d0pJTkZkY2NjVjc3NzNuRzJxUm41OS85ZFZYcDZlbjkralJJemMzTnkwdHplRndHQXdHdDl0ZFdWbFpXbHA2K1BEaC9mdjM3OXk1czliN1hIUE5OZld0b0g3QkJSZGtabWI2aHM4c1diTGs3cnZ2SGo5K3ZPOWtiR1ZsNVRQUFBPUGZNTWVPSFJ0NDVOZVBQLzdvZnpjc3Eyb2hwdEZJdzhhL2tRYlljZkUvUnhyQ21iR29lZmZkZDMyWGsrbjFlb1BCb0Z6NDlQampqOTkvLy8yelpzM3lQZk9YWDM2cGRXSWhudmczMGpCZWhSK2RrVFpBOFBidTNmdklJNC80N25iczJISHYzcjNLN1dlZWVhWmR1M1pEaGd4UkRwQ2YrOW9kTzNhRU1PSHpvNDgrcWx5UmJqS1pici85OWc0ZE92ai82NmxUcDN5M283Q0VnTnZ0ZnZYVlYyczl1SEhqeHVQSGo0ZHhQalBGamgwNy9POUdlWFpmQVBFa09UbDUyYkpsdDl4eWkvKzRrcE1uVHdhL3JKMGdDRk9uVHAwelowNTkvNnJUNlc2Ly9mWWxTNVlvZDZ1cXF1Njk5OTdubm5zdUx5L1BicmVmT0hFaVB6L2YvOVB0ZHZ1NUs3Y0RnVVhxWkZjQ0NyS1IrZyt5RHp5a1FVVmZmdm5sOHVYTGZYZm56NTgvWWNJRTVmYkpreWYvL3ZlLzMzcnJyVXYvSC85cnpPTE1vVU9IZnZycEo5L2RDeTY0SUl4djdqK0Z1akxTWnR1MmJRMis2c1NKRTA4ODhZVC9kYndCUnRvQVFkcTdkKy9DaFF0OXdaV2VudjdjYzgvNUxrNzJlRHhMbGl6eFhiY2NMdnYzNzkrMmJkdTJiZHUyYk5seTdnUnBVVzZrLy9qSFA4NWRHZGpqOGZ6MXIzOVZidXQwdXFSemhIYnk5b2NmZnZDLzYzL3hLZ0EwVnQrK2ZWOTU1Wlh1M2J1SDhOcU1qSXo3N3J2dm5udnVDWHhNZk5Tb1VmUG16Zk4vNU5kZmYxMjNidDNLbFNzM2JkcFU2eUtMQng5OE1DY25KNFNOUVNMakhHbllwS2FtK200SG1NMC9MSTEwNnRTcHQ5eHlTMml2YmRDYU5Xc2VlT0FCMy9WUm5UdDN2dnJxcTR1S2lsYXZYcTFjK3Joang0NGxTNVk4K3VpallWOXhwR1hMbHI3bGxSdXJUWnMyNGQwWTVkU2w3M2EvZnYzcVc0eTBvS0RBZC9sclJVVkZrRzhlaFpFMlFEQSsrT0NEaHg5KzJKZGFraVE5OE1BRERvZmozbnZ2M2I5L3YzSXhlVTFOelYxMzNiVjkrL1pGaXhhRmZaNGh2VjVmYTErcXZMemNmKzZmU0Mvc3RIWHIxci8vL2UrK3UwbEpTYjVQMzdoeDQ4cVZLNmRObTlhK2ZmdHp6em1FY0hLNHJLenNxNisrOG4ra29LRGcwS0ZEWVp6SEcwQ2k2ZENod3l1dnZKS2ZuLy9SUng5dDNydzV3TFZqaXRUVTFONjllNDhlUFhyNDhPRkJSdnJDaFF0Tkp0TUxMN3dRWUhMMVZxMWFQZkxJSTUwNmRXcnczWll1WGVwL3NTdWpka0VqRFJ2L28vZ0JwcnZ3SDdYYnFsV3IwRDdMWURENFQ4WWRMbFZWVlk4OTl0ajc3Ny92ZThUaGNEejY2S042dlQ0cksrdXl5eTU3N2JYWGxNYzNiZHEwWU1HQ3YvNzFyK0hkVTh6SXlKZ3hZMFlZMzdBcGpoNDkrdkhISC92dUJwalNhZi8rL1NGYy9ocUZrVFpBWUtkUG4zN3d3UWRyL2NqZGUrKzkvZnIxVTM1RW4zNzY2Ymx6NS9xV2xYdnJyYmUrK2VhYnBVdVhObVhkNEhPNTNlNkNnZ0wvWStyK2M2cVpUS1k2cjdMT3o4LzNIOG9oQ0VMUG5qM3JYSndtc0Y5KytXWHg0c1crZlN4SmtoNTk5TkYzM25uSDkyMTU5TkZIVTFOVHd6V2Q5WVlORy95bkVWYXNXclhxdHR0dUM4djdBMGhZZmZ2MjdkdTNyM0xrNi9EaHcwVkZSU1VsSldWbFpUVTFOUzZYeTJxMXBxU2taR1ptdG1yVktyU0pjSys5OXRvUkkwYTgrdXFybjMvK3VmOGlwWklrOWVqUlkrTEVpUk1uVGd4eUlycWNuSnhnaWlzU0I0MDBkTlhWMWY3TjAvK0VZWDN6RlpXWGwvdW02ekNielJhTHhmK1VtdGxzanR5a1FRMzY3cnZ2SG5yb29TTkhqdmdlMGV2MWp6enlpRzgzOGFhYmJ2cmhoeDk4QTh4Ky92bm5XYk5tL2VFUGYxQnBleVB1eVNlZjlQMzNUVTlQSHoxNmROZy9RaGxwOCtDREQ5YTZyaXdZR1JrWk45NTRZMFNuUGtaOCsrS0xMLzd5bDcvNFQvUXFpdUpkZDkzbC8wUFZzbVhMWjU5OWR1SENoYjVGenc4ZE9uVEREVGVNSGozNnR0dHV5OHpNRE5mRytHYjVVdmczMHBZdFc5WTVuR3ozN3QzKzgzc3BtZHpZUnZyVFR6OHRXclRJLzN6c0gvN3doMzc5K3VYazVIejExVmZLZVdPMzI3MWt5Wkk3Nzd4ejVzeVpqWHJ6YzhteVhPZVU2YXRXclpvM2J4NW5DUUNFN1BUcDA3N2hXbWxwYVJkZmZIRjlBM0YvK3VtbkR6NzRRR21TdlhyMTZ0T25UL0NmMHI1OSs3Lzg1Uzh1bCt2WXNXTW5UNTUwdTkzSnljbTV1YmxoSHpTSFJFTWpEZDNpeFl1LytlYWJPdjlKRk1Wbm4zMzJ6RG44RHlsVlZWVXBNNFg0dlBubW0wRWVNVnE3ZHEzL2pEdU5kY01OTjB5Y09OSC9rZWVmZjc3V3pMbzZuZTZoaHg0YU9IQ2c3eEdEd2ZEWVk0L05uei9mTjkvYW1UTm4vdlNuUDUyN0lrTElEaDQ4ZU5kZGQ0WDg4bm56NW9WcnNxaTFhOWY2bnppNjhzb3JJN1FpWWhSRzJnRG5ldSs5OTJxZDJGY3UvaGsxYWxTdFozYm8wT0dsbDE1YXRHaVJieUl1UVJEV3IxOC9kT2hRMytYbFlYZmd3QUhmN2NnTloxMnpaczJqano3cVAwamhwcHR1bWo1OXVyS205TDMzM252UFBmY29qM3M4bmtjZWVTUS9QLyt1dSs1cVNtLzg1Sk5QZkJQdDJ1MzIvdjM3S3psVFhsNitZc1dLdSsrK3U4bGZFNEFFVlZWVjliLy8rNysrdTkyNmRhczFYWnpQcGsyYm5uLytlZVYyWm1ibXYvNzFyOForbHNGZ3lNM041Vm9EaEJHTk5DSU9IejdzKzIyUGhJcUtpdUN2Vnp5WGZ6RldUSnMyN2ROUFAvWHRLcG5ONWdjZmZQRGNVV3FabVprdnZQRENnZ1VMbEt0aEpVbjY4NS8vN0w4LzEwU25UNTl1eXV3cGt5Wk5Da3NqTFNnb1dMWnNtZTl1Wm1abTRMSEV1Ym01VTZaTVVXNi85TkpMcGFXbGpmM0VTSSswQVdxWk5tMWFjWEh4Q3krOG9Bd0V5TWpJV0w1OGViZHUzZXA4Y29zV0xkNTQ0NDNseTVmN0p2ZGZ0R2hSZU90b3JYT2svdXVqZE8zYU5Zd2ZwQ2dwS1ZtMmJKbi9zSHhCRUJZc1dIRDExVmY3N280ZlAvN28wYVAraCtyV3IxK2ZuNSsvZVBGaS8yVVBnbGRaV2JsaXhRcmYzVEZqeG93ZVBkcDM1R3ZseXBYanhvMVRjZ0FBR3F2V1JHc0JKcGp3WDF1cndaVkwvYjMvL3Z2bjdrQUdiK0RBZ2I0clBscTJiQm55K3lBdTBVZ2hLQU04WG56eHhmdnZ2My9EaGcwNU9UbkxsaTJycjlwbFpXVzkrT0tMZi96akg0OGNPWEwvL2ZlZmYvNzVhOWFzaWZyMlJsQlpXZGx0dDkzbVAxdnk0c1dMQXc5SHljbkp1ZXFxcTVUYi8vem5QeHZiU0tNejBnYndKMG5TZ2dVTGhnMGI5dVNUVDZhbXBpNWV2RGp3ZkxabXMvbWVlKzRaTVdMRWloVXJoZzhmSHZhcmwyczFVdjhGVWVxYlFITEVpQkcrSTBHS0lFY1JyMTI3ZHZueTViVitUNis3N3JvRkN4YlVldWExMTE0cmlxTC9hWWZUcDAvZmUrKzlHemR1OUQ5b0ZhVGx5NWY3ajBhKzVKSkxPblRva0plWDUxdG8rcjc3N252ampUY1l1d3NnQkRhYnpmL3VtVE5uNmp1RTdkOUlHeldoeVhQUFBlY2JKZGRFTFZ1MnBKVENINDAwZERrNU9mV05pQWhOZlZlZlJvZk5abHUyYk5tT0hUczZkT2dRdUlBMWE5YnNoUmRlOEhxOUtsNzFHaUZWVlZXTEZpM3lMY09vclBMc3YweExoRDQwYWlOdEFIK2RPblY2NXBsbmduLys0TUdEQnc4ZUhJa3RxZFZJMzM3NzdXUEhqaDA1Y3VUSWtTTjVlWGwxdnFSRml4YTFMbndJMHZyMTYvM3JxQ1JKZDk1NXAvOGF5LzZ1dWVhYTFxMWIzM2ZmZmI2NWlIVTYzUlZYWE5IWUQvM3d3dzlYcjE3dHV6dDY5R2psMS96bW0yKys4Y1libFFjTENncVdMbDI2WXNVS3ZaNC96UUFhUnhSRm04M21PNGNaNEdTbWI3SzY2S3l0QlFTRFAzdWhpL0trUGxkZWVlWGxsMTllMzc5dTJiTGw1cHR2Vm01YkxKYlBQdnNzd0Z2cGRMcjYva2s1SFhIeTVNbnZ2LzgreUEzYnNtV0w3L2JPblR1VmdYRCtSOUZjTGxlQWwvZnMyYlBPcVQ1QzBNVDFyNnFycSsrNDR3Ny9SVUZidEdnUmhTdTdvakRTQm1pc29xS2lyVnUzN3R1Mzc4aVJJMmZPbkttc3JQUk45R1V3R0V3bWs4VmlhZGFzV2ZQbXpldHJqSTNpMzBqTHlzcEtTa3BPbno3dDhYZ3NGc3NiYjd4UlVsSlNYRnhjVWxJeWFOQ2dwbi9XUXc4OWRNODk5M3orK2VmSzN0aUREejQ0WU1DQUFNOGZNMlpNeDQ0ZEgzcm9vZno4ZkwxZS8rQ0REL2JxMWF0Um4vanR0OS9lZi8vOXZyc1dpK1hXVzI5VmJnOFlNR0RreUpHK3NidjUrZmtQUFBEQWZmZmRGOEtvWUFBSnpyK1JWbFpXMXZjMC8zMEpHaWswZ2tZYU0wUlJESERnM0w5a1RwNDh1WW1IMlBmdTNmdkhQLzR4aEJjV0ZSV2QrOExBVTRIYmJEWXR6QUIrNnRTcHhZc1grODk1bTV5Yy9OUlRUOVdxaTVFUWhaRTJRSkJrV2Y3MDAwL2ZmUE5OLzBNendUanZ2UE91dWVhYWpoMDcxbmZBeStWeWxaZVhsNVdWbFphV0t2L3ZQODN2VTA4OTlkUlRUNVdVbEpTVWxBUTRoaFdXVldlc1Z1dnk1Y3VYTDE5ZVhGeDg1NTEzR28xRzMyS2tiZHEwR1R0MjdMa3ZhZDI2OWQvLy92YzFhOWFrcGFVMTlpeng1czJiYjcvOWR2OFYvRzYvL2Zhc3JDemYzYnZ2dm52bnpwMitvM2dmZlBDQjJXeU80Mm5NQVVTSTNXNC9jZUtFY2p2QUhCLysreEtOdWt6Z3FxdXVDbUdtREorMWE5ZisrdXV2SWI4YzhZMUdHb2NPSGp5bzlpYkVtSjA3ZDk1eHh4MkZoWVcrUjB3bTB4TlBQTkc2ZGVzb2ZEb2piYUFSWldWbGQ5MTExOWRmZngzQ2E3Ly8vdnR0MjdiZGR0dHRsMTU2YWExLzJyUnAweDEzM0JGNHJNU2VQWHRDK05DUVNaSzBaTWtTNWZieDQ4ZWZlKzQ1M3ovMTdkczNOVFcxemxlRnNOalN4bzBiLy9qSFAvb3ZRSHJSUlJkTm16Yk4vem5KeWNuTGx5K2ZQMysrYjJEd3UrKytLOHZ5MHFWTDQrL0tDQUJOVjFaV1Z1ZjFuUDRIQlBmczJWUGZrV3YvOWE3T25qMjdmLy8rV2s4d204MTFEanE3NUpKTG1yRFZ3bzgvL2tnalJYMW9wRWgwcTFhdGV2VFJSLzEzbDgxbTgrT1BQMTdmZkNxUndFZ2JhRUhJZFZUaGRydVhMVnVXbTV2cnYycVVjbWwwNERxcUhRNkhvNzQ2R29JTkd6Yjg0UTkvOEYrMnVsZXZYdmZlZSsrNXo4ekx5L3Z6bi8rOGRPbFMzeVB2dmZkZWNYSHhZNDg5eHZCZEFMVnMzcnpaUHk3cTlNSUxMN3p3d2dzTnZsV2Q3NU9YbC9mNjY2ODNZUU9CUnFPUk5scHhjYkgveWdSaFo3UFo2bHVESVdxeXM3Tm56NTdkbEhkWXRXcFZnSE45MnZrZS91MXZmNnNWdXphYjdja25uK3pkdTNmRXRxNE9rUjVwQXpSb3k1WXQvblhVYXJXT0d6ZHV3SUFCdWJtNVRxZlRZckg0cXBISDQzRzczV1ZsWmFkT25UcDgrSEIrZnY2R0RSdDhuZlBwcDUrdTFVaVRrNVBidG0wYjVOZ05xOVdhbXBxYW1wcWFscGFXa3BLU2xwYVdtcHFha3BLaVBQanR0OStHOVl1dXJkWVEraVo2Ly8zMy9ldG9wMDZkL3ZhM3Y5VzNqUERvMGFOdnVlV1dKNTk4MHZkSVZsWVdkUlFBa0Fob3BJMzJ3dzgvTkhob3FpbjhEMDN0M2JzM3lMVlYvTWR2SERseVpQbnk1Y0c4S2pNenM4N21tWnViZTl0dHR3Vzl5WFZZdjM1OWdFWWF6ZTloQUI2UHgycTE2dlY2M3lWZUxWcTBlUHp4eDhNN2hiSS90VWJhQUEzNjZxdXZmTGV6c3JLZWUrNjU3T3pzQU05UFQwL1B6YzA5Nzd6enBrMmJ0bTNiTnQ5S25ydDI3U291THE1MXBuSEFnQUVIRHg3VTYvVjZ2VjRwbWVucDZSa1pHVXJ6VkI1Ui9qL3dSTi8rODZocGdkRm85UDNHbmJ2MnpCTlBQUEhXVzI4OTlkUlROVFUxZVhsNVR6LzlkSUI1eTVScnRJcUxpMTk3N1RWbGx1OWJicmtsa3RzT0FJQlcwRWcxN2NpUkkyKzk5VlpqWDFWWVdCamtxL0x5OHBwNExqU202WFM2NjY2N2JzeVlNUTg4OE1DMmJkdEdqaHg1enozM0pDVWxSZTRUR1drRHpmSS9BejkyN05qQWRiU1duajE3Smljbis2NXpMaXdzck5WSWI3cnBwdFRVMUw1OSsvYm8wU044bTZ5K1RwMDZ2Zi8rKy9YOXF5aUtsMTkrK2Zubm43OTI3ZHE1YytjR00wM2FyYmZlbXBXVlZWeGN2R0RCZ2dDVG9nTklaTTJiTjY5ekRyWnc0ZEEyb285R2lrVFh0bTNiRjE5ODhkaXhZMFF3RXBuL2xjbGJ0bXlwcXFvS2ZMclMzOWF0Vy8ybjNUcDM3S3ZGWXZHZFJFMDB1Ym01Q3hjdURQNzVUWnc3QkVEYzY5NjkrOE1QUDZ6MlZnRGhSQ050dEZhdFdsMTIyV1dSZS85emgzN0ZINjE5RDBWUnBJNGl3ZlhxMWN0M2duM1hybDJYWEhMSnJGbXordmZ2bjV1Ylc5OENUc1hGeFh2MjdObTRjYVAveFFVcEtTbU5PcitxS1dWbFpiNlZZRUp6M1hYWGhXOXpBQUJJQ0RUU1J1dllzZU1kZDl3Um5jL3ExYXZYRTA4OEVibjNqOEppbTNXSzV2ZFFVeGhwQTgwYU1tUklibTd1b1VPSGxMdEhqeDc5NjEvL3FpeVVrcHljN0hRNkRRYURYcS8zZUR3dWw2dXlzdkwwNmROMXpzSTFkKzdjSnE2SHJLS3lzakwvbFdCQ1FDTUZBS0N4WW5XL0lVR2twNmNQR1RKRTdhMUEyRERTQnBxbDErc2ZmL3p4NjY2Nzd1VEprLzZQZTczZTR1TGk0dUxpWU41azFxeFppWHhwT2dDZ1BsT25UdTNmdjc5eXUzMzc5bXB2RHJTRlJncUVvbWZQbmg5Ly9MRnkyMlF5cWIwNVFCams1dWIrODUvLy9OdmYvdmJSUngvNUpxQU9VcGN1WFJZc1dNQVJOQUJBblVhTkdxWDJKa0M3YUtSQUtBd0dRM3A2dXRwYkFZUlpjbkx5Ly96UC85eDg4ODBiTjI3TXo4L2Z0Mi9mOGVQSGZXdU4rak9ielZsWldibTV1YjE2OVJvd1lFRGsxa3lLdEpTVWxMLzg1UzlxYndVQUFJbExsR1ZaN1cxQUhGcTVjbVZaV1pseWU4cVVLUkZkVWtWVGZ2dnROOS9KcGF5c3JOaTlvQTVReUxKODVzeVp5c3JLNnVwcXQ5dHRNQmdzRm92VmFsWGxLdlN5c2pMZktqVU9oeU01T1RuNjI2Q1dtcHFhd3NKQzViYkJZRWlFT2ZBQUFBbUNSZ29BQUFBQVVJZWs5Z1lBQUFBQUFCSVVqUlFBQUFBQW9BNGFLUUFBQUFCQUhUUlNBQUFBQUlBNmFLUUFBQUFBQUhYUVNBRUFBQUFBNnFDUkFnQUFBQURVUVNNRkFBQUFBS2lEUmdvQUFBQUFVQWVORkFBQUFBQ2dEaG9wQUFBQUFFQWRORklBQUFBQWdEcG9wQUFBQUFBQWRkQklBUUFBQUFEcW9KRUNBQUFBQU5SQkl3VUFBQUFBcUlOR0NnQUFBQUJRQjQwVUFBQUFBS0FPR2lrQUFBQUFRQjAwVWdBQUFBQ0FPbWlrQUFBQUFBQjEwRWdCQUFBQUFPcWdrUUlBQUFBQTFFRWpCUUFBQUFDb2cwWUtBQUFBQUZBSGpSUUFBQUFBb0E0YUtRQUFBQUJBSFRSU0FBQUFBSUE2YUtRQUFBQUFBSFhRU0FFQUFBQUE2cUNSQWdBQUFBRFVRU01GQUFBQUFLaURSZ29BQUFBQVVBZU5GQUFBQUFDZ0Rob3BBQUFBQUVBZE5GSUFBQUFBZ0Rwb3BBQUFBQUFBZGRCSUFRQUFBQURxb0pFQ0FBQUFBTlJCSXdVQUFBQUFxSU5HQ2dBQUFBQlFCNDBVQUFBQUFLQU9HaWtBQUFBQVFCMDBVZ0FBQUFDQU9taWtBQUFBQUFCMTBFZ0JBQUFBQU9yNC93RzZTb3ArM2RlbkJBQUFBQUJKUlU1RXJrSmdnZz09IiwKCSJUaGVtZSIgOiAiIiwKCSJUeXBlIiA6ICJmbG93IiwKCSJVc2VySWQiIDogIjQzMjc5ODE0MiIsCgkiVmVyc2lvbiIgOiAiMTgiCn0K"/>
    </extobj>
  </extobjs>
</s:customData>
</file>

<file path=customXml/itemProps10.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14640</Words>
  <Application>WPS 演示</Application>
  <PresentationFormat>화면 슬라이드 쇼(4:3)</PresentationFormat>
  <Paragraphs>881</Paragraphs>
  <Slides>58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58</vt:i4>
      </vt:variant>
    </vt:vector>
  </HeadingPairs>
  <TitlesOfParts>
    <vt:vector size="70" baseType="lpstr">
      <vt:lpstr>Arial</vt:lpstr>
      <vt:lpstr>宋体</vt:lpstr>
      <vt:lpstr>Wingdings</vt:lpstr>
      <vt:lpstr>Arial</vt:lpstr>
      <vt:lpstr>Malgun Gothic</vt:lpstr>
      <vt:lpstr>Calibri</vt:lpstr>
      <vt:lpstr>微软雅黑</vt:lpstr>
      <vt:lpstr>Arial Unicode MS</vt:lpstr>
      <vt:lpstr>BatangChe</vt:lpstr>
      <vt:lpstr>Hancom Gothic</vt:lpstr>
      <vt:lpstr>黑体</vt:lpstr>
      <vt:lpstr>Office Theme</vt:lpstr>
      <vt:lpstr>빅데이터 분석 프로젝트 계획서   大数据分析项目计划书 </vt:lpstr>
      <vt:lpstr>프로젝트 개요   项目概述</vt:lpstr>
      <vt:lpstr>프로젝트 개요 / 项目概述</vt:lpstr>
      <vt:lpstr>프로젝트 개요 / 项目概述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프로젝트 개요   项目概述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프로젝트 개요   项目概述</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빅데이터 분석 프로젝트 계획서   大数据分析项目计划书 </dc:title>
  <dc:creator>eunyoung Roh</dc:creator>
  <dc:description>generated using python-pptx</dc:description>
  <cp:lastModifiedBy>技术拯救世界</cp:lastModifiedBy>
  <cp:revision>14</cp:revision>
  <dcterms:created xsi:type="dcterms:W3CDTF">2013-01-27T09:14:00Z</dcterms:created>
  <dcterms:modified xsi:type="dcterms:W3CDTF">2025-12-08T13:15:42Z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5DF130EB40F14625979B36607E335634_12</vt:lpwstr>
  </property>
  <property fmtid="{D5CDD505-2E9C-101B-9397-08002B2CF9AE}" pid="3" name="KSOProductBuildVer">
    <vt:lpwstr>2052-12.1.0.23542</vt:lpwstr>
  </property>
</Properties>
</file>